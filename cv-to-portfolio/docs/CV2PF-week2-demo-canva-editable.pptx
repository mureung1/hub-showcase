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b34534a53c4db8" /><Relationship Type="http://schemas.openxmlformats.org/officeDocument/2006/relationships/extended-properties" Target="/docProps/app.xml" Id="R0c0de6509e1645df" /><Relationship Type="http://schemas.openxmlformats.org/officeDocument/2006/relationships/officeDocument" Target="/ppt/presentation.xml" Id="Rfa122c81412642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8a6e22f7c94e72"/>
  </p:sldMasterIdLst>
  <p:notesMasterIdLst>
    <p:notesMasterId xmlns:r="http://schemas.openxmlformats.org/officeDocument/2006/relationships" r:id="Rc54aa19d85b5494c"/>
  </p:notesMasterIdLst>
  <p:sldIdLst>
    <p:sldId xmlns:r="http://schemas.openxmlformats.org/officeDocument/2006/relationships" id="256" r:id="Rbd6c8e810bf54ae5"/>
    <p:sldId xmlns:r="http://schemas.openxmlformats.org/officeDocument/2006/relationships" id="257" r:id="R965d32864449404f"/>
    <p:sldId xmlns:r="http://schemas.openxmlformats.org/officeDocument/2006/relationships" id="258" r:id="R970f4395802a4219"/>
    <p:sldId xmlns:r="http://schemas.openxmlformats.org/officeDocument/2006/relationships" id="259" r:id="R2576aa149b334a91"/>
    <p:sldId xmlns:r="http://schemas.openxmlformats.org/officeDocument/2006/relationships" id="260" r:id="R663796082a8841d2"/>
    <p:sldId xmlns:r="http://schemas.openxmlformats.org/officeDocument/2006/relationships" id="261" r:id="Ra7a3620e0bd64a3d"/>
    <p:sldId xmlns:r="http://schemas.openxmlformats.org/officeDocument/2006/relationships" id="262" r:id="R88e890a30348449b"/>
    <p:sldId xmlns:r="http://schemas.openxmlformats.org/officeDocument/2006/relationships" id="263" r:id="R49cf519048d641ec"/>
    <p:sldId xmlns:r="http://schemas.openxmlformats.org/officeDocument/2006/relationships" id="264" r:id="Ra5c950c3555447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cd9bdc1fa14c89" /><Relationship Type="http://schemas.openxmlformats.org/officeDocument/2006/relationships/slideMaster" Target="/ppt/slideMasters/slideMaster1.xml" Id="R838a6e22f7c94e72" /><Relationship Type="http://schemas.openxmlformats.org/officeDocument/2006/relationships/notesMaster" Target="/ppt/notesMasters/notesMaster1.xml" Id="Rc54aa19d85b5494c" /><Relationship Type="http://schemas.openxmlformats.org/officeDocument/2006/relationships/presProps" Target="/ppt/presProps.xml" Id="R9f8c6cc0447e4aa0" /><Relationship Type="http://schemas.openxmlformats.org/officeDocument/2006/relationships/tableStyles" Target="/ppt/tableStyles.xml" Id="Raf52b255d44c41df" /><Relationship Type="http://schemas.openxmlformats.org/officeDocument/2006/relationships/slide" Target="/ppt/slides/slide1.xml" Id="Rbd6c8e810bf54ae5" /><Relationship Type="http://schemas.openxmlformats.org/officeDocument/2006/relationships/slide" Target="/ppt/slides/slide2.xml" Id="R965d32864449404f" /><Relationship Type="http://schemas.openxmlformats.org/officeDocument/2006/relationships/slide" Target="/ppt/slides/slide3.xml" Id="R970f4395802a4219" /><Relationship Type="http://schemas.openxmlformats.org/officeDocument/2006/relationships/slide" Target="/ppt/slides/slide4.xml" Id="R2576aa149b334a91" /><Relationship Type="http://schemas.openxmlformats.org/officeDocument/2006/relationships/slide" Target="/ppt/slides/slide5.xml" Id="R663796082a8841d2" /><Relationship Type="http://schemas.openxmlformats.org/officeDocument/2006/relationships/slide" Target="/ppt/slides/slide6.xml" Id="Ra7a3620e0bd64a3d" /><Relationship Type="http://schemas.openxmlformats.org/officeDocument/2006/relationships/slide" Target="/ppt/slides/slide7.xml" Id="R88e890a30348449b" /><Relationship Type="http://schemas.openxmlformats.org/officeDocument/2006/relationships/slide" Target="/ppt/slides/slide8.xml" Id="R49cf519048d641ec" /><Relationship Type="http://schemas.openxmlformats.org/officeDocument/2006/relationships/slide" Target="/ppt/slides/slide9.xml" Id="Ra5c950c3555447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0e952689b243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597109e68d4742" /><Relationship Type="http://schemas.openxmlformats.org/officeDocument/2006/relationships/notesMaster" Target="/ppt/notesMasters/notesMaster1.xml" Id="Rc420e7700bcf4f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8dc505fe73442b" /><Relationship Type="http://schemas.openxmlformats.org/officeDocument/2006/relationships/notesMaster" Target="/ppt/notesMasters/notesMaster1.xml" Id="R0f3f0fd040dd47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8e0b41e3a14190" /><Relationship Type="http://schemas.openxmlformats.org/officeDocument/2006/relationships/notesMaster" Target="/ppt/notesMasters/notesMaster1.xml" Id="R8d3c33ef27ef4a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7285eacbe44538" /><Relationship Type="http://schemas.openxmlformats.org/officeDocument/2006/relationships/notesMaster" Target="/ppt/notesMasters/notesMaster1.xml" Id="Rb47854115c744a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6fd1c43ea74813" /><Relationship Type="http://schemas.openxmlformats.org/officeDocument/2006/relationships/notesMaster" Target="/ppt/notesMasters/notesMaster1.xml" Id="Rcbec8b99ff854e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42edb4e01b4dd8" /><Relationship Type="http://schemas.openxmlformats.org/officeDocument/2006/relationships/notesMaster" Target="/ppt/notesMasters/notesMaster1.xml" Id="R0c4aff1d362447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eb641239a74202" /><Relationship Type="http://schemas.openxmlformats.org/officeDocument/2006/relationships/notesMaster" Target="/ppt/notesMasters/notesMaster1.xml" Id="R3a7bd4adbf2149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31d5f2bd4c4430" /><Relationship Type="http://schemas.openxmlformats.org/officeDocument/2006/relationships/notesMaster" Target="/ppt/notesMasters/notesMaster1.xml" Id="R3bb62252ab9d44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c036721dcd4fd1" /><Relationship Type="http://schemas.openxmlformats.org/officeDocument/2006/relationships/notesMaster" Target="/ppt/notesMasters/notesMaster1.xml" Id="R37bb7953528e48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c88469116447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5405dc983b447e" /><Relationship Type="http://schemas.openxmlformats.org/officeDocument/2006/relationships/slideLayout" Target="/ppt/slideLayouts/slideLayout1.xml" Id="R6129b79a62624f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29b79a62624f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442583b4c4198" /><Relationship Type="http://schemas.openxmlformats.org/officeDocument/2006/relationships/notesSlide" Target="/ppt/notesSlides/notesSlide1.xml" Id="R1985a307dca64d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8aee0deb0430e" /><Relationship Type="http://schemas.openxmlformats.org/officeDocument/2006/relationships/notesSlide" Target="/ppt/notesSlides/notesSlide2.xml" Id="R75ec58144a6c42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1e17c2eb34092" /><Relationship Type="http://schemas.openxmlformats.org/officeDocument/2006/relationships/notesSlide" Target="/ppt/notesSlides/notesSlide3.xml" Id="R212fac49ce7d43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15596a023474b" /><Relationship Type="http://schemas.openxmlformats.org/officeDocument/2006/relationships/image" Target="/ppt/media/image.png" Id="Rf4e57c161ee04249" /><Relationship Type="http://schemas.openxmlformats.org/officeDocument/2006/relationships/notesSlide" Target="/ppt/notesSlides/notesSlide4.xml" Id="R398cb38e25e04b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dc49d3c9347db" /><Relationship Type="http://schemas.openxmlformats.org/officeDocument/2006/relationships/image" Target="/ppt/media/image.jpeg" Id="R96415fe1dc6a4499" /><Relationship Type="http://schemas.openxmlformats.org/officeDocument/2006/relationships/notesSlide" Target="/ppt/notesSlides/notesSlide5.xml" Id="R9f38f706f08e4b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0415f111345cd" /><Relationship Type="http://schemas.openxmlformats.org/officeDocument/2006/relationships/image" Target="/ppt/media/image2.jpeg" Id="Rda4c8504f78a4057" /><Relationship Type="http://schemas.openxmlformats.org/officeDocument/2006/relationships/notesSlide" Target="/ppt/notesSlides/notesSlide6.xml" Id="R9da5cd2fe20545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2094af73b4ea9" /><Relationship Type="http://schemas.openxmlformats.org/officeDocument/2006/relationships/notesSlide" Target="/ppt/notesSlides/notesSlide7.xml" Id="R7f9ab2379d0044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37e138c5f4adf" /><Relationship Type="http://schemas.openxmlformats.org/officeDocument/2006/relationships/notesSlide" Target="/ppt/notesSlides/notesSlide8.xml" Id="R95c03f1d30ca41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bd79487724720" /><Relationship Type="http://schemas.openxmlformats.org/officeDocument/2006/relationships/notesSlide" Target="/ppt/notesSlides/notesSlide9.xml" Id="R529d5eddaac04a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-top">
            <a:extLst xmlns:a="http://schemas.openxmlformats.org/drawingml/2006/main">
              <a:ext uri="{FF2B5EF4-FFF2-40B4-BE49-F238E27FC236}">
                <a16:creationId xmlns:a16="http://schemas.microsoft.com/office/drawing/2014/main" id="{B810ED61-8B42-4BAC-9DD4-62F2D724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green">
            <a:extLst xmlns:a="http://schemas.openxmlformats.org/drawingml/2006/main">
              <a:ext uri="{FF2B5EF4-FFF2-40B4-BE49-F238E27FC236}">
                <a16:creationId xmlns:a16="http://schemas.microsoft.com/office/drawing/2014/main" id="{443F67B8-8227-4D02-9F55-7B2C4375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C71A689-912B-42D6-A785-AC6C85F8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C5FD"/>
                </a:solidFill>
              </a:defRPr>
            </a:pPr>
            <a:r>
              <a:rPr sz="1275" b="1">
                <a:solidFill>
                  <a:srgbClr val="93C5FD"/>
                </a:solidFill>
              </a:rPr>
              <a:t>CV2PF · WEEK 2 DEMO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B1728D7-776A-4073-9BDA-EA38D175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저장부터 다시 보기까지,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첫 수직 슬라이스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0568C35-CBCE-4F96-AFF9-A58E9A35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React · Express · Supabase를 실제 데이터 흐름으로 연결했습니다.</a:t>
            </a:r>
          </a:p>
        </p:txBody>
      </p:sp>
      <p:sp>
        <p:nvSpPr>
          <p:cNvPr id="6" name="cover-line">
            <a:extLst xmlns:a="http://schemas.openxmlformats.org/drawingml/2006/main">
              <a:ext uri="{FF2B5EF4-FFF2-40B4-BE49-F238E27FC236}">
                <a16:creationId xmlns:a16="http://schemas.microsoft.com/office/drawing/2014/main" id="{4E44DDC3-E21E-4DEB-BFBB-2B68401B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name">
            <a:extLst xmlns:a="http://schemas.openxmlformats.org/drawingml/2006/main">
              <a:ext uri="{FF2B5EF4-FFF2-40B4-BE49-F238E27FC236}">
                <a16:creationId xmlns:a16="http://schemas.microsoft.com/office/drawing/2014/main" id="{2B22E939-DEDF-4A88-8E93-F4FAEF3A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N123_김지우</a:t>
            </a:r>
          </a:p>
        </p:txBody>
      </p:sp>
      <p:sp>
        <p:nvSpPr>
          <p:cNvPr id="8" name="cover-date">
            <a:extLst xmlns:a="http://schemas.openxmlformats.org/drawingml/2006/main">
              <a:ext uri="{FF2B5EF4-FFF2-40B4-BE49-F238E27FC236}">
                <a16:creationId xmlns:a16="http://schemas.microsoft.com/office/drawing/2014/main" id="{886B69E5-2A93-4890-B8BF-DAA1C8F8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2026.07.16</a:t>
            </a:r>
          </a:p>
        </p:txBody>
      </p:sp>
      <p:sp>
        <p:nvSpPr>
          <p:cNvPr id="9" name="cover-page">
            <a:extLst xmlns:a="http://schemas.openxmlformats.org/drawingml/2006/main">
              <a:ext uri="{FF2B5EF4-FFF2-40B4-BE49-F238E27FC236}">
                <a16:creationId xmlns:a16="http://schemas.microsoft.com/office/drawing/2014/main" id="{838E0C09-DE0B-40D4-B1D5-886603B3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FDBFE"/>
                </a:solidFill>
              </a:defRPr>
            </a:pPr>
            <a:r>
              <a:rPr sz="1050" b="1">
                <a:solidFill>
                  <a:srgbClr val="BFDBF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127440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2">
            <a:extLst xmlns:a="http://schemas.openxmlformats.org/drawingml/2006/main">
              <a:ext uri="{FF2B5EF4-FFF2-40B4-BE49-F238E27FC236}">
                <a16:creationId xmlns:a16="http://schemas.microsoft.com/office/drawing/2014/main" id="{D3670D01-F27F-4271-970C-FFC254B4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THE GOAL</a:t>
            </a:r>
          </a:p>
        </p:txBody>
      </p:sp>
      <p:sp>
        <p:nvSpPr>
          <p:cNvPr id="2" name="number-2">
            <a:extLst xmlns:a="http://schemas.openxmlformats.org/drawingml/2006/main">
              <a:ext uri="{FF2B5EF4-FFF2-40B4-BE49-F238E27FC236}">
                <a16:creationId xmlns:a16="http://schemas.microsoft.com/office/drawing/2014/main" id="{4288A76A-0113-4EAB-B466-41E563FB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203A929E-8120-4AE4-BC32-93E076C7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화면뿐만 아니라, 데이터가 돌아오는 것까지</a:t>
            </a:r>
          </a:p>
        </p:txBody>
      </p:sp>
      <p:sp>
        <p:nvSpPr>
          <p:cNvPr id="4" name="goal-statement">
            <a:extLst xmlns:a="http://schemas.openxmlformats.org/drawingml/2006/main">
              <a:ext uri="{FF2B5EF4-FFF2-40B4-BE49-F238E27FC236}">
                <a16:creationId xmlns:a16="http://schemas.microsoft.com/office/drawing/2014/main" id="{BA20433C-8604-47F3-9364-FEE5425C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F172A"/>
                </a:solidFill>
              </a:defRPr>
            </a:pPr>
            <a:r>
              <a:rPr sz="3450" b="1">
                <a:solidFill>
                  <a:srgbClr val="0F172A"/>
                </a:solidFill>
              </a:rPr>
              <a:t>새로고침해도</a:t>
            </a:r>
          </a:p>
          <a:p xmlns:a="http://schemas.openxmlformats.org/drawingml/2006/main">
            <a:pPr algn="l">
              <a:defRPr sz="3450" b="1">
                <a:solidFill>
                  <a:srgbClr val="0F172A"/>
                </a:solidFill>
              </a:defRPr>
            </a:pPr>
            <a:r>
              <a:rPr sz="3450" b="1">
                <a:solidFill>
                  <a:srgbClr val="0F172A"/>
                </a:solidFill>
              </a:rPr>
              <a:t>결과가 남아야 합니다.</a:t>
            </a:r>
          </a:p>
        </p:txBody>
      </p:sp>
      <p:sp>
        <p:nvSpPr>
          <p:cNvPr id="5" name="goal-before">
            <a:extLst xmlns:a="http://schemas.openxmlformats.org/drawingml/2006/main">
              <a:ext uri="{FF2B5EF4-FFF2-40B4-BE49-F238E27FC236}">
                <a16:creationId xmlns:a16="http://schemas.microsoft.com/office/drawing/2014/main" id="{7EC44CFE-70A4-4AA1-AA80-43CCDCEE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goal-before-title">
            <a:extLst xmlns:a="http://schemas.openxmlformats.org/drawingml/2006/main">
              <a:ext uri="{FF2B5EF4-FFF2-40B4-BE49-F238E27FC236}">
                <a16:creationId xmlns:a16="http://schemas.microsoft.com/office/drawing/2014/main" id="{37B383D1-3876-4210-B2D5-1C47FDCB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화면만 동작</a:t>
            </a:r>
          </a:p>
        </p:txBody>
      </p:sp>
      <p:sp>
        <p:nvSpPr>
          <p:cNvPr id="7" name="goal-before-body">
            <a:extLst xmlns:a="http://schemas.openxmlformats.org/drawingml/2006/main">
              <a:ext uri="{FF2B5EF4-FFF2-40B4-BE49-F238E27FC236}">
                <a16:creationId xmlns:a16="http://schemas.microsoft.com/office/drawing/2014/main" id="{090890CB-E840-4BEE-B5F9-7CD728CB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384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새로고침하면 결과가 사라지고</a:t>
            </a:r>
          </a:p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서버·DB 연결을 증명할 수 없습니다.</a:t>
            </a:r>
          </a:p>
        </p:txBody>
      </p:sp>
      <p:sp>
        <p:nvSpPr>
          <p:cNvPr id="8" name="goal-after">
            <a:extLst xmlns:a="http://schemas.openxmlformats.org/drawingml/2006/main">
              <a:ext uri="{FF2B5EF4-FFF2-40B4-BE49-F238E27FC236}">
                <a16:creationId xmlns:a16="http://schemas.microsoft.com/office/drawing/2014/main" id="{E8E59B43-8B93-410E-B17E-D28E9D4A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9" name="goal-after-title">
            <a:extLst xmlns:a="http://schemas.openxmlformats.org/drawingml/2006/main">
              <a:ext uri="{FF2B5EF4-FFF2-40B4-BE49-F238E27FC236}">
                <a16:creationId xmlns:a16="http://schemas.microsoft.com/office/drawing/2014/main" id="{8A4B484C-141F-4F88-8051-9A1717E2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9669"/>
                </a:solidFill>
              </a:defRPr>
            </a:pPr>
            <a:r>
              <a:rPr sz="1950" b="1">
                <a:solidFill>
                  <a:srgbClr val="059669"/>
                </a:solidFill>
              </a:rPr>
              <a:t>수직 슬라이스 완성</a:t>
            </a:r>
          </a:p>
        </p:txBody>
      </p:sp>
      <p:sp>
        <p:nvSpPr>
          <p:cNvPr id="10" name="goal-after-body">
            <a:extLst xmlns:a="http://schemas.openxmlformats.org/drawingml/2006/main">
              <a:ext uri="{FF2B5EF4-FFF2-40B4-BE49-F238E27FC236}">
                <a16:creationId xmlns:a16="http://schemas.microsoft.com/office/drawing/2014/main" id="{FE0337C5-B058-4389-8ED3-8F01D30D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저장 요청이 DB 행이 되고,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조회한 HTML이 다시 화면을 바꿉니다.</a:t>
            </a:r>
          </a:p>
        </p:txBody>
      </p:sp>
    </p:spTree>
    <p:extLst>
      <p:ext uri="{BB962C8B-B14F-4D97-AF65-F5344CB8AC3E}">
        <p14:creationId xmlns:p14="http://schemas.microsoft.com/office/powerpoint/2010/main" val="6853209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3">
            <a:extLst xmlns:a="http://schemas.openxmlformats.org/drawingml/2006/main">
              <a:ext uri="{FF2B5EF4-FFF2-40B4-BE49-F238E27FC236}">
                <a16:creationId xmlns:a16="http://schemas.microsoft.com/office/drawing/2014/main" id="{C1255026-5346-4FD9-9714-DBFA4025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USER JOURNEY</a:t>
            </a:r>
          </a:p>
        </p:txBody>
      </p:sp>
      <p:sp>
        <p:nvSpPr>
          <p:cNvPr id="2" name="number-3">
            <a:extLst xmlns:a="http://schemas.openxmlformats.org/drawingml/2006/main">
              <a:ext uri="{FF2B5EF4-FFF2-40B4-BE49-F238E27FC236}">
                <a16:creationId xmlns:a16="http://schemas.microsoft.com/office/drawing/2014/main" id="{D2D6D73E-AB90-4EB8-9D71-47551EFF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A9BD1C48-D2B9-4ECB-BE70-D420AA1F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사용자 행동 하나가 네 단계로 이어집니다</a:t>
            </a:r>
          </a:p>
        </p:txBody>
      </p:sp>
      <p:sp>
        <p:nvSpPr>
          <p:cNvPr id="4" name="journey-arrow-0">
            <a:extLst xmlns:a="http://schemas.openxmlformats.org/drawingml/2006/main">
              <a:ext uri="{FF2B5EF4-FFF2-40B4-BE49-F238E27FC236}">
                <a16:creationId xmlns:a16="http://schemas.microsoft.com/office/drawing/2014/main" id="{893F3C53-8853-410A-AB92-E5C089AA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051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journey-arrow-head-0">
            <a:extLst xmlns:a="http://schemas.openxmlformats.org/drawingml/2006/main">
              <a:ext uri="{FF2B5EF4-FFF2-40B4-BE49-F238E27FC236}">
                <a16:creationId xmlns:a16="http://schemas.microsoft.com/office/drawing/2014/main" id="{61D0224C-ED3C-439F-ABD8-C9BD4574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990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journey-card-0">
            <a:extLst xmlns:a="http://schemas.openxmlformats.org/drawingml/2006/main">
              <a:ext uri="{FF2B5EF4-FFF2-40B4-BE49-F238E27FC236}">
                <a16:creationId xmlns:a16="http://schemas.microsoft.com/office/drawing/2014/main" id="{312EDC32-ED54-4022-8E3A-85B81AD4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journey-0-circle">
            <a:extLst xmlns:a="http://schemas.openxmlformats.org/drawingml/2006/main">
              <a:ext uri="{FF2B5EF4-FFF2-40B4-BE49-F238E27FC236}">
                <a16:creationId xmlns:a16="http://schemas.microsoft.com/office/drawing/2014/main" id="{ADDBEE03-FD26-4D2A-96A5-AD9183A5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journey-0-text">
            <a:extLst xmlns:a="http://schemas.openxmlformats.org/drawingml/2006/main">
              <a:ext uri="{FF2B5EF4-FFF2-40B4-BE49-F238E27FC236}">
                <a16:creationId xmlns:a16="http://schemas.microsoft.com/office/drawing/2014/main" id="{BF8961CD-FF5C-4BF2-989A-0810581F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journey-title-0">
            <a:extLst xmlns:a="http://schemas.openxmlformats.org/drawingml/2006/main">
              <a:ext uri="{FF2B5EF4-FFF2-40B4-BE49-F238E27FC236}">
                <a16:creationId xmlns:a16="http://schemas.microsoft.com/office/drawing/2014/main" id="{FCA5B0B3-C70A-42A0-943E-38A5D35B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결과 생성</a:t>
            </a:r>
          </a:p>
        </p:txBody>
      </p:sp>
      <p:sp>
        <p:nvSpPr>
          <p:cNvPr id="10" name="journey-body-0">
            <a:extLst xmlns:a="http://schemas.openxmlformats.org/drawingml/2006/main">
              <a:ext uri="{FF2B5EF4-FFF2-40B4-BE49-F238E27FC236}">
                <a16:creationId xmlns:a16="http://schemas.microsoft.com/office/drawing/2014/main" id="{343095F2-52DB-4468-960A-4B230972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924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CV와 디자인을 선택해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독립 HTML을 만듭니다.</a:t>
            </a:r>
          </a:p>
        </p:txBody>
      </p:sp>
      <p:sp>
        <p:nvSpPr>
          <p:cNvPr id="11" name="journey-arrow-1">
            <a:extLst xmlns:a="http://schemas.openxmlformats.org/drawingml/2006/main">
              <a:ext uri="{FF2B5EF4-FFF2-40B4-BE49-F238E27FC236}">
                <a16:creationId xmlns:a16="http://schemas.microsoft.com/office/drawing/2014/main" id="{857FF152-D28F-4F98-B679-BCB96329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journey-arrow-head-1">
            <a:extLst xmlns:a="http://schemas.openxmlformats.org/drawingml/2006/main">
              <a:ext uri="{FF2B5EF4-FFF2-40B4-BE49-F238E27FC236}">
                <a16:creationId xmlns:a16="http://schemas.microsoft.com/office/drawing/2014/main" id="{A300B0D6-60D6-4BBA-B24E-54E420DF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0990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48DE1896-B49A-467A-97D9-194B680C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journey-1-circle">
            <a:extLst xmlns:a="http://schemas.openxmlformats.org/drawingml/2006/main">
              <a:ext uri="{FF2B5EF4-FFF2-40B4-BE49-F238E27FC236}">
                <a16:creationId xmlns:a16="http://schemas.microsoft.com/office/drawing/2014/main" id="{E5035BBB-A7DE-4E07-88B9-A52EABC9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journey-1-text">
            <a:extLst xmlns:a="http://schemas.openxmlformats.org/drawingml/2006/main">
              <a:ext uri="{FF2B5EF4-FFF2-40B4-BE49-F238E27FC236}">
                <a16:creationId xmlns:a16="http://schemas.microsoft.com/office/drawing/2014/main" id="{41A4142B-43D9-4635-BEB7-7F65CCA5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journey-title-1">
            <a:extLst xmlns:a="http://schemas.openxmlformats.org/drawingml/2006/main">
              <a:ext uri="{FF2B5EF4-FFF2-40B4-BE49-F238E27FC236}">
                <a16:creationId xmlns:a16="http://schemas.microsoft.com/office/drawing/2014/main" id="{3CB8B64A-B541-49B7-9CC0-4E33B7F3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2415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현재 결과 저장</a:t>
            </a:r>
          </a:p>
        </p:txBody>
      </p:sp>
      <p:sp>
        <p:nvSpPr>
          <p:cNvPr id="17" name="journey-body-1">
            <a:extLst xmlns:a="http://schemas.openxmlformats.org/drawingml/2006/main">
              <a:ext uri="{FF2B5EF4-FFF2-40B4-BE49-F238E27FC236}">
                <a16:creationId xmlns:a16="http://schemas.microsoft.com/office/drawing/2014/main" id="{3641E7E8-423A-4E8C-9E11-865F8031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33750"/>
            <a:ext cx="1924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React가 HTML과 메타데이터를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Express API로 보냅니다.</a:t>
            </a:r>
          </a:p>
        </p:txBody>
      </p:sp>
      <p:sp>
        <p:nvSpPr>
          <p:cNvPr id="18" name="journey-arrow-2">
            <a:extLst xmlns:a="http://schemas.openxmlformats.org/drawingml/2006/main">
              <a:ext uri="{FF2B5EF4-FFF2-40B4-BE49-F238E27FC236}">
                <a16:creationId xmlns:a16="http://schemas.microsoft.com/office/drawing/2014/main" id="{5ED597A0-3B60-4970-AE94-6245CE06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051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journey-arrow-head-2">
            <a:extLst xmlns:a="http://schemas.openxmlformats.org/drawingml/2006/main">
              <a:ext uri="{FF2B5EF4-FFF2-40B4-BE49-F238E27FC236}">
                <a16:creationId xmlns:a16="http://schemas.microsoft.com/office/drawing/2014/main" id="{AA7D69F8-CB50-4F08-BF61-E05DEC1B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0990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2953248C-0818-47D7-A4B5-852BDFE6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journey-2-circle">
            <a:extLst xmlns:a="http://schemas.openxmlformats.org/drawingml/2006/main">
              <a:ext uri="{FF2B5EF4-FFF2-40B4-BE49-F238E27FC236}">
                <a16:creationId xmlns:a16="http://schemas.microsoft.com/office/drawing/2014/main" id="{AEB5B444-C2A0-4EF2-BB9F-AF50051E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journey-2-text">
            <a:extLst xmlns:a="http://schemas.openxmlformats.org/drawingml/2006/main">
              <a:ext uri="{FF2B5EF4-FFF2-40B4-BE49-F238E27FC236}">
                <a16:creationId xmlns:a16="http://schemas.microsoft.com/office/drawing/2014/main" id="{018D08D2-0E00-4CA0-8168-BD3BFE2D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journey-title-2">
            <a:extLst xmlns:a="http://schemas.openxmlformats.org/drawingml/2006/main">
              <a:ext uri="{FF2B5EF4-FFF2-40B4-BE49-F238E27FC236}">
                <a16:creationId xmlns:a16="http://schemas.microsoft.com/office/drawing/2014/main" id="{07AEA63A-E5BB-4B16-8FF3-48AA244F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목록 즉시 갱신</a:t>
            </a:r>
          </a:p>
        </p:txBody>
      </p:sp>
      <p:sp>
        <p:nvSpPr>
          <p:cNvPr id="24" name="journey-body-2">
            <a:extLst xmlns:a="http://schemas.openxmlformats.org/drawingml/2006/main">
              <a:ext uri="{FF2B5EF4-FFF2-40B4-BE49-F238E27FC236}">
                <a16:creationId xmlns:a16="http://schemas.microsoft.com/office/drawing/2014/main" id="{503D367F-6770-4A58-AC26-942143D3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1924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insert 응답으로 최근 기록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state를 갱신합니다.</a:t>
            </a:r>
          </a:p>
        </p:txBody>
      </p:sp>
      <p:sp>
        <p:nvSpPr>
          <p:cNvPr id="25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77529DB1-183F-4BCB-934E-D22E85E9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26" name="journey-3-circle">
            <a:extLst xmlns:a="http://schemas.openxmlformats.org/drawingml/2006/main">
              <a:ext uri="{FF2B5EF4-FFF2-40B4-BE49-F238E27FC236}">
                <a16:creationId xmlns:a16="http://schemas.microsoft.com/office/drawing/2014/main" id="{AECC2EAC-B2B7-4DAE-8286-8662A3A5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76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journey-3-text">
            <a:extLst xmlns:a="http://schemas.openxmlformats.org/drawingml/2006/main">
              <a:ext uri="{FF2B5EF4-FFF2-40B4-BE49-F238E27FC236}">
                <a16:creationId xmlns:a16="http://schemas.microsoft.com/office/drawing/2014/main" id="{66C87F9C-CA62-40D0-A496-6BDECE40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76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journey-title-3">
            <a:extLst xmlns:a="http://schemas.openxmlformats.org/drawingml/2006/main">
              <a:ext uri="{FF2B5EF4-FFF2-40B4-BE49-F238E27FC236}">
                <a16:creationId xmlns:a16="http://schemas.microsoft.com/office/drawing/2014/main" id="{9C469FD4-CAC4-446A-9375-6703758F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DB 결과 다시 보기</a:t>
            </a:r>
          </a:p>
        </p:txBody>
      </p:sp>
      <p:sp>
        <p:nvSpPr>
          <p:cNvPr id="29" name="journey-body-3">
            <a:extLst xmlns:a="http://schemas.openxmlformats.org/drawingml/2006/main">
              <a:ext uri="{FF2B5EF4-FFF2-40B4-BE49-F238E27FC236}">
                <a16:creationId xmlns:a16="http://schemas.microsoft.com/office/drawing/2014/main" id="{59F3482A-BC34-4DDD-905F-A59612CC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1924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조회한 HTML로 iframe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미리보기를 바꿉니다.</a:t>
            </a:r>
          </a:p>
        </p:txBody>
      </p:sp>
    </p:spTree>
    <p:extLst>
      <p:ext uri="{BB962C8B-B14F-4D97-AF65-F5344CB8AC3E}">
        <p14:creationId xmlns:p14="http://schemas.microsoft.com/office/powerpoint/2010/main" val="12759261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4">
            <a:extLst xmlns:a="http://schemas.openxmlformats.org/drawingml/2006/main">
              <a:ext uri="{FF2B5EF4-FFF2-40B4-BE49-F238E27FC236}">
                <a16:creationId xmlns:a16="http://schemas.microsoft.com/office/drawing/2014/main" id="{A6EB76F2-E459-4C32-9F21-79642E64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ARCHITECTURE</a:t>
            </a:r>
          </a:p>
        </p:txBody>
      </p:sp>
      <p:sp>
        <p:nvSpPr>
          <p:cNvPr id="2" name="number-4">
            <a:extLst xmlns:a="http://schemas.openxmlformats.org/drawingml/2006/main">
              <a:ext uri="{FF2B5EF4-FFF2-40B4-BE49-F238E27FC236}">
                <a16:creationId xmlns:a16="http://schemas.microsoft.com/office/drawing/2014/main" id="{DF7CD939-597C-4FE1-816D-9DE8B9C9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871B6413-13B5-4D16-8E5A-C19F602C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저장 요청이 DB를 거쳐 화면 갱신으로 돌아옵니다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57c161ee04249"/>
          <a:srcRect xmlns:a="http://schemas.openxmlformats.org/drawingml/2006/main" l="1492" t="0" r="1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68961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arch-0-circle">
            <a:extLst xmlns:a="http://schemas.openxmlformats.org/drawingml/2006/main">
              <a:ext uri="{FF2B5EF4-FFF2-40B4-BE49-F238E27FC236}">
                <a16:creationId xmlns:a16="http://schemas.microsoft.com/office/drawing/2014/main" id="{636A95D5-3278-4992-8E45-C9A7E2FB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ch-0-text">
            <a:extLst xmlns:a="http://schemas.openxmlformats.org/drawingml/2006/main">
              <a:ext uri="{FF2B5EF4-FFF2-40B4-BE49-F238E27FC236}">
                <a16:creationId xmlns:a16="http://schemas.microsoft.com/office/drawing/2014/main" id="{83483BC9-C6F1-49BC-910D-B9E82D8C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arch-head-0">
            <a:extLst xmlns:a="http://schemas.openxmlformats.org/drawingml/2006/main">
              <a:ext uri="{FF2B5EF4-FFF2-40B4-BE49-F238E27FC236}">
                <a16:creationId xmlns:a16="http://schemas.microsoft.com/office/drawing/2014/main" id="{01A9EDF9-FACD-4F3C-ACFE-10F1D0B3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95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React가 저장 요청</a:t>
            </a:r>
          </a:p>
        </p:txBody>
      </p:sp>
      <p:sp>
        <p:nvSpPr>
          <p:cNvPr id="8" name="arch-body-0">
            <a:extLst xmlns:a="http://schemas.openxmlformats.org/drawingml/2006/main">
              <a:ext uri="{FF2B5EF4-FFF2-40B4-BE49-F238E27FC236}">
                <a16:creationId xmlns:a16="http://schemas.microsoft.com/office/drawing/2014/main" id="{218F9235-11E0-40CF-8606-EA254E70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19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HTML·제목·테마를 POST /api/portfolios로 전달</a:t>
            </a:r>
          </a:p>
        </p:txBody>
      </p:sp>
      <p:sp>
        <p:nvSpPr>
          <p:cNvPr id="9" name="arch-1-circle">
            <a:extLst xmlns:a="http://schemas.openxmlformats.org/drawingml/2006/main">
              <a:ext uri="{FF2B5EF4-FFF2-40B4-BE49-F238E27FC236}">
                <a16:creationId xmlns:a16="http://schemas.microsoft.com/office/drawing/2014/main" id="{307CA116-2D67-4C05-B6CC-72CA3118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90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rch-1-text">
            <a:extLst xmlns:a="http://schemas.openxmlformats.org/drawingml/2006/main">
              <a:ext uri="{FF2B5EF4-FFF2-40B4-BE49-F238E27FC236}">
                <a16:creationId xmlns:a16="http://schemas.microsoft.com/office/drawing/2014/main" id="{349ECC75-1DE6-49DB-8B48-4C961393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90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arch-head-1">
            <a:extLst xmlns:a="http://schemas.openxmlformats.org/drawingml/2006/main">
              <a:ext uri="{FF2B5EF4-FFF2-40B4-BE49-F238E27FC236}">
                <a16:creationId xmlns:a16="http://schemas.microsoft.com/office/drawing/2014/main" id="{DFFC29D3-F620-4334-ACF2-D698DB4D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Express가 검증·중계</a:t>
            </a:r>
          </a:p>
        </p:txBody>
      </p:sp>
      <p:sp>
        <p:nvSpPr>
          <p:cNvPr id="12" name="arch-body-1">
            <a:extLst xmlns:a="http://schemas.openxmlformats.org/drawingml/2006/main">
              <a:ext uri="{FF2B5EF4-FFF2-40B4-BE49-F238E27FC236}">
                <a16:creationId xmlns:a16="http://schemas.microsoft.com/office/drawing/2014/main" id="{914A3409-0EF1-4535-88BE-C899D267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요청 본문 검사 후 Supabase REST API 호출</a:t>
            </a:r>
          </a:p>
        </p:txBody>
      </p:sp>
      <p:sp>
        <p:nvSpPr>
          <p:cNvPr id="13" name="arch-2-circle">
            <a:extLst xmlns:a="http://schemas.openxmlformats.org/drawingml/2006/main">
              <a:ext uri="{FF2B5EF4-FFF2-40B4-BE49-F238E27FC236}">
                <a16:creationId xmlns:a16="http://schemas.microsoft.com/office/drawing/2014/main" id="{FF697399-F0E8-44A8-9769-DE923E55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29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rch-2-text">
            <a:extLst xmlns:a="http://schemas.openxmlformats.org/drawingml/2006/main">
              <a:ext uri="{FF2B5EF4-FFF2-40B4-BE49-F238E27FC236}">
                <a16:creationId xmlns:a16="http://schemas.microsoft.com/office/drawing/2014/main" id="{A0DDC1BC-4FD3-48AB-8091-4779BCDE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29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arch-head-2">
            <a:extLst xmlns:a="http://schemas.openxmlformats.org/drawingml/2006/main">
              <a:ext uri="{FF2B5EF4-FFF2-40B4-BE49-F238E27FC236}">
                <a16:creationId xmlns:a16="http://schemas.microsoft.com/office/drawing/2014/main" id="{8B5B8D81-336A-4D37-A240-C4819A9C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Supabase가 영구 저장</a:t>
            </a:r>
          </a:p>
        </p:txBody>
      </p:sp>
      <p:sp>
        <p:nvSpPr>
          <p:cNvPr id="16" name="arch-body-2">
            <a:extLst xmlns:a="http://schemas.openxmlformats.org/drawingml/2006/main">
              <a:ext uri="{FF2B5EF4-FFF2-40B4-BE49-F238E27FC236}">
                <a16:creationId xmlns:a16="http://schemas.microsoft.com/office/drawing/2014/main" id="{A13275C0-5333-43A0-B909-30472D5A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95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portfolios 테이블에 HTML과 메타데이터 insert</a:t>
            </a:r>
          </a:p>
        </p:txBody>
      </p:sp>
      <p:sp>
        <p:nvSpPr>
          <p:cNvPr id="17" name="arch-3-circle">
            <a:extLst xmlns:a="http://schemas.openxmlformats.org/drawingml/2006/main">
              <a:ext uri="{FF2B5EF4-FFF2-40B4-BE49-F238E27FC236}">
                <a16:creationId xmlns:a16="http://schemas.microsoft.com/office/drawing/2014/main" id="{69597CDC-762E-4435-A305-EB2647A5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67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ch-3-text">
            <a:extLst xmlns:a="http://schemas.openxmlformats.org/drawingml/2006/main">
              <a:ext uri="{FF2B5EF4-FFF2-40B4-BE49-F238E27FC236}">
                <a16:creationId xmlns:a16="http://schemas.microsoft.com/office/drawing/2014/main" id="{D350ADF7-210F-422B-A84B-6CE3DAEB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67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arch-head-3">
            <a:extLst xmlns:a="http://schemas.openxmlformats.org/drawingml/2006/main">
              <a:ext uri="{FF2B5EF4-FFF2-40B4-BE49-F238E27FC236}">
                <a16:creationId xmlns:a16="http://schemas.microsoft.com/office/drawing/2014/main" id="{A94F5789-52FF-4C07-94D9-39C938C0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10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응답으로 화면 갱신</a:t>
            </a:r>
          </a:p>
        </p:txBody>
      </p:sp>
      <p:sp>
        <p:nvSpPr>
          <p:cNvPr id="20" name="arch-body-3">
            <a:extLst xmlns:a="http://schemas.openxmlformats.org/drawingml/2006/main">
              <a:ext uri="{FF2B5EF4-FFF2-40B4-BE49-F238E27FC236}">
                <a16:creationId xmlns:a16="http://schemas.microsoft.com/office/drawing/2014/main" id="{2B34FE92-67FF-4E01-B260-D8251B68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33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201 응답과 조회 결과로 목록·iframe 변경</a:t>
            </a:r>
          </a:p>
        </p:txBody>
      </p:sp>
      <p:sp>
        <p:nvSpPr>
          <p:cNvPr id="21" name="security-note">
            <a:extLst xmlns:a="http://schemas.openxmlformats.org/drawingml/2006/main">
              <a:ext uri="{FF2B5EF4-FFF2-40B4-BE49-F238E27FC236}">
                <a16:creationId xmlns:a16="http://schemas.microsoft.com/office/drawing/2014/main" id="{19650B0D-46D9-446A-9E44-451E7120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19700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ecurity-text">
            <a:extLst xmlns:a="http://schemas.openxmlformats.org/drawingml/2006/main">
              <a:ext uri="{FF2B5EF4-FFF2-40B4-BE49-F238E27FC236}">
                <a16:creationId xmlns:a16="http://schemas.microsoft.com/office/drawing/2014/main" id="{D7EE0631-7B98-4395-A99E-AEADA088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959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Secret key는 Express 환경변수에서만 관리</a:t>
            </a:r>
          </a:p>
        </p:txBody>
      </p:sp>
    </p:spTree>
    <p:extLst>
      <p:ext uri="{BB962C8B-B14F-4D97-AF65-F5344CB8AC3E}">
        <p14:creationId xmlns:p14="http://schemas.microsoft.com/office/powerpoint/2010/main" val="14028977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5">
            <a:extLst xmlns:a="http://schemas.openxmlformats.org/drawingml/2006/main">
              <a:ext uri="{FF2B5EF4-FFF2-40B4-BE49-F238E27FC236}">
                <a16:creationId xmlns:a16="http://schemas.microsoft.com/office/drawing/2014/main" id="{83A6040A-BCAB-40AA-84FA-46416AA6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ACTUAL PRODUCT DEMO</a:t>
            </a:r>
          </a:p>
        </p:txBody>
      </p:sp>
      <p:sp>
        <p:nvSpPr>
          <p:cNvPr id="2" name="number-5">
            <a:extLst xmlns:a="http://schemas.openxmlformats.org/drawingml/2006/main">
              <a:ext uri="{FF2B5EF4-FFF2-40B4-BE49-F238E27FC236}">
                <a16:creationId xmlns:a16="http://schemas.microsoft.com/office/drawing/2014/main" id="{2C5D0F5F-EEC3-419D-9E76-B59D2075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BFF778F5-1D10-4B64-9C89-A56BA742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실제 페이지에서 저장하고 다시 불러옵니다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15fe1dc6a4499"/>
          <a:srcRect xmlns:a="http://schemas.openxmlformats.org/drawingml/2006/main" l="0" t="20754" r="0" b="207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10820400" cy="3562350"/>
          </a:xfrm>
          <a:prstGeom xmlns:a="http://schemas.openxmlformats.org/drawingml/2006/main" prst="roundRect">
            <a:avLst>
              <a:gd name="adj" fmla="val 3209"/>
            </a:avLst>
          </a:prstGeom>
        </p:spPr>
      </p:pic>
      <p:sp>
        <p:nvSpPr>
          <p:cNvPr id="5" name="demo-rule-0">
            <a:extLst xmlns:a="http://schemas.openxmlformats.org/drawingml/2006/main">
              <a:ext uri="{FF2B5EF4-FFF2-40B4-BE49-F238E27FC236}">
                <a16:creationId xmlns:a16="http://schemas.microsoft.com/office/drawing/2014/main" id="{5BA577C2-121D-4428-9AB1-02CA2970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mo-0-circle">
            <a:extLst xmlns:a="http://schemas.openxmlformats.org/drawingml/2006/main">
              <a:ext uri="{FF2B5EF4-FFF2-40B4-BE49-F238E27FC236}">
                <a16:creationId xmlns:a16="http://schemas.microsoft.com/office/drawing/2014/main" id="{6F4BC04E-DAFD-4EED-9B13-65683A6D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mo-0-text">
            <a:extLst xmlns:a="http://schemas.openxmlformats.org/drawingml/2006/main">
              <a:ext uri="{FF2B5EF4-FFF2-40B4-BE49-F238E27FC236}">
                <a16:creationId xmlns:a16="http://schemas.microsoft.com/office/drawing/2014/main" id="{D3AA3631-3E34-41F0-8B63-D47BC68D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demo-head-0">
            <a:extLst xmlns:a="http://schemas.openxmlformats.org/drawingml/2006/main">
              <a:ext uri="{FF2B5EF4-FFF2-40B4-BE49-F238E27FC236}">
                <a16:creationId xmlns:a16="http://schemas.microsoft.com/office/drawing/2014/main" id="{14FA02D4-B28D-4186-A176-AC0C45FB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67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결과 확인</a:t>
            </a:r>
          </a:p>
        </p:txBody>
      </p:sp>
      <p:sp>
        <p:nvSpPr>
          <p:cNvPr id="9" name="demo-body-0">
            <a:extLst xmlns:a="http://schemas.openxmlformats.org/drawingml/2006/main">
              <a:ext uri="{FF2B5EF4-FFF2-40B4-BE49-F238E27FC236}">
                <a16:creationId xmlns:a16="http://schemas.microsoft.com/office/drawing/2014/main" id="{098D883A-D9FB-4B00-904C-0D2EEC8E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72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생성된 포트폴리오 HTML을 화면에서 검토</a:t>
            </a:r>
          </a:p>
        </p:txBody>
      </p:sp>
      <p:sp>
        <p:nvSpPr>
          <p:cNvPr id="10" name="demo-rule-1">
            <a:extLst xmlns:a="http://schemas.openxmlformats.org/drawingml/2006/main">
              <a:ext uri="{FF2B5EF4-FFF2-40B4-BE49-F238E27FC236}">
                <a16:creationId xmlns:a16="http://schemas.microsoft.com/office/drawing/2014/main" id="{4496D5FD-4FB4-4D46-9A21-A9819D36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530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1-circle">
            <a:extLst xmlns:a="http://schemas.openxmlformats.org/drawingml/2006/main">
              <a:ext uri="{FF2B5EF4-FFF2-40B4-BE49-F238E27FC236}">
                <a16:creationId xmlns:a16="http://schemas.microsoft.com/office/drawing/2014/main" id="{54E1D3D2-15F8-45B2-881F-68A19AAC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43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mo-1-text">
            <a:extLst xmlns:a="http://schemas.openxmlformats.org/drawingml/2006/main">
              <a:ext uri="{FF2B5EF4-FFF2-40B4-BE49-F238E27FC236}">
                <a16:creationId xmlns:a16="http://schemas.microsoft.com/office/drawing/2014/main" id="{19D6AC21-39E9-4FE2-89F5-1F90B669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43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demo-head-1">
            <a:extLst xmlns:a="http://schemas.openxmlformats.org/drawingml/2006/main">
              <a:ext uri="{FF2B5EF4-FFF2-40B4-BE49-F238E27FC236}">
                <a16:creationId xmlns:a16="http://schemas.microsoft.com/office/drawing/2014/main" id="{90D2372D-63AE-489E-9298-01EE981D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67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현재 결과 저장</a:t>
            </a:r>
          </a:p>
        </p:txBody>
      </p:sp>
      <p:sp>
        <p:nvSpPr>
          <p:cNvPr id="14" name="demo-body-1">
            <a:extLst xmlns:a="http://schemas.openxmlformats.org/drawingml/2006/main">
              <a:ext uri="{FF2B5EF4-FFF2-40B4-BE49-F238E27FC236}">
                <a16:creationId xmlns:a16="http://schemas.microsoft.com/office/drawing/2014/main" id="{A1B05314-77EB-4854-BE12-C6D37690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72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버튼 클릭으로 Express API에 저장 요청</a:t>
            </a:r>
          </a:p>
        </p:txBody>
      </p:sp>
      <p:sp>
        <p:nvSpPr>
          <p:cNvPr id="15" name="demo-rule-2">
            <a:extLst xmlns:a="http://schemas.openxmlformats.org/drawingml/2006/main">
              <a:ext uri="{FF2B5EF4-FFF2-40B4-BE49-F238E27FC236}">
                <a16:creationId xmlns:a16="http://schemas.microsoft.com/office/drawing/2014/main" id="{D4C6BBBF-741A-4827-8E79-0AD341B1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530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emo-2-circle">
            <a:extLst xmlns:a="http://schemas.openxmlformats.org/drawingml/2006/main">
              <a:ext uri="{FF2B5EF4-FFF2-40B4-BE49-F238E27FC236}">
                <a16:creationId xmlns:a16="http://schemas.microsoft.com/office/drawing/2014/main" id="{5CF95204-0F14-4F1C-AC35-BECD6D16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43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emo-2-text">
            <a:extLst xmlns:a="http://schemas.openxmlformats.org/drawingml/2006/main">
              <a:ext uri="{FF2B5EF4-FFF2-40B4-BE49-F238E27FC236}">
                <a16:creationId xmlns:a16="http://schemas.microsoft.com/office/drawing/2014/main" id="{A7E56630-BB39-4892-BB36-3012F4BE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43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demo-head-2">
            <a:extLst xmlns:a="http://schemas.openxmlformats.org/drawingml/2006/main">
              <a:ext uri="{FF2B5EF4-FFF2-40B4-BE49-F238E27FC236}">
                <a16:creationId xmlns:a16="http://schemas.microsoft.com/office/drawing/2014/main" id="{7D3B6F9E-9DD2-4ADB-BA04-350BF8DD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67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기록 다시 보기</a:t>
            </a:r>
          </a:p>
        </p:txBody>
      </p:sp>
      <p:sp>
        <p:nvSpPr>
          <p:cNvPr id="19" name="demo-body-2">
            <a:extLst xmlns:a="http://schemas.openxmlformats.org/drawingml/2006/main">
              <a:ext uri="{FF2B5EF4-FFF2-40B4-BE49-F238E27FC236}">
                <a16:creationId xmlns:a16="http://schemas.microsoft.com/office/drawing/2014/main" id="{B94FD4A0-0F38-4133-AE9E-A52418BA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72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Supabase 기록을 불러와 미리보기 교체</a:t>
            </a:r>
          </a:p>
        </p:txBody>
      </p:sp>
    </p:spTree>
    <p:extLst>
      <p:ext uri="{BB962C8B-B14F-4D97-AF65-F5344CB8AC3E}">
        <p14:creationId xmlns:p14="http://schemas.microsoft.com/office/powerpoint/2010/main" val="1285770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6">
            <a:extLst xmlns:a="http://schemas.openxmlformats.org/drawingml/2006/main">
              <a:ext uri="{FF2B5EF4-FFF2-40B4-BE49-F238E27FC236}">
                <a16:creationId xmlns:a16="http://schemas.microsoft.com/office/drawing/2014/main" id="{BD68ECF0-ED3D-419B-95E0-4C8832C0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LIVE EVIDENCE</a:t>
            </a:r>
          </a:p>
        </p:txBody>
      </p:sp>
      <p:sp>
        <p:nvSpPr>
          <p:cNvPr id="2" name="number-6">
            <a:extLst xmlns:a="http://schemas.openxmlformats.org/drawingml/2006/main">
              <a:ext uri="{FF2B5EF4-FFF2-40B4-BE49-F238E27FC236}">
                <a16:creationId xmlns:a16="http://schemas.microsoft.com/office/drawing/2014/main" id="{B68D8100-B337-4946-B5C1-DCB1F218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6A1E1BC7-2681-456F-A2BB-C70101C4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실제 Supabase에서 저장과 조회를 확인했습니다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c8504f78a4057"/>
          <a:stretch xmlns:a="http://schemas.openxmlformats.org/drawingml/2006/main"/>
        </p:blipFill>
        <p:spPr>
          <a:xfrm xmlns:a="http://schemas.openxmlformats.org/drawingml/2006/main">
            <a:off x="800314" y="1657350"/>
            <a:ext cx="7581472" cy="4267200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  <p:sp>
        <p:nvSpPr>
          <p:cNvPr id="5" name="proof-value-0">
            <a:extLst xmlns:a="http://schemas.openxmlformats.org/drawingml/2006/main">
              <a:ext uri="{FF2B5EF4-FFF2-40B4-BE49-F238E27FC236}">
                <a16:creationId xmlns:a16="http://schemas.microsoft.com/office/drawing/2014/main" id="{2AC9E503-06DE-4705-A0EC-9FA2D075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907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 → 2</a:t>
            </a:r>
          </a:p>
        </p:txBody>
      </p:sp>
      <p:sp>
        <p:nvSpPr>
          <p:cNvPr id="6" name="proof-label-0">
            <a:extLst xmlns:a="http://schemas.openxmlformats.org/drawingml/2006/main">
              <a:ext uri="{FF2B5EF4-FFF2-40B4-BE49-F238E27FC236}">
                <a16:creationId xmlns:a16="http://schemas.microsoft.com/office/drawing/2014/main" id="{5AF72F40-BA99-434A-A483-7C748467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66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저장 후 목록 개수</a:t>
            </a:r>
          </a:p>
        </p:txBody>
      </p:sp>
      <p:sp>
        <p:nvSpPr>
          <p:cNvPr id="7" name="proof-line-0">
            <a:extLst xmlns:a="http://schemas.openxmlformats.org/drawingml/2006/main">
              <a:ext uri="{FF2B5EF4-FFF2-40B4-BE49-F238E27FC236}">
                <a16:creationId xmlns:a16="http://schemas.microsoft.com/office/drawing/2014/main" id="{0A962B1E-8831-4D77-A95B-7B63D48A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2890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of-value-1">
            <a:extLst xmlns:a="http://schemas.openxmlformats.org/drawingml/2006/main">
              <a:ext uri="{FF2B5EF4-FFF2-40B4-BE49-F238E27FC236}">
                <a16:creationId xmlns:a16="http://schemas.microsoft.com/office/drawing/2014/main" id="{2FF0A52E-7315-41DC-A75A-C88E8642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813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201</a:t>
            </a:r>
          </a:p>
        </p:txBody>
      </p:sp>
      <p:sp>
        <p:nvSpPr>
          <p:cNvPr id="9" name="proof-label-1">
            <a:extLst xmlns:a="http://schemas.openxmlformats.org/drawingml/2006/main">
              <a:ext uri="{FF2B5EF4-FFF2-40B4-BE49-F238E27FC236}">
                <a16:creationId xmlns:a16="http://schemas.microsoft.com/office/drawing/2014/main" id="{50DB6B60-604E-4391-B039-0BDFE953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POST 저장 응답</a:t>
            </a:r>
          </a:p>
        </p:txBody>
      </p:sp>
      <p:sp>
        <p:nvSpPr>
          <p:cNvPr id="10" name="proof-line-1">
            <a:extLst xmlns:a="http://schemas.openxmlformats.org/drawingml/2006/main">
              <a:ext uri="{FF2B5EF4-FFF2-40B4-BE49-F238E27FC236}">
                <a16:creationId xmlns:a16="http://schemas.microsoft.com/office/drawing/2014/main" id="{2CE8C3D1-6AEE-4A38-8594-B0297829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of-value-2">
            <a:extLst xmlns:a="http://schemas.openxmlformats.org/drawingml/2006/main">
              <a:ext uri="{FF2B5EF4-FFF2-40B4-BE49-F238E27FC236}">
                <a16:creationId xmlns:a16="http://schemas.microsoft.com/office/drawing/2014/main" id="{3E99D03A-01AF-4ACB-AECD-F7243974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719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HTML ✓</a:t>
            </a:r>
          </a:p>
        </p:txBody>
      </p:sp>
      <p:sp>
        <p:nvSpPr>
          <p:cNvPr id="12" name="proof-label-2">
            <a:extLst xmlns:a="http://schemas.openxmlformats.org/drawingml/2006/main">
              <a:ext uri="{FF2B5EF4-FFF2-40B4-BE49-F238E27FC236}">
                <a16:creationId xmlns:a16="http://schemas.microsoft.com/office/drawing/2014/main" id="{E268262D-965A-4430-B71A-320CD059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상세 조회 원문</a:t>
            </a:r>
          </a:p>
        </p:txBody>
      </p:sp>
      <p:sp>
        <p:nvSpPr>
          <p:cNvPr id="13" name="proof-line-2">
            <a:extLst xmlns:a="http://schemas.openxmlformats.org/drawingml/2006/main">
              <a:ext uri="{FF2B5EF4-FFF2-40B4-BE49-F238E27FC236}">
                <a16:creationId xmlns:a16="http://schemas.microsoft.com/office/drawing/2014/main" id="{0E653063-9624-4F28-A958-51D8E0D9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1010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of-value-3">
            <a:extLst xmlns:a="http://schemas.openxmlformats.org/drawingml/2006/main">
              <a:ext uri="{FF2B5EF4-FFF2-40B4-BE49-F238E27FC236}">
                <a16:creationId xmlns:a16="http://schemas.microsoft.com/office/drawing/2014/main" id="{7FA8D3FD-A908-4394-85D8-F6BB5CB9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625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59669"/>
                </a:solidFill>
              </a:defRPr>
            </a:pPr>
            <a:r>
              <a:rPr sz="2700" b="1">
                <a:solidFill>
                  <a:srgbClr val="059669"/>
                </a:solidFill>
              </a:rPr>
              <a:t>PASS</a:t>
            </a:r>
          </a:p>
        </p:txBody>
      </p:sp>
      <p:sp>
        <p:nvSpPr>
          <p:cNvPr id="15" name="proof-label-3">
            <a:extLst xmlns:a="http://schemas.openxmlformats.org/drawingml/2006/main">
              <a:ext uri="{FF2B5EF4-FFF2-40B4-BE49-F238E27FC236}">
                <a16:creationId xmlns:a16="http://schemas.microsoft.com/office/drawing/2014/main" id="{B23C7C12-740E-4EF3-AFE2-F0405E4D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38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iframe 내용 변경</a:t>
            </a:r>
          </a:p>
        </p:txBody>
      </p:sp>
    </p:spTree>
    <p:extLst>
      <p:ext uri="{BB962C8B-B14F-4D97-AF65-F5344CB8AC3E}">
        <p14:creationId xmlns:p14="http://schemas.microsoft.com/office/powerpoint/2010/main" val="5813670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7">
            <a:extLst xmlns:a="http://schemas.openxmlformats.org/drawingml/2006/main">
              <a:ext uri="{FF2B5EF4-FFF2-40B4-BE49-F238E27FC236}">
                <a16:creationId xmlns:a16="http://schemas.microsoft.com/office/drawing/2014/main" id="{3D733CB9-75EF-4FB6-ACE2-1C3B4D27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REACT PATTERN</a:t>
            </a:r>
          </a:p>
        </p:txBody>
      </p:sp>
      <p:sp>
        <p:nvSpPr>
          <p:cNvPr id="2" name="number-7">
            <a:extLst xmlns:a="http://schemas.openxmlformats.org/drawingml/2006/main">
              <a:ext uri="{FF2B5EF4-FFF2-40B4-BE49-F238E27FC236}">
                <a16:creationId xmlns:a16="http://schemas.microsoft.com/office/drawing/2014/main" id="{C6000C5F-2CA0-4936-A27F-CAD892C0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8BDA1357-9C18-4321-B796-95255FED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state는 부모가 소유하고, props로 자식과 연결합니다</a:t>
            </a:r>
          </a:p>
        </p:txBody>
      </p:sp>
      <p:sp>
        <p:nvSpPr>
          <p:cNvPr id="4" name="parent-card">
            <a:extLst xmlns:a="http://schemas.openxmlformats.org/drawingml/2006/main">
              <a:ext uri="{FF2B5EF4-FFF2-40B4-BE49-F238E27FC236}">
                <a16:creationId xmlns:a16="http://schemas.microsoft.com/office/drawing/2014/main" id="{09669877-2BC1-4CA0-9A41-BED960E3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4476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parent-accent">
            <a:extLst xmlns:a="http://schemas.openxmlformats.org/drawingml/2006/main">
              <a:ext uri="{FF2B5EF4-FFF2-40B4-BE49-F238E27FC236}">
                <a16:creationId xmlns:a16="http://schemas.microsoft.com/office/drawing/2014/main" id="{F5E3AF19-4B4C-4195-8F01-513045DA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rent-title">
            <a:extLst xmlns:a="http://schemas.openxmlformats.org/drawingml/2006/main">
              <a:ext uri="{FF2B5EF4-FFF2-40B4-BE49-F238E27FC236}">
                <a16:creationId xmlns:a16="http://schemas.microsoft.com/office/drawing/2014/main" id="{314829E4-CFE1-4F50-AE53-747846FD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52650"/>
            <a:ext cx="3790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PortfolioLibrary · 부모</a:t>
            </a:r>
          </a:p>
        </p:txBody>
      </p:sp>
      <p:sp>
        <p:nvSpPr>
          <p:cNvPr id="7" name="parent-list">
            <a:extLst xmlns:a="http://schemas.openxmlformats.org/drawingml/2006/main">
              <a:ext uri="{FF2B5EF4-FFF2-40B4-BE49-F238E27FC236}">
                <a16:creationId xmlns:a16="http://schemas.microsoft.com/office/drawing/2014/main" id="{C3429CEE-5F4D-4C84-A404-B4AE2509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3790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목록·검색어·디자인 state 소유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필터 결과 계산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API 저장·조회 실행</a:t>
            </a:r>
          </a:p>
        </p:txBody>
      </p:sp>
      <p:sp>
        <p:nvSpPr>
          <p:cNvPr id="8" name="state-arrow">
            <a:extLst xmlns:a="http://schemas.openxmlformats.org/drawingml/2006/main">
              <a:ext uri="{FF2B5EF4-FFF2-40B4-BE49-F238E27FC236}">
                <a16:creationId xmlns:a16="http://schemas.microsoft.com/office/drawing/2014/main" id="{00E4E4F6-5D20-420A-B1AA-9924AA70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2563EB"/>
                </a:solidFill>
              </a:defRPr>
            </a:pPr>
            <a:r>
              <a:rPr sz="4200" b="1">
                <a:solidFill>
                  <a:srgbClr val="2563EB"/>
                </a:solidFill>
              </a:rPr>
              <a:t>⇄</a:t>
            </a:r>
          </a:p>
        </p:txBody>
      </p:sp>
      <p:sp>
        <p:nvSpPr>
          <p:cNvPr id="9" name="child-card">
            <a:extLst xmlns:a="http://schemas.openxmlformats.org/drawingml/2006/main">
              <a:ext uri="{FF2B5EF4-FFF2-40B4-BE49-F238E27FC236}">
                <a16:creationId xmlns:a16="http://schemas.microsoft.com/office/drawing/2014/main" id="{2A8E8EE1-EAC4-44BB-B884-72AA9964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90700"/>
            <a:ext cx="4476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child-accent">
            <a:extLst xmlns:a="http://schemas.openxmlformats.org/drawingml/2006/main">
              <a:ext uri="{FF2B5EF4-FFF2-40B4-BE49-F238E27FC236}">
                <a16:creationId xmlns:a16="http://schemas.microsoft.com/office/drawing/2014/main" id="{31847009-3C48-4C79-909E-68FC6B68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9070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ild-title">
            <a:extLst xmlns:a="http://schemas.openxmlformats.org/drawingml/2006/main">
              <a:ext uri="{FF2B5EF4-FFF2-40B4-BE49-F238E27FC236}">
                <a16:creationId xmlns:a16="http://schemas.microsoft.com/office/drawing/2014/main" id="{E566FD24-59A5-4A42-8FF6-2C4B5339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52650"/>
            <a:ext cx="3790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PortfolioFilters · 자식</a:t>
            </a:r>
          </a:p>
        </p:txBody>
      </p:sp>
      <p:sp>
        <p:nvSpPr>
          <p:cNvPr id="12" name="child-list">
            <a:extLst xmlns:a="http://schemas.openxmlformats.org/drawingml/2006/main">
              <a:ext uri="{FF2B5EF4-FFF2-40B4-BE49-F238E27FC236}">
                <a16:creationId xmlns:a16="http://schemas.microsoft.com/office/drawing/2014/main" id="{687A643E-87FC-454C-BF4E-E4477614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76550"/>
            <a:ext cx="3790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현재 값을 props로 표시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입력 이벤트를 callback으로 전달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결과 개수와 초기화 상태 표현</a:t>
            </a:r>
          </a:p>
        </p:txBody>
      </p:sp>
    </p:spTree>
    <p:extLst>
      <p:ext uri="{BB962C8B-B14F-4D97-AF65-F5344CB8AC3E}">
        <p14:creationId xmlns:p14="http://schemas.microsoft.com/office/powerpoint/2010/main" val="10744150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8">
            <a:extLst xmlns:a="http://schemas.openxmlformats.org/drawingml/2006/main">
              <a:ext uri="{FF2B5EF4-FFF2-40B4-BE49-F238E27FC236}">
                <a16:creationId xmlns:a16="http://schemas.microsoft.com/office/drawing/2014/main" id="{53A27A1E-A74B-4F05-B3BA-020FD0B5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FEATURE VERIFIER</a:t>
            </a:r>
          </a:p>
        </p:txBody>
      </p:sp>
      <p:sp>
        <p:nvSpPr>
          <p:cNvPr id="2" name="number-8">
            <a:extLst xmlns:a="http://schemas.openxmlformats.org/drawingml/2006/main">
              <a:ext uri="{FF2B5EF4-FFF2-40B4-BE49-F238E27FC236}">
                <a16:creationId xmlns:a16="http://schemas.microsoft.com/office/drawing/2014/main" id="{96D9F615-15B7-4FAA-A30D-4F509513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7E7EC64C-E39F-43FC-8437-13377FF8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코드 존재가 아니라 실행 증거로 PASS를 판정했습니다</a:t>
            </a:r>
          </a:p>
        </p:txBody>
      </p:sp>
      <p:sp>
        <p:nvSpPr>
          <p:cNvPr id="4" name="check-card-0">
            <a:extLst xmlns:a="http://schemas.openxmlformats.org/drawingml/2006/main">
              <a:ext uri="{FF2B5EF4-FFF2-40B4-BE49-F238E27FC236}">
                <a16:creationId xmlns:a16="http://schemas.microsoft.com/office/drawing/2014/main" id="{0D452E6D-000C-482B-8A08-2A06F02A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2197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check-label-0">
            <a:extLst xmlns:a="http://schemas.openxmlformats.org/drawingml/2006/main">
              <a:ext uri="{FF2B5EF4-FFF2-40B4-BE49-F238E27FC236}">
                <a16:creationId xmlns:a16="http://schemas.microsoft.com/office/drawing/2014/main" id="{DE2F3E7B-7D6C-435D-9148-BE786CF2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05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FE</a:t>
            </a:r>
          </a:p>
        </p:txBody>
      </p:sp>
      <p:sp>
        <p:nvSpPr>
          <p:cNvPr id="6" name="check-value-0">
            <a:extLst xmlns:a="http://schemas.openxmlformats.org/drawingml/2006/main">
              <a:ext uri="{FF2B5EF4-FFF2-40B4-BE49-F238E27FC236}">
                <a16:creationId xmlns:a16="http://schemas.microsoft.com/office/drawing/2014/main" id="{CC5E8FF9-205D-4843-8833-322324B7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59669"/>
                </a:solidFill>
              </a:defRPr>
            </a:pPr>
            <a:r>
              <a:rPr sz="2700" b="1">
                <a:solidFill>
                  <a:srgbClr val="059669"/>
                </a:solidFill>
              </a:rPr>
              <a:t>8 tests</a:t>
            </a:r>
          </a:p>
        </p:txBody>
      </p:sp>
      <p:sp>
        <p:nvSpPr>
          <p:cNvPr id="7" name="check-body-0">
            <a:extLst xmlns:a="http://schemas.openxmlformats.org/drawingml/2006/main">
              <a:ext uri="{FF2B5EF4-FFF2-40B4-BE49-F238E27FC236}">
                <a16:creationId xmlns:a16="http://schemas.microsoft.com/office/drawing/2014/main" id="{CF21C63A-76CC-4E72-B2E9-23FF13A4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mock 저장·조회, 검색·디자인 필터 상태</a:t>
            </a:r>
          </a:p>
        </p:txBody>
      </p:sp>
      <p:sp>
        <p:nvSpPr>
          <p:cNvPr id="8" name="check-card-1">
            <a:extLst xmlns:a="http://schemas.openxmlformats.org/drawingml/2006/main">
              <a:ext uri="{FF2B5EF4-FFF2-40B4-BE49-F238E27FC236}">
                <a16:creationId xmlns:a16="http://schemas.microsoft.com/office/drawing/2014/main" id="{858DC71C-5583-493B-8FA5-41538A8E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95450"/>
            <a:ext cx="52197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check-label-1">
            <a:extLst xmlns:a="http://schemas.openxmlformats.org/drawingml/2006/main">
              <a:ext uri="{FF2B5EF4-FFF2-40B4-BE49-F238E27FC236}">
                <a16:creationId xmlns:a16="http://schemas.microsoft.com/office/drawing/2014/main" id="{BF9615B7-0C14-40D8-A23B-93460CD5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BE</a:t>
            </a:r>
          </a:p>
        </p:txBody>
      </p:sp>
      <p:sp>
        <p:nvSpPr>
          <p:cNvPr id="10" name="check-value-1">
            <a:extLst xmlns:a="http://schemas.openxmlformats.org/drawingml/2006/main">
              <a:ext uri="{FF2B5EF4-FFF2-40B4-BE49-F238E27FC236}">
                <a16:creationId xmlns:a16="http://schemas.microsoft.com/office/drawing/2014/main" id="{36DB1118-D3A6-4D40-8C4D-7721C150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98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59669"/>
                </a:solidFill>
              </a:defRPr>
            </a:pPr>
            <a:r>
              <a:rPr sz="2700" b="1">
                <a:solidFill>
                  <a:srgbClr val="059669"/>
                </a:solidFill>
              </a:rPr>
              <a:t>7 tests</a:t>
            </a:r>
          </a:p>
        </p:txBody>
      </p:sp>
      <p:sp>
        <p:nvSpPr>
          <p:cNvPr id="11" name="check-body-1">
            <a:extLst xmlns:a="http://schemas.openxmlformats.org/drawingml/2006/main">
              <a:ext uri="{FF2B5EF4-FFF2-40B4-BE49-F238E27FC236}">
                <a16:creationId xmlns:a16="http://schemas.microsoft.com/office/drawing/2014/main" id="{3BF35AF6-2172-401B-B72D-05C3AF85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384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201·400·404·502·503 계약과 변환</a:t>
            </a:r>
          </a:p>
        </p:txBody>
      </p:sp>
      <p:sp>
        <p:nvSpPr>
          <p:cNvPr id="12" name="check-card-2">
            <a:extLst xmlns:a="http://schemas.openxmlformats.org/drawingml/2006/main">
              <a:ext uri="{FF2B5EF4-FFF2-40B4-BE49-F238E27FC236}">
                <a16:creationId xmlns:a16="http://schemas.microsoft.com/office/drawing/2014/main" id="{ABC357A5-8959-4723-A102-0705214E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2197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check-label-2">
            <a:extLst xmlns:a="http://schemas.openxmlformats.org/drawingml/2006/main">
              <a:ext uri="{FF2B5EF4-FFF2-40B4-BE49-F238E27FC236}">
                <a16:creationId xmlns:a16="http://schemas.microsoft.com/office/drawing/2014/main" id="{E69A1C30-749D-41D7-9944-E5CDD683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DB</a:t>
            </a:r>
          </a:p>
        </p:txBody>
      </p:sp>
      <p:sp>
        <p:nvSpPr>
          <p:cNvPr id="14" name="check-value-2">
            <a:extLst xmlns:a="http://schemas.openxmlformats.org/drawingml/2006/main">
              <a:ext uri="{FF2B5EF4-FFF2-40B4-BE49-F238E27FC236}">
                <a16:creationId xmlns:a16="http://schemas.microsoft.com/office/drawing/2014/main" id="{899D2E38-FD57-43C2-818A-C9037144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59669"/>
                </a:solidFill>
              </a:defRPr>
            </a:pPr>
            <a:r>
              <a:rPr sz="2700" b="1">
                <a:solidFill>
                  <a:srgbClr val="059669"/>
                </a:solidFill>
              </a:rPr>
              <a:t>1 table</a:t>
            </a:r>
          </a:p>
        </p:txBody>
      </p:sp>
      <p:sp>
        <p:nvSpPr>
          <p:cNvPr id="15" name="check-body-2">
            <a:extLst xmlns:a="http://schemas.openxmlformats.org/drawingml/2006/main">
              <a:ext uri="{FF2B5EF4-FFF2-40B4-BE49-F238E27FC236}">
                <a16:creationId xmlns:a16="http://schemas.microsoft.com/office/drawing/2014/main" id="{17F44208-F45F-4483-8611-AFF7A2F5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339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migration·RLS·실제 insert/select 행</a:t>
            </a:r>
          </a:p>
        </p:txBody>
      </p:sp>
      <p:sp>
        <p:nvSpPr>
          <p:cNvPr id="16" name="check-card-3">
            <a:extLst xmlns:a="http://schemas.openxmlformats.org/drawingml/2006/main">
              <a:ext uri="{FF2B5EF4-FFF2-40B4-BE49-F238E27FC236}">
                <a16:creationId xmlns:a16="http://schemas.microsoft.com/office/drawing/2014/main" id="{4E0A756F-E05F-43CB-9997-230DD9DB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90950"/>
            <a:ext cx="52197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check-label-3">
            <a:extLst xmlns:a="http://schemas.openxmlformats.org/drawingml/2006/main">
              <a:ext uri="{FF2B5EF4-FFF2-40B4-BE49-F238E27FC236}">
                <a16:creationId xmlns:a16="http://schemas.microsoft.com/office/drawing/2014/main" id="{6DC5033F-5731-4208-B75D-26B5898D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00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통합</a:t>
            </a:r>
          </a:p>
        </p:txBody>
      </p:sp>
      <p:sp>
        <p:nvSpPr>
          <p:cNvPr id="18" name="check-value-3">
            <a:extLst xmlns:a="http://schemas.openxmlformats.org/drawingml/2006/main">
              <a:ext uri="{FF2B5EF4-FFF2-40B4-BE49-F238E27FC236}">
                <a16:creationId xmlns:a16="http://schemas.microsoft.com/office/drawing/2014/main" id="{976D88EC-024E-4553-A47A-13D87772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053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59669"/>
                </a:solidFill>
              </a:defRPr>
            </a:pPr>
            <a:r>
              <a:rPr sz="2700" b="1">
                <a:solidFill>
                  <a:srgbClr val="059669"/>
                </a:solidFill>
              </a:rPr>
              <a:t>PASS</a:t>
            </a:r>
          </a:p>
        </p:txBody>
      </p:sp>
      <p:sp>
        <p:nvSpPr>
          <p:cNvPr id="19" name="check-body-3">
            <a:extLst xmlns:a="http://schemas.openxmlformats.org/drawingml/2006/main">
              <a:ext uri="{FF2B5EF4-FFF2-40B4-BE49-F238E27FC236}">
                <a16:creationId xmlns:a16="http://schemas.microsoft.com/office/drawing/2014/main" id="{77028562-BA1E-4A94-9DCA-C7D07FC6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339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React → Express → Supabase → React 확인</a:t>
            </a:r>
          </a:p>
        </p:txBody>
      </p:sp>
    </p:spTree>
    <p:extLst>
      <p:ext uri="{BB962C8B-B14F-4D97-AF65-F5344CB8AC3E}">
        <p14:creationId xmlns:p14="http://schemas.microsoft.com/office/powerpoint/2010/main" val="9929873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9">
            <a:extLst xmlns:a="http://schemas.openxmlformats.org/drawingml/2006/main">
              <a:ext uri="{FF2B5EF4-FFF2-40B4-BE49-F238E27FC236}">
                <a16:creationId xmlns:a16="http://schemas.microsoft.com/office/drawing/2014/main" id="{822C6BD9-9A31-4B98-A921-2979F91F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OUTCOME</a:t>
            </a:r>
          </a:p>
        </p:txBody>
      </p:sp>
      <p:sp>
        <p:nvSpPr>
          <p:cNvPr id="2" name="number-9">
            <a:extLst xmlns:a="http://schemas.openxmlformats.org/drawingml/2006/main">
              <a:ext uri="{FF2B5EF4-FFF2-40B4-BE49-F238E27FC236}">
                <a16:creationId xmlns:a16="http://schemas.microsoft.com/office/drawing/2014/main" id="{D9DDEDFC-B5A6-4318-9F2A-1BA7EA35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BE9B270B-2AA3-4BDF-8C13-37DEBF53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이번 주는 영속화 한 바퀴를 닫았습니다</a:t>
            </a:r>
          </a:p>
        </p:txBody>
      </p:sp>
      <p:sp>
        <p:nvSpPr>
          <p:cNvPr id="4" name="done-panel">
            <a:extLst xmlns:a="http://schemas.openxmlformats.org/drawingml/2006/main">
              <a:ext uri="{FF2B5EF4-FFF2-40B4-BE49-F238E27FC236}">
                <a16:creationId xmlns:a16="http://schemas.microsoft.com/office/drawing/2014/main" id="{D4D468F1-EE26-4E84-B492-3CB75B1F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ne-label">
            <a:extLst xmlns:a="http://schemas.openxmlformats.org/drawingml/2006/main">
              <a:ext uri="{FF2B5EF4-FFF2-40B4-BE49-F238E27FC236}">
                <a16:creationId xmlns:a16="http://schemas.microsoft.com/office/drawing/2014/main" id="{13696FEE-3E55-42AA-8B06-059D8C44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6EE7B7"/>
                </a:solidFill>
              </a:defRPr>
            </a:pPr>
            <a:r>
              <a:rPr sz="4350" b="1">
                <a:solidFill>
                  <a:srgbClr val="6EE7B7"/>
                </a:solidFill>
              </a:rPr>
              <a:t>Done</a:t>
            </a:r>
          </a:p>
        </p:txBody>
      </p:sp>
      <p:sp>
        <p:nvSpPr>
          <p:cNvPr id="6" name="done-body">
            <a:extLst xmlns:a="http://schemas.openxmlformats.org/drawingml/2006/main">
              <a:ext uri="{FF2B5EF4-FFF2-40B4-BE49-F238E27FC236}">
                <a16:creationId xmlns:a16="http://schemas.microsoft.com/office/drawing/2014/main" id="{5205B658-BEF6-4A17-9319-7EECE47F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저장·목록·상세 조회와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기능 검증 Agent까지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첫 수직 슬라이스를 완성했습니다.</a:t>
            </a:r>
          </a:p>
        </p:txBody>
      </p:sp>
      <p:sp>
        <p:nvSpPr>
          <p:cNvPr id="7" name="next-title">
            <a:extLst xmlns:a="http://schemas.openxmlformats.org/drawingml/2006/main">
              <a:ext uri="{FF2B5EF4-FFF2-40B4-BE49-F238E27FC236}">
                <a16:creationId xmlns:a16="http://schemas.microsoft.com/office/drawing/2014/main" id="{321A15A3-FBD9-43C1-828E-D62CBBBA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다음 단계</a:t>
            </a:r>
          </a:p>
        </p:txBody>
      </p:sp>
      <p:sp>
        <p:nvSpPr>
          <p:cNvPr id="8" name="next-0-circle">
            <a:extLst xmlns:a="http://schemas.openxmlformats.org/drawingml/2006/main">
              <a:ext uri="{FF2B5EF4-FFF2-40B4-BE49-F238E27FC236}">
                <a16:creationId xmlns:a16="http://schemas.microsoft.com/office/drawing/2014/main" id="{7D4A1583-BFD2-46AC-9EF6-F3634FB9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ext-0-text">
            <a:extLst xmlns:a="http://schemas.openxmlformats.org/drawingml/2006/main">
              <a:ext uri="{FF2B5EF4-FFF2-40B4-BE49-F238E27FC236}">
                <a16:creationId xmlns:a16="http://schemas.microsoft.com/office/drawing/2014/main" id="{63655176-322E-408D-9D86-EEC1161C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next-text-0">
            <a:extLst xmlns:a="http://schemas.openxmlformats.org/drawingml/2006/main">
              <a:ext uri="{FF2B5EF4-FFF2-40B4-BE49-F238E27FC236}">
                <a16:creationId xmlns:a16="http://schemas.microsoft.com/office/drawing/2014/main" id="{6B063B46-7155-40A1-AD79-0F743C36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Claude API 실제 요청 검증</a:t>
            </a:r>
          </a:p>
        </p:txBody>
      </p:sp>
      <p:sp>
        <p:nvSpPr>
          <p:cNvPr id="11" name="next-line-0">
            <a:extLst xmlns:a="http://schemas.openxmlformats.org/drawingml/2006/main">
              <a:ext uri="{FF2B5EF4-FFF2-40B4-BE49-F238E27FC236}">
                <a16:creationId xmlns:a16="http://schemas.microsoft.com/office/drawing/2014/main" id="{2062417B-753D-4865-BBA5-8D1F85D6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ext-1-circle">
            <a:extLst xmlns:a="http://schemas.openxmlformats.org/drawingml/2006/main">
              <a:ext uri="{FF2B5EF4-FFF2-40B4-BE49-F238E27FC236}">
                <a16:creationId xmlns:a16="http://schemas.microsoft.com/office/drawing/2014/main" id="{F4B7806D-183A-4E5C-B914-2D55C18E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ext-1-text">
            <a:extLst xmlns:a="http://schemas.openxmlformats.org/drawingml/2006/main">
              <a:ext uri="{FF2B5EF4-FFF2-40B4-BE49-F238E27FC236}">
                <a16:creationId xmlns:a16="http://schemas.microsoft.com/office/drawing/2014/main" id="{A5FB9DBA-FF17-4458-88DD-2EDE6B51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next-text-1">
            <a:extLst xmlns:a="http://schemas.openxmlformats.org/drawingml/2006/main">
              <a:ext uri="{FF2B5EF4-FFF2-40B4-BE49-F238E27FC236}">
                <a16:creationId xmlns:a16="http://schemas.microsoft.com/office/drawing/2014/main" id="{2BA5F935-68FD-4191-82AE-885E76C9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337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AI 결과 비교와 자동 폴백</a:t>
            </a:r>
          </a:p>
        </p:txBody>
      </p:sp>
      <p:sp>
        <p:nvSpPr>
          <p:cNvPr id="15" name="next-line-1">
            <a:extLst xmlns:a="http://schemas.openxmlformats.org/drawingml/2006/main">
              <a:ext uri="{FF2B5EF4-FFF2-40B4-BE49-F238E27FC236}">
                <a16:creationId xmlns:a16="http://schemas.microsoft.com/office/drawing/2014/main" id="{2F52092B-5FD9-4C87-8AE2-7C93C7A5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ext-2-circle">
            <a:extLst xmlns:a="http://schemas.openxmlformats.org/drawingml/2006/main">
              <a:ext uri="{FF2B5EF4-FFF2-40B4-BE49-F238E27FC236}">
                <a16:creationId xmlns:a16="http://schemas.microsoft.com/office/drawing/2014/main" id="{2FCDC9D7-D219-41A8-AA3B-F6143D83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ext-2-text">
            <a:extLst xmlns:a="http://schemas.openxmlformats.org/drawingml/2006/main">
              <a:ext uri="{FF2B5EF4-FFF2-40B4-BE49-F238E27FC236}">
                <a16:creationId xmlns:a16="http://schemas.microsoft.com/office/drawing/2014/main" id="{5AA38F67-0A21-4146-8F6D-95B3C143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next-text-2">
            <a:extLst xmlns:a="http://schemas.openxmlformats.org/drawingml/2006/main">
              <a:ext uri="{FF2B5EF4-FFF2-40B4-BE49-F238E27FC236}">
                <a16:creationId xmlns:a16="http://schemas.microsoft.com/office/drawing/2014/main" id="{5EB0DA28-4F93-41FB-B70B-EBD14B7C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481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파서 fixture와 새 클론 재현</a:t>
            </a:r>
          </a:p>
        </p:txBody>
      </p:sp>
    </p:spTree>
    <p:extLst>
      <p:ext uri="{BB962C8B-B14F-4D97-AF65-F5344CB8AC3E}">
        <p14:creationId xmlns:p14="http://schemas.microsoft.com/office/powerpoint/2010/main" val="73790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2026-07-16T08:40:33.3910000Z</dcterms:created>
  <dcterms:modified xsi:type="dcterms:W3CDTF">2026-07-16T08:40:33.3910000Z</dcterms:modified>
</coreProperties>
</file>