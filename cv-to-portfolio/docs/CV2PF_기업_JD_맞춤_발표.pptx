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6a2daa89c4404b" /><Relationship Type="http://schemas.openxmlformats.org/officeDocument/2006/relationships/extended-properties" Target="/docProps/app.xml" Id="R34e1af150b3446d7" /><Relationship Type="http://schemas.openxmlformats.org/officeDocument/2006/relationships/officeDocument" Target="/ppt/presentation.xml" Id="R3652fc1ce38b4a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9d751599044152"/>
  </p:sldMasterIdLst>
  <p:notesMasterIdLst>
    <p:notesMasterId xmlns:r="http://schemas.openxmlformats.org/officeDocument/2006/relationships" r:id="R4dc9751569354a55"/>
  </p:notesMasterIdLst>
  <p:sldIdLst>
    <p:sldId xmlns:r="http://schemas.openxmlformats.org/officeDocument/2006/relationships" id="256" r:id="R68a4a0c7220e4dc1"/>
    <p:sldId xmlns:r="http://schemas.openxmlformats.org/officeDocument/2006/relationships" id="257" r:id="R1ca5d7be295f4b57"/>
    <p:sldId xmlns:r="http://schemas.openxmlformats.org/officeDocument/2006/relationships" id="258" r:id="R1c6b8541189140d2"/>
    <p:sldId xmlns:r="http://schemas.openxmlformats.org/officeDocument/2006/relationships" id="259" r:id="R9cd3ca176465449e"/>
    <p:sldId xmlns:r="http://schemas.openxmlformats.org/officeDocument/2006/relationships" id="260" r:id="R832f09ff7646406c"/>
    <p:sldId xmlns:r="http://schemas.openxmlformats.org/officeDocument/2006/relationships" id="261" r:id="R8364a129bb5c4857"/>
    <p:sldId xmlns:r="http://schemas.openxmlformats.org/officeDocument/2006/relationships" id="262" r:id="R24300e7ac1004c38"/>
    <p:sldId xmlns:r="http://schemas.openxmlformats.org/officeDocument/2006/relationships" id="263" r:id="R155ac6d11a524633"/>
    <p:sldId xmlns:r="http://schemas.openxmlformats.org/officeDocument/2006/relationships" id="264" r:id="R6f0044f45afb4a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faa2e58a9d45eb" /><Relationship Type="http://schemas.openxmlformats.org/officeDocument/2006/relationships/slideMaster" Target="/ppt/slideMasters/slideMaster1.xml" Id="R0e9d751599044152" /><Relationship Type="http://schemas.openxmlformats.org/officeDocument/2006/relationships/notesMaster" Target="/ppt/notesMasters/notesMaster1.xml" Id="R4dc9751569354a55" /><Relationship Type="http://schemas.openxmlformats.org/officeDocument/2006/relationships/presProps" Target="/ppt/presProps.xml" Id="R18dd08dbbdf346c1" /><Relationship Type="http://schemas.openxmlformats.org/officeDocument/2006/relationships/viewProps" Target="/ppt/viewProps.xml" Id="R036373a996de4475" /><Relationship Type="http://schemas.openxmlformats.org/officeDocument/2006/relationships/tableStyles" Target="/ppt/tableStyles.xml" Id="R262d353d4a334bdf" /><Relationship Type="http://schemas.openxmlformats.org/officeDocument/2006/relationships/slide" Target="/ppt/slides/slide1.xml" Id="R68a4a0c7220e4dc1" /><Relationship Type="http://schemas.openxmlformats.org/officeDocument/2006/relationships/slide" Target="/ppt/slides/slide2.xml" Id="R1ca5d7be295f4b57" /><Relationship Type="http://schemas.openxmlformats.org/officeDocument/2006/relationships/slide" Target="/ppt/slides/slide3.xml" Id="R1c6b8541189140d2" /><Relationship Type="http://schemas.openxmlformats.org/officeDocument/2006/relationships/slide" Target="/ppt/slides/slide4.xml" Id="R9cd3ca176465449e" /><Relationship Type="http://schemas.openxmlformats.org/officeDocument/2006/relationships/slide" Target="/ppt/slides/slide5.xml" Id="R832f09ff7646406c" /><Relationship Type="http://schemas.openxmlformats.org/officeDocument/2006/relationships/slide" Target="/ppt/slides/slide6.xml" Id="R8364a129bb5c4857" /><Relationship Type="http://schemas.openxmlformats.org/officeDocument/2006/relationships/slide" Target="/ppt/slides/slide7.xml" Id="R24300e7ac1004c38" /><Relationship Type="http://schemas.openxmlformats.org/officeDocument/2006/relationships/slide" Target="/ppt/slides/slide8.xml" Id="R155ac6d11a524633" /><Relationship Type="http://schemas.openxmlformats.org/officeDocument/2006/relationships/slide" Target="/ppt/slides/slide9.xml" Id="R6f0044f45afb4a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c8dd3545c24c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6797bef80b49a4" /><Relationship Type="http://schemas.openxmlformats.org/officeDocument/2006/relationships/notesMaster" Target="/ppt/notesMasters/notesMaster1.xml" Id="Raf0b4c3a752240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6505b035dd4f41" /><Relationship Type="http://schemas.openxmlformats.org/officeDocument/2006/relationships/notesMaster" Target="/ppt/notesMasters/notesMaster1.xml" Id="Rd816a08bc16940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3c5a398e3d4fa1" /><Relationship Type="http://schemas.openxmlformats.org/officeDocument/2006/relationships/notesMaster" Target="/ppt/notesMasters/notesMaster1.xml" Id="R1d7ac818602c4d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96a027eee445da" /><Relationship Type="http://schemas.openxmlformats.org/officeDocument/2006/relationships/notesMaster" Target="/ppt/notesMasters/notesMaster1.xml" Id="R82cc4b118a5d45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68e511f1c9416d" /><Relationship Type="http://schemas.openxmlformats.org/officeDocument/2006/relationships/notesMaster" Target="/ppt/notesMasters/notesMaster1.xml" Id="R0e89b10f084a4a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52e3b0bc61429f" /><Relationship Type="http://schemas.openxmlformats.org/officeDocument/2006/relationships/notesMaster" Target="/ppt/notesMasters/notesMaster1.xml" Id="R6b9a68c6412d4e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9d1027cbfd41c5" /><Relationship Type="http://schemas.openxmlformats.org/officeDocument/2006/relationships/notesMaster" Target="/ppt/notesMasters/notesMaster1.xml" Id="R65c8d825b4d742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2f4e11f9b94681" /><Relationship Type="http://schemas.openxmlformats.org/officeDocument/2006/relationships/notesMaster" Target="/ppt/notesMasters/notesMaster1.xml" Id="R166d3052892946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fcb3c3db3d40ce" /><Relationship Type="http://schemas.openxmlformats.org/officeDocument/2006/relationships/notesMaster" Target="/ppt/notesMasters/notesMaster1.xml" Id="R6e1593ed1c6f4b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0:00–0:40</a:t>
            </a:r>
          </a:p>
          <a:p xmlns:a="http://schemas.openxmlformats.org/drawingml/2006/main">
            <a:r>
              <a:t>CV2PF는 이력서 한 장을 지원 기업과 채용 공고에 맞는 포트폴리오 사이트로 바꾸는 서비스입니다. 지원할 때마다 회사가 보는 역량은 달라지지만, 매번 포트폴리오를 새로 편집하는 비용은 큽니다.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0:40–1:30</a:t>
            </a:r>
          </a:p>
          <a:p xmlns:a="http://schemas.openxmlformats.org/drawingml/2006/main">
            <a:r>
              <a:t>문제는 경험이 없다는 것이 아니라, 있는 경험을 지원처에 맞게 보여주기 어렵다는 점입니다. 생성보다 앞에 기업과 JD 선택 단계를 두고, CV에 없는 경력이나 수치는 만들지 않는 원칙을 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1:30–2:30</a:t>
            </a:r>
          </a:p>
          <a:p xmlns:a="http://schemas.openxmlformats.org/drawingml/2006/main">
            <a:r>
              <a:t>사용 흐름은 기업·공고 선택, CV 입력, 디자인 선택, AI 생성, 결과·저장의 다섯 단계입니다. React App의 state가 이 흐름을 관리하고 완료한 단계로 다시 돌아갈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2:30–3:30</a:t>
            </a:r>
          </a:p>
          <a:p xmlns:a="http://schemas.openxmlformats.org/drawingml/2006/main">
            <a:r>
              <a:t>React가 targetMarkdown, cvMarkdown, designMarkdown을 Express에 보냅니다. Express는 API 키를 서버에만 보관해 Anthropic을 호출합니다. 결과는 iframe에서 확인하고 Supabase에 저장·조회합니다. AI 실패 시 로컬 폴백이 동작합니다.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3:30–4:20</a:t>
            </a:r>
          </a:p>
          <a:p xmlns:a="http://schemas.openxmlformats.org/drawingml/2006/main">
            <a:r>
              <a:t>기획과 프로토타입, mock 화면, 수직 슬라이스, TDD, JD 맞춤화 순으로 작게 검증했습니다. Agent는 계획 분해와 UI 초안, 반복 검증에 사용했고 상태 흐름과 세부 로직은 직접 확인하고 승인했습니다.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4:20–7:10</a:t>
            </a:r>
          </a:p>
          <a:p xmlns:a="http://schemas.openxmlformats.org/drawingml/2006/main">
            <a:r>
              <a:t>QANDA Frontend Engineer를 선택합니다. 개발자 샘플 CV와 Minimal Clean 테마를 고르고 생성합니다. 결과 화면의 지원 목표와 HTML을 확인한 뒤 다운로드하고 Supabase에 저장해 최근 목록에서 다시 엽니다.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7:10–8:00</a:t>
            </a:r>
          </a:p>
          <a:p xmlns:a="http://schemas.openxmlformats.org/drawingml/2006/main">
            <a:r>
              <a:t>모든 예시는 프론트엔드 직무로 맞췄습니다. 토스는 주도성과 제품 임팩트, LINE Pay는 트래픽과 협업, Coupang Play는 멀티 플랫폼과 성능, CLO는 시스템 설계, QANDA는 문제 정의와 테스트를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8:00–8:40</a:t>
            </a:r>
          </a:p>
          <a:p xmlns:a="http://schemas.openxmlformats.org/drawingml/2006/main">
            <a:r>
              <a:t>클라이언트 17개와 서버 13개 테스트, production build, ESLint가 통과했습니다. 아직 공고 자동 갱신과 근거 표시, 생성 전 승인은 남아 있으며 다음 수직 슬라이스로 분리했습니다.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8:40–10:00</a:t>
            </a:r>
          </a:p>
          <a:p xmlns:a="http://schemas.openxmlformats.org/drawingml/2006/main">
            <a:r>
              <a:t>CV2PF의 핵심은 지원 목표와 실제 경험을 연결해 설명 가능한 HTML을 만드는 것입니다. 질문 받겠습니다. 예상 질문: AI 과장 방지, 공고 자동 수집을 미룬 이유, Supabase 저장 항목, 폴백 동작, Agent 활용 지점.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fbf00b41345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ad2d44143445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1_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985d31ee084274" /><Relationship Type="http://schemas.openxmlformats.org/officeDocument/2006/relationships/slideLayout" Target="/ppt/slideLayouts/slideLayout1.xml" Id="Rdadefbb1b5914135" /><Relationship Type="http://schemas.openxmlformats.org/officeDocument/2006/relationships/slideLayout" Target="/ppt/slideLayouts/slideLayout2.xml" Id="Ra294a1a21b7541b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defbb1b5914135"/>
    <p:sldLayoutId xmlns:r="http://schemas.openxmlformats.org/officeDocument/2006/relationships" id="2147483650" r:id="Ra294a1a21b7541b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07415b2ef4906" /><Relationship Type="http://schemas.openxmlformats.org/officeDocument/2006/relationships/image" Target="/ppt/media/image.png" Id="Red0600cb0a804e9c" /><Relationship Type="http://schemas.openxmlformats.org/officeDocument/2006/relationships/image" Target="/ppt/media/image2.png" Id="Ra5d3dc6428f243c9" /><Relationship Type="http://schemas.openxmlformats.org/officeDocument/2006/relationships/notesSlide" Target="/ppt/notesSlides/notesSlide1.xml" Id="Rb5e7c847c9a44e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624a5444984f7d" /><Relationship Type="http://schemas.openxmlformats.org/officeDocument/2006/relationships/image" Target="/ppt/media/image3.png" Id="R1e081ba9bf2848ac" /><Relationship Type="http://schemas.openxmlformats.org/officeDocument/2006/relationships/notesSlide" Target="/ppt/notesSlides/notesSlide2.xml" Id="Rbabf73555d1c45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ebb9d47808485e" /><Relationship Type="http://schemas.openxmlformats.org/officeDocument/2006/relationships/image" Target="/ppt/media/image4.png" Id="Re3147ae0a5e54d0e" /><Relationship Type="http://schemas.openxmlformats.org/officeDocument/2006/relationships/image" Target="/ppt/media/image5.png" Id="R5d2907045af44032" /><Relationship Type="http://schemas.openxmlformats.org/officeDocument/2006/relationships/image" Target="/ppt/media/image6.png" Id="Ref54f90362e74733" /><Relationship Type="http://schemas.openxmlformats.org/officeDocument/2006/relationships/image" Target="/ppt/media/image7.png" Id="Rff087e8ea71049a6" /><Relationship Type="http://schemas.openxmlformats.org/officeDocument/2006/relationships/image" Target="/ppt/media/image8.png" Id="Rf5edc4e1672e433d" /><Relationship Type="http://schemas.openxmlformats.org/officeDocument/2006/relationships/image" Target="/ppt/media/image9.png" Id="R5759fb9f69b64f19" /><Relationship Type="http://schemas.openxmlformats.org/officeDocument/2006/relationships/notesSlide" Target="/ppt/notesSlides/notesSlide3.xml" Id="Rd657b155d2d942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204b6b33254e2e" /><Relationship Type="http://schemas.openxmlformats.org/officeDocument/2006/relationships/image" Target="/ppt/media/image10.png" Id="R47f889c38f4f4801" /><Relationship Type="http://schemas.openxmlformats.org/officeDocument/2006/relationships/image" Target="/ppt/media/image5.png" Id="R54a6978600824f1a" /><Relationship Type="http://schemas.openxmlformats.org/officeDocument/2006/relationships/image" Target="/ppt/media/image6.png" Id="Rcf26998caf884d8a" /><Relationship Type="http://schemas.openxmlformats.org/officeDocument/2006/relationships/image" Target="/ppt/media/image11.png" Id="R4ff08356fbab4b99" /><Relationship Type="http://schemas.openxmlformats.org/officeDocument/2006/relationships/image" Target="/ppt/media/image8.png" Id="Rcb96c092e2154f87" /><Relationship Type="http://schemas.openxmlformats.org/officeDocument/2006/relationships/image" Target="/ppt/media/image9.png" Id="Rd68e8448951d4636" /><Relationship Type="http://schemas.openxmlformats.org/officeDocument/2006/relationships/image" Target="/ppt/media/image12.png" Id="R93d4a8b277e145ef" /><Relationship Type="http://schemas.openxmlformats.org/officeDocument/2006/relationships/notesSlide" Target="/ppt/notesSlides/notesSlide4.xml" Id="R707078d7ee164f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be7b2f38cc4fa7" /><Relationship Type="http://schemas.openxmlformats.org/officeDocument/2006/relationships/image" Target="/ppt/media/image13.png" Id="R1f5c9ed792114f87" /><Relationship Type="http://schemas.openxmlformats.org/officeDocument/2006/relationships/image" Target="/ppt/media/image14.png" Id="R425b3e40d0574821" /><Relationship Type="http://schemas.openxmlformats.org/officeDocument/2006/relationships/notesSlide" Target="/ppt/notesSlides/notesSlide5.xml" Id="R2ba638667bb944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1c272f00a54f5f" /><Relationship Type="http://schemas.openxmlformats.org/officeDocument/2006/relationships/image" Target="/ppt/media/image15.png" Id="R8cab17fc61d54bd8" /><Relationship Type="http://schemas.openxmlformats.org/officeDocument/2006/relationships/image" Target="/ppt/media/image5.png" Id="Rbb005dbdf09d406f" /><Relationship Type="http://schemas.openxmlformats.org/officeDocument/2006/relationships/image" Target="/ppt/media/image6.png" Id="Rc6d5bfaa0f2541d4" /><Relationship Type="http://schemas.openxmlformats.org/officeDocument/2006/relationships/image" Target="/ppt/media/image16.png" Id="R449680c10a134a0e" /><Relationship Type="http://schemas.openxmlformats.org/officeDocument/2006/relationships/image" Target="/ppt/media/image17.png" Id="Rfe29f768ec1b448f" /><Relationship Type="http://schemas.openxmlformats.org/officeDocument/2006/relationships/image" Target="/ppt/media/image18.png" Id="R648f3b799e2b4df9" /><Relationship Type="http://schemas.openxmlformats.org/officeDocument/2006/relationships/notesSlide" Target="/ppt/notesSlides/notesSlide6.xml" Id="R35be0cfd4a7b4e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7d4295cf8c45b6" /><Relationship Type="http://schemas.openxmlformats.org/officeDocument/2006/relationships/image" Target="/ppt/media/image4.png" Id="Rdb9fe09d7a3f4dbb" /><Relationship Type="http://schemas.openxmlformats.org/officeDocument/2006/relationships/image" Target="/ppt/media/image5.png" Id="R48d997be30f049a4" /><Relationship Type="http://schemas.openxmlformats.org/officeDocument/2006/relationships/image" Target="/ppt/media/image6.png" Id="R28866d2cd446456c" /><Relationship Type="http://schemas.openxmlformats.org/officeDocument/2006/relationships/image" Target="/ppt/media/image7.png" Id="R53908c6d5c464ee7" /><Relationship Type="http://schemas.openxmlformats.org/officeDocument/2006/relationships/image" Target="/ppt/media/image8.png" Id="R7a0e5fed09b647ca" /><Relationship Type="http://schemas.openxmlformats.org/officeDocument/2006/relationships/image" Target="/ppt/media/image9.png" Id="R4d6403413a1645b5" /><Relationship Type="http://schemas.openxmlformats.org/officeDocument/2006/relationships/notesSlide" Target="/ppt/notesSlides/notesSlide7.xml" Id="R1b9f54fcdbdf4e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02e1beba514b43" /><Relationship Type="http://schemas.openxmlformats.org/officeDocument/2006/relationships/image" Target="/ppt/media/image10.png" Id="Rb1d36280521c4185" /><Relationship Type="http://schemas.openxmlformats.org/officeDocument/2006/relationships/notesSlide" Target="/ppt/notesSlides/notesSlide8.xml" Id="Rd9039c9372f546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41661d6a0a41f6" /><Relationship Type="http://schemas.openxmlformats.org/officeDocument/2006/relationships/image" Target="/ppt/media/image.png" Id="R2683781d00c34688" /><Relationship Type="http://schemas.openxmlformats.org/officeDocument/2006/relationships/image" Target="/ppt/media/image19.png" Id="R0d0f28507be34e9a" /><Relationship Type="http://schemas.openxmlformats.org/officeDocument/2006/relationships/notesSlide" Target="/ppt/notesSlides/notesSlide9.xml" Id="R0d3aa898174049b8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d0600cb0a804e9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3dc6428f243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7137" y="211877"/>
            <a:ext cx="7774560" cy="777456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C6EC81B-DB04-4517-A83E-A85DD9C6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2268227"/>
            <a:ext cx="6858000" cy="19138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4000" b="1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지원 기업</a:t>
            </a:r>
            <a:r>
              <a:rPr sz="40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을 먼저 고르면</a:t>
            </a:r>
          </a:p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40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내 경험의 우선순위가</a:t>
            </a:r>
          </a:p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40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달라집니다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44C3FE5-069D-49D9-9503-6E2DB867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5166360"/>
            <a:ext cx="5486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7A02243-1344-427C-BC3B-04165035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525780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CV → 맞춤 포트폴리오 생성기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51DADA6-C50C-40BE-A009-B889A757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566928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10 MINUTE PRODUCT DEMO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42C15AB-F8D9-4018-8207-FCDCE57B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5" y="181643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CV2PF</a:t>
            </a:r>
          </a:p>
        </p:txBody>
      </p:sp>
    </p:spTree>
    <p:extLst>
      <p:ext uri="{BB962C8B-B14F-4D97-AF65-F5344CB8AC3E}">
        <p14:creationId xmlns:p14="http://schemas.microsoft.com/office/powerpoint/2010/main" val="197913929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e081ba9bf2848a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EE13C8D-FA4E-4056-AA46-B5349CB0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6" y="320040"/>
            <a:ext cx="108814" cy="130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C0BEB3-5620-4C33-963E-246AD460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" y="200254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01. PROBLEM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99ADD01-0D6F-459A-BAF3-8EB38EB4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77117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7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같은 경험도, </a:t>
            </a:r>
            <a:r>
              <a:rPr sz="2700" b="1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지원 기업마다</a:t>
            </a:r>
            <a:r>
              <a:rPr sz="27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 다르게 보여야 합니다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8198440-4248-43D0-979C-124793C0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1200607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포트폴리오를 매번 다시 만들지 않고, JD에 맞는 근거를 먼저 보여주는 것이 출발점입니다.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7323077-D3D1-4700-BE25-B39EF864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1829714"/>
            <a:ext cx="11173968" cy="443484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279400" dist="50800" dir="5400000" algn="bl" rotWithShape="0">
              <a:srgbClr val="1C60EF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3630461-E0A6-4D32-823F-73C3B3A5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937" y="2378354"/>
            <a:ext cx="10973" cy="333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3B28032-CB61-480C-AE7F-AD757AA0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2734056"/>
            <a:ext cx="40233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9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경험은 있지만,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9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강조점이 없습니다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0DB5368-0815-483F-BBD0-3B6489BF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3795674"/>
            <a:ext cx="4114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99A6635-FE9F-4AD5-9493-1B6F292C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4056278"/>
            <a:ext cx="4023360" cy="1783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55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모든 회사에 같은 포트폴리오를 제출하면</a:t>
            </a:r>
          </a:p>
          <a:p xmlns:a="http://schemas.openxmlformats.org/drawingml/2006/main">
            <a:pPr marL="0" indent="0">
              <a:lnSpc>
                <a:spcPct val="155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채용 담당자가 원하는 근거를 찾기 어렵습니다.</a:t>
            </a:r>
          </a:p>
          <a:p xmlns:a="http://schemas.openxmlformats.org/drawingml/2006/main">
            <a:pPr marL="0" indent="0">
              <a:lnSpc>
                <a:spcPct val="155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지원자는 매번 사이트를 다시 고쳐야 하고,</a:t>
            </a:r>
          </a:p>
          <a:p xmlns:a="http://schemas.openxmlformats.org/drawingml/2006/main">
            <a:pPr marL="0" indent="0">
              <a:lnSpc>
                <a:spcPct val="155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AI는 자칫 CV에 없는 성과를 만들 수 있습니다.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2DD6562-2964-44AF-8FE2-C1BBC4EE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287" y="2286914"/>
            <a:ext cx="7315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16FB88F-2BF5-4B25-AF1D-2261A408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879" y="2286914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CURRENT REALITY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FA6054F-C03A-4740-B963-50420503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6343" y="2286914"/>
            <a:ext cx="7315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2BCE2BE-CE92-48D4-BCA5-A7E16951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0935" y="2286914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KEY QUESTIONS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C0378BF-BD98-463C-828D-0DA7C4D0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343" y="2734056"/>
            <a:ext cx="532180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9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맞춤 생성이 답해야 할 세 가지 질문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5C521FB-A4B4-48C3-AF74-191566DE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343" y="3411626"/>
            <a:ext cx="5321808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3A21C0A-F8D9-47FD-93E0-0237C7E6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511" y="353964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43D060D-432B-448E-964E-166386F3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511" y="353964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Q1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9AA4FEE-70EE-42C4-9840-B818DBFD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023" y="3411626"/>
            <a:ext cx="4315968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이 회사가 원하는 역량은 무엇인가?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15B82E4-3EF1-4B16-B40C-ECC93A23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343" y="4271162"/>
            <a:ext cx="5321808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8615C94-AB29-4024-A880-5F90F01C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511" y="439917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1D4138-6DA8-444C-9426-162DBB40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511" y="439917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Q2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38C1F01-D5F2-467B-ADC8-A4C76B84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023" y="4271162"/>
            <a:ext cx="4315968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내 CV에서 어떤 경험이 근거가 되는가?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27F491C-F665-41F4-A42B-45B9ECD0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343" y="5130698"/>
            <a:ext cx="5321808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DC70984-53D1-4BBF-AF91-779D38B5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511" y="525871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D397673-883D-4C26-84CA-6758A9DE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511" y="525871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Q3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A293D77-6F34-4BB1-BE46-CDD22D12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023" y="5130698"/>
            <a:ext cx="4315968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없는 성과를 만들지 않고 어떻게 맞출까?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D792BD1-FE6D-46ED-8F2A-CE19CEAD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5" y="639074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CV2PF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D9491B4-BA26-4AA7-AB82-E4241930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614" y="639074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3133101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3147ae0a5e54d0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8DD0E38-3DFF-41E3-B03D-A4558FC2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6" y="320040"/>
            <a:ext cx="108814" cy="130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FD28B7-AD10-4144-BC7A-A874D33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" y="200254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02. USER FLOW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1A5098-C573-433F-9E44-6CB4079E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77117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7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기업 선택부터 저장까지, </a:t>
            </a:r>
            <a:r>
              <a:rPr sz="2700" b="1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한 흐름</a:t>
            </a:r>
            <a:r>
              <a:rPr sz="27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으로 연결했습니다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AB438B-94EF-4775-AAD4-6905167F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1200607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사용자는 다섯 번의 선택만으로 독립 실행형 HTML을 완성합니다.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B3438C1-DF6A-4241-AC6E-8F8B5856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1829714"/>
            <a:ext cx="11173968" cy="443484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279400" dist="50800" dir="5400000" algn="bl" rotWithShape="0">
              <a:srgbClr val="1C60EF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0">
            <a:extLst xmlns:a="http://schemas.openxmlformats.org/drawingml/2006/main">
              <a:ext uri="{FF2B5EF4-FFF2-40B4-BE49-F238E27FC236}">
                <a16:creationId xmlns:a16="http://schemas.microsoft.com/office/drawing/2014/main" id="{AF166019-C627-4D86-9DE3-D970F90E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4972507"/>
            <a:ext cx="10354488" cy="8694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1">
            <a:extLst xmlns:a="http://schemas.openxmlformats.org/drawingml/2006/main">
              <a:ext uri="{FF2B5EF4-FFF2-40B4-BE49-F238E27FC236}">
                <a16:creationId xmlns:a16="http://schemas.microsoft.com/office/drawing/2014/main" id="{9C271A5C-A5C2-42E3-8F35-A327E1DB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10789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END-TO-END FLOW</a:t>
            </a:r>
          </a:p>
        </p:txBody>
      </p:sp>
      <p:sp>
        <p:nvSpPr>
          <p:cNvPr id="43" name="Text 32">
            <a:extLst xmlns:a="http://schemas.openxmlformats.org/drawingml/2006/main">
              <a:ext uri="{FF2B5EF4-FFF2-40B4-BE49-F238E27FC236}">
                <a16:creationId xmlns:a16="http://schemas.microsoft.com/office/drawing/2014/main" id="{A9D0447A-6720-4B55-AA66-9F88EC88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" y="5339389"/>
            <a:ext cx="1035448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지원 목표·CV·디자인이 하나의 생성 요청으로 연결됩니다</a:t>
            </a:r>
          </a:p>
        </p:txBody>
      </p:sp>
      <p:sp>
        <p:nvSpPr>
          <p:cNvPr id="44" name="Text 33">
            <a:extLst xmlns:a="http://schemas.openxmlformats.org/drawingml/2006/main">
              <a:ext uri="{FF2B5EF4-FFF2-40B4-BE49-F238E27FC236}">
                <a16:creationId xmlns:a16="http://schemas.microsoft.com/office/drawing/2014/main" id="{42A71E5A-8AD4-4312-AD86-04B72903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5" y="639074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CV2PF</a:t>
            </a:r>
          </a:p>
        </p:txBody>
      </p:sp>
      <p:sp>
        <p:nvSpPr>
          <p:cNvPr id="45" name="Text 34">
            <a:extLst xmlns:a="http://schemas.openxmlformats.org/drawingml/2006/main">
              <a:ext uri="{FF2B5EF4-FFF2-40B4-BE49-F238E27FC236}">
                <a16:creationId xmlns:a16="http://schemas.microsoft.com/office/drawing/2014/main" id="{91778F34-5EA6-4277-AE76-AE48ECD7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614" y="639074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cxnSp>
        <p:nvCxnSpPr>
          <p:cNvPr id="79" name="직선 화살표 연결선 46"/>
          <p:cNvCxnSpPr/>
          <p:nvPr/>
        </p:nvCxnSpPr>
        <p:spPr>
          <a:xfrm xmlns:a="http://schemas.openxmlformats.org/drawingml/2006/main">
            <a:off x="2766001" y="3564083"/>
            <a:ext cx="6680446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>
            <a:gradFill rotWithShape="1">
              <a:gsLst>
                <a:gs pos="0">
                  <a:srgbClr val="1C60EF">
                    <a:alpha val="10000"/>
                  </a:srgbClr>
                </a:gs>
                <a:gs pos="33000">
                  <a:srgbClr val="1C60EF">
                    <a:alpha val="40000"/>
                  </a:srgbClr>
                </a:gs>
                <a:gs pos="69000">
                  <a:srgbClr val="1C60EF">
                    <a:alpha val="60000"/>
                  </a:srgbClr>
                </a:gs>
                <a:gs pos="100000">
                  <a:srgbClr val="1C60EF"/>
                </a:gs>
              </a:gsLst>
              <a:lin ang="0" scaled="1"/>
              <a:tileRect/>
            </a:gra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013F96E-F2CA-4B24-9966-02DA37B2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0742" y="2276475"/>
            <a:ext cx="1845259" cy="2432685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14C4F81-7D85-454E-8997-B62903C9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9302" y="2453960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D6257E1-E659-4529-9693-3B313EB7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1036" y="294481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907045af440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623916" y="312769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74796C2-A95C-4406-BCC8-B30CFA88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5022" y="3758048"/>
            <a:ext cx="184525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기업·공고 선택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4696C66-7E2E-4963-B03A-3372DDF2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0742" y="4078088"/>
            <a:ext cx="175381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인재상·JD·</a:t>
            </a:r>
          </a:p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강조점 확인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0D516ED-BB7F-4060-BAEF-276E69A8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7878" y="2276475"/>
            <a:ext cx="1845259" cy="2432685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91B3D54-437E-4CB5-B798-24536445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72158" y="2453960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EBD320B-60BA-4819-8AB8-8EF87F1A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83891" y="294481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4f90362e747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766771" y="312769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AB27E3E7-07FF-44AD-9F85-4ACD0CB7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7878" y="3758048"/>
            <a:ext cx="184525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CV 입력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72308AB7-6901-4D4D-8F88-3F100F8F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3598" y="4078088"/>
            <a:ext cx="175381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실제 경험과</a:t>
            </a:r>
          </a:p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기술 파싱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4FB5532-6EBC-4D23-9DCA-DC80B22E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0734" y="2276475"/>
            <a:ext cx="1845259" cy="2432685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53DC0CDD-79A2-4E52-A831-5F6FEC36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5014" y="2453960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1F1114B-840A-414B-BC46-EDBB5347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6747" y="294481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87e8ea71049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909627" y="312769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B4965EF6-A396-49D4-96EB-09FC0969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0734" y="3758048"/>
            <a:ext cx="184525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디자인 선택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0D2F3C0-6A47-437D-A635-7F08D784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6454" y="4078088"/>
            <a:ext cx="175381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6개 DESIGN.md</a:t>
            </a:r>
          </a:p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테마 적용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D9EB167D-AEC1-4F20-B855-053A3A3D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3590" y="2276475"/>
            <a:ext cx="1845259" cy="2432685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7CA9BBE5-38FF-4709-84C2-9133D542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7870" y="2453960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5EDF05FD-3ABE-4A67-9B50-FBD2D3D7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9603" y="294481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dc4e1672e43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52483" y="312769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D5D2555B-5ED9-4E1D-A1D1-5DD76FE6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3590" y="3758048"/>
            <a:ext cx="184525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맞춤 HTML 생성</a:t>
            </a:r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313DF791-6FE2-48B3-8FD5-D0B3AEFE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49310" y="4078088"/>
            <a:ext cx="175381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근거 재배치·</a:t>
            </a:r>
          </a:p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문장 구성</a:t>
            </a:r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D3897D2B-C650-49A4-BEE9-7097D36B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6447" y="2276475"/>
            <a:ext cx="1845259" cy="2432685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92A4947C-284F-4A8F-B896-EACA311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0727" y="2453960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8472590F-C6E4-4F18-BB73-589B434A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12460" y="294481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9fb9f69b64f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95340" y="312769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EE19448C-071C-4764-A06F-12C47DA9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6447" y="3758048"/>
            <a:ext cx="184525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미리보기·저장</a:t>
            </a:r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3C05B339-7D63-4DF6-9117-C95375F2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92167" y="4078088"/>
            <a:ext cx="175381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다운로드·</a:t>
            </a:r>
          </a:p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Supabase 조회</a:t>
            </a:r>
          </a:p>
        </p:txBody>
      </p:sp>
    </p:spTree>
    <p:extLst>
      <p:ext uri="{BB962C8B-B14F-4D97-AF65-F5344CB8AC3E}">
        <p14:creationId xmlns:p14="http://schemas.microsoft.com/office/powerpoint/2010/main" val="783795641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7f889c38f4f480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0791FCE-B1E5-4BAD-9508-C414C6AE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6" y="320040"/>
            <a:ext cx="108814" cy="130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533EE76-4FCC-4826-AD4C-3E911BE9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" y="200254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03. ARCHITECTURE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890927-1F11-444C-B886-9265B839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77117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7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React의 선택이 Express와 AI를 거쳐 </a:t>
            </a:r>
            <a:r>
              <a:rPr sz="2700" b="1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DB에 남습니다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B581B9E-F284-47AA-85BF-4E367E3F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1200607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화면·서버·생성·저장이 실제 요청과 응답으로 한 바퀴 연결됩니다.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BE6FFFB-B651-4885-B3C8-3C7927C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1829714"/>
            <a:ext cx="11173968" cy="443484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279400" dist="50800" dir="5400000" algn="bl" rotWithShape="0">
              <a:srgbClr val="1C60EF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D076EFE-3A04-4F6E-B0E9-831FE8F0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737" y="2378354"/>
            <a:ext cx="10973" cy="333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CFB5EE9-FD5E-49A7-8CB6-0D8208F2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2286914"/>
            <a:ext cx="7315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D59A7B8-A730-461D-8B13-7B6802EB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79" y="2286914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VERTICAL SLICE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93F2B25-24D2-4103-8EF4-814FD209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2734056"/>
            <a:ext cx="3566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9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한 번의 생성 요청이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9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끝까지 흐릅니다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6159AEE-BFDA-4A6F-A58A-1E268EBB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4023360"/>
            <a:ext cx="3566160" cy="1783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55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React가 지원 목표·CV·디자인을 보냅니다.</a:t>
            </a:r>
          </a:p>
          <a:p xmlns:a="http://schemas.openxmlformats.org/drawingml/2006/main">
            <a:pPr marL="0" indent="0">
              <a:lnSpc>
                <a:spcPct val="155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Express는 입력을 검증하고 AI를 호출합니다.</a:t>
            </a:r>
          </a:p>
          <a:p xmlns:a="http://schemas.openxmlformats.org/drawingml/2006/main">
            <a:pPr marL="0" indent="0">
              <a:lnSpc>
                <a:spcPct val="155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생성된 HTML은 브라우저에서 미리 보고,</a:t>
            </a:r>
          </a:p>
          <a:p xmlns:a="http://schemas.openxmlformats.org/drawingml/2006/main">
            <a:pPr marL="0" indent="0">
              <a:lnSpc>
                <a:spcPct val="155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Supabase에 저장한 뒤 다시 조회합니다.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67524E2-741E-40D7-819A-77CAD7D8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937" y="2286914"/>
            <a:ext cx="7315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8456D64-6D7F-4A4B-9546-A2D65012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529" y="228691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END-TO-END DATA FLOW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001EA5D-971D-4811-81BB-D468F1FF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937" y="2734056"/>
            <a:ext cx="577900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9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역할을 분리해 안전하게 연결합니다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79F9F51-3F54-49D1-90A5-DD6E4886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79269" y="3429000"/>
            <a:ext cx="1855998" cy="1130225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2BE3B10-3155-472D-B24C-5DD1049E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35259" y="3590752"/>
            <a:ext cx="467035" cy="467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6978600824f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656688" y="3712181"/>
            <a:ext cx="224176" cy="224176"/>
          </a:xfrm>
          <a:prstGeom xmlns:a="http://schemas.openxmlformats.org/drawingml/2006/main" prst="rect">
            <a:avLst/>
          </a:prstGeom>
        </p:spPr>
      </p:pic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6BB0ADD-A57B-4CFE-A74A-FE79D0EA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8943" y="3539917"/>
            <a:ext cx="1027477" cy="280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STEP 01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A64D938-289A-4715-9804-E853AB82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8943" y="3737006"/>
            <a:ext cx="1027477" cy="280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3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React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7C16C63-83BA-4126-BDFF-634A52EF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6966" y="4056537"/>
            <a:ext cx="1610337" cy="467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공고·CV·디자인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state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0FB27CA-C24A-496A-9096-A3603539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3400" y="3429000"/>
            <a:ext cx="1855998" cy="1130225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B6CFDA7C-C097-470D-9945-2B34B79D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59389" y="3590752"/>
            <a:ext cx="467035" cy="467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6998caf884d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680818" y="3712181"/>
            <a:ext cx="224176" cy="224176"/>
          </a:xfrm>
          <a:prstGeom xmlns:a="http://schemas.openxmlformats.org/drawingml/2006/main" prst="rect">
            <a:avLst/>
          </a:prstGeom>
        </p:spPr>
      </p:pic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149C3E8-D927-40F4-9045-D69725D6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073" y="3539917"/>
            <a:ext cx="1027477" cy="280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STEP 02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BFD7392-4313-4917-89FF-F8366CBB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073" y="3737006"/>
            <a:ext cx="1027477" cy="280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3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Express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743244C0-131C-48C1-BFE7-7CB4A52F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96" y="4056537"/>
            <a:ext cx="1610337" cy="467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입력 검증·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라우팅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08B8F1CA-FF27-43A3-9ED7-038B4496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6596" y="3429000"/>
            <a:ext cx="1855998" cy="1130225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99970871-951C-4C38-845D-CB5BD37D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82586" y="3590752"/>
            <a:ext cx="467035" cy="467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08356fbab4b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704015" y="3712181"/>
            <a:ext cx="224176" cy="224176"/>
          </a:xfrm>
          <a:prstGeom xmlns:a="http://schemas.openxmlformats.org/drawingml/2006/main" prst="rect">
            <a:avLst/>
          </a:prstGeom>
        </p:spPr>
      </p:pic>
      <p:sp>
        <p:nvSpPr>
          <p:cNvPr id="32" name="Text 27">
            <a:extLst xmlns:a="http://schemas.openxmlformats.org/drawingml/2006/main">
              <a:ext uri="{FF2B5EF4-FFF2-40B4-BE49-F238E27FC236}">
                <a16:creationId xmlns:a16="http://schemas.microsoft.com/office/drawing/2014/main" id="{3185FE3F-1B70-4C25-847C-0B9AAE63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6270" y="3539917"/>
            <a:ext cx="1027477" cy="280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STEP 03</a:t>
            </a:r>
          </a:p>
        </p:txBody>
      </p:sp>
      <p:sp>
        <p:nvSpPr>
          <p:cNvPr id="33" name="Text 28">
            <a:extLst xmlns:a="http://schemas.openxmlformats.org/drawingml/2006/main">
              <a:ext uri="{FF2B5EF4-FFF2-40B4-BE49-F238E27FC236}">
                <a16:creationId xmlns:a16="http://schemas.microsoft.com/office/drawing/2014/main" id="{B2856C37-AE84-43D2-8E7B-F8B38A4C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6270" y="3737006"/>
            <a:ext cx="1027477" cy="280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3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Anthropic</a:t>
            </a:r>
          </a:p>
        </p:txBody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1F7ED489-7632-454E-8853-5D63B29D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4293" y="4056537"/>
            <a:ext cx="1610337" cy="467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맞춤 HTML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생성</a:t>
            </a:r>
          </a:p>
        </p:txBody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6790A914-BA0E-4BF7-8F2D-3C52B64D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79269" y="4727357"/>
            <a:ext cx="1855998" cy="1130225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1">
            <a:extLst xmlns:a="http://schemas.openxmlformats.org/drawingml/2006/main">
              <a:ext uri="{FF2B5EF4-FFF2-40B4-BE49-F238E27FC236}">
                <a16:creationId xmlns:a16="http://schemas.microsoft.com/office/drawing/2014/main" id="{D5E3B9E6-39FA-40C4-AC8C-C8BDBD66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35259" y="4889110"/>
            <a:ext cx="467035" cy="467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6c092e2154f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656688" y="5010539"/>
            <a:ext cx="224176" cy="224176"/>
          </a:xfrm>
          <a:prstGeom xmlns:a="http://schemas.openxmlformats.org/drawingml/2006/main" prst="rect">
            <a:avLst/>
          </a:prstGeom>
        </p:spPr>
      </p:pic>
      <p:sp>
        <p:nvSpPr>
          <p:cNvPr id="38" name="Text 32">
            <a:extLst xmlns:a="http://schemas.openxmlformats.org/drawingml/2006/main">
              <a:ext uri="{FF2B5EF4-FFF2-40B4-BE49-F238E27FC236}">
                <a16:creationId xmlns:a16="http://schemas.microsoft.com/office/drawing/2014/main" id="{D475E21C-1968-41DF-87DE-A7BAFE3B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8943" y="4838275"/>
            <a:ext cx="1027477" cy="280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STEP 04</a:t>
            </a:r>
          </a:p>
        </p:txBody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56C15CE0-8B54-48D9-91F4-1B5C5D29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8943" y="5035364"/>
            <a:ext cx="1027477" cy="280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3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iframe</a:t>
            </a:r>
          </a:p>
        </p:txBody>
      </p:sp>
      <p:sp>
        <p:nvSpPr>
          <p:cNvPr id="40" name="Text 34">
            <a:extLst xmlns:a="http://schemas.openxmlformats.org/drawingml/2006/main">
              <a:ext uri="{FF2B5EF4-FFF2-40B4-BE49-F238E27FC236}">
                <a16:creationId xmlns:a16="http://schemas.microsoft.com/office/drawing/2014/main" id="{C1F4F409-DD0E-4FFC-B185-CC581CE1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6966" y="5354895"/>
            <a:ext cx="1610337" cy="467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미리보기·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다운로드</a:t>
            </a:r>
          </a:p>
        </p:txBody>
      </p:sp>
      <p:sp>
        <p:nvSpPr>
          <p:cNvPr id="41" name="Shape 35">
            <a:extLst xmlns:a="http://schemas.openxmlformats.org/drawingml/2006/main">
              <a:ext uri="{FF2B5EF4-FFF2-40B4-BE49-F238E27FC236}">
                <a16:creationId xmlns:a16="http://schemas.microsoft.com/office/drawing/2014/main" id="{CBC8D78D-9E01-4D76-AC22-9B73098E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3400" y="4727357"/>
            <a:ext cx="1855998" cy="1130225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36">
            <a:extLst xmlns:a="http://schemas.openxmlformats.org/drawingml/2006/main">
              <a:ext uri="{FF2B5EF4-FFF2-40B4-BE49-F238E27FC236}">
                <a16:creationId xmlns:a16="http://schemas.microsoft.com/office/drawing/2014/main" id="{DC1AE4C3-B24B-4F4F-887F-DEE8470C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59389" y="4889110"/>
            <a:ext cx="467035" cy="467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e8448951d46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680818" y="5010539"/>
            <a:ext cx="224176" cy="224176"/>
          </a:xfrm>
          <a:prstGeom xmlns:a="http://schemas.openxmlformats.org/drawingml/2006/main" prst="rect">
            <a:avLst/>
          </a:prstGeom>
        </p:spPr>
      </p:pic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2862F71B-3ED6-4910-8B50-8BADE434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073" y="4838275"/>
            <a:ext cx="1027477" cy="280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STEP 05</a:t>
            </a:r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7A0188D7-C73B-400A-ADB3-5B8BD389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073" y="5035364"/>
            <a:ext cx="1027477" cy="280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3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Supabase</a:t>
            </a:r>
          </a:p>
        </p:txBody>
      </p:sp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2BC163CA-8706-4EC4-872C-F6E95F31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096" y="5354895"/>
            <a:ext cx="1482369" cy="467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결과 저장·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상세 조회</a:t>
            </a:r>
          </a:p>
        </p:txBody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C3635061-5CBF-4DCE-A345-E23B4853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6596" y="4727357"/>
            <a:ext cx="1855998" cy="1130225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1">
            <a:extLst xmlns:a="http://schemas.openxmlformats.org/drawingml/2006/main">
              <a:ext uri="{FF2B5EF4-FFF2-40B4-BE49-F238E27FC236}">
                <a16:creationId xmlns:a16="http://schemas.microsoft.com/office/drawing/2014/main" id="{FBDEC9EE-3F11-4853-882B-F2833C09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82586" y="4889110"/>
            <a:ext cx="467035" cy="467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4a8b277e145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704015" y="5010539"/>
            <a:ext cx="224176" cy="224176"/>
          </a:xfrm>
          <a:prstGeom xmlns:a="http://schemas.openxmlformats.org/drawingml/2006/main" prst="rect">
            <a:avLst/>
          </a:prstGeom>
        </p:spPr>
      </p:pic>
      <p:sp>
        <p:nvSpPr>
          <p:cNvPr id="50" name="Text 42">
            <a:extLst xmlns:a="http://schemas.openxmlformats.org/drawingml/2006/main">
              <a:ext uri="{FF2B5EF4-FFF2-40B4-BE49-F238E27FC236}">
                <a16:creationId xmlns:a16="http://schemas.microsoft.com/office/drawing/2014/main" id="{F3436859-846B-4F7E-9D64-20EF22E9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6270" y="4838275"/>
            <a:ext cx="1027477" cy="280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STEP 06</a:t>
            </a:r>
          </a:p>
        </p:txBody>
      </p:sp>
      <p:sp>
        <p:nvSpPr>
          <p:cNvPr id="51" name="Text 43">
            <a:extLst xmlns:a="http://schemas.openxmlformats.org/drawingml/2006/main">
              <a:ext uri="{FF2B5EF4-FFF2-40B4-BE49-F238E27FC236}">
                <a16:creationId xmlns:a16="http://schemas.microsoft.com/office/drawing/2014/main" id="{1307B7A8-A670-4CAE-99F4-C9374B6D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6270" y="5035364"/>
            <a:ext cx="1027477" cy="280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3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Fallback</a:t>
            </a:r>
          </a:p>
        </p:txBody>
      </p:sp>
      <p:sp>
        <p:nvSpPr>
          <p:cNvPr id="52" name="Text 44">
            <a:extLst xmlns:a="http://schemas.openxmlformats.org/drawingml/2006/main">
              <a:ext uri="{FF2B5EF4-FFF2-40B4-BE49-F238E27FC236}">
                <a16:creationId xmlns:a16="http://schemas.microsoft.com/office/drawing/2014/main" id="{4E7FDC38-091B-485F-B791-5FF9F3AF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4293" y="5354895"/>
            <a:ext cx="1482369" cy="467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AI 실패 시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5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로컬 생성</a:t>
            </a:r>
          </a:p>
        </p:txBody>
      </p:sp>
      <p:sp>
        <p:nvSpPr>
          <p:cNvPr id="53" name="Text 45">
            <a:extLst xmlns:a="http://schemas.openxmlformats.org/drawingml/2006/main">
              <a:ext uri="{FF2B5EF4-FFF2-40B4-BE49-F238E27FC236}">
                <a16:creationId xmlns:a16="http://schemas.microsoft.com/office/drawing/2014/main" id="{AF7BD731-09F1-482E-8DA8-17F71AA6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5" y="639074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CV2PF</a:t>
            </a:r>
          </a:p>
        </p:txBody>
      </p:sp>
      <p:sp>
        <p:nvSpPr>
          <p:cNvPr id="54" name="Text 46">
            <a:extLst xmlns:a="http://schemas.openxmlformats.org/drawingml/2006/main">
              <a:ext uri="{FF2B5EF4-FFF2-40B4-BE49-F238E27FC236}">
                <a16:creationId xmlns:a16="http://schemas.microsoft.com/office/drawing/2014/main" id="{F2406B44-8B66-4D46-B4B9-A18B964A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614" y="639074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5" name="Shape 9">
            <a:extLst xmlns:a="http://schemas.openxmlformats.org/drawingml/2006/main">
              <a:ext uri="{FF2B5EF4-FFF2-40B4-BE49-F238E27FC236}">
                <a16:creationId xmlns:a16="http://schemas.microsoft.com/office/drawing/2014/main" id="{CA8DCB62-AAA6-F673-3473-7D570352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3795674"/>
            <a:ext cx="4114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2790201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f5c9ed792114f8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hape 4">
            <a:extLst xmlns:a="http://schemas.openxmlformats.org/drawingml/2006/main">
              <a:ext uri="{FF2B5EF4-FFF2-40B4-BE49-F238E27FC236}">
                <a16:creationId xmlns:a16="http://schemas.microsoft.com/office/drawing/2014/main" id="{110FF412-D689-F31A-3955-584E0726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153" y="1829714"/>
            <a:ext cx="5266944" cy="443484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1C60EF"/>
            </a:solidFill>
          </a:ln>
          <a:effectLst xmlns:a="http://schemas.openxmlformats.org/drawingml/2006/main">
            <a:outerShdw blurRad="279400" dist="50800" dir="5400000" algn="bl" rotWithShape="0">
              <a:srgbClr val="1C60EF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E0E0827-F9F9-9CF7-D879-F1159C61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6" y="320040"/>
            <a:ext cx="108814" cy="130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DDBDC15-DC3F-EA66-EC57-1764F251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" y="200254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04. BUILD PROCESS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EB72DEF-4AA7-DE18-AEBF-C79791C4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77117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7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큰 기능보다, </a:t>
            </a:r>
            <a:r>
              <a:rPr sz="2700" b="1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검증 가능한 한 바퀴</a:t>
            </a:r>
            <a:r>
              <a:rPr sz="27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를 먼저 쌓았습니다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6D7F219-9CEC-39EE-0B68-ED4E9E7B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1200607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mock 화면에서 시작해 서버·DB·TDD·JD 맞춤화 순으로 위험을 줄였습니다.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2344051-A1F3-B390-0852-AC4DAD23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1829714"/>
            <a:ext cx="5266944" cy="443484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279400" dist="50800" dir="5400000" algn="bl" rotWithShape="0">
              <a:srgbClr val="1C60EF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64FE147-3C03-111B-4C16-86FC7297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2264198"/>
            <a:ext cx="7315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D188C87-49E0-6269-7DF4-BDECFE3A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79" y="226419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EARLY ATTEMPT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348781F-5F6A-9090-99C2-4CB30D29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2790699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500">
                <a:solidFill>
                  <a:srgbClr val="9AA8BC"/>
                </a:solidFill>
                <a:latin typeface="Pretendard"/>
                <a:ea typeface="Pretendard"/>
                <a:cs typeface="Pretendard"/>
              </a:rPr>
              <a:t>한 번에 크게 만들기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77C5A88-3115-0367-38D3-BF6AE5DF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" y="3703320"/>
            <a:ext cx="4206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solidFill>
                  <a:srgbClr val="7A8699"/>
                </a:solidFill>
                <a:latin typeface="Pretendard"/>
                <a:ea typeface="Pretendard"/>
                <a:cs typeface="Pretendard"/>
              </a:rPr>
              <a:t>화면 전체를 한 번에 생성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9EE9811-9EF2-6964-AC67-A4128C35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287" y="37398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C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b3e40d05748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90295" y="3803904"/>
            <a:ext cx="109728" cy="109728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888B6C0-9685-A947-0819-AEEE6278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" y="4206240"/>
            <a:ext cx="4206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solidFill>
                  <a:srgbClr val="7A8699"/>
                </a:solidFill>
                <a:latin typeface="Pretendard"/>
                <a:ea typeface="Pretendard"/>
                <a:cs typeface="Pretendard"/>
              </a:rPr>
              <a:t>mock 없이 서버부터 연결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2323E05-8540-0ECE-7778-74F835F8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287" y="424281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C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b3e40d05748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90295" y="4306824"/>
            <a:ext cx="109728" cy="109728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8F5B8B9A-6157-1BC1-9D2C-82F465F2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" y="4709160"/>
            <a:ext cx="4206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solidFill>
                  <a:srgbClr val="7A8699"/>
                </a:solidFill>
                <a:latin typeface="Pretendard"/>
                <a:ea typeface="Pretendard"/>
                <a:cs typeface="Pretendard"/>
              </a:rPr>
              <a:t>상태 로직이 한 컴포넌트에 집중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A63DA893-B778-EF89-40AA-97E9A6D6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287" y="474573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C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b3e40d05748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90295" y="4809744"/>
            <a:ext cx="109728" cy="109728"/>
          </a:xfrm>
          <a:prstGeom xmlns:a="http://schemas.openxmlformats.org/drawingml/2006/main" prst="rect">
            <a:avLst/>
          </a:prstGeom>
        </p:spPr>
      </p:pic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2B14A170-C5CB-BF78-5FF6-0435A748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287" y="524865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C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b3e40d05748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90295" y="5312664"/>
            <a:ext cx="109728" cy="109728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9C91C4D0-173E-1E5B-BB2D-9636CE49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" y="5212080"/>
            <a:ext cx="4206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solidFill>
                  <a:srgbClr val="7A8699"/>
                </a:solidFill>
                <a:latin typeface="Pretendard"/>
                <a:ea typeface="Pretendard"/>
                <a:cs typeface="Pretendard"/>
              </a:rPr>
              <a:t>결과 확인 없이 Agent에 위임</a:t>
            </a:r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61D9B9F9-6981-FCEE-43E2-F9A6341E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782" y="2264198"/>
            <a:ext cx="7315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8F40467-E0A4-E08D-7FAE-FF3EAC7A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374" y="226419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AGENT ASSISTED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39ED73CC-81B4-EDAF-7021-A3BF4458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782" y="2790699"/>
            <a:ext cx="49011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5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Agent와 함께 속도 높이기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37AFDA54-42EF-171A-C015-56350E25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1782" y="37398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454CECBA-0967-DE91-F4DF-32543E42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1782" y="373989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52B53CCB-E95E-3394-6922-AD56FAEF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20285" y="3703320"/>
            <a:ext cx="4526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계획 Agent로 작업·우선순위 분해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46271808-E928-E71D-8037-4DE29E6C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1782" y="424281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080CA29D-48F4-6797-58A6-21DBA214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1782" y="424281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736DA7D0-0DEE-2D03-6F0D-9FCE3FDD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20285" y="4206240"/>
            <a:ext cx="4526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UI 초안 후 상태 로직은 직접 통제</a:t>
            </a:r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5EA683F1-5BB7-54D3-2C8A-FCA21484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1782" y="474573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0AC3140B-2913-8238-8E88-8B0D0D61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1782" y="474573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C5575E8A-5D46-0FE6-D1E8-41CA3FFF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20285" y="4709160"/>
            <a:ext cx="4526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검증 Agent로 요구사항·테스트 대조</a:t>
            </a:r>
          </a:p>
        </p:txBody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25DC3032-6C39-CE81-906E-BB1B3B2F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1782" y="524865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6A227BD1-857D-5EF7-1260-30BB44D9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1782" y="524865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5CC32342-2A2C-FC42-5A57-A5834903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20285" y="5212080"/>
            <a:ext cx="4526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단계마다 결과 확인 후 승인</a:t>
            </a:r>
          </a:p>
        </p:txBody>
      </p:sp>
      <p:sp>
        <p:nvSpPr>
          <p:cNvPr id="38" name="Text 32">
            <a:extLst xmlns:a="http://schemas.openxmlformats.org/drawingml/2006/main">
              <a:ext uri="{FF2B5EF4-FFF2-40B4-BE49-F238E27FC236}">
                <a16:creationId xmlns:a16="http://schemas.microsoft.com/office/drawing/2014/main" id="{093049CF-05BE-E0A5-B09B-1B5C0898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5" y="639074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CV2PF</a:t>
            </a:r>
          </a:p>
        </p:txBody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D2709D20-44CA-FE2B-4AC3-7A577CDA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614" y="639074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1561930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ab17fc61d54bd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D5644A2-BA7B-4E7A-A7E5-B530242D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6" y="320040"/>
            <a:ext cx="108814" cy="130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914249-4CEA-4FCB-8A1D-C82361A9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" y="200254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05. LIVE DEMO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135128-82DA-4348-A6F4-BC41B2F0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77117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7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QANDA 공고부터 DB 재조회까지, </a:t>
            </a:r>
            <a:r>
              <a:rPr sz="2700" b="1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한 바퀴</a:t>
            </a:r>
            <a:r>
              <a:rPr sz="27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를 시연합니다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58F63C-FFE7-4020-8F0F-60EDB330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1200607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선택 → 입력 → 생성 → 다운로드 → 저장·조회 순서로 확인합니다.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492D401-4814-4446-BF73-6FFF8324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1829714"/>
            <a:ext cx="11173968" cy="443484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279400" dist="50800" dir="5400000" algn="bl" rotWithShape="0">
              <a:srgbClr val="1C60EF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769FF99-9E5B-438A-894F-E4D7AB26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2288178"/>
            <a:ext cx="1936699" cy="3157872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93C32DB-D0DE-40BE-A3C6-38914859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4096349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기업·공고 선택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3B39CD-A291-4B82-8991-BBB771EB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76" y="4507829"/>
            <a:ext cx="2743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04A32CB-807B-48A4-AA71-1AD42E98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" y="4599269"/>
            <a:ext cx="175381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QANDA JD·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인재상 확인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B6AD269-F3FD-49C0-B71D-A1FB0FFB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79" y="2288178"/>
            <a:ext cx="1936699" cy="3157872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6DC6317-1D9B-4D85-AE26-EF9F0D5D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79" y="4096349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CV 입력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45EF5213-C5A7-44AF-B1C5-5B7D55F7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4507829"/>
            <a:ext cx="2743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D5A5861-3ABF-4497-903B-5BA29FD7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19" y="4599269"/>
            <a:ext cx="175381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개발자 샘플·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파싱 결과 확인</a:t>
            </a: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E6A164D8-DD3A-42EA-B07F-5CC316B5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870" y="2288178"/>
            <a:ext cx="1936699" cy="3157872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A8C31E78-6365-4CFD-A5E4-5CDC7F05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870" y="4096349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디자인 선택</a:t>
            </a:r>
          </a:p>
        </p:txBody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E24AE16B-FF31-4355-889D-657D0749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059" y="4507829"/>
            <a:ext cx="2743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B3848911-1A05-4BF2-AD67-0AF554A0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310" y="4599269"/>
            <a:ext cx="175381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Minimal Clean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테마 적용</a:t>
            </a:r>
          </a:p>
        </p:txBody>
      </p:sp>
      <p:sp>
        <p:nvSpPr>
          <p:cNvPr id="37" name="Shape 32">
            <a:extLst xmlns:a="http://schemas.openxmlformats.org/drawingml/2006/main">
              <a:ext uri="{FF2B5EF4-FFF2-40B4-BE49-F238E27FC236}">
                <a16:creationId xmlns:a16="http://schemas.microsoft.com/office/drawing/2014/main" id="{2CD0931D-4DB1-4F33-9E0E-89012E09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161" y="2288178"/>
            <a:ext cx="1936699" cy="3157872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38">
            <a:extLst xmlns:a="http://schemas.openxmlformats.org/drawingml/2006/main">
              <a:ext uri="{FF2B5EF4-FFF2-40B4-BE49-F238E27FC236}">
                <a16:creationId xmlns:a16="http://schemas.microsoft.com/office/drawing/2014/main" id="{585E9829-2B77-4B38-AD0E-DF9F101E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161" y="4096349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AI 생성</a:t>
            </a:r>
          </a:p>
        </p:txBody>
      </p:sp>
      <p:sp>
        <p:nvSpPr>
          <p:cNvPr id="45" name="Shape 39">
            <a:extLst xmlns:a="http://schemas.openxmlformats.org/drawingml/2006/main">
              <a:ext uri="{FF2B5EF4-FFF2-40B4-BE49-F238E27FC236}">
                <a16:creationId xmlns:a16="http://schemas.microsoft.com/office/drawing/2014/main" id="{47B92927-12B0-4A0B-8DB1-7AF21259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350" y="4507829"/>
            <a:ext cx="2743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0">
            <a:extLst xmlns:a="http://schemas.openxmlformats.org/drawingml/2006/main">
              <a:ext uri="{FF2B5EF4-FFF2-40B4-BE49-F238E27FC236}">
                <a16:creationId xmlns:a16="http://schemas.microsoft.com/office/drawing/2014/main" id="{049CAD79-9CFB-4A2D-9D6F-1B5BCE14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601" y="4599269"/>
            <a:ext cx="175381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target + CV +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design 전달</a:t>
            </a:r>
          </a:p>
        </p:txBody>
      </p:sp>
      <p:sp>
        <p:nvSpPr>
          <p:cNvPr id="47" name="Shape 41">
            <a:extLst xmlns:a="http://schemas.openxmlformats.org/drawingml/2006/main">
              <a:ext uri="{FF2B5EF4-FFF2-40B4-BE49-F238E27FC236}">
                <a16:creationId xmlns:a16="http://schemas.microsoft.com/office/drawing/2014/main" id="{0905A32E-5A86-474E-9FEB-FC73CF2B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52" y="2288178"/>
            <a:ext cx="1936699" cy="3157872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19CA209-D7A7-42A8-9894-06B00D9B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2425338"/>
            <a:ext cx="1936699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A051A5E-4E26-4AB3-A344-434B7E38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2288178"/>
            <a:ext cx="1936699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22502B2-4239-4BB8-8226-5FD6C8B7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2562498"/>
            <a:ext cx="193669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3F0F665-7AC3-4420-81A8-9BF45719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2288178"/>
            <a:ext cx="193669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STEP 01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974409D-44B0-4F42-97CA-06523628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79" y="2425338"/>
            <a:ext cx="1936699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A41B793F-ED7A-4157-B0FC-7C37B2B8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79" y="2288178"/>
            <a:ext cx="1936699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63E9049-F1CA-49DD-A26C-22799B57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79" y="2562498"/>
            <a:ext cx="193669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BBC860B-A37A-462B-BD9B-CD470484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79" y="2288178"/>
            <a:ext cx="193669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STEP 02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B8A1C926-6C9D-463A-9DD4-96A8CE17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870" y="2425338"/>
            <a:ext cx="1936699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A16FD831-89A5-4A31-BBF4-A4F9EDCB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870" y="2288178"/>
            <a:ext cx="1936699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B4A2C0FA-EB9D-4C6D-973A-FB3E000C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870" y="2562498"/>
            <a:ext cx="193669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CABA89A5-8B2B-43DA-87C8-6B9F3966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870" y="2288178"/>
            <a:ext cx="193669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STEP 03</a:t>
            </a:r>
          </a:p>
        </p:txBody>
      </p:sp>
      <p:sp>
        <p:nvSpPr>
          <p:cNvPr id="38" name="Shape 33">
            <a:extLst xmlns:a="http://schemas.openxmlformats.org/drawingml/2006/main">
              <a:ext uri="{FF2B5EF4-FFF2-40B4-BE49-F238E27FC236}">
                <a16:creationId xmlns:a16="http://schemas.microsoft.com/office/drawing/2014/main" id="{0DC805DD-F986-4D07-ADB4-1AA8ADD8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161" y="2425338"/>
            <a:ext cx="1936699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4">
            <a:extLst xmlns:a="http://schemas.openxmlformats.org/drawingml/2006/main">
              <a:ext uri="{FF2B5EF4-FFF2-40B4-BE49-F238E27FC236}">
                <a16:creationId xmlns:a16="http://schemas.microsoft.com/office/drawing/2014/main" id="{82722DF3-9AA6-4702-9269-FEC88818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161" y="2288178"/>
            <a:ext cx="1936699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AB439056-4158-4AB5-B076-936ADA2A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161" y="2562498"/>
            <a:ext cx="193669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6">
            <a:extLst xmlns:a="http://schemas.openxmlformats.org/drawingml/2006/main">
              <a:ext uri="{FF2B5EF4-FFF2-40B4-BE49-F238E27FC236}">
                <a16:creationId xmlns:a16="http://schemas.microsoft.com/office/drawing/2014/main" id="{28FD94E2-5376-44CA-810A-ECB2795B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161" y="2288178"/>
            <a:ext cx="193669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STEP 04</a:t>
            </a:r>
          </a:p>
        </p:txBody>
      </p:sp>
      <p:sp>
        <p:nvSpPr>
          <p:cNvPr id="48" name="Shape 42">
            <a:extLst xmlns:a="http://schemas.openxmlformats.org/drawingml/2006/main">
              <a:ext uri="{FF2B5EF4-FFF2-40B4-BE49-F238E27FC236}">
                <a16:creationId xmlns:a16="http://schemas.microsoft.com/office/drawing/2014/main" id="{5EC4C200-D2AB-4039-9717-D53152F5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52" y="2425338"/>
            <a:ext cx="1936699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Shape 43">
            <a:extLst xmlns:a="http://schemas.openxmlformats.org/drawingml/2006/main">
              <a:ext uri="{FF2B5EF4-FFF2-40B4-BE49-F238E27FC236}">
                <a16:creationId xmlns:a16="http://schemas.microsoft.com/office/drawing/2014/main" id="{98F45E87-01F3-414D-B070-98D6DEA6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52" y="2288178"/>
            <a:ext cx="1936699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44">
            <a:extLst xmlns:a="http://schemas.openxmlformats.org/drawingml/2006/main">
              <a:ext uri="{FF2B5EF4-FFF2-40B4-BE49-F238E27FC236}">
                <a16:creationId xmlns:a16="http://schemas.microsoft.com/office/drawing/2014/main" id="{F626DA35-14CD-4B82-9A3E-D607B492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52" y="2562498"/>
            <a:ext cx="193669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5">
            <a:extLst xmlns:a="http://schemas.openxmlformats.org/drawingml/2006/main">
              <a:ext uri="{FF2B5EF4-FFF2-40B4-BE49-F238E27FC236}">
                <a16:creationId xmlns:a16="http://schemas.microsoft.com/office/drawing/2014/main" id="{0F5A1026-F718-4872-896C-90F0BAC8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52" y="2288178"/>
            <a:ext cx="193669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STEP 05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56D932E-766A-4108-B7B6-204A6E53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106" y="3072494"/>
            <a:ext cx="871060" cy="871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05dbdf09d40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52743" y="3376450"/>
            <a:ext cx="283980" cy="283980"/>
          </a:xfrm>
          <a:prstGeom xmlns:a="http://schemas.openxmlformats.org/drawingml/2006/main" prst="rect">
            <a:avLst/>
          </a:prstGeom>
        </p:spPr>
      </p:pic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B2AFFFA0-8E4B-46DF-A1C4-02D113FF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398" y="3072494"/>
            <a:ext cx="871060" cy="871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2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5bfaa0f2541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4035" y="3376450"/>
            <a:ext cx="283980" cy="283980"/>
          </a:xfrm>
          <a:prstGeom xmlns:a="http://schemas.openxmlformats.org/drawingml/2006/main" prst="rect">
            <a:avLst/>
          </a:prstGeom>
        </p:spPr>
      </p:pic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44817F8-E3EF-4296-9C5F-FBFD5376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689" y="3072494"/>
            <a:ext cx="871060" cy="871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680c10a134a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5326" y="3376450"/>
            <a:ext cx="283980" cy="283980"/>
          </a:xfrm>
          <a:prstGeom xmlns:a="http://schemas.openxmlformats.org/drawingml/2006/main" prst="rect">
            <a:avLst/>
          </a:prstGeom>
        </p:spPr>
      </p:pic>
      <p:sp>
        <p:nvSpPr>
          <p:cNvPr id="42" name="Shape 37">
            <a:extLst xmlns:a="http://schemas.openxmlformats.org/drawingml/2006/main">
              <a:ext uri="{FF2B5EF4-FFF2-40B4-BE49-F238E27FC236}">
                <a16:creationId xmlns:a16="http://schemas.microsoft.com/office/drawing/2014/main" id="{27D0F255-F3A3-40E6-B75E-B0FB0C75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80" y="3072494"/>
            <a:ext cx="871060" cy="871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3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9f768ec1b44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6617" y="3376450"/>
            <a:ext cx="283980" cy="283980"/>
          </a:xfrm>
          <a:prstGeom xmlns:a="http://schemas.openxmlformats.org/drawingml/2006/main" prst="rect">
            <a:avLst/>
          </a:prstGeom>
        </p:spPr>
      </p:pic>
      <p:sp>
        <p:nvSpPr>
          <p:cNvPr id="52" name="Shape 46">
            <a:extLst xmlns:a="http://schemas.openxmlformats.org/drawingml/2006/main">
              <a:ext uri="{FF2B5EF4-FFF2-40B4-BE49-F238E27FC236}">
                <a16:creationId xmlns:a16="http://schemas.microsoft.com/office/drawing/2014/main" id="{4A4237DB-80B1-4877-A132-476D2CEB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271" y="3072494"/>
            <a:ext cx="871060" cy="871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3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f3b799e2b4d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7908" y="3376450"/>
            <a:ext cx="283980" cy="283980"/>
          </a:xfrm>
          <a:prstGeom xmlns:a="http://schemas.openxmlformats.org/drawingml/2006/main" prst="rect">
            <a:avLst/>
          </a:prstGeom>
        </p:spPr>
      </p:pic>
      <p:sp>
        <p:nvSpPr>
          <p:cNvPr id="54" name="Text 47">
            <a:extLst xmlns:a="http://schemas.openxmlformats.org/drawingml/2006/main">
              <a:ext uri="{FF2B5EF4-FFF2-40B4-BE49-F238E27FC236}">
                <a16:creationId xmlns:a16="http://schemas.microsoft.com/office/drawing/2014/main" id="{93869812-8404-4A7D-B6A6-CEF83D23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52" y="4096349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저장·조회</a:t>
            </a:r>
          </a:p>
        </p:txBody>
      </p:sp>
      <p:sp>
        <p:nvSpPr>
          <p:cNvPr id="55" name="Shape 48">
            <a:extLst xmlns:a="http://schemas.openxmlformats.org/drawingml/2006/main">
              <a:ext uri="{FF2B5EF4-FFF2-40B4-BE49-F238E27FC236}">
                <a16:creationId xmlns:a16="http://schemas.microsoft.com/office/drawing/2014/main" id="{9FE0DC15-6B07-4F33-AE89-BB48C0EB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641" y="4507829"/>
            <a:ext cx="2743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49">
            <a:extLst xmlns:a="http://schemas.openxmlformats.org/drawingml/2006/main">
              <a:ext uri="{FF2B5EF4-FFF2-40B4-BE49-F238E27FC236}">
                <a16:creationId xmlns:a16="http://schemas.microsoft.com/office/drawing/2014/main" id="{B3EA3C88-5BF8-449B-9B0B-FBAE852E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892" y="4599269"/>
            <a:ext cx="175381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Supabase에서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결과 다시 열기</a:t>
            </a:r>
          </a:p>
        </p:txBody>
      </p:sp>
      <p:sp>
        <p:nvSpPr>
          <p:cNvPr id="62" name="Text 51">
            <a:extLst xmlns:a="http://schemas.openxmlformats.org/drawingml/2006/main">
              <a:ext uri="{FF2B5EF4-FFF2-40B4-BE49-F238E27FC236}">
                <a16:creationId xmlns:a16="http://schemas.microsoft.com/office/drawing/2014/main" id="{D6E1065B-EC94-4A8D-8AA0-242A7334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5" y="639074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CV2PF</a:t>
            </a:r>
          </a:p>
        </p:txBody>
      </p:sp>
      <p:sp>
        <p:nvSpPr>
          <p:cNvPr id="63" name="Text 52">
            <a:extLst xmlns:a="http://schemas.openxmlformats.org/drawingml/2006/main">
              <a:ext uri="{FF2B5EF4-FFF2-40B4-BE49-F238E27FC236}">
                <a16:creationId xmlns:a16="http://schemas.microsoft.com/office/drawing/2014/main" id="{AEC7BE0E-BC45-4672-914C-268BAC03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614" y="639074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76" name="Text 50">
            <a:extLst xmlns:a="http://schemas.openxmlformats.org/drawingml/2006/main">
              <a:ext uri="{FF2B5EF4-FFF2-40B4-BE49-F238E27FC236}">
                <a16:creationId xmlns:a16="http://schemas.microsoft.com/office/drawing/2014/main" id="{261C233C-B5F5-F84B-195A-5F57A2D8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" y="5617980"/>
            <a:ext cx="103418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TIP. AI가 실패해도 로컬 렌더러가 독립 실행형 HTML을 만듭니다.</a:t>
            </a:r>
          </a:p>
        </p:txBody>
      </p:sp>
    </p:spTree>
    <p:extLst>
      <p:ext uri="{BB962C8B-B14F-4D97-AF65-F5344CB8AC3E}">
        <p14:creationId xmlns:p14="http://schemas.microsoft.com/office/powerpoint/2010/main" val="314075484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b9fe09d7a3f4db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8DD0E38-3DFF-41E3-B03D-A4558FC2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6" y="320040"/>
            <a:ext cx="108814" cy="130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FD28B7-AD10-4144-BC7A-A874D33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" y="200254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06. TARGET EXAMPLES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1A5098-C573-433F-9E44-6CB4079E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77117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7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같은 Frontend CV도, </a:t>
            </a:r>
            <a:r>
              <a:rPr sz="2700" b="1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기업마다</a:t>
            </a:r>
            <a:r>
              <a:rPr sz="27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 먼저 보여줄 근거가 다릅니다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AB438B-94EF-4775-AAD4-6905167F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1200607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공식 공고 5개를 같은 구조로 요약해 맞춤 생성의 차이를 비교합니다.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B3438C1-DF6A-4241-AC6E-8F8B5856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1829714"/>
            <a:ext cx="11173968" cy="443484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279400" dist="50800" dir="5400000" algn="bl" rotWithShape="0">
              <a:srgbClr val="1C60EF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0">
            <a:extLst xmlns:a="http://schemas.openxmlformats.org/drawingml/2006/main">
              <a:ext uri="{FF2B5EF4-FFF2-40B4-BE49-F238E27FC236}">
                <a16:creationId xmlns:a16="http://schemas.microsoft.com/office/drawing/2014/main" id="{AF166019-C627-4D86-9DE3-D970F90E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" y="4972507"/>
            <a:ext cx="10354488" cy="8694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1">
            <a:extLst xmlns:a="http://schemas.openxmlformats.org/drawingml/2006/main">
              <a:ext uri="{FF2B5EF4-FFF2-40B4-BE49-F238E27FC236}">
                <a16:creationId xmlns:a16="http://schemas.microsoft.com/office/drawing/2014/main" id="{9C271A5C-A5C2-42E3-8F35-A327E1DB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10789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 JOB POSTINGS</a:t>
            </a:r>
          </a:p>
        </p:txBody>
      </p:sp>
      <p:sp>
        <p:nvSpPr>
          <p:cNvPr id="43" name="Text 32">
            <a:extLst xmlns:a="http://schemas.openxmlformats.org/drawingml/2006/main">
              <a:ext uri="{FF2B5EF4-FFF2-40B4-BE49-F238E27FC236}">
                <a16:creationId xmlns:a16="http://schemas.microsoft.com/office/drawing/2014/main" id="{A9D0447A-6720-4B55-AA66-9F88EC88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" y="5339389"/>
            <a:ext cx="1035448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공고 문장을 복사하지 않고, CV의 실제 근거만 재배치합니다</a:t>
            </a:r>
          </a:p>
        </p:txBody>
      </p:sp>
      <p:sp>
        <p:nvSpPr>
          <p:cNvPr id="44" name="Text 33">
            <a:extLst xmlns:a="http://schemas.openxmlformats.org/drawingml/2006/main">
              <a:ext uri="{FF2B5EF4-FFF2-40B4-BE49-F238E27FC236}">
                <a16:creationId xmlns:a16="http://schemas.microsoft.com/office/drawing/2014/main" id="{42A71E5A-8AD4-4312-AD86-04B72903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5" y="639074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CV2PF</a:t>
            </a:r>
          </a:p>
        </p:txBody>
      </p:sp>
      <p:sp>
        <p:nvSpPr>
          <p:cNvPr id="45" name="Text 34">
            <a:extLst xmlns:a="http://schemas.openxmlformats.org/drawingml/2006/main">
              <a:ext uri="{FF2B5EF4-FFF2-40B4-BE49-F238E27FC236}">
                <a16:creationId xmlns:a16="http://schemas.microsoft.com/office/drawing/2014/main" id="{91778F34-5EA6-4277-AE76-AE48ECD7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614" y="639074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cxnSp>
        <p:nvCxnSpPr>
          <p:cNvPr id="79" name="직선 화살표 연결선 46"/>
          <p:cNvCxnSpPr/>
          <p:nvPr/>
        </p:nvCxnSpPr>
        <p:spPr>
          <a:xfrm xmlns:a="http://schemas.openxmlformats.org/drawingml/2006/main">
            <a:off x="2766001" y="3564083"/>
            <a:ext cx="6680446" cy="0"/>
          </a:xfrm>
          <a:prstGeom xmlns:a="http://schemas.openxmlformats.org/drawingml/2006/main" prst="straightConnector1">
            <a:avLst/>
          </a:prstGeom>
          <a:ln xmlns:a="http://schemas.openxmlformats.org/drawingml/2006/main" w="50800">
            <a:gradFill rotWithShape="1">
              <a:gsLst>
                <a:gs pos="0">
                  <a:srgbClr val="1C60EF">
                    <a:alpha val="10000"/>
                  </a:srgbClr>
                </a:gs>
                <a:gs pos="33000">
                  <a:srgbClr val="1C60EF">
                    <a:alpha val="40000"/>
                  </a:srgbClr>
                </a:gs>
                <a:gs pos="69000">
                  <a:srgbClr val="1C60EF">
                    <a:alpha val="60000"/>
                  </a:srgbClr>
                </a:gs>
                <a:gs pos="100000">
                  <a:srgbClr val="1C60EF"/>
                </a:gs>
              </a:gsLst>
              <a:lin ang="0" scaled="1"/>
              <a:tileRect/>
            </a:gra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013F96E-F2CA-4B24-9966-02DA37B2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0742" y="2276475"/>
            <a:ext cx="1845259" cy="2432685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14C4F81-7D85-454E-8997-B62903C9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9302" y="2453960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D6257E1-E659-4529-9693-3B313EB7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1036" y="294481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997be30f049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623916" y="312769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74796C2-A95C-4406-BCC8-B30CFA88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5022" y="3758048"/>
            <a:ext cx="184525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토스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4696C66-7E2E-4963-B03A-3372DDF2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0742" y="4078088"/>
            <a:ext cx="175381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주도성·</a:t>
            </a:r>
          </a:p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제품 임팩트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0D516ED-BB7F-4060-BAEF-276E69A8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7878" y="2276475"/>
            <a:ext cx="1845259" cy="2432685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91B3D54-437E-4CB5-B798-24536445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72158" y="2453960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EBD320B-60BA-4819-8AB8-8EF87F1A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83891" y="294481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66d2cd44645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766771" y="312769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AB27E3E7-07FF-44AD-9F85-4ACD0CB7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7878" y="3758048"/>
            <a:ext cx="184525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LINE Pay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72308AB7-6901-4D4D-8F88-3F100F8F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3598" y="4078088"/>
            <a:ext cx="175381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대규모 트래픽·</a:t>
            </a:r>
          </a:p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협업·실험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4FB5532-6EBC-4D23-9DCA-DC80B22E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0734" y="2276475"/>
            <a:ext cx="1845259" cy="2432685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53DC0CDD-79A2-4E52-A831-5F6FEC36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5014" y="2453960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1F1114B-840A-414B-BC46-EDBB5347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6747" y="294481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08c6d5c46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909627" y="312769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B4965EF6-A396-49D4-96EB-09FC0969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0734" y="3758048"/>
            <a:ext cx="184525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Coupang Play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0D2F3C0-6A47-437D-A635-7F08D784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6454" y="4078088"/>
            <a:ext cx="175381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멀티 플랫폼·</a:t>
            </a:r>
          </a:p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웹 성능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D9EB167D-AEC1-4F20-B855-053A3A3D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3590" y="2276475"/>
            <a:ext cx="1845259" cy="2432685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7CA9BBE5-38FF-4709-84C2-9133D542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7870" y="2453960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5EDF05FD-3ABE-4A67-9B50-FBD2D3D7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9603" y="294481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e5fed09b647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52483" y="312769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D5D2555B-5ED9-4E1D-A1D1-5DD76FE6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3590" y="3758048"/>
            <a:ext cx="184525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CLO</a:t>
            </a:r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313DF791-6FE2-48B3-8FD5-D0B3AEFE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49310" y="4078088"/>
            <a:ext cx="175381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시스템 설계·</a:t>
            </a:r>
          </a:p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글로벌 협업</a:t>
            </a:r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D3897D2B-C650-49A4-BEE9-7097D36B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6447" y="2276475"/>
            <a:ext cx="1845259" cy="2432685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rgbClr val="EEF4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92A4947C-284F-4A8F-B896-EACA311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0727" y="2453960"/>
            <a:ext cx="19366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8472590F-C6E4-4F18-BB73-589B434A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12460" y="294481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403413a1645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95340" y="312769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EE19448C-071C-4764-A06F-12C47DA9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6447" y="3758048"/>
            <a:ext cx="184525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QANDA</a:t>
            </a:r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3C05B339-7D63-4DF6-9117-C95375F2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92167" y="4078088"/>
            <a:ext cx="175381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문제 정의·</a:t>
            </a:r>
          </a:p>
          <a:p xmlns:a="http://schemas.openxmlformats.org/drawingml/2006/main">
            <a:pPr marL="0" indent="0" algn="ctr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테스트</a:t>
            </a:r>
          </a:p>
        </p:txBody>
      </p:sp>
    </p:spTree>
    <p:extLst>
      <p:ext uri="{BB962C8B-B14F-4D97-AF65-F5344CB8AC3E}">
        <p14:creationId xmlns:p14="http://schemas.microsoft.com/office/powerpoint/2010/main" val="783795641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1d36280521c418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830225-AB0F-44C4-8DA6-36594A96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101BCCD-13B8-43A7-8A10-B6A0D247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688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07. VALIDATION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A2DA98F-55E8-4012-AF30-D3C535B7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00" b="0" i="0" u="none" cap="none">
                <a:ln>
                  <a:noFill/>
                </a:ln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CV2PF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5B68546-9C71-4D6E-BEAD-8D25E584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marR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900" b="0" i="0" u="none" cap="none">
                <a:ln>
                  <a:noFill/>
                </a:ln>
                <a:solidFill>
                  <a:srgbClr val="7A869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8121351-53D5-4617-A229-26A38BF8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0607"/>
            <a:ext cx="11155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성공 경로뿐 아니라, 입력 검증과 AI 실패 경로까지 함께 확인했습니다.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B77ECAB-AF00-40A4-8A66-2FDF64C0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151646" cy="443484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254000" dist="38100" dir="5400000" algn="bl" rotWithShape="0">
              <a:srgbClr val="888888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FF4A68-F289-4225-9E6A-37E40507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9904"/>
            <a:ext cx="36576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D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F51DBC5-458B-4419-B712-CC264BA1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0675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 b="0" i="0" u="none" cap="none">
                <a:ln>
                  <a:noFill/>
                </a:ln>
                <a:solidFill>
                  <a:srgbClr val="7A8699"/>
                </a:solidFill>
                <a:latin typeface="Pretendard"/>
                <a:ea typeface="Pretendard"/>
                <a:cs typeface="Pretendard"/>
              </a:rPr>
              <a:t>VERIFIED NOW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0E230A-A513-4A14-9903-C273B15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627376"/>
            <a:ext cx="4572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400" b="0" i="0" u="none" cap="none">
                <a:ln>
                  <a:noFill/>
                </a:ln>
                <a:solidFill>
                  <a:srgbClr val="7A8699"/>
                </a:solidFill>
                <a:latin typeface="Pretendard"/>
                <a:ea typeface="Pretendard"/>
                <a:cs typeface="Pretendard"/>
              </a:rPr>
              <a:t>검증 완료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45386B-C6F3-4494-BB00-FB15CAEF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" y="3035808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 b="0" i="0" u="none" cap="none">
                <a:ln>
                  <a:noFill/>
                </a:ln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Client 17 + Server 13 tests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 b="0" i="0" u="none" cap="none">
                <a:ln>
                  <a:noFill/>
                </a:ln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Production build · ESLint 통과</a:t>
            </a:r>
          </a:p>
        </p:txBody>
      </p:sp>
      <p:sp>
        <p:nvSpPr>
          <p:cNvPr id="45" name="Text 4">
            <a:extLst xmlns:a="http://schemas.openxmlformats.org/drawingml/2006/main">
              <a:ext uri="{FF2B5EF4-FFF2-40B4-BE49-F238E27FC236}">
                <a16:creationId xmlns:a16="http://schemas.microsoft.com/office/drawing/2014/main" id="{6E012C3F-CD4A-62E2-1738-5BE5F8A9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62526"/>
            <a:ext cx="11155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>
                <a:latin typeface="Pretendard"/>
                <a:ea typeface="Pretendard"/>
                <a:cs typeface="Pretendard"/>
              </a:defRPr>
            </a:pPr>
            <a:r>
              <a:rPr sz="27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테스트로 사실성을 지키고, 한계는 </a:t>
            </a:r>
            <a:r>
              <a:rPr sz="2700" b="1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숨기지 않았습니다</a:t>
            </a:r>
          </a:p>
        </p:txBody>
      </p:sp>
      <p:sp>
        <p:nvSpPr>
          <p:cNvPr id="46" name="Shape 23">
            <a:extLst xmlns:a="http://schemas.openxmlformats.org/drawingml/2006/main">
              <a:ext uri="{FF2B5EF4-FFF2-40B4-BE49-F238E27FC236}">
                <a16:creationId xmlns:a16="http://schemas.microsoft.com/office/drawing/2014/main" id="{18FBB828-9987-F9D2-F86D-3AF8C9CD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975" y="1783080"/>
            <a:ext cx="5151646" cy="443484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C60EF"/>
            </a:solidFill>
            <a:prstDash val="solid"/>
          </a:ln>
          <a:effectLst xmlns:a="http://schemas.openxmlformats.org/drawingml/2006/main">
            <a:outerShdw blurRad="361470" dist="38100" dir="5400000" algn="bl" rotWithShape="0">
              <a:srgbClr val="1C60EF">
                <a:alpha val="43587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7" name="Shape 24">
            <a:extLst xmlns:a="http://schemas.openxmlformats.org/drawingml/2006/main">
              <a:ext uri="{FF2B5EF4-FFF2-40B4-BE49-F238E27FC236}">
                <a16:creationId xmlns:a16="http://schemas.microsoft.com/office/drawing/2014/main" id="{B8136D40-F45F-FA83-B902-A40671E4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9455" y="2279904"/>
            <a:ext cx="36576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8" name="Text 25">
            <a:extLst xmlns:a="http://schemas.openxmlformats.org/drawingml/2006/main">
              <a:ext uri="{FF2B5EF4-FFF2-40B4-BE49-F238E27FC236}">
                <a16:creationId xmlns:a16="http://schemas.microsoft.com/office/drawing/2014/main" id="{335B4367-656E-BD48-F552-9324736C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0895" y="220675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 b="0" i="0" u="none" cap="none">
                <a:ln>
                  <a:noFill/>
                </a:ln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NEXT ITERATION</a:t>
            </a:r>
          </a:p>
        </p:txBody>
      </p:sp>
      <p:sp>
        <p:nvSpPr>
          <p:cNvPr id="49" name="Text 26">
            <a:extLst xmlns:a="http://schemas.openxmlformats.org/drawingml/2006/main">
              <a:ext uri="{FF2B5EF4-FFF2-40B4-BE49-F238E27FC236}">
                <a16:creationId xmlns:a16="http://schemas.microsoft.com/office/drawing/2014/main" id="{2222219F-8358-4281-AEFA-3AE1135C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727" y="2627376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400" b="0" i="0" u="none" cap="none">
                <a:ln>
                  <a:noFill/>
                </a:ln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다음 단계</a:t>
            </a:r>
          </a:p>
        </p:txBody>
      </p:sp>
      <p:sp>
        <p:nvSpPr>
          <p:cNvPr id="50" name="Text 27">
            <a:extLst xmlns:a="http://schemas.openxmlformats.org/drawingml/2006/main">
              <a:ext uri="{FF2B5EF4-FFF2-40B4-BE49-F238E27FC236}">
                <a16:creationId xmlns:a16="http://schemas.microsoft.com/office/drawing/2014/main" id="{2A1C4ED3-AC56-49F8-080C-55026A23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919" y="3035808"/>
            <a:ext cx="4846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 b="0" i="0" u="none" cap="none">
                <a:ln>
                  <a:noFill/>
                </a:ln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사용자가 넣은 공고를 최신 상태로 확인하고,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 b="0" i="0" u="none" cap="none">
                <a:ln>
                  <a:noFill/>
                </a:ln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생성 근거를 설명하는 흐름</a:t>
            </a:r>
          </a:p>
        </p:txBody>
      </p:sp>
      <p:sp>
        <p:nvSpPr>
          <p:cNvPr id="64" name="Shape 6">
            <a:extLst xmlns:a="http://schemas.openxmlformats.org/drawingml/2006/main">
              <a:ext uri="{FF2B5EF4-FFF2-40B4-BE49-F238E27FC236}">
                <a16:creationId xmlns:a16="http://schemas.microsoft.com/office/drawing/2014/main" id="{CB227B4F-6C12-DE09-248F-E0379322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47" y="3633978"/>
            <a:ext cx="4063792" cy="4114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E4EAD47-88DE-48C8-991D-81B77850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331" y="3706272"/>
            <a:ext cx="35933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>
                <a:ln>
                  <a:noFill/>
                </a:ln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공고 5개·공식 URL 구조 검증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12AD417-09D1-4D88-913D-301756BC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62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E0559AA-685C-42F5-9DAB-112B962A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627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300" b="0" i="0" u="none" cap="none">
                <a:ln>
                  <a:noFill/>
                </a:ln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67" name="Shape 6">
            <a:extLst xmlns:a="http://schemas.openxmlformats.org/drawingml/2006/main">
              <a:ext uri="{FF2B5EF4-FFF2-40B4-BE49-F238E27FC236}">
                <a16:creationId xmlns:a16="http://schemas.microsoft.com/office/drawing/2014/main" id="{6ABC3C11-523D-8099-464C-149A6154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47" y="5428488"/>
            <a:ext cx="4063792" cy="4114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9AFA434-1BDB-46DB-9E03-7036F980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9" y="550773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00DA142-5CAE-4184-926B-B671DAD0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9" y="550773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300" b="0" i="0" u="none" cap="none">
                <a:ln>
                  <a:noFill/>
                </a:ln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4AE0594-6663-4AF7-990C-33006B22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507736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>
                <a:ln>
                  <a:noFill/>
                </a:ln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AI 실패 시 폴백 HTML 검증</a:t>
            </a:r>
          </a:p>
        </p:txBody>
      </p:sp>
      <p:sp>
        <p:nvSpPr>
          <p:cNvPr id="66" name="Shape 6">
            <a:extLst xmlns:a="http://schemas.openxmlformats.org/drawingml/2006/main">
              <a:ext uri="{FF2B5EF4-FFF2-40B4-BE49-F238E27FC236}">
                <a16:creationId xmlns:a16="http://schemas.microsoft.com/office/drawing/2014/main" id="{50AA8AEF-5C47-BE9F-AFC8-A532BF90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47" y="4830318"/>
            <a:ext cx="4063792" cy="4114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D0D2BBD-2B36-42D0-8A98-534FB2C4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65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F40CB20-8CEF-43C3-9D8A-78FCFD9C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65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300" b="0" i="0" u="none" cap="none">
                <a:ln>
                  <a:noFill/>
                </a:ln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6586929-FD4C-4920-A2E0-FF2F0292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331" y="4906518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>
                <a:ln>
                  <a:noFill/>
                </a:ln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CV 사실성 프롬프트 규칙 테스트</a:t>
            </a:r>
          </a:p>
        </p:txBody>
      </p:sp>
      <p:sp>
        <p:nvSpPr>
          <p:cNvPr id="65" name="Shape 6">
            <a:extLst xmlns:a="http://schemas.openxmlformats.org/drawingml/2006/main">
              <a:ext uri="{FF2B5EF4-FFF2-40B4-BE49-F238E27FC236}">
                <a16:creationId xmlns:a16="http://schemas.microsoft.com/office/drawing/2014/main" id="{4994AA64-FF13-F7DB-103C-F97B2B67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47" y="4232148"/>
            <a:ext cx="4063792" cy="4114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D2E363F-B8AC-4A27-AE94-13ECC449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331" y="4305300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>
                <a:ln>
                  <a:noFill/>
                </a:ln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targetMarkdown API 전달 확인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5BBCBAC-41CC-4289-9FCD-21870444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E035EA6-B67B-4EEA-B917-90A117E0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300" b="0" i="0" u="none" cap="none">
                <a:ln>
                  <a:noFill/>
                </a:ln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72" name="Shape 6">
            <a:extLst xmlns:a="http://schemas.openxmlformats.org/drawingml/2006/main">
              <a:ext uri="{FF2B5EF4-FFF2-40B4-BE49-F238E27FC236}">
                <a16:creationId xmlns:a16="http://schemas.microsoft.com/office/drawing/2014/main" id="{AD8F1609-8A54-5511-9C64-5E3E0DF5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887" y="3633978"/>
            <a:ext cx="4063792" cy="4114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8A0ED">
              <a:alpha val="15000"/>
            </a:srgbClr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73" name="Shape 6">
            <a:extLst xmlns:a="http://schemas.openxmlformats.org/drawingml/2006/main">
              <a:ext uri="{FF2B5EF4-FFF2-40B4-BE49-F238E27FC236}">
                <a16:creationId xmlns:a16="http://schemas.microsoft.com/office/drawing/2014/main" id="{FC0CFA0B-0B9B-219E-B0F6-27E171F5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887" y="5428488"/>
            <a:ext cx="4063792" cy="4114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8A0ED">
              <a:alpha val="15000"/>
            </a:srgbClr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74" name="Shape 6">
            <a:extLst xmlns:a="http://schemas.openxmlformats.org/drawingml/2006/main">
              <a:ext uri="{FF2B5EF4-FFF2-40B4-BE49-F238E27FC236}">
                <a16:creationId xmlns:a16="http://schemas.microsoft.com/office/drawing/2014/main" id="{7AD9EF67-876D-46D2-8368-FE23F539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887" y="4830318"/>
            <a:ext cx="4063792" cy="4114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8A0ED">
              <a:alpha val="15000"/>
            </a:srgbClr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75" name="Shape 6">
            <a:extLst xmlns:a="http://schemas.openxmlformats.org/drawingml/2006/main">
              <a:ext uri="{FF2B5EF4-FFF2-40B4-BE49-F238E27FC236}">
                <a16:creationId xmlns:a16="http://schemas.microsoft.com/office/drawing/2014/main" id="{05C78DAC-8DF8-1A9A-21CE-79C1B9E5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887" y="4232148"/>
            <a:ext cx="4063792" cy="4114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8A0ED">
              <a:alpha val="15000"/>
            </a:srgbClr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" name="Shape 28">
            <a:extLst xmlns:a="http://schemas.openxmlformats.org/drawingml/2006/main">
              <a:ext uri="{FF2B5EF4-FFF2-40B4-BE49-F238E27FC236}">
                <a16:creationId xmlns:a16="http://schemas.microsoft.com/office/drawing/2014/main" id="{5F8BCB18-D51C-D02A-6F61-F0F4372A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647" y="370636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2" name="Text 29">
            <a:extLst xmlns:a="http://schemas.openxmlformats.org/drawingml/2006/main">
              <a:ext uri="{FF2B5EF4-FFF2-40B4-BE49-F238E27FC236}">
                <a16:creationId xmlns:a16="http://schemas.microsoft.com/office/drawing/2014/main" id="{CD2D7AB7-AD70-6D33-B22E-8F93208F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647" y="370636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 b="0" i="0" u="none" cap="none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53" name="Text 30">
            <a:extLst xmlns:a="http://schemas.openxmlformats.org/drawingml/2006/main">
              <a:ext uri="{FF2B5EF4-FFF2-40B4-BE49-F238E27FC236}">
                <a16:creationId xmlns:a16="http://schemas.microsoft.com/office/drawing/2014/main" id="{8E5AE05D-3B90-1F28-C760-2FAB1923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807" y="370636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u="none" cap="none">
                <a:ln>
                  <a:noFill/>
                </a:ln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채용 공고 URL 직접 입력</a:t>
            </a:r>
          </a:p>
        </p:txBody>
      </p:sp>
      <p:sp>
        <p:nvSpPr>
          <p:cNvPr id="54" name="Shape 31">
            <a:extLst xmlns:a="http://schemas.openxmlformats.org/drawingml/2006/main">
              <a:ext uri="{FF2B5EF4-FFF2-40B4-BE49-F238E27FC236}">
                <a16:creationId xmlns:a16="http://schemas.microsoft.com/office/drawing/2014/main" id="{1DD2299F-E935-EFC1-217F-0D437DDD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647" y="43190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5" name="Text 32">
            <a:extLst xmlns:a="http://schemas.openxmlformats.org/drawingml/2006/main">
              <a:ext uri="{FF2B5EF4-FFF2-40B4-BE49-F238E27FC236}">
                <a16:creationId xmlns:a16="http://schemas.microsoft.com/office/drawing/2014/main" id="{2F7B5BF0-AD40-CEB6-B4A6-2BB9DFD2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647" y="43190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 b="0" i="0" u="none" cap="none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56" name="Text 33">
            <a:extLst xmlns:a="http://schemas.openxmlformats.org/drawingml/2006/main">
              <a:ext uri="{FF2B5EF4-FFF2-40B4-BE49-F238E27FC236}">
                <a16:creationId xmlns:a16="http://schemas.microsoft.com/office/drawing/2014/main" id="{3F4BE15C-A984-7127-7B2E-6A124901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807" y="4319016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u="none" cap="none">
                <a:ln>
                  <a:noFill/>
                </a:ln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공고 마감·변경 상태 재확인</a:t>
            </a:r>
          </a:p>
        </p:txBody>
      </p:sp>
      <p:sp>
        <p:nvSpPr>
          <p:cNvPr id="57" name="Shape 34">
            <a:extLst xmlns:a="http://schemas.openxmlformats.org/drawingml/2006/main">
              <a:ext uri="{FF2B5EF4-FFF2-40B4-BE49-F238E27FC236}">
                <a16:creationId xmlns:a16="http://schemas.microsoft.com/office/drawing/2014/main" id="{4176FB74-5644-11C3-10D5-54C7BBC9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647" y="490728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8" name="Text 35">
            <a:extLst xmlns:a="http://schemas.openxmlformats.org/drawingml/2006/main">
              <a:ext uri="{FF2B5EF4-FFF2-40B4-BE49-F238E27FC236}">
                <a16:creationId xmlns:a16="http://schemas.microsoft.com/office/drawing/2014/main" id="{54AC3BB3-0CF8-7FFF-2102-5DB86E68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647" y="490728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 b="0" i="0" u="none" cap="none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59" name="Text 36">
            <a:extLst xmlns:a="http://schemas.openxmlformats.org/drawingml/2006/main">
              <a:ext uri="{FF2B5EF4-FFF2-40B4-BE49-F238E27FC236}">
                <a16:creationId xmlns:a16="http://schemas.microsoft.com/office/drawing/2014/main" id="{30385543-2E08-1602-E856-71D6671D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807" y="4907280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u="none" cap="none">
                <a:ln>
                  <a:noFill/>
                </a:ln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문장별 CV 근거 표시</a:t>
            </a:r>
          </a:p>
        </p:txBody>
      </p:sp>
      <p:sp>
        <p:nvSpPr>
          <p:cNvPr id="60" name="Shape 37">
            <a:extLst xmlns:a="http://schemas.openxmlformats.org/drawingml/2006/main">
              <a:ext uri="{FF2B5EF4-FFF2-40B4-BE49-F238E27FC236}">
                <a16:creationId xmlns:a16="http://schemas.microsoft.com/office/drawing/2014/main" id="{4D486037-1B27-FD25-F00B-3255A4B7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647" y="550773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" name="Text 38">
            <a:extLst xmlns:a="http://schemas.openxmlformats.org/drawingml/2006/main">
              <a:ext uri="{FF2B5EF4-FFF2-40B4-BE49-F238E27FC236}">
                <a16:creationId xmlns:a16="http://schemas.microsoft.com/office/drawing/2014/main" id="{BD2C4CBD-CE0E-6161-A133-FECB629A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647" y="550773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 b="0" i="0" u="none" cap="none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62" name="Text 39">
            <a:extLst xmlns:a="http://schemas.openxmlformats.org/drawingml/2006/main">
              <a:ext uri="{FF2B5EF4-FFF2-40B4-BE49-F238E27FC236}">
                <a16:creationId xmlns:a16="http://schemas.microsoft.com/office/drawing/2014/main" id="{3667F7E9-9C89-1785-305C-F4EDD790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807" y="5507736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u="none" cap="none">
                <a:ln>
                  <a:noFill/>
                </a:ln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생성 전 사용자 승인·편집</a:t>
            </a:r>
          </a:p>
        </p:txBody>
      </p:sp>
      <p:sp>
        <p:nvSpPr>
          <p:cNvPr id="79" name="자유형 78">
            <a:extLst xmlns:a="http://schemas.openxmlformats.org/drawingml/2006/main">
              <a:ext uri="{FF2B5EF4-FFF2-40B4-BE49-F238E27FC236}">
                <a16:creationId xmlns:a16="http://schemas.microsoft.com/office/drawing/2014/main" id="{BB3FBE21-D15F-8048-A9BF-953E4822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4087" y="3938778"/>
            <a:ext cx="127635" cy="213360"/>
          </a:xfrm>
          <a:custGeom xmlns:a="http://schemas.openxmlformats.org/drawingml/2006/main">
            <a:gdLst>
              <a:gd name="csX0" fmla="*/ 47625 w 127635"/>
              <a:gd name="csY0" fmla="*/ 0 h 213360"/>
              <a:gd name="csX1" fmla="*/ 0 w 127635"/>
              <a:gd name="csY1" fmla="*/ 0 h 213360"/>
              <a:gd name="csX2" fmla="*/ 80010 w 127635"/>
              <a:gd name="csY2" fmla="*/ 106680 h 213360"/>
              <a:gd name="csX3" fmla="*/ 0 w 127635"/>
              <a:gd name="csY3" fmla="*/ 213360 h 213360"/>
              <a:gd name="csX4" fmla="*/ 47625 w 127635"/>
              <a:gd name="csY4" fmla="*/ 213360 h 213360"/>
              <a:gd name="csX5" fmla="*/ 127635 w 127635"/>
              <a:gd name="csY5" fmla="*/ 106680 h 213360"/>
              <a:gd name="csX6" fmla="*/ 47625 w 127635"/>
              <a:gd name="csY6" fmla="*/ 0 h 213360"/>
            </a:gdLst>
            <a:rect l="l" t="t" r="r" b="b"/>
            <a:pathLst>
              <a:path w="127635" h="213360">
                <a:moveTo>
                  <a:pt x="47625" y="0"/>
                </a:moveTo>
                <a:lnTo>
                  <a:pt x="0" y="0"/>
                </a:lnTo>
                <a:lnTo>
                  <a:pt x="80010" y="106680"/>
                </a:lnTo>
                <a:lnTo>
                  <a:pt x="0" y="213360"/>
                </a:lnTo>
                <a:lnTo>
                  <a:pt x="47625" y="213360"/>
                </a:lnTo>
                <a:lnTo>
                  <a:pt x="127635" y="106680"/>
                </a:lnTo>
                <a:lnTo>
                  <a:pt x="47625" y="0"/>
                </a:lnTo>
                <a:close/>
              </a:path>
            </a:pathLst>
          </a:custGeom>
          <a:grpFill xmlns:a="http://schemas.openxmlformats.org/drawingml/2006/main"/>
          <a:ln xmlns:a="http://schemas.openxmlformats.org/drawingml/2006/main" w="377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자유형 79">
            <a:extLst xmlns:a="http://schemas.openxmlformats.org/drawingml/2006/main">
              <a:ext uri="{FF2B5EF4-FFF2-40B4-BE49-F238E27FC236}">
                <a16:creationId xmlns:a16="http://schemas.microsoft.com/office/drawing/2014/main" id="{3DFDCD84-E3F9-9DFD-BF1F-56103387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2647" y="3938778"/>
            <a:ext cx="127635" cy="213360"/>
          </a:xfrm>
          <a:custGeom xmlns:a="http://schemas.openxmlformats.org/drawingml/2006/main">
            <a:gdLst>
              <a:gd name="csX0" fmla="*/ 0 w 127635"/>
              <a:gd name="csY0" fmla="*/ 213360 h 213360"/>
              <a:gd name="csX1" fmla="*/ 47625 w 127635"/>
              <a:gd name="csY1" fmla="*/ 213360 h 213360"/>
              <a:gd name="csX2" fmla="*/ 127635 w 127635"/>
              <a:gd name="csY2" fmla="*/ 106680 h 213360"/>
              <a:gd name="csX3" fmla="*/ 47625 w 127635"/>
              <a:gd name="csY3" fmla="*/ 0 h 213360"/>
              <a:gd name="csX4" fmla="*/ 0 w 127635"/>
              <a:gd name="csY4" fmla="*/ 0 h 213360"/>
              <a:gd name="csX5" fmla="*/ 80010 w 127635"/>
              <a:gd name="csY5" fmla="*/ 106680 h 213360"/>
              <a:gd name="csX6" fmla="*/ 0 w 127635"/>
              <a:gd name="csY6" fmla="*/ 213360 h 213360"/>
            </a:gdLst>
            <a:rect l="l" t="t" r="r" b="b"/>
            <a:pathLst>
              <a:path w="127635" h="213360">
                <a:moveTo>
                  <a:pt x="0" y="213360"/>
                </a:moveTo>
                <a:lnTo>
                  <a:pt x="47625" y="213360"/>
                </a:lnTo>
                <a:lnTo>
                  <a:pt x="127635" y="106680"/>
                </a:lnTo>
                <a:lnTo>
                  <a:pt x="47625" y="0"/>
                </a:lnTo>
                <a:lnTo>
                  <a:pt x="0" y="0"/>
                </a:lnTo>
                <a:lnTo>
                  <a:pt x="80010" y="106680"/>
                </a:lnTo>
                <a:lnTo>
                  <a:pt x="0" y="213360"/>
                </a:lnTo>
                <a:close/>
              </a:path>
            </a:pathLst>
          </a:custGeom>
          <a:grpFill xmlns:a="http://schemas.openxmlformats.org/drawingml/2006/main"/>
          <a:ln xmlns:a="http://schemas.openxmlformats.org/drawingml/2006/main" w="377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1" name="자유형 80">
            <a:extLst xmlns:a="http://schemas.openxmlformats.org/drawingml/2006/main">
              <a:ext uri="{FF2B5EF4-FFF2-40B4-BE49-F238E27FC236}">
                <a16:creationId xmlns:a16="http://schemas.microsoft.com/office/drawing/2014/main" id="{BB7EAEE6-2011-6768-409D-6D645927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5527" y="3938778"/>
            <a:ext cx="127635" cy="213360"/>
          </a:xfrm>
          <a:custGeom xmlns:a="http://schemas.openxmlformats.org/drawingml/2006/main">
            <a:gdLst>
              <a:gd name="csX0" fmla="*/ 47625 w 127635"/>
              <a:gd name="csY0" fmla="*/ 0 h 213360"/>
              <a:gd name="csX1" fmla="*/ 0 w 127635"/>
              <a:gd name="csY1" fmla="*/ 0 h 213360"/>
              <a:gd name="csX2" fmla="*/ 80010 w 127635"/>
              <a:gd name="csY2" fmla="*/ 106680 h 213360"/>
              <a:gd name="csX3" fmla="*/ 0 w 127635"/>
              <a:gd name="csY3" fmla="*/ 213360 h 213360"/>
              <a:gd name="csX4" fmla="*/ 47625 w 127635"/>
              <a:gd name="csY4" fmla="*/ 213360 h 213360"/>
              <a:gd name="csX5" fmla="*/ 127635 w 127635"/>
              <a:gd name="csY5" fmla="*/ 106680 h 213360"/>
              <a:gd name="csX6" fmla="*/ 47625 w 127635"/>
              <a:gd name="csY6" fmla="*/ 0 h 213360"/>
            </a:gdLst>
            <a:rect l="l" t="t" r="r" b="b"/>
            <a:pathLst>
              <a:path w="127635" h="213360">
                <a:moveTo>
                  <a:pt x="47625" y="0"/>
                </a:moveTo>
                <a:lnTo>
                  <a:pt x="0" y="0"/>
                </a:lnTo>
                <a:lnTo>
                  <a:pt x="80010" y="106680"/>
                </a:lnTo>
                <a:lnTo>
                  <a:pt x="0" y="213360"/>
                </a:lnTo>
                <a:lnTo>
                  <a:pt x="47625" y="213360"/>
                </a:lnTo>
                <a:lnTo>
                  <a:pt x="127635" y="106680"/>
                </a:lnTo>
                <a:lnTo>
                  <a:pt x="47625" y="0"/>
                </a:lnTo>
                <a:close/>
              </a:path>
            </a:pathLst>
          </a:custGeom>
          <a:grpFill xmlns:a="http://schemas.openxmlformats.org/drawingml/2006/main"/>
          <a:ln xmlns:a="http://schemas.openxmlformats.org/drawingml/2006/main" w="377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73182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683781d00c3468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C52D42D-DE17-4BCC-A67E-2048993A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6" y="320040"/>
            <a:ext cx="108814" cy="130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0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4C1AE4-1307-48EB-95BE-7C15D7FA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" y="200254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08. Q&amp;A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7DEFFCB-45E1-4941-9766-5E719F7E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771172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7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지원 목표와 실제 경험을 </a:t>
            </a:r>
            <a:r>
              <a:rPr sz="2700" b="1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연결하는 흐름</a:t>
            </a:r>
            <a:r>
              <a:rPr sz="27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을 완성했습니다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332C2F7-D949-4ABF-9CBE-27A78268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1200607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5A6677"/>
                </a:solidFill>
                <a:latin typeface="Pretendard"/>
                <a:ea typeface="Pretendard"/>
                <a:cs typeface="Pretendard"/>
              </a:rPr>
              <a:t>이제 질문으로 함께 검증해 주세요.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52D8188-D205-4CC9-8E25-9A1F400B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7" y="1829714"/>
            <a:ext cx="11173968" cy="4434840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1C60EF"/>
          </a:solidFill>
          <a:effectLst xmlns:a="http://schemas.openxmlformats.org/drawingml/2006/main">
            <a:outerShdw blurRad="381000" dist="76200" dir="5400000" algn="bl" rotWithShape="0">
              <a:srgbClr val="1C60EF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0C7D255-E892-40CD-88D0-C3D8FF55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145" y="915314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AB8B1C-A57F-4145-9B33-AB3D65AA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71423" y="4435754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6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A802936-5B0E-478B-AC5F-D96AF091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46888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f28507be34e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2600" y="288036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0804060-6635-4B76-8C61-27A9954A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67" y="2220961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CV2PF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397BB0B-1C17-4396-8CBF-B35BEE71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5" y="2621469"/>
            <a:ext cx="73152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3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예쁜 페이지보다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3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 가능한 지원 근거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C48D2F8-2E64-47F9-B0BE-3F07E953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5" y="4095482"/>
            <a:ext cx="8686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지원 목표 + 실제 CV + 디자인 → 검증 가능한 독립 실행형 HTML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질문 받겠습니다.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E1E8253-885B-42F0-AC4B-96CEE1EA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5" y="5405136"/>
            <a:ext cx="237744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3BCF60E-0FE9-4B0E-AC2B-BA2A7253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5" y="5405136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1C60EF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BB7F3D2-DA55-458B-81E9-E5A20249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5" y="639074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CV2PF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40AC905-EF9D-4869-8411-0BAA099A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614" y="639074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800">
                <a:solidFill>
                  <a:srgbClr val="B8C2D1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957455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2026-07-24T05:01:55.2760000Z</dcterms:created>
  <dcterms:modified xsi:type="dcterms:W3CDTF">2026-07-24T05:01:55.2770000Z</dcterms:modified>
</coreProperties>
</file>