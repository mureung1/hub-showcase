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71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56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소개: 이력서(CV)를 업로드하고 원하는 디자인 테마를 고르면 완성된 포트폴리오 HTML을 만들어 주는 웹앱. 문제→차별점→데모→아키텍처→배운 점 순으로 짧게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세 가지 방법의 한계. 핵심 통찰: '내용은 이미 있다. 보여줄 형태로 바꾸는 노동이 문제다.' 필요 조건 4가지(속도·소유·재현·통제)를 제시하고 — 해결책 공개는 4장으로 아껴둔다.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방식 비교. 각 방식은 한두 칸에서 무너진다. CV2PF만 네 칸을 모두 채운다 — '어떻게?'로 궁금증을 만들고 다음 장에서 공개.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두 입력이 실제 파일 모습. CV는 마크다운 이력서, DESIGN.md는 사람이 읽는 디자인 명세(내부적으로 디자인 토큰과 1:1). 이 둘을 합치면 오른쪽 독립 실행형 HTML이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4장. 업로드하면 실시간 파싱 미리보기, 디자인을 고르면 DESIGN.md 원문. 해피패스 외에 빈 입력·파싱 실패·뒤로가기 같은 예외 상태도 UX 리뷰를 반영해 설계했다.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C338-DEB2-3BF7-64B3-F9A1CE73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96557-9B7E-27B0-8FCC-0FB85A3D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F4D8C-EA40-B825-5D06-F11D31BD7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4장. 업로드하면 실시간 파싱 미리보기, 디자인을 고르면 DESIGN.md 원문. 해피패스 외에 빈 입력·파싱 실패·뒤로가기 같은 예외 상태도 UX 리뷰를 반영해 설계했다.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2B5FE-D86F-8C33-887B-4D6CA0BDC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27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8578-7753-D980-A0B2-555E5D4D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C530-6E73-5C30-6CC5-5FC5C495D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CAAFC-D44E-9448-2630-C3EC7C3A5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4장. 업로드하면 실시간 파싱 미리보기, 디자인을 고르면 DESIGN.md 원문. 해피패스 외에 빈 입력·파싱 실패·뒤로가기 같은 예외 상태도 UX 리뷰를 반영해 설계했다.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30B0A-FAD9-FC32-60A1-4AF8B35D3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9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062E0-ED65-1DA6-1C70-2CE20B0F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4226D-9737-15AF-8DEC-15AE21789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F568D-F45B-C472-B7B0-1F7BAB2C3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4장. 업로드하면 실시간 파싱 미리보기, 디자인을 고르면 DESIGN.md 원문. 해피패스 외에 빈 입력·파싱 실패·뒤로가기 같은 예외 상태도 UX 리뷰를 반영해 설계했다.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AD8FF-4EAC-1CFB-B39F-4E3C87B65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75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4C03-2E64-3A03-2C36-4386AAC9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75DF7-E075-42BE-12EA-0A6CBBF80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33600-A842-1F72-A48C-EC700B3BA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4장. 업로드하면 실시간 파싱 미리보기, 디자인을 고르면 DESIGN.md 원문. 해피패스 외에 빈 입력·파싱 실패·뒤로가기 같은 예외 상태도 UX 리뷰를 반영해 설계했다.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2242-58CC-A5E7-B376-0B57665AE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11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4기능. 파싱은 관대함+원문 보존이 원칙. 테마는 직군이 아닌 분위기 선택. 렌더러는 결정적이라 브라우저만으로 완결. 결과는 소유 가능한 파일로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CV를 넣고 토큰만 바꾼 결과 6종. Minimal Clean이 기본(대비 15.8:1, 가장 범용). Warm Sans는 비개발 직군용으로 추가. 각 테마는 DESIGN.md로 '왜 이 테마인지' 선택 근거를 함께 제공.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프론트와 백엔드를 npm workspaces 모노레포로 관리. 프로토타입은 client만으로 완결. server는 실서비스용 AI 생성 경로이고 API 키는 반드시 서버에서만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기획서→프로토타입→리뷰 반영→직군 확장→문서 정리 순. 아래 숫자: 기능별 커밋 26개, 테마 6종, 샘플 CV 4종, 레이아웃 4종. 작은 단위로 커밋하며 만들었다는 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배운 점. 디자인=데이터가 핵심 설계 아이디어. API 키 보안은 실서비스 원칙. ?raw는 구현 팁. 예외·접근성은 리뷰에서 얻은 가장 큰 교훈.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단계 요약. QR로 저장소 바로 접속 가능. 마지막 한 줄로 마무리: 내용은 올리기만, 디자인은 고르기만.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28016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 → 포트폴리오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생성기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CV2PF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이력서를 올리면, 원하는 디자인으로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 err="1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</a:t>
            </a:r>
            <a:r>
              <a:rPr lang="en-US" sz="180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800" dirty="0" err="1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사이트</a:t>
            </a:r>
            <a:r>
              <a:rPr lang="ko-KR" altLang="en-US" sz="180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까지</a:t>
            </a:r>
            <a:r>
              <a:rPr lang="en-US" altLang="ko-KR" sz="180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r>
              <a:rPr lang="en-US" sz="180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6172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8B92C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이규민 </a:t>
            </a:r>
            <a:r>
              <a:rPr lang="en-US" altLang="ko-KR" sz="1300" dirty="0">
                <a:solidFill>
                  <a:srgbClr val="8B92C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en-US" sz="1300" dirty="0">
                <a:solidFill>
                  <a:srgbClr val="8B92C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dolphin1404 · 2026.07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342632" y="685800"/>
            <a:ext cx="4206240" cy="54864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Image 0" descr="C:/WorkSpace_2026/NaverConnect2/cv-to-portfolio/examples/minimal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731520"/>
            <a:ext cx="41148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왜 </a:t>
            </a:r>
            <a:r>
              <a:rPr lang="en-US" sz="3000" b="1" dirty="0" err="1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만들었나</a:t>
            </a: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이력서 “</a:t>
            </a:r>
            <a:r>
              <a:rPr lang="en-US" sz="22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내용</a:t>
            </a:r>
            <a:r>
              <a:rPr lang="en-US" sz="220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”은 있는데,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그것을 보여줄 “</a:t>
            </a:r>
            <a:r>
              <a:rPr lang="en-US" sz="22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포트폴리오 사이트</a:t>
            </a:r>
            <a:r>
              <a:rPr lang="en-US" sz="220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”로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만드는 일이 여전히 번거롭다.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그래서 필요한 것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⏱  몇 분 안에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54680" y="461772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461772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📄 결과물 소유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3949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🔁  재현·비교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54680" y="5394960"/>
            <a:ext cx="2331720" cy="621792"/>
          </a:xfrm>
          <a:prstGeom prst="roundRect">
            <a:avLst>
              <a:gd name="adj" fmla="val 14706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53949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🎛  디자인 통제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0" y="1481328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502920" cy="50292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03720" y="1865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직접 코딩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03720" y="23042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자유롭지만 시간·기술 부담 — 비개발자엔 진입장벽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0" y="3054096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17920" y="3493008"/>
            <a:ext cx="502920" cy="50292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1792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03720" y="34244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템플릿 빌더 (노션·링크트리)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03720" y="38633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빠르지만 획일적 — 결과물이 플랫폼에 종속된다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0" y="4626864"/>
            <a:ext cx="5623560" cy="1389888"/>
          </a:xfrm>
          <a:prstGeom prst="roundRect">
            <a:avLst>
              <a:gd name="adj" fmla="val 657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7920" y="5065776"/>
            <a:ext cx="502920" cy="50292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17920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90372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범용 AI에 통째로 요청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03720" y="5376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결과가 매번 달라 재현·비교·통제가 어렵다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WHY DIFFERENT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방식과 무엇이 다른가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11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596218"/>
              </p:ext>
            </p:extLst>
          </p:nvPr>
        </p:nvGraphicFramePr>
        <p:xfrm>
          <a:off x="822960" y="1600200"/>
          <a:ext cx="10515600" cy="3657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시간·노력</a:t>
                      </a:r>
                      <a:endParaRPr lang="en-US" sz="14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결과물 소유</a:t>
                      </a:r>
                      <a:endParaRPr lang="en-US" sz="14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재현·비교</a:t>
                      </a:r>
                      <a:endParaRPr lang="en-US" sz="14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디자인 통제</a:t>
                      </a:r>
                      <a:endParaRPr lang="en-US" sz="14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직접 코딩</a:t>
                      </a:r>
                      <a:endParaRPr lang="en-US" sz="15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91C1C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✗  며칠+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내 코드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45309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  손이 감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자유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템플릿 빌더</a:t>
                      </a:r>
                      <a:endParaRPr lang="en-US" sz="15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빠름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91C1C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✗  플랫폼 종속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가능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91C1C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✗  획일적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범용 AI</a:t>
                      </a:r>
                      <a:endParaRPr lang="en-US" sz="15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빠름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45309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  파일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91C1C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✗  매번 다름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45309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△  프롬프트 운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730A3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CV2PF</a:t>
                      </a:r>
                      <a:endParaRPr lang="en-US" sz="15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몇 분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독립 HTML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결정적 렌더러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5803D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✓  테마 토큰 6종</a:t>
                      </a:r>
                      <a:endParaRPr lang="en-US" sz="135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CV2PF만 네 칸 모두 ✓ — </a:t>
            </a:r>
            <a:r>
              <a:rPr lang="en-US" sz="160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어떻게 가능했을까요?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IDEA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 — 내용과 디자인을 분리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8680" y="151790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15179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CV.md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1965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김지우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Frontend Engineer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## Skills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TypeScript, React, Vite …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## Experience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### 마켓플러스 (2023 – 현재)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680" y="380390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8680" y="38039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DESIGN.md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 Minimal Clean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## 팔레트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배경 #FFFFFF · 강조 #2B5CE6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## 레이아웃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single-column · centered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## 이럴 때 좋아요 …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70832" y="3703320"/>
            <a:ext cx="514677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87831" y="2606040"/>
            <a:ext cx="2534194" cy="2194560"/>
          </a:xfrm>
          <a:prstGeom prst="roundRect">
            <a:avLst>
              <a:gd name="adj" fmla="val 5833"/>
            </a:avLst>
          </a:prstGeom>
          <a:solidFill>
            <a:srgbClr val="4F46E5"/>
          </a:solidFill>
          <a:ln/>
          <a:effectLst>
            <a:outerShdw blurRad="127000" dist="381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70711" y="2606040"/>
            <a:ext cx="21423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완성된
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독립 실행형 HTML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12000"/>
              </a:lnSpc>
              <a:buNone/>
            </a:pP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의존 0 · 파일로 소유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디자인은 재현·비교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28998" y="1010317"/>
            <a:ext cx="3875314" cy="5047678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" name="Image 0" descr="C:/WorkSpace_2026/NaverConnect2/cv-to-portfolio/examples/minimal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718" y="1056037"/>
            <a:ext cx="3766762" cy="493912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85800" y="5943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“내용은 올리기만, 디자인은 고르기만.”</a:t>
            </a:r>
            <a:endParaRPr lang="en-US" sz="1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흐름 — 4단계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545336" y="1536192"/>
            <a:ext cx="402336" cy="402336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45336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2044" y="19933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 업로드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7764" y="2350008"/>
            <a:ext cx="2697480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Image 0" descr="C:/WorkSpace_2026/NaverConnect2/cv-to-portfolio/docs/screens/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" y="2395728"/>
            <a:ext cx="2606040" cy="22494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52044" y="4782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붙여넣기·파일·샘플 4종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067812" y="3520440"/>
            <a:ext cx="25603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443984" y="1536192"/>
            <a:ext cx="402336" cy="402336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43984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250692" y="19933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선택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96412" y="2350008"/>
            <a:ext cx="2697480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2" name="Image 1" descr="C:/WorkSpace_2026/NaverConnect2/cv-to-portfolio/docs/screens/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32" y="2395728"/>
            <a:ext cx="2606040" cy="22494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50692" y="4782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테마 6종 + DESIGN.md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966460" y="3520440"/>
            <a:ext cx="25603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7342632" y="1536192"/>
            <a:ext cx="402336" cy="402336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734263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149340" y="19933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195060" y="2350008"/>
            <a:ext cx="2697480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9" name="Image 2" descr="C:/WorkSpace_2026/NaverConnect2/cv-to-portfolio/docs/screens/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80" y="2395728"/>
            <a:ext cx="2606040" cy="224942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49340" y="4782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 렌더러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865108" y="3520440"/>
            <a:ext cx="25603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10241280" y="1536192"/>
            <a:ext cx="402336" cy="402336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1024128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9047988" y="19933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완성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9093708" y="2350008"/>
            <a:ext cx="2697480" cy="2340864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6" name="Image 3" descr="C:/WorkSpace_2026/NaverConnect2/cv-to-portfolio/docs/screens/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9428" y="2395728"/>
            <a:ext cx="2606040" cy="224942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047988" y="4782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미리보기·다운로드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1371600" y="5440680"/>
            <a:ext cx="9445752" cy="658368"/>
          </a:xfrm>
          <a:prstGeom prst="round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1554480" y="5440680"/>
            <a:ext cx="9079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 입력 비활성 · 파싱 실패 힌트 · 완료된 단계 클릭 복귀 · “디자인만 바꾸기” — 예외 흐름까지 설계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2E551-3605-BE15-C325-C36134CA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0CF4153-8F7F-0A9F-8EC7-FB2C243DBA1F}"/>
              </a:ext>
            </a:extLst>
          </p:cNvPr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51DDDDC-E287-6896-3C16-F38981054137}"/>
              </a:ext>
            </a:extLst>
          </p:cNvPr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6E5F30E-7FDE-69FD-9115-A89712B62655}"/>
              </a:ext>
            </a:extLst>
          </p:cNvPr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374B643-29AC-3494-27F2-A5B02C700DD4}"/>
              </a:ext>
            </a:extLst>
          </p:cNvPr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D09841A-1363-A386-EDA4-3E5B2F92424E}"/>
              </a:ext>
            </a:extLst>
          </p:cNvPr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71A40B-B2A0-600E-032B-F679AE10C0D1}"/>
              </a:ext>
            </a:extLst>
          </p:cNvPr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B2B0B6-42A5-D7E9-0A58-CEA92EDC80B3}"/>
              </a:ext>
            </a:extLst>
          </p:cNvPr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5FCB87E-C7EF-C6A2-F272-39062ED75ACA}"/>
              </a:ext>
            </a:extLst>
          </p:cNvPr>
          <p:cNvGrpSpPr/>
          <p:nvPr/>
        </p:nvGrpSpPr>
        <p:grpSpPr>
          <a:xfrm>
            <a:off x="5893308" y="191589"/>
            <a:ext cx="402336" cy="402336"/>
            <a:chOff x="5893308" y="438912"/>
            <a:chExt cx="402336" cy="402336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22AB4454-5814-4729-234D-01957298624D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ellipse">
              <a:avLst/>
            </a:prstGeom>
            <a:solidFill>
              <a:srgbClr val="4F46E5"/>
            </a:solidFill>
            <a:ln/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C4F17075-D5F5-1E94-6CF4-D4BF96895372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endParaRPr lang="en-US" sz="1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F29428AF-13BE-20E4-16BC-79FF43C3A35A}"/>
              </a:ext>
            </a:extLst>
          </p:cNvPr>
          <p:cNvSpPr/>
          <p:nvPr/>
        </p:nvSpPr>
        <p:spPr>
          <a:xfrm>
            <a:off x="4701540" y="76147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 </a:t>
            </a:r>
            <a:r>
              <a:rPr lang="en-US" sz="3200" b="1" dirty="0" err="1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업로드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3B151C6-7AC3-E402-E204-F6E0A935D391}"/>
              </a:ext>
            </a:extLst>
          </p:cNvPr>
          <p:cNvGrpSpPr/>
          <p:nvPr/>
        </p:nvGrpSpPr>
        <p:grpSpPr>
          <a:xfrm>
            <a:off x="2095825" y="1221639"/>
            <a:ext cx="7997301" cy="5048395"/>
            <a:chOff x="3533283" y="1566236"/>
            <a:chExt cx="5427835" cy="3426388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FCBEA773-4BC7-7F91-723F-1917EC2CB107}"/>
                </a:ext>
              </a:extLst>
            </p:cNvPr>
            <p:cNvSpPr/>
            <p:nvPr/>
          </p:nvSpPr>
          <p:spPr>
            <a:xfrm>
              <a:off x="3533283" y="1566236"/>
              <a:ext cx="5427835" cy="3426388"/>
            </a:xfrm>
            <a:prstGeom prst="roundRect">
              <a:avLst>
                <a:gd name="adj" fmla="val 2344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15" name="Image 0" descr="C:/WorkSpace_2026/NaverConnect2/cv-to-portfolio/docs/screens/s1.png">
              <a:extLst>
                <a:ext uri="{FF2B5EF4-FFF2-40B4-BE49-F238E27FC236}">
                  <a16:creationId xmlns:a16="http://schemas.microsoft.com/office/drawing/2014/main" id="{C44C01F4-CC91-1304-D652-C230CCD0F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8001"/>
            <a:stretch>
              <a:fillRect/>
            </a:stretch>
          </p:blipFill>
          <p:spPr>
            <a:xfrm>
              <a:off x="3604696" y="1638082"/>
              <a:ext cx="5295464" cy="3290969"/>
            </a:xfrm>
            <a:prstGeom prst="rect">
              <a:avLst/>
            </a:prstGeom>
          </p:spPr>
        </p:pic>
      </p:grpSp>
      <p:sp>
        <p:nvSpPr>
          <p:cNvPr id="16" name="Text 13">
            <a:extLst>
              <a:ext uri="{FF2B5EF4-FFF2-40B4-BE49-F238E27FC236}">
                <a16:creationId xmlns:a16="http://schemas.microsoft.com/office/drawing/2014/main" id="{BBFBC2DA-BCC5-80CD-F592-04D76586DA05}"/>
              </a:ext>
            </a:extLst>
          </p:cNvPr>
          <p:cNvSpPr/>
          <p:nvPr/>
        </p:nvSpPr>
        <p:spPr>
          <a:xfrm>
            <a:off x="4700015" y="6355079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붙여넣기·파일·샘플 4종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82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33C20-EEB0-9AD7-1577-7302DC41F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02C431B-0F50-DD72-C276-D6923BBD472D}"/>
              </a:ext>
            </a:extLst>
          </p:cNvPr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7F2C4F-C472-71AA-52BB-1249761F41AE}"/>
              </a:ext>
            </a:extLst>
          </p:cNvPr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69A0686-0FE3-B96F-F519-70F2466FDBDC}"/>
              </a:ext>
            </a:extLst>
          </p:cNvPr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B575CB-C2B9-A7BD-AD51-C4315949DBF4}"/>
              </a:ext>
            </a:extLst>
          </p:cNvPr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578D3E4-D371-E67D-2BAE-48838DFCEF40}"/>
              </a:ext>
            </a:extLst>
          </p:cNvPr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85685E6-6C59-DD05-DBE3-934CE0B2E2C3}"/>
              </a:ext>
            </a:extLst>
          </p:cNvPr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02CEB3C-9628-EB4E-822E-1E8CB053A9D4}"/>
              </a:ext>
            </a:extLst>
          </p:cNvPr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3B464E7-3271-0177-EBA6-492F4AC9089A}"/>
              </a:ext>
            </a:extLst>
          </p:cNvPr>
          <p:cNvGrpSpPr/>
          <p:nvPr/>
        </p:nvGrpSpPr>
        <p:grpSpPr>
          <a:xfrm>
            <a:off x="5893308" y="191589"/>
            <a:ext cx="402336" cy="402336"/>
            <a:chOff x="5893308" y="438912"/>
            <a:chExt cx="402336" cy="402336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746BA247-AF0B-BF69-4E1D-2B77721A2A8A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ellipse">
              <a:avLst/>
            </a:prstGeom>
            <a:solidFill>
              <a:srgbClr val="4F46E5"/>
            </a:solidFill>
            <a:ln/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B17E7E24-5F0B-74DD-6FD9-15DFA2292EF8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endParaRPr lang="en-US" sz="1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F91B8D88-0C09-0738-7927-099E4F0AC737}"/>
              </a:ext>
            </a:extLst>
          </p:cNvPr>
          <p:cNvSpPr/>
          <p:nvPr/>
        </p:nvSpPr>
        <p:spPr>
          <a:xfrm>
            <a:off x="4701540" y="76147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선택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E3B4358-3D4C-3019-27EA-928372B823B0}"/>
              </a:ext>
            </a:extLst>
          </p:cNvPr>
          <p:cNvSpPr/>
          <p:nvPr/>
        </p:nvSpPr>
        <p:spPr>
          <a:xfrm>
            <a:off x="2473234" y="1221639"/>
            <a:ext cx="7245532" cy="5048395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19BEB48-08B3-FA8D-C2D7-FACCD5EAE223}"/>
              </a:ext>
            </a:extLst>
          </p:cNvPr>
          <p:cNvSpPr/>
          <p:nvPr/>
        </p:nvSpPr>
        <p:spPr>
          <a:xfrm>
            <a:off x="4700015" y="6355079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테마</a:t>
            </a:r>
            <a:r>
              <a:rPr lang="en-US" altLang="ko-KR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6종 + DESIGN.md</a:t>
            </a:r>
            <a:endParaRPr lang="en-US" altLang="ko-KR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1" descr="C:/WorkSpace_2026/NaverConnect2/cv-to-portfolio/docs/screens/s2.png">
            <a:extLst>
              <a:ext uri="{FF2B5EF4-FFF2-40B4-BE49-F238E27FC236}">
                <a16:creationId xmlns:a16="http://schemas.microsoft.com/office/drawing/2014/main" id="{98CFAD32-A955-8C21-EB8F-43DB22DC6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741"/>
          <a:stretch>
            <a:fillRect/>
          </a:stretch>
        </p:blipFill>
        <p:spPr>
          <a:xfrm>
            <a:off x="2544447" y="1271017"/>
            <a:ext cx="7103106" cy="492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341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710AB-F4C5-9853-EA01-3521A7089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F974FCD6-8C89-AC37-5783-0438528C2B85}"/>
              </a:ext>
            </a:extLst>
          </p:cNvPr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B7593C-D4EA-05A5-3524-D9CC35B617D6}"/>
              </a:ext>
            </a:extLst>
          </p:cNvPr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95344BD-6EAC-93EF-3664-0CE440E6B95D}"/>
              </a:ext>
            </a:extLst>
          </p:cNvPr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46D2C49-C416-F396-6F06-415FF17952EE}"/>
              </a:ext>
            </a:extLst>
          </p:cNvPr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11B55CB-3ADB-BC88-B31D-89963B323B71}"/>
              </a:ext>
            </a:extLst>
          </p:cNvPr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7AE498-0F2D-7C60-6E28-1825CFD17969}"/>
              </a:ext>
            </a:extLst>
          </p:cNvPr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67EB3A-DC8D-7682-D885-B16EB9A99FB3}"/>
              </a:ext>
            </a:extLst>
          </p:cNvPr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8B1A5F4-6514-298F-D69E-FE9FB61577B7}"/>
              </a:ext>
            </a:extLst>
          </p:cNvPr>
          <p:cNvGrpSpPr/>
          <p:nvPr/>
        </p:nvGrpSpPr>
        <p:grpSpPr>
          <a:xfrm>
            <a:off x="5893308" y="191589"/>
            <a:ext cx="402336" cy="402336"/>
            <a:chOff x="5893308" y="438912"/>
            <a:chExt cx="402336" cy="402336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CFB6509E-4769-B465-3412-372AF96256E0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ellipse">
              <a:avLst/>
            </a:prstGeom>
            <a:solidFill>
              <a:srgbClr val="4F46E5"/>
            </a:solidFill>
            <a:ln/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96BCB1C7-9ED6-8FF7-8558-B62077B728E8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</a:t>
              </a:r>
              <a:endParaRPr lang="en-US" sz="1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257F314B-B133-986D-6C6B-4CF94401F755}"/>
              </a:ext>
            </a:extLst>
          </p:cNvPr>
          <p:cNvSpPr/>
          <p:nvPr/>
        </p:nvSpPr>
        <p:spPr>
          <a:xfrm>
            <a:off x="4701540" y="76147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17A6DC9-B99B-6B86-DBDD-40845731172C}"/>
              </a:ext>
            </a:extLst>
          </p:cNvPr>
          <p:cNvSpPr/>
          <p:nvPr/>
        </p:nvSpPr>
        <p:spPr>
          <a:xfrm>
            <a:off x="2316480" y="1221639"/>
            <a:ext cx="7559040" cy="5048395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82CE2D2-E26A-6367-FB77-9729D0F9EA3B}"/>
              </a:ext>
            </a:extLst>
          </p:cNvPr>
          <p:cNvSpPr/>
          <p:nvPr/>
        </p:nvSpPr>
        <p:spPr>
          <a:xfrm>
            <a:off x="4700015" y="6355079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결정적</a:t>
            </a:r>
            <a:r>
              <a:rPr lang="en-US" altLang="ko-KR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렌더러</a:t>
            </a:r>
            <a:endParaRPr lang="en-US" altLang="ko-KR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2" descr="C:/WorkSpace_2026/NaverConnect2/cv-to-portfolio/docs/screens/s3.png">
            <a:extLst>
              <a:ext uri="{FF2B5EF4-FFF2-40B4-BE49-F238E27FC236}">
                <a16:creationId xmlns:a16="http://schemas.microsoft.com/office/drawing/2014/main" id="{E0C90BA1-84C0-2912-3993-9C82734EC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2" r="4635" b="30235"/>
          <a:stretch>
            <a:fillRect/>
          </a:stretch>
        </p:blipFill>
        <p:spPr>
          <a:xfrm>
            <a:off x="2406394" y="1297575"/>
            <a:ext cx="7376161" cy="490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07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EBD0E-4B2A-0838-9496-212A8DD1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30E9755-BB0E-75D5-BA68-38A6FAE496BB}"/>
              </a:ext>
            </a:extLst>
          </p:cNvPr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A2849C-BB5B-2F6C-0309-14AD3D926C2B}"/>
              </a:ext>
            </a:extLst>
          </p:cNvPr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22A2D8C-40F0-6339-2062-9E5B13F54397}"/>
              </a:ext>
            </a:extLst>
          </p:cNvPr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BFB96DC-280A-F30D-61CE-D3B7B8D3DBE9}"/>
              </a:ext>
            </a:extLst>
          </p:cNvPr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386AFD-4EAC-E7F5-E1BD-8FB5E50FF0F1}"/>
              </a:ext>
            </a:extLst>
          </p:cNvPr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7EFD105-D345-9ADD-2295-485B5C3B0753}"/>
              </a:ext>
            </a:extLst>
          </p:cNvPr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C22E495-8AB4-C03D-C6EF-84FF8B981C5E}"/>
              </a:ext>
            </a:extLst>
          </p:cNvPr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24E2B53-74FD-8C04-0651-7C1491FF0E0C}"/>
              </a:ext>
            </a:extLst>
          </p:cNvPr>
          <p:cNvGrpSpPr/>
          <p:nvPr/>
        </p:nvGrpSpPr>
        <p:grpSpPr>
          <a:xfrm>
            <a:off x="5893308" y="191589"/>
            <a:ext cx="402336" cy="402336"/>
            <a:chOff x="5893308" y="438912"/>
            <a:chExt cx="402336" cy="402336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AFE3CF09-D596-182D-BFC8-6C97E73DD6AD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ellipse">
              <a:avLst/>
            </a:prstGeom>
            <a:solidFill>
              <a:srgbClr val="4F46E5"/>
            </a:solidFill>
            <a:ln/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B8D35AD-94E2-3741-6182-DB11FF9303B0}"/>
                </a:ext>
              </a:extLst>
            </p:cNvPr>
            <p:cNvSpPr/>
            <p:nvPr/>
          </p:nvSpPr>
          <p:spPr>
            <a:xfrm>
              <a:off x="5893308" y="43891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4</a:t>
              </a:r>
              <a:endParaRPr lang="en-US" sz="1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E0CB73D5-E1C6-857B-1E51-398C8A57E9BA}"/>
              </a:ext>
            </a:extLst>
          </p:cNvPr>
          <p:cNvSpPr/>
          <p:nvPr/>
        </p:nvSpPr>
        <p:spPr>
          <a:xfrm>
            <a:off x="4701540" y="76147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완료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954EEF3-B13E-5B17-AEA4-067761CCF9A4}"/>
              </a:ext>
            </a:extLst>
          </p:cNvPr>
          <p:cNvSpPr/>
          <p:nvPr/>
        </p:nvSpPr>
        <p:spPr>
          <a:xfrm>
            <a:off x="2603862" y="1221639"/>
            <a:ext cx="6984275" cy="5048395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D604E4-67DA-6187-2D42-A412DA1729D0}"/>
              </a:ext>
            </a:extLst>
          </p:cNvPr>
          <p:cNvSpPr/>
          <p:nvPr/>
        </p:nvSpPr>
        <p:spPr>
          <a:xfrm>
            <a:off x="4700015" y="6355079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미리보기·다운로드</a:t>
            </a:r>
            <a:endParaRPr lang="en-US" altLang="ko-KR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3" descr="C:/WorkSpace_2026/NaverConnect2/cv-to-portfolio/docs/screens/s4.png">
            <a:extLst>
              <a:ext uri="{FF2B5EF4-FFF2-40B4-BE49-F238E27FC236}">
                <a16:creationId xmlns:a16="http://schemas.microsoft.com/office/drawing/2014/main" id="{231EA483-F8FA-1D56-364E-76E904C5B3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0" r="5186" b="23055"/>
          <a:stretch>
            <a:fillRect/>
          </a:stretch>
        </p:blipFill>
        <p:spPr>
          <a:xfrm>
            <a:off x="2699656" y="1265353"/>
            <a:ext cx="6792688" cy="49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3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FEATURES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기능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43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흐름 4단계를 각각 뒷받침하는 기술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1664208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1984248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0120" y="1984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📄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20240" y="204825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 파싱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마크다운 → 구조화(이름·연락처·스킬·경력…).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형식이 달라도 관대하게, 실패해도 원문 보존.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63640" y="1664208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0" y="1984248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0" y="1984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🎨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43800" y="204825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테마 시스템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287121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사람이 읽는 DESIGN.md + 생성기가 쓰는 디자인 토큰.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테마 6종 — 직군이 아니라 ‘분위기’로 고른다.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60120" y="434340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⚙️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920240" y="44074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 err="1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엔)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5840" y="52303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CV + 디자인 토큰 → 독립 실행형 HTML.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레이아웃 4종, 사용자 입력은 이스케이프.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63640" y="40233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434340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836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📦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43800" y="44074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 전달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29400" y="52303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미리보기(iframe) ↔ HTML 코드 탭.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다운로드 · 복사 · 디자인만 바꾸기.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3" descr="C:/WorkSpace_2026/NaverConnect2/cv-to-portfolio/examples/editorial-ser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808" y="2023938"/>
            <a:ext cx="3942735" cy="5181880"/>
          </a:xfrm>
          <a:prstGeom prst="rect">
            <a:avLst/>
          </a:prstGeom>
        </p:spPr>
      </p:pic>
      <p:pic>
        <p:nvPicPr>
          <p:cNvPr id="21" name="Image 2" descr="C:/WorkSpace_2026/NaverConnect2/cv-to-portfolio/examples/creative-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986" y="2034216"/>
            <a:ext cx="3433719" cy="451288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THEMES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테마 6종 — 하나의 렌더러, </a:t>
            </a:r>
            <a:r>
              <a:rPr lang="en-US" sz="3000" b="1" dirty="0" err="1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여러</a:t>
            </a: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2070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같은 CV, 디자인 토큰만 교체한 실제 생성 결과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Image 0" descr="C:/WorkSpace_2026/NaverConnect2/cv-to-portfolio/examples/minimal-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907" y="2842002"/>
            <a:ext cx="3576393" cy="4700402"/>
          </a:xfrm>
          <a:prstGeom prst="rect">
            <a:avLst/>
          </a:prstGeom>
        </p:spPr>
      </p:pic>
      <p:pic>
        <p:nvPicPr>
          <p:cNvPr id="27" name="Image 4" descr="C:/WorkSpace_2026/NaverConnect2/cv-to-portfolio/examples/pro-side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634" y="2842002"/>
            <a:ext cx="4274550" cy="5617979"/>
          </a:xfrm>
          <a:prstGeom prst="rect">
            <a:avLst/>
          </a:prstGeom>
        </p:spPr>
      </p:pic>
      <p:pic>
        <p:nvPicPr>
          <p:cNvPr id="30" name="Image 5" descr="C:/WorkSpace_2026/NaverConnect2/cv-to-portfolio/examples/warm-sa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049090"/>
            <a:ext cx="3745667" cy="4922876"/>
          </a:xfrm>
          <a:prstGeom prst="rect">
            <a:avLst/>
          </a:prstGeom>
        </p:spPr>
      </p:pic>
      <p:pic>
        <p:nvPicPr>
          <p:cNvPr id="18" name="Image 1" descr="C:/WorkSpace_2026/NaverConnect2/cv-to-portfolio/examples/terminal-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0638" y="4049090"/>
            <a:ext cx="3024634" cy="39752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ARCHITECTURE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아키텍처 — 모노레포 + 결정적 렌더러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npm workspaces 모노레포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client/  ·  @cv2pf/client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React + Vite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업로드  ② 디자인 선택  ③ 생성  ④ 결과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 엔진 = 결정적 렌더러 → 독립 HTML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백엔드·API 키 없이 브라우저만으로 완결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2160" y="3474720"/>
            <a:ext cx="822960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5000" y="3090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실서비스 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4088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server/  ·  @cv2pf/server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4088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Express API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0" y="2971800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/api/generate  (AI 생성 seam)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Claude API 호출로 자유도 높은 생성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키는 서버에서만 (브라우저 노출 금지)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2주차 본격 개발</a:t>
            </a:r>
            <a:endParaRPr lang="en-US" sz="14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71600" y="5532120"/>
            <a:ext cx="9445752" cy="658368"/>
          </a:xfrm>
          <a:prstGeom prst="round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54480" y="5532120"/>
            <a:ext cx="9079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현재는 결정적 렌더러(재현·비교 쉬움) — 실 LLM은 선택적 옵션(seam)으로만 열어둠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PROCESS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만든 과정 — 기획 → 프로토타입 → 반영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09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52649" y="2743200"/>
            <a:ext cx="10149840" cy="0"/>
          </a:xfrm>
          <a:prstGeom prst="line">
            <a:avLst/>
          </a:prstGeom>
          <a:noFill/>
          <a:ln w="381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4049" y="2514600"/>
            <a:ext cx="457200" cy="45720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404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809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기획서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9" y="30815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문제·시나리오·핵심 기능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61509" y="2514600"/>
            <a:ext cx="457200" cy="45720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6150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84269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538549" y="30815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순수 HTML/CSS 화면 구조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98969" y="2514600"/>
            <a:ext cx="457200" cy="45720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9896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21729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리뷰 반영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76009" y="30815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예외 상태·접근성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36429" y="2514600"/>
            <a:ext cx="457200" cy="457200"/>
          </a:xfrm>
          <a:prstGeom prst="ellipse">
            <a:avLst/>
          </a:prstGeom>
          <a:solidFill>
            <a:srgbClr val="4F46E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3642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59189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직군 무관 확장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13469" y="30815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샘플 4종·테마 6종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973889" y="251460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7388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endParaRPr lang="en-US" sz="1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196649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문서 정리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50929" y="30815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Wiki·README 연결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85216" y="44348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5216" y="4572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46E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26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5216" y="54223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기능별 커밋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419856" y="44348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419856" y="4572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46E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419856" y="54223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테마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54496" y="44348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54496" y="4572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46E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54496" y="54223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샘플 CV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089136" y="44348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089136" y="4572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46E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089136" y="54223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레이아웃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4530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LEARNINGS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배운 점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6547104"/>
            <a:ext cx="82296" cy="82296"/>
          </a:xfrm>
          <a:prstGeom prst="ellipse">
            <a:avLst/>
          </a:prstGeom>
          <a:solidFill>
            <a:srgbClr val="2B5CE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3816" y="6547104"/>
            <a:ext cx="82296" cy="82296"/>
          </a:xfrm>
          <a:prstGeom prst="ellipse">
            <a:avLst/>
          </a:prstGeom>
          <a:solidFill>
            <a:srgbClr val="3BE38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9264" y="6547104"/>
            <a:ext cx="82296" cy="82296"/>
          </a:xfrm>
          <a:prstGeom prst="ellipse">
            <a:avLst/>
          </a:prstGeom>
          <a:solidFill>
            <a:srgbClr val="B57B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" y="6547104"/>
            <a:ext cx="82296" cy="82296"/>
          </a:xfrm>
          <a:prstGeom prst="ellipse">
            <a:avLst/>
          </a:prstGeom>
          <a:solidFill>
            <a:srgbClr val="8A4B2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80160" y="6547104"/>
            <a:ext cx="82296" cy="82296"/>
          </a:xfrm>
          <a:prstGeom prst="ellipse">
            <a:avLst/>
          </a:prstGeom>
          <a:solidFill>
            <a:srgbClr val="1F5FA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435608" y="6547104"/>
            <a:ext cx="82296" cy="82296"/>
          </a:xfrm>
          <a:prstGeom prst="ellipse">
            <a:avLst/>
          </a:prstGeom>
          <a:solidFill>
            <a:srgbClr val="B4451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 / 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120" y="187452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🧩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20240" y="19385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디자인을 ‘데이터’로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27614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토큰으로 다루면 렌더러 하나로 여러 테마를 만든다.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=CSS 변수 주입.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0" y="187452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🔐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43800" y="19385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키는 절대 노출 금지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29400" y="27614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브라우저에 두면 안 되고 반드시 백엔드에서 호출.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seam만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미리 설계해 두었다.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0120" y="425196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12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📎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20240" y="43159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Vite ?raw 임포트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5840" y="51389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.md 파일을 문자열로 </a:t>
            </a: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불러와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DESIGN.md 원문을 화면에 그대로 보여줄 수 있다.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4251960"/>
            <a:ext cx="777240" cy="77724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83680" y="4251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♿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43800" y="43159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3730A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예외·접근성이 실사용을 지탱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29400" y="51389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 입력·파싱 실패·ARIA까지 </a:t>
            </a: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설계해야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데모가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제품이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50" dirty="0" err="1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된다</a:t>
            </a:r>
            <a:r>
              <a:rPr lang="en-US" sz="135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NEXT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단계</a:t>
            </a:r>
            <a:endParaRPr lang="en-US" sz="3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 LLM 생성 연결 — /api/generate (2주차)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PDF/DOCX 이력서 파싱 파이프라인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비개발 직군 테마·샘플 확대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C7D2F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배포(원클릭) — 범위 포함 여부는 추후 결정</a:t>
            </a:r>
            <a:endParaRPr lang="en-US" sz="1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281160" y="1051560"/>
            <a:ext cx="219456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162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C:/Users/kyumi/AppData/Local/Temp/claude/C--WorkSpace-2026-NaverConnect2/849414fb-3230-48db-97ac-76d2f0661f3e/scratchpad/qr-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28016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8116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GitHub 저장소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dolphin1404/NaverConnect_wm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77240" y="4297680"/>
            <a:ext cx="10607040" cy="0"/>
          </a:xfrm>
          <a:prstGeom prst="line">
            <a:avLst/>
          </a:prstGeom>
          <a:noFill/>
          <a:ln w="12700">
            <a:solidFill>
              <a:srgbClr val="3B3A6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1315</Words>
  <Application>Microsoft Office PowerPoint</Application>
  <PresentationFormat>와이드스크린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Pretendard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→ 포트폴리오 생성기</dc:title>
  <dc:subject>PptxGenJS Presentation</dc:subject>
  <dc:creator>dolphin1404</dc:creator>
  <cp:lastModifiedBy>규민 이</cp:lastModifiedBy>
  <cp:revision>3</cp:revision>
  <dcterms:created xsi:type="dcterms:W3CDTF">2026-07-10T03:25:44Z</dcterms:created>
  <dcterms:modified xsi:type="dcterms:W3CDTF">2026-07-10T03:45:03Z</dcterms:modified>
</cp:coreProperties>
</file>