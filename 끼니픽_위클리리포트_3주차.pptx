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59" r:id="rId10"/>
    <p:sldId id="26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4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043044"/>
            <a:ext cx="3496491" cy="1350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4000" b="1" dirty="0">
                <a:solidFill>
                  <a:srgbClr val="5B4130"/>
                </a:solidFill>
                <a:latin typeface="맑은 고딕"/>
              </a:rPr>
              <a:t>3</a:t>
            </a:r>
            <a:r>
              <a:rPr lang="ko-KR" altLang="en-US" sz="4000" b="1" dirty="0">
                <a:solidFill>
                  <a:srgbClr val="5B4130"/>
                </a:solidFill>
                <a:latin typeface="맑은 고딕"/>
              </a:rPr>
              <a:t>주차 작업</a:t>
            </a:r>
          </a:p>
          <a:p>
            <a:pPr algn="l">
              <a:lnSpc>
                <a:spcPct val="115000"/>
              </a:lnSpc>
            </a:pPr>
            <a:r>
              <a:rPr sz="4000" b="1" dirty="0" err="1">
                <a:solidFill>
                  <a:srgbClr val="5B4130"/>
                </a:solidFill>
                <a:latin typeface="맑은 고딕"/>
              </a:rPr>
              <a:t>필터</a:t>
            </a:r>
            <a:r>
              <a:rPr lang="en-US" sz="4000" b="1" dirty="0">
                <a:solidFill>
                  <a:srgbClr val="5B4130"/>
                </a:solidFill>
                <a:latin typeface="맑은 고딕"/>
              </a:rPr>
              <a:t>,</a:t>
            </a:r>
            <a:r>
              <a:rPr sz="4000" b="1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5B4130"/>
                </a:solidFill>
                <a:latin typeface="맑은 고딕"/>
              </a:rPr>
              <a:t>리디자인</a:t>
            </a:r>
            <a:endParaRPr lang="en-US" sz="4000" b="1" dirty="0">
              <a:solidFill>
                <a:srgbClr val="5B4130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635224"/>
            <a:ext cx="10515600" cy="231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8A6F55"/>
                </a:solidFill>
                <a:latin typeface="맑은 고딕"/>
              </a:rPr>
              <a:t>음식종류·시간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필터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화면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전체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리디자인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구매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경험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강화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테스트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환경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구축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,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그리고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3주간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AI와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함께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일한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방식</a:t>
            </a:r>
            <a:r>
              <a:rPr sz="130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8A6F55"/>
                </a:solidFill>
                <a:latin typeface="맑은 고딕"/>
              </a:rPr>
              <a:t>공유</a:t>
            </a:r>
            <a:endParaRPr sz="1300" b="0" dirty="0">
              <a:solidFill>
                <a:srgbClr val="8A6F55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251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F55"/>
                </a:solidFill>
                <a:latin typeface="맑은 고딕"/>
              </a:rPr>
              <a:t>서비스 · 끼니픽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8A6F55"/>
                </a:solidFill>
                <a:latin typeface="맑은 고딕"/>
              </a:rPr>
              <a:t>3주차 · 2026-07-17 ~ 07-24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F55"/>
                </a:solidFill>
                <a:latin typeface="맑은 고딕"/>
              </a:rPr>
              <a:t>스택 · React · Express · Supabase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438910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7182B"/>
                </a:solidFill>
                <a:latin typeface="맑은 고딕"/>
              </a:rPr>
              <a:t>냉장고 재료로 뭘 해먹을지,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17182B"/>
                </a:solidFill>
                <a:latin typeface="맑은 고딕"/>
              </a:rPr>
              <a:t>고민을 없애는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7086"/>
                </a:solidFill>
                <a:latin typeface="맑은 고딕"/>
              </a:rPr>
              <a:t>보유 재료로 바로 완성되는 요리와 조금만 사면 완성되는 요리를 구분해 추천하고, 부족한 재료는 실시간 최저가 구매 링크로 연결합니다.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8992" y="2596896"/>
            <a:ext cx="1008634" cy="329184"/>
          </a:xfrm>
          <a:prstGeom prst="roundRect">
            <a:avLst>
              <a:gd name="adj" fmla="val 50000"/>
            </a:avLst>
          </a:prstGeom>
          <a:solidFill>
            <a:srgbClr val="FB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F0455C"/>
                </a:solidFill>
                <a:latin typeface="맑은 고딕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54096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0455C"/>
                </a:solidFill>
                <a:latin typeface="맑은 고딕"/>
              </a:rPr>
              <a:t>이런 문제가 있었어요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547872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5B4130"/>
                </a:solidFill>
                <a:latin typeface="맑은 고딕"/>
              </a:rPr>
              <a:t>보통 레시피 서비스는 요리는 잘 알려주지만, 냉장고에 있는 재료를 소진할 수 있는 요리인지는 보여주지 않습니다. 그러다 보니 뭘 해먹을지 결정하지 못해 배달을 시키거나, 재료를 살 때 여러 쇼핑몰을 오가며 가격을 비교하느라 시간을 씁니다.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19672" y="2596896"/>
            <a:ext cx="922020" cy="329184"/>
          </a:xfrm>
          <a:prstGeom prst="roundRect">
            <a:avLst>
              <a:gd name="adj" fmla="val 50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5B4130"/>
                </a:solidFill>
                <a:latin typeface="맑은 고딕"/>
              </a:rP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054096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B4130"/>
                </a:solidFill>
                <a:latin typeface="맑은 고딕"/>
              </a:rPr>
              <a:t>서비스 대상</a:t>
            </a:r>
          </a:p>
        </p:txBody>
      </p:sp>
      <p:sp>
        <p:nvSpPr>
          <p:cNvPr id="14" name="Oval 13"/>
          <p:cNvSpPr/>
          <p:nvPr/>
        </p:nvSpPr>
        <p:spPr>
          <a:xfrm>
            <a:off x="6519672" y="3721608"/>
            <a:ext cx="109728" cy="10972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657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4130"/>
                </a:solidFill>
                <a:latin typeface="맑은 고딕"/>
              </a:rPr>
              <a:t>예산이 빠듯한 1인 가구 (대학생·사회초년생)</a:t>
            </a:r>
          </a:p>
        </p:txBody>
      </p:sp>
      <p:sp>
        <p:nvSpPr>
          <p:cNvPr id="16" name="Oval 15"/>
          <p:cNvSpPr/>
          <p:nvPr/>
        </p:nvSpPr>
        <p:spPr>
          <a:xfrm>
            <a:off x="6519672" y="4197096"/>
            <a:ext cx="109728" cy="10972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41330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4130"/>
                </a:solidFill>
                <a:latin typeface="맑은 고딕"/>
              </a:rPr>
              <a:t>자취생</a:t>
            </a:r>
          </a:p>
        </p:txBody>
      </p:sp>
      <p:sp>
        <p:nvSpPr>
          <p:cNvPr id="18" name="Oval 17"/>
          <p:cNvSpPr/>
          <p:nvPr/>
        </p:nvSpPr>
        <p:spPr>
          <a:xfrm>
            <a:off x="6519672" y="4672584"/>
            <a:ext cx="109728" cy="10972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4608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4130"/>
                </a:solidFill>
                <a:latin typeface="맑은 고딕"/>
              </a:rPr>
              <a:t>냉장고 재료를 파악하고 소진해야 하는 사람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397000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dirty="0" err="1">
                <a:solidFill>
                  <a:srgbClr val="5B4130"/>
                </a:solidFill>
                <a:latin typeface="맑은 고딕"/>
              </a:rPr>
              <a:t>요약</a:t>
            </a:r>
            <a:endParaRPr sz="2800" b="1" dirty="0">
              <a:solidFill>
                <a:srgbClr val="5B4130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6F55"/>
                </a:solidFill>
                <a:latin typeface="맑은 고딕"/>
              </a:rPr>
              <a:t>냉장고를 여는 순간부터 결제까지, 전체 흐름을 하나의 서비스로 묶었습니다.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9966960" cy="640080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 dirty="0" err="1">
                <a:solidFill>
                  <a:srgbClr val="5B4130"/>
                </a:solidFill>
                <a:latin typeface="맑은 고딕"/>
              </a:rPr>
              <a:t>재료</a:t>
            </a:r>
            <a:r>
              <a:rPr sz="1350" b="1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5B4130"/>
                </a:solidFill>
                <a:latin typeface="맑은 고딕"/>
              </a:rPr>
              <a:t>매칭</a:t>
            </a:r>
            <a:r>
              <a:rPr sz="1350" b="1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5B4130"/>
                </a:solidFill>
                <a:latin typeface="맑은 고딕"/>
              </a:rPr>
              <a:t>추천</a:t>
            </a:r>
            <a:r>
              <a:rPr sz="1350" b="1" dirty="0">
                <a:solidFill>
                  <a:srgbClr val="5B4130"/>
                </a:solidFill>
                <a:latin typeface="맑은 고딕"/>
              </a:rPr>
              <a:t>  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보유</a:t>
            </a:r>
            <a:r>
              <a:rPr sz="1150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재료만으로</a:t>
            </a:r>
            <a:r>
              <a:rPr sz="1150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완성되는</a:t>
            </a:r>
            <a:r>
              <a:rPr sz="1150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요리와</a:t>
            </a:r>
            <a:r>
              <a:rPr sz="1150" dirty="0">
                <a:solidFill>
                  <a:srgbClr val="5B4130"/>
                </a:solidFill>
                <a:latin typeface="맑은 고딕"/>
              </a:rPr>
              <a:t> 1~2개만 더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사면</a:t>
            </a:r>
            <a:r>
              <a:rPr sz="1150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완성되는</a:t>
            </a:r>
            <a:r>
              <a:rPr sz="1150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요리를</a:t>
            </a:r>
            <a:r>
              <a:rPr sz="1150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구분해서</a:t>
            </a:r>
            <a:r>
              <a:rPr sz="1150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150" dirty="0" err="1">
                <a:solidFill>
                  <a:srgbClr val="5B4130"/>
                </a:solidFill>
                <a:latin typeface="맑은 고딕"/>
              </a:rPr>
              <a:t>추천</a:t>
            </a:r>
            <a:endParaRPr sz="1150" dirty="0">
              <a:solidFill>
                <a:srgbClr val="5B413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9966960" cy="640080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필터로 좁히기   </a:t>
            </a:r>
            <a:r>
              <a:rPr sz="1150">
                <a:solidFill>
                  <a:srgbClr val="5B4130"/>
                </a:solidFill>
                <a:latin typeface="맑은 고딕"/>
              </a:rPr>
              <a:t>음식 종류 · 조리 시간 · 가격순 필터로 추천 리스트 좁히기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9966960" cy="640080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레시피 상세   </a:t>
            </a:r>
            <a:r>
              <a:rPr sz="1150">
                <a:solidFill>
                  <a:srgbClr val="5B4130"/>
                </a:solidFill>
                <a:latin typeface="맑은 고딕"/>
              </a:rPr>
              <a:t>있는/없는 재료 구분 + 유튜브 영상을 페이지 안에서 바로 재생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9966960" cy="640080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실시간 최저가 비교   </a:t>
            </a:r>
            <a:r>
              <a:rPr sz="1150">
                <a:solidFill>
                  <a:srgbClr val="5B4130"/>
                </a:solidFill>
                <a:latin typeface="맑은 고딕"/>
              </a:rPr>
              <a:t>네이버쇼핑 오픈API로 판매처별 가격을 최대 10개까지 비교 (묶음상품 필터링, 단가 계산)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03520"/>
            <a:ext cx="9966960" cy="640080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일괄 구매   </a:t>
            </a:r>
            <a:r>
              <a:rPr sz="1150">
                <a:solidFill>
                  <a:srgbClr val="5B4130"/>
                </a:solidFill>
                <a:latin typeface="맑은 고딕"/>
              </a:rPr>
              <a:t>원하는 상품을 체크박스로 골라 여러 재료를 한 번에 새 탭으로 열어 구매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137158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5B4130"/>
                </a:solidFill>
                <a:latin typeface="맑은 고딕"/>
              </a:rPr>
              <a:t>네 가지로 정리했습니다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6F55"/>
                </a:solidFill>
                <a:latin typeface="맑은 고딕"/>
              </a:rPr>
              <a:t>기능 세 가지 + 품질 개선 하나, 이번 주는 이렇게 채웠습니다.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074920" cy="146304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28600" rtlCol="0" anchor="t"/>
          <a:lstStyle/>
          <a:p>
            <a:pPr algn="ctr"/>
            <a:r>
              <a:rPr sz="1600" b="1">
                <a:solidFill>
                  <a:srgbClr val="5B4130"/>
                </a:solidFill>
                <a:latin typeface="맑은 고딕"/>
              </a:rPr>
              <a:t>① 음식종류·시간 필터 완성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8A6F55"/>
                </a:solidFill>
                <a:latin typeface="맑은 고딕"/>
              </a:rPr>
              <a:t>메인음식·반찬·간식 / 10분 미만~30분 이상 조리시간으로 추천 좁히기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54203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5B4130"/>
                </a:solidFill>
                <a:latin typeface="맑은 고딕"/>
              </a:rPr>
              <a:t>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377440"/>
            <a:ext cx="5074920" cy="146304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28600" rtlCol="0" anchor="t"/>
          <a:lstStyle/>
          <a:p>
            <a:pPr algn="ctr"/>
            <a:r>
              <a:rPr sz="1600" b="1">
                <a:solidFill>
                  <a:srgbClr val="5B4130"/>
                </a:solidFill>
                <a:latin typeface="맑은 고딕"/>
              </a:rPr>
              <a:t>② 화면 전체 리디자인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8A6F55"/>
                </a:solidFill>
                <a:latin typeface="맑은 고딕"/>
              </a:rPr>
              <a:t>마스코트 '기니' 컨셉에 맞춰 크림·주황 톤으로 전면 개편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78440" y="254203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5B4130"/>
                </a:solidFill>
                <a:latin typeface="맑은 고딕"/>
              </a:rPr>
              <a:t>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5074920" cy="146304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28600" rtlCol="0" anchor="t"/>
          <a:lstStyle/>
          <a:p>
            <a:pPr algn="ctr"/>
            <a:r>
              <a:rPr sz="1600" b="1">
                <a:solidFill>
                  <a:srgbClr val="5B4130"/>
                </a:solidFill>
                <a:latin typeface="맑은 고딕"/>
              </a:rPr>
              <a:t>③ 재료 구매 링크 구현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8A6F55"/>
                </a:solidFill>
                <a:latin typeface="맑은 고딕"/>
              </a:rPr>
              <a:t>비교 체크박스 + 즐겨찾기 + 네이버쇼핑 묶음상품 필터링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427939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5B4130"/>
                </a:solidFill>
                <a:latin typeface="맑은 고딕"/>
              </a:rPr>
              <a:t>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114800"/>
            <a:ext cx="5074920" cy="146304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28600" rtlCol="0" anchor="t"/>
          <a:lstStyle/>
          <a:p>
            <a:pPr algn="ctr"/>
            <a:r>
              <a:rPr sz="1600" b="1">
                <a:solidFill>
                  <a:srgbClr val="5B4130"/>
                </a:solidFill>
                <a:latin typeface="맑은 고딕"/>
              </a:rPr>
              <a:t>④ 테스트 환경 첫 구축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>
                <a:solidFill>
                  <a:srgbClr val="8A6F55"/>
                </a:solidFill>
                <a:latin typeface="맑은 고딕"/>
              </a:rPr>
              <a:t>Vitest 도입 + 유닛테스트 16개, 이번 주 버그 3건 수정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78440" y="427939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50" b="1">
                <a:solidFill>
                  <a:srgbClr val="5B4130"/>
                </a:solidFill>
                <a:latin typeface="맑은 고딕"/>
              </a:rPr>
              <a:t>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137158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FEATURE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7182B"/>
                </a:solidFill>
                <a:latin typeface="맑은 고딕"/>
              </a:rPr>
              <a:t>음식종류·조리시간 필터를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17182B"/>
                </a:solidFill>
                <a:latin typeface="맑은 고딕"/>
              </a:rPr>
              <a:t>추가했어요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971800"/>
            <a:ext cx="128016" cy="128016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2880360"/>
            <a:ext cx="57424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dirty="0" err="1">
                <a:solidFill>
                  <a:srgbClr val="5B4130"/>
                </a:solidFill>
                <a:latin typeface="맑은 고딕"/>
              </a:rPr>
              <a:t>음식종류</a:t>
            </a:r>
            <a:r>
              <a:rPr sz="1450" b="1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450" b="1" dirty="0" err="1">
                <a:solidFill>
                  <a:srgbClr val="5B4130"/>
                </a:solidFill>
                <a:latin typeface="맑은 고딕"/>
              </a:rPr>
              <a:t>필터</a:t>
            </a:r>
            <a:endParaRPr sz="1450" b="1" dirty="0">
              <a:solidFill>
                <a:srgbClr val="5B4130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5568" y="3191256"/>
            <a:ext cx="5742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dirty="0" err="1">
                <a:solidFill>
                  <a:srgbClr val="8A6F55"/>
                </a:solidFill>
                <a:latin typeface="맑은 고딕"/>
              </a:rPr>
              <a:t>메인음식</a:t>
            </a:r>
            <a:r>
              <a:rPr sz="1250" b="0" dirty="0">
                <a:solidFill>
                  <a:srgbClr val="8A6F55"/>
                </a:solidFill>
                <a:latin typeface="맑은 고딕"/>
              </a:rPr>
              <a:t> / </a:t>
            </a:r>
            <a:r>
              <a:rPr sz="1250" b="0" dirty="0" err="1">
                <a:solidFill>
                  <a:srgbClr val="8A6F55"/>
                </a:solidFill>
                <a:latin typeface="맑은 고딕"/>
              </a:rPr>
              <a:t>반찬</a:t>
            </a:r>
            <a:r>
              <a:rPr sz="1250" b="0" dirty="0">
                <a:solidFill>
                  <a:srgbClr val="8A6F55"/>
                </a:solidFill>
                <a:latin typeface="맑은 고딕"/>
              </a:rPr>
              <a:t> / </a:t>
            </a:r>
            <a:r>
              <a:rPr sz="1250" b="0" dirty="0" err="1">
                <a:solidFill>
                  <a:srgbClr val="8A6F55"/>
                </a:solidFill>
                <a:latin typeface="맑은 고딕"/>
              </a:rPr>
              <a:t>간식</a:t>
            </a:r>
            <a:r>
              <a:rPr sz="1250" b="0" dirty="0">
                <a:solidFill>
                  <a:srgbClr val="8A6F55"/>
                </a:solidFill>
                <a:latin typeface="맑은 고딕"/>
              </a:rPr>
              <a:t> 중 </a:t>
            </a:r>
            <a:r>
              <a:rPr sz="1250" b="0" dirty="0" err="1">
                <a:solidFill>
                  <a:srgbClr val="8A6F55"/>
                </a:solidFill>
                <a:latin typeface="맑은 고딕"/>
              </a:rPr>
              <a:t>원하는</a:t>
            </a:r>
            <a:r>
              <a:rPr sz="125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8A6F55"/>
                </a:solidFill>
                <a:latin typeface="맑은 고딕"/>
              </a:rPr>
              <a:t>카테고리만</a:t>
            </a:r>
            <a:r>
              <a:rPr sz="125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8A6F55"/>
                </a:solidFill>
                <a:latin typeface="맑은 고딕"/>
              </a:rPr>
              <a:t>보기</a:t>
            </a:r>
            <a:endParaRPr sz="1250" b="0" dirty="0">
              <a:solidFill>
                <a:srgbClr val="8A6F55"/>
              </a:solidFill>
              <a:latin typeface="맑은 고딕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2960" y="3794760"/>
            <a:ext cx="128016" cy="128016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3703320"/>
            <a:ext cx="57424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5B4130"/>
                </a:solidFill>
                <a:latin typeface="맑은 고딕"/>
              </a:rPr>
              <a:t>조리시간 필터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014216"/>
            <a:ext cx="5742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6F55"/>
                </a:solidFill>
                <a:latin typeface="맑은 고딕"/>
              </a:rPr>
              <a:t>10분 미만 · 10~20분 · 20~30분 · 30분 이상 4단계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17720"/>
            <a:ext cx="128016" cy="128016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4526280"/>
            <a:ext cx="57424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5B4130"/>
                </a:solidFill>
                <a:latin typeface="맑은 고딕"/>
              </a:rPr>
              <a:t>Supabase 매핑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837176"/>
            <a:ext cx="5742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6F55"/>
                </a:solidFill>
                <a:latin typeface="맑은 고딕"/>
              </a:rPr>
              <a:t>레시피 데이터에 종류·시간 필드 추가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440680"/>
            <a:ext cx="128016" cy="128016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5349240"/>
            <a:ext cx="57424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5B4130"/>
                </a:solidFill>
                <a:latin typeface="맑은 고딕"/>
              </a:rPr>
              <a:t>홈 화면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660136"/>
            <a:ext cx="5742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6F55"/>
                </a:solidFill>
                <a:latin typeface="맑은 고딕"/>
              </a:rPr>
              <a:t>필터를 바꾸면 추천 목록이 바로 갱신됨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6276" y="1024128"/>
            <a:ext cx="5832764" cy="5120640"/>
          </a:xfrm>
          <a:prstGeom prst="roundRect">
            <a:avLst>
              <a:gd name="adj" fmla="val 5000"/>
            </a:avLst>
          </a:prstGeom>
          <a:blipFill>
            <a:blip r:embed="rId2"/>
            <a:stretch>
              <a:fillRect/>
            </a:stretch>
          </a:blip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2398" y="620877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dirty="0">
                <a:solidFill>
                  <a:srgbClr val="8A6F55"/>
                </a:solidFill>
                <a:latin typeface="맑은 고딕"/>
              </a:rPr>
              <a:t>홈 </a:t>
            </a:r>
            <a:r>
              <a:rPr sz="1050" b="0" dirty="0" err="1">
                <a:solidFill>
                  <a:srgbClr val="8A6F55"/>
                </a:solidFill>
                <a:latin typeface="맑은 고딕"/>
              </a:rPr>
              <a:t>화면</a:t>
            </a:r>
            <a:r>
              <a:rPr sz="1050" b="0" dirty="0">
                <a:solidFill>
                  <a:srgbClr val="8A6F55"/>
                </a:solidFill>
                <a:latin typeface="맑은 고딕"/>
              </a:rPr>
              <a:t> · </a:t>
            </a:r>
            <a:r>
              <a:rPr sz="1050" b="0" dirty="0" err="1">
                <a:solidFill>
                  <a:srgbClr val="8A6F55"/>
                </a:solidFill>
                <a:latin typeface="맑은 고딕"/>
              </a:rPr>
              <a:t>필터</a:t>
            </a:r>
            <a:r>
              <a:rPr sz="1050" b="0" dirty="0">
                <a:solidFill>
                  <a:srgbClr val="8A6F55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8A6F55"/>
                </a:solidFill>
                <a:latin typeface="맑은 고딕"/>
              </a:rPr>
              <a:t>패널</a:t>
            </a:r>
            <a:endParaRPr sz="1050" b="0" dirty="0">
              <a:solidFill>
                <a:srgbClr val="8A6F55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137158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FEATURE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 err="1">
                <a:solidFill>
                  <a:srgbClr val="17182B"/>
                </a:solidFill>
                <a:latin typeface="맑은 고딕"/>
              </a:rPr>
              <a:t>화면</a:t>
            </a:r>
            <a:r>
              <a:rPr sz="24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182B"/>
                </a:solidFill>
                <a:latin typeface="맑은 고딕"/>
              </a:rPr>
              <a:t>디자인</a:t>
            </a:r>
            <a:endParaRPr sz="2400" b="1" dirty="0">
              <a:solidFill>
                <a:srgbClr val="17182B"/>
              </a:solidFill>
              <a:latin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2049668"/>
            <a:ext cx="3803904" cy="4259691"/>
          </a:xfrm>
          <a:prstGeom prst="roundRect">
            <a:avLst>
              <a:gd name="adj" fmla="val 3000"/>
            </a:avLst>
          </a:prstGeom>
          <a:blipFill>
            <a:blip r:embed="rId2"/>
            <a:stretch>
              <a:fillRect/>
            </a:stretch>
          </a:blip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227" y="1578864"/>
            <a:ext cx="922020" cy="329184"/>
          </a:xfrm>
          <a:prstGeom prst="roundRect">
            <a:avLst>
              <a:gd name="adj" fmla="val 50000"/>
            </a:avLst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 dirty="0">
                <a:solidFill>
                  <a:srgbClr val="8A6F55"/>
                </a:solidFill>
                <a:latin typeface="맑은 고딕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65758" y="2049668"/>
            <a:ext cx="4082914" cy="4259690"/>
          </a:xfrm>
          <a:prstGeom prst="roundRect">
            <a:avLst>
              <a:gd name="adj" fmla="val 3000"/>
            </a:avLst>
          </a:prstGeom>
          <a:blipFill>
            <a:blip r:embed="rId3"/>
            <a:stretch>
              <a:fillRect/>
            </a:stretch>
          </a:blipFill>
          <a:ln w="25400">
            <a:solidFill>
              <a:srgbClr val="F0A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65758" y="1578863"/>
            <a:ext cx="835406" cy="329184"/>
          </a:xfrm>
          <a:prstGeom prst="roundRect">
            <a:avLst>
              <a:gd name="adj" fmla="val 50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5B4130"/>
                </a:solidFill>
                <a:latin typeface="맑은 고딕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525524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THE REAL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dirty="0" err="1">
                <a:solidFill>
                  <a:srgbClr val="17182B"/>
                </a:solidFill>
                <a:latin typeface="맑은 고딕"/>
              </a:rPr>
              <a:t>실제</a:t>
            </a:r>
            <a:r>
              <a:rPr sz="2500" b="1" dirty="0">
                <a:solidFill>
                  <a:srgbClr val="17182B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17182B"/>
                </a:solidFill>
                <a:latin typeface="맑은 고딕"/>
              </a:rPr>
              <a:t>화면</a:t>
            </a:r>
            <a:r>
              <a:rPr sz="2500" b="1" dirty="0">
                <a:solidFill>
                  <a:srgbClr val="17182B"/>
                </a:solidFill>
                <a:latin typeface="맑은 고딕"/>
              </a:rPr>
              <a:t> 3가지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608"/>
            <a:ext cx="3227478" cy="3852984"/>
          </a:xfrm>
          <a:prstGeom prst="roundRect">
            <a:avLst>
              <a:gd name="adj" fmla="val 3000"/>
            </a:avLst>
          </a:prstGeom>
          <a:blipFill>
            <a:blip r:embed="rId2"/>
            <a:stretch>
              <a:fillRect/>
            </a:stretch>
          </a:blip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10194" y="5724455"/>
            <a:ext cx="1476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5B4130"/>
                </a:solidFill>
                <a:latin typeface="맑은 고딕"/>
              </a:rPr>
              <a:t>① 냉장고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2601" y="1645608"/>
            <a:ext cx="3227478" cy="3852984"/>
          </a:xfrm>
          <a:prstGeom prst="roundRect">
            <a:avLst>
              <a:gd name="adj" fmla="val 300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8050" y="5730551"/>
            <a:ext cx="1476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dirty="0">
                <a:solidFill>
                  <a:srgbClr val="5B4130"/>
                </a:solidFill>
                <a:latin typeface="맑은 고딕"/>
              </a:rPr>
              <a:t>② 홈 </a:t>
            </a:r>
            <a:r>
              <a:rPr sz="1250" b="1" dirty="0" err="1">
                <a:solidFill>
                  <a:srgbClr val="5B4130"/>
                </a:solidFill>
                <a:latin typeface="맑은 고딕"/>
              </a:rPr>
              <a:t>화면</a:t>
            </a:r>
            <a:endParaRPr sz="1250" b="1" dirty="0">
              <a:solidFill>
                <a:srgbClr val="5B4130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42242" y="1656120"/>
            <a:ext cx="3227478" cy="3871583"/>
          </a:xfrm>
          <a:prstGeom prst="roundRect">
            <a:avLst>
              <a:gd name="adj" fmla="val 3000"/>
            </a:avLst>
          </a:prstGeom>
          <a:blipFill>
            <a:blip r:embed="rId4"/>
            <a:stretch>
              <a:fillRect/>
            </a:stretch>
          </a:blip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4188" y="5730551"/>
            <a:ext cx="110358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dirty="0">
                <a:solidFill>
                  <a:srgbClr val="5B4130"/>
                </a:solidFill>
                <a:latin typeface="맑은 고딕"/>
              </a:rPr>
              <a:t>③ </a:t>
            </a:r>
            <a:r>
              <a:rPr sz="1250" b="1" dirty="0" err="1">
                <a:solidFill>
                  <a:srgbClr val="5B4130"/>
                </a:solidFill>
                <a:latin typeface="맑은 고딕"/>
              </a:rPr>
              <a:t>레시피</a:t>
            </a:r>
            <a:r>
              <a:rPr sz="1250" b="1" dirty="0">
                <a:solidFill>
                  <a:srgbClr val="5B4130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5B4130"/>
                </a:solidFill>
                <a:latin typeface="맑은 고딕"/>
              </a:rPr>
              <a:t>상세</a:t>
            </a:r>
            <a:endParaRPr sz="1250" b="1" dirty="0">
              <a:solidFill>
                <a:srgbClr val="5B4130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137158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FEATURE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7182B"/>
                </a:solidFill>
                <a:latin typeface="맑은 고딕"/>
              </a:rPr>
              <a:t>부족한 재료, 한 번에 비교하고 한 번에 구매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7086"/>
                </a:solidFill>
                <a:latin typeface="맑은 고딕"/>
              </a:rPr>
              <a:t>재료별 상품 비교 체크박스, 즐겨찾기, 네이버쇼핑 결과 정제까지 구매 경험을 강화했습니다.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9966960" cy="621792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비교 체크박스   </a:t>
            </a:r>
            <a:r>
              <a:rPr sz="1200">
                <a:solidFill>
                  <a:srgbClr val="5B4130"/>
                </a:solidFill>
                <a:latin typeface="맑은 고딕"/>
              </a:rPr>
              <a:t>재료별 여러 상품을 체크해서 한 번에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90672"/>
            <a:ext cx="9966960" cy="621792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즐겨찾기   </a:t>
            </a:r>
            <a:r>
              <a:rPr sz="1200">
                <a:solidFill>
                  <a:srgbClr val="5B4130"/>
                </a:solidFill>
                <a:latin typeface="맑은 고딕"/>
              </a:rPr>
              <a:t>자주 사는 상품을 즐겨찾기로 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03904"/>
            <a:ext cx="9966960" cy="621792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다중 구매 링크   </a:t>
            </a:r>
            <a:r>
              <a:rPr sz="1200">
                <a:solidFill>
                  <a:srgbClr val="5B4130"/>
                </a:solidFill>
                <a:latin typeface="맑은 고딕"/>
              </a:rPr>
              <a:t>체크한 재료 여러 개를 한번에 구매 링크로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17136"/>
            <a:ext cx="9966960" cy="621792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네이버쇼핑 정제   </a:t>
            </a:r>
            <a:r>
              <a:rPr sz="1200">
                <a:solidFill>
                  <a:srgbClr val="5B4130"/>
                </a:solidFill>
                <a:latin typeface="맑은 고딕"/>
              </a:rPr>
              <a:t>묶음상품 필터링 + 개당가 계산으로 가격 비교 정확도 향상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230368"/>
            <a:ext cx="9966960" cy="621792"/>
          </a:xfrm>
          <a:prstGeom prst="roundRect">
            <a:avLst>
              <a:gd name="adj" fmla="val 12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rIns="182880" rtlCol="0" anchor="ctr"/>
          <a:lstStyle/>
          <a:p>
            <a:pPr algn="l"/>
            <a:r>
              <a:rPr sz="1350" b="1">
                <a:solidFill>
                  <a:srgbClr val="5B4130"/>
                </a:solidFill>
                <a:latin typeface="맑은 고딕"/>
              </a:rPr>
              <a:t>최저가 링크 확인   </a:t>
            </a:r>
            <a:r>
              <a:rPr sz="1200">
                <a:solidFill>
                  <a:srgbClr val="5B4130"/>
                </a:solidFill>
                <a:latin typeface="맑은 고딕"/>
              </a:rPr>
              <a:t>네이버/쿠팡 구매 링크 실제 동작 점검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137158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800" b="1" dirty="0">
                <a:solidFill>
                  <a:srgbClr val="5B4130"/>
                </a:solidFill>
                <a:latin typeface="맑은 고딕"/>
              </a:rPr>
              <a:t>시연</a:t>
            </a:r>
            <a:endParaRPr sz="2800" b="1" dirty="0">
              <a:solidFill>
                <a:srgbClr val="5B4130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6F55"/>
                </a:solidFill>
                <a:latin typeface="맑은 고딕"/>
              </a:rPr>
              <a:t>실제 화면으로 4단계 흐름을 시연합니다.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423160" cy="16459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8A6F55"/>
                </a:solidFill>
                <a:latin typeface="맑은 고딕"/>
              </a:rPr>
              <a:t>있는 재료를 카테고리별로
골라요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496312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냉장고 재료 체크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642616"/>
            <a:ext cx="274320" cy="0"/>
          </a:xfrm>
          <a:prstGeom prst="line">
            <a:avLst/>
          </a:prstGeom>
          <a:ln w="22225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2377440"/>
            <a:ext cx="2423160" cy="16459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8A6F55"/>
                </a:solidFill>
                <a:latin typeface="맑은 고딕"/>
              </a:rPr>
              <a:t>지금 바로 만들 수 있는 요리 /
재료 조금만 사면 되는 요리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6" y="2496312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홈 화면 확인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642616"/>
            <a:ext cx="274320" cy="0"/>
          </a:xfrm>
          <a:prstGeom prst="line">
            <a:avLst/>
          </a:prstGeom>
          <a:ln w="22225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2377440"/>
            <a:ext cx="2423160" cy="16459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8A6F55"/>
                </a:solidFill>
                <a:latin typeface="맑은 고딕"/>
              </a:rPr>
              <a:t>있는/없는 재료 구분,
조리 영상 바로 재생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2496312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레시피 상세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1080" y="2642616"/>
            <a:ext cx="274320" cy="0"/>
          </a:xfrm>
          <a:prstGeom prst="line">
            <a:avLst/>
          </a:prstGeom>
          <a:ln w="22225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15400" y="2377440"/>
            <a:ext cx="2423160" cy="16459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8A6F55"/>
                </a:solidFill>
                <a:latin typeface="맑은 고딕"/>
              </a:rPr>
              <a:t>부족한 재료 클릭 → 가격 비교
→ 체크해서 한번에 구매</a:t>
            </a:r>
          </a:p>
        </p:txBody>
      </p:sp>
      <p:sp>
        <p:nvSpPr>
          <p:cNvPr id="18" name="Oval 17"/>
          <p:cNvSpPr/>
          <p:nvPr/>
        </p:nvSpPr>
        <p:spPr>
          <a:xfrm>
            <a:off x="9052560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2496312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최저가 구매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12700">
            <a:solidFill>
              <a:srgbClr val="E3E5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099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6F55"/>
                </a:solidFill>
                <a:latin typeface="맑은 고딕"/>
              </a:rPr>
              <a:t>이 다음, 브라우저에서 실제 서비스를 열어 위 순서 그대로 클릭하며 보여드립니다.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1782571" cy="329184"/>
          </a:xfrm>
          <a:prstGeom prst="roundRect">
            <a:avLst>
              <a:gd name="adj" fmla="val 50000"/>
            </a:avLst>
          </a:prstGeom>
          <a:solidFill>
            <a:srgbClr val="FDE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8A5A08"/>
                </a:solidFill>
                <a:latin typeface="맑은 고딕"/>
              </a:rPr>
              <a:t>HOW I WORK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7182B"/>
                </a:solidFill>
                <a:latin typeface="맑은 고딕"/>
              </a:rPr>
              <a:t>3주 동안 AI와는 이런 순서로 일했어요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7086"/>
                </a:solidFill>
                <a:latin typeface="맑은 고딕"/>
              </a:rPr>
              <a:t>혼자 판단하기 어려운 지점마다 스킬·에이전트로 체크포인트를 나눠서, 매 단계 검증받으며 진행했습니다.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8A6F55"/>
                </a:solidFill>
                <a:latin typeface="맑은 고딕"/>
              </a:rPr>
              <a:t>질문 → 기존 서비스 분석
→ plan.md·checklist.md
문서화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4963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기획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642616"/>
            <a:ext cx="73152" cy="0"/>
          </a:xfrm>
          <a:prstGeom prst="line">
            <a:avLst/>
          </a:prstGeom>
          <a:ln w="22225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99232" y="237744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8A6F55"/>
                </a:solidFill>
                <a:latin typeface="맑은 고딕"/>
              </a:rPr>
              <a:t>plan mode 설계 요청을
화면·데이터·흐름 순서로
정리</a:t>
            </a:r>
          </a:p>
        </p:txBody>
      </p:sp>
      <p:sp>
        <p:nvSpPr>
          <p:cNvPr id="10" name="Oval 9"/>
          <p:cNvSpPr/>
          <p:nvPr/>
        </p:nvSpPr>
        <p:spPr>
          <a:xfrm>
            <a:off x="3136392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4963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설계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02352" y="2642616"/>
            <a:ext cx="73152" cy="0"/>
          </a:xfrm>
          <a:prstGeom prst="line">
            <a:avLst/>
          </a:prstGeom>
          <a:ln w="22225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75504" y="237744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8A6F55"/>
                </a:solidFill>
                <a:latin typeface="맑은 고딕"/>
              </a:rPr>
              <a:t>빠진 예외 케이스·순서
문제를 독립적으로
점검</a:t>
            </a:r>
          </a:p>
        </p:txBody>
      </p:sp>
      <p:sp>
        <p:nvSpPr>
          <p:cNvPr id="14" name="Oval 13"/>
          <p:cNvSpPr/>
          <p:nvPr/>
        </p:nvSpPr>
        <p:spPr>
          <a:xfrm>
            <a:off x="5312664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4963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계획 검토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78624" y="2642616"/>
            <a:ext cx="73152" cy="0"/>
          </a:xfrm>
          <a:prstGeom prst="line">
            <a:avLst/>
          </a:prstGeom>
          <a:ln w="22225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51776" y="237744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8A6F55"/>
                </a:solidFill>
                <a:latin typeface="맑은 고딕"/>
              </a:rPr>
              <a:t>DESIGN_SYSTEM.md 토큰만
쓰도록
강제</a:t>
            </a:r>
          </a:p>
        </p:txBody>
      </p:sp>
      <p:sp>
        <p:nvSpPr>
          <p:cNvPr id="18" name="Oval 17"/>
          <p:cNvSpPr/>
          <p:nvPr/>
        </p:nvSpPr>
        <p:spPr>
          <a:xfrm>
            <a:off x="7488936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24963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구현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54896" y="2642616"/>
            <a:ext cx="73152" cy="0"/>
          </a:xfrm>
          <a:prstGeom prst="line">
            <a:avLst/>
          </a:prstGeom>
          <a:ln w="22225">
            <a:solidFill>
              <a:srgbClr val="8A6F55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28048" y="2377440"/>
            <a:ext cx="2103120" cy="1417320"/>
          </a:xfrm>
          <a:prstGeom prst="roundRect">
            <a:avLst>
              <a:gd name="adj" fmla="val 10000"/>
            </a:avLst>
          </a:prstGeom>
          <a:solidFill>
            <a:srgbClr val="FFFBF2"/>
          </a:solidFill>
          <a:ln w="12700">
            <a:solidFill>
              <a:srgbClr val="EAD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30352" rIns="137160" rtlCol="0" anchor="t"/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8A6F55"/>
                </a:solidFill>
                <a:latin typeface="맑은 고딕"/>
              </a:rPr>
              <a:t>TDD로 구현 후,
스펙-테스트-코드 일치를
최종 확인</a:t>
            </a:r>
          </a:p>
        </p:txBody>
      </p:sp>
      <p:sp>
        <p:nvSpPr>
          <p:cNvPr id="22" name="Oval 21"/>
          <p:cNvSpPr/>
          <p:nvPr/>
        </p:nvSpPr>
        <p:spPr>
          <a:xfrm>
            <a:off x="9665208" y="2496312"/>
            <a:ext cx="292608" cy="292608"/>
          </a:xfrm>
          <a:prstGeom prst="ellipse">
            <a:avLst/>
          </a:prstGeom>
          <a:solidFill>
            <a:srgbClr val="F0A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B4130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7544" y="24963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B4130"/>
                </a:solidFill>
                <a:latin typeface="맑은 고딕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5B4130"/>
                </a:solidFill>
                <a:latin typeface="맑은 고딕"/>
              </a:rPr>
              <a:t>쓴 스킬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114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5B4130"/>
                </a:solidFill>
                <a:latin typeface="맑은 고딕"/>
              </a:rPr>
              <a:t>쓴 에이전트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80560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130"/>
                </a:solidFill>
                <a:latin typeface="Segoe UI"/>
              </a:rPr>
              <a:t>project-planning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480560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새 프로젝트/기능 기획 시 질문 절차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18888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130"/>
                </a:solidFill>
                <a:latin typeface="Segoe UI"/>
              </a:rPr>
              <a:t>vertical-slice-design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81888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기능 하나 설계할 때 plan mode 프롬프트 정리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57216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130"/>
                </a:solidFill>
                <a:latin typeface="Segoe UI"/>
              </a:rPr>
              <a:t>design-system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157216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UI 작업 시 디자인 토큰 강제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95544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130"/>
                </a:solidFill>
                <a:latin typeface="Segoe UI"/>
              </a:rPr>
              <a:t>test-writing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495544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테스트 작성 시 red-green-refactor 절차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33872"/>
            <a:ext cx="1783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130"/>
                </a:solidFill>
                <a:latin typeface="Segoe UI"/>
              </a:rPr>
              <a:t>pptx-builder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833872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위클리 리포트 PPT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48056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130"/>
                </a:solidFill>
                <a:latin typeface="Segoe UI"/>
              </a:rPr>
              <a:t>Explore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48056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코드베이스 탐색 (이번 리포트 조사도 이 방식)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1888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130"/>
                </a:solidFill>
                <a:latin typeface="Segoe UI"/>
              </a:rPr>
              <a:t>plan-checker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481888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계획 단계에서 빠진 예외 케이스 점검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15721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4130"/>
                </a:solidFill>
                <a:latin typeface="Segoe UI"/>
              </a:rPr>
              <a:t>spec-checker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515721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6F55"/>
                </a:solidFill>
                <a:latin typeface="맑은 고딕"/>
              </a:rPr>
              <a:t>구현 후 스펙-테스트-코드 일치 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914400"/>
            <a:ext cx="963930" cy="329184"/>
          </a:xfrm>
          <a:prstGeom prst="roundRect">
            <a:avLst>
              <a:gd name="adj" fmla="val 50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0" rIns="201168" bIns="0" rtlCol="0" anchor="ctr"/>
          <a:lstStyle/>
          <a:p>
            <a:pPr algn="ctr"/>
            <a:r>
              <a:rPr sz="1100" b="1">
                <a:solidFill>
                  <a:srgbClr val="5B4130"/>
                </a:solidFill>
                <a:latin typeface="맑은 고딕"/>
              </a:rPr>
              <a:t>NEXT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5B4130"/>
                </a:solidFill>
                <a:latin typeface="맑은 고딕"/>
              </a:rPr>
              <a:t>감사합니다 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6F55"/>
                </a:solidFill>
                <a:latin typeface="맑은 고딕"/>
              </a:rPr>
              <a:t>이번 주는 기능보다 '보기 좋게, 믿을 만하게' 만드는 데 집중했습니다.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4130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B4130"/>
                </a:solidFill>
                <a:latin typeface="맑은 고딕"/>
              </a:rPr>
              <a:t>이미지 에셋 반영 + 유튜브 인라인 재생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4130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B4130"/>
                </a:solidFill>
                <a:latin typeface="맑은 고딕"/>
              </a:rPr>
              <a:t>기니 캐릭터 최종본 교체 및 부족 재료 강조 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4130"/>
                </a:solidFill>
                <a:latin typeface="Segoe U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348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B4130"/>
                </a:solidFill>
                <a:latin typeface="맑은 고딕"/>
              </a:rPr>
              <a:t>이번 달 식비 예상치 (localStorage 누적) 착수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8A6F55"/>
                </a:solidFill>
                <a:latin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802</Words>
  <Application>Microsoft Office PowerPoint</Application>
  <PresentationFormat>와이드스크린</PresentationFormat>
  <Paragraphs>142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pyojunghan</cp:lastModifiedBy>
  <cp:revision>9</cp:revision>
  <dcterms:created xsi:type="dcterms:W3CDTF">2013-01-27T09:14:16Z</dcterms:created>
  <dcterms:modified xsi:type="dcterms:W3CDTF">2026-07-24T05:03:09Z</dcterms:modified>
  <cp:category/>
</cp:coreProperties>
</file>