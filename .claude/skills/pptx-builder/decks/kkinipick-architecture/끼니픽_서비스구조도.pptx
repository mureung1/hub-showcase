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286000"/>
            <a:ext cx="2003297" cy="329184"/>
          </a:xfrm>
          <a:prstGeom prst="roundRect">
            <a:avLst>
              <a:gd name="adj" fmla="val 50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201168" tIns="0" bIns="0"/>
          <a:lstStyle/>
          <a:p>
            <a:pPr algn="ctr"/>
            <a:r>
              <a:rPr sz="1100" b="1">
                <a:solidFill>
                  <a:srgbClr val="5B4130"/>
                </a:solidFill>
                <a:latin typeface="맑은 고딕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3D2B1F"/>
                </a:solidFill>
                <a:latin typeface="맑은 고딕"/>
              </a:rPr>
              <a:t>끼니픽 서비스 구조도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6F55"/>
                </a:solidFill>
                <a:latin typeface="맑은 고딕"/>
              </a:rPr>
              <a:t>화면 · 서버 · DB, 데이터는 어떻게 흐르는가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F55"/>
                </a:solidFill>
                <a:latin typeface="Segoe UI"/>
              </a:rPr>
              <a:t>src/ · server/ · api/ 코드베이스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48640"/>
            <a:ext cx="842391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201168" tIns="0" bIns="0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구조도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182B"/>
                </a:solidFill>
                <a:latin typeface="맑은 고딕"/>
              </a:rPr>
              <a:t>화면 · 서버 · DB 사이의 데이터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E7086"/>
                </a:solidFill>
                <a:latin typeface="맑은 고딕"/>
              </a:rPr>
              <a:t>RecipeDetailPage · Home 두 화면에서 시작되는 세 갈래 요청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FF3DF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l"/>
            <a:r>
              <a:rPr sz="1300" b="1">
                <a:solidFill>
                  <a:srgbClr val="C97A1E"/>
                </a:solidFill>
                <a:latin typeface="맑은 고딕"/>
              </a:rPr>
              <a:t>🖥️ 브라우저 (React SPA)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FridgePage ( / 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Home ( /home 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CategoryPage · TypePage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RecipeDetailPage ( /recipe/:id 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localStorage — 재료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514600"/>
            <a:ext cx="2514600" cy="1005840"/>
          </a:xfrm>
          <a:prstGeom prst="roundRect">
            <a:avLst>
              <a:gd name="adj" fmla="val 6000"/>
            </a:avLst>
          </a:prstGeom>
          <a:solidFill>
            <a:srgbClr val="DCEAE8"/>
          </a:solidFill>
          <a:ln w="12700">
            <a:solidFill>
              <a:srgbClr val="2F6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l"/>
            <a:r>
              <a:rPr sz="1300" b="1">
                <a:solidFill>
                  <a:srgbClr val="2F6360"/>
                </a:solidFill>
                <a:latin typeface="맑은 고딕"/>
              </a:rPr>
              <a:t>⚙️ recipes.js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GET /api/recipes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GET /api/recipes/:id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657600"/>
            <a:ext cx="2514600" cy="1005840"/>
          </a:xfrm>
          <a:prstGeom prst="roundRect">
            <a:avLst>
              <a:gd name="adj" fmla="val 6000"/>
            </a:avLst>
          </a:prstGeom>
          <a:solidFill>
            <a:srgbClr val="DCEAE8"/>
          </a:solidFill>
          <a:ln w="12700">
            <a:solidFill>
              <a:srgbClr val="2F6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l"/>
            <a:r>
              <a:rPr sz="1300" b="1">
                <a:solidFill>
                  <a:srgbClr val="2F6360"/>
                </a:solidFill>
                <a:latin typeface="맑은 고딕"/>
              </a:rPr>
              <a:t>⚙️ youtube.js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GET /api/youtube/dimensions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800600"/>
            <a:ext cx="2514600" cy="1005840"/>
          </a:xfrm>
          <a:prstGeom prst="roundRect">
            <a:avLst>
              <a:gd name="adj" fmla="val 6000"/>
            </a:avLst>
          </a:prstGeom>
          <a:solidFill>
            <a:srgbClr val="DCEAE8"/>
          </a:solidFill>
          <a:ln w="12700">
            <a:solidFill>
              <a:srgbClr val="2F6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l"/>
            <a:r>
              <a:rPr sz="1300" b="1">
                <a:solidFill>
                  <a:srgbClr val="2F6360"/>
                </a:solidFill>
                <a:latin typeface="맑은 고딕"/>
              </a:rPr>
              <a:t>⚙️ naver.js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GET /api/naver/search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514600"/>
            <a:ext cx="2880360" cy="1005840"/>
          </a:xfrm>
          <a:prstGeom prst="roundRect">
            <a:avLst>
              <a:gd name="adj" fmla="val 6000"/>
            </a:avLst>
          </a:prstGeom>
          <a:solidFill>
            <a:srgbClr val="F1E1CC"/>
          </a:solidFill>
          <a:ln w="12700">
            <a:solidFill>
              <a:srgbClr val="8B5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l"/>
            <a:r>
              <a:rPr sz="1300" b="1">
                <a:solidFill>
                  <a:srgbClr val="8B5E34"/>
                </a:solidFill>
                <a:latin typeface="맑은 고딕"/>
              </a:rPr>
              <a:t>Supabase Postgres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recipes 테이블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select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657600"/>
            <a:ext cx="2880360" cy="1005840"/>
          </a:xfrm>
          <a:prstGeom prst="roundRect">
            <a:avLst>
              <a:gd name="adj" fmla="val 6000"/>
            </a:avLst>
          </a:prstGeom>
          <a:solidFill>
            <a:srgbClr val="FBDCCB"/>
          </a:solidFill>
          <a:ln w="12700">
            <a:solidFill>
              <a:srgbClr val="B24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l"/>
            <a:r>
              <a:rPr sz="1300" b="1">
                <a:solidFill>
                  <a:srgbClr val="B24A22"/>
                </a:solidFill>
                <a:latin typeface="맑은 고딕"/>
              </a:rPr>
              <a:t>YouTube 워치 페이지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og:video 메타 스크래핑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API 키 불필요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800600"/>
            <a:ext cx="2880360" cy="1005840"/>
          </a:xfrm>
          <a:prstGeom prst="roundRect">
            <a:avLst>
              <a:gd name="adj" fmla="val 6000"/>
            </a:avLst>
          </a:prstGeom>
          <a:solidFill>
            <a:srgbClr val="FBDCCB"/>
          </a:solidFill>
          <a:ln w="12700">
            <a:solidFill>
              <a:srgbClr val="B24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l"/>
            <a:r>
              <a:rPr sz="1300" b="1">
                <a:solidFill>
                  <a:srgbClr val="B24A22"/>
                </a:solidFill>
                <a:latin typeface="맑은 고딕"/>
              </a:rPr>
              <a:t>네이버 쇼핑 검색 API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>
                <a:solidFill>
                  <a:srgbClr val="3D2B1F"/>
                </a:solidFill>
                <a:latin typeface="맑은 고딕"/>
              </a:rPr>
              <a:t>· 실제 상품 · 가격 반환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3017520"/>
            <a:ext cx="868680" cy="0"/>
          </a:xfrm>
          <a:prstGeom prst="line">
            <a:avLst/>
          </a:prstGeom>
          <a:ln w="19050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6140" y="28712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8A6F55"/>
                </a:solidFill>
                <a:latin typeface="맑은 고딕"/>
              </a:rPr>
              <a:t>① ② 조회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0" y="3017520"/>
            <a:ext cx="777240" cy="0"/>
          </a:xfrm>
          <a:prstGeom prst="line">
            <a:avLst/>
          </a:prstGeom>
          <a:ln w="19050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74720" y="4160520"/>
            <a:ext cx="868680" cy="0"/>
          </a:xfrm>
          <a:prstGeom prst="line">
            <a:avLst/>
          </a:prstGeom>
          <a:ln w="19050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06140" y="40142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8A6F55"/>
                </a:solidFill>
                <a:latin typeface="맑은 고딕"/>
              </a:rPr>
              <a:t>③ 영상판별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0" y="4160520"/>
            <a:ext cx="777240" cy="0"/>
          </a:xfrm>
          <a:prstGeom prst="line">
            <a:avLst/>
          </a:prstGeom>
          <a:ln w="19050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74720" y="5303520"/>
            <a:ext cx="868680" cy="0"/>
          </a:xfrm>
          <a:prstGeom prst="line">
            <a:avLst/>
          </a:prstGeom>
          <a:ln w="19050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06140" y="51572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8A6F55"/>
                </a:solidFill>
                <a:latin typeface="맑은 고딕"/>
              </a:rPr>
              <a:t>④ 최저가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5303520"/>
            <a:ext cx="777240" cy="0"/>
          </a:xfrm>
          <a:prstGeom prst="line">
            <a:avLst/>
          </a:prstGeom>
          <a:ln w="19050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" y="5989320"/>
            <a:ext cx="10515600" cy="0"/>
          </a:xfrm>
          <a:prstGeom prst="line">
            <a:avLst/>
          </a:prstGeom>
          <a:ln w="12700">
            <a:solidFill>
              <a:srgbClr val="E3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099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7086"/>
                </a:solidFill>
                <a:latin typeface="맑은 고딕"/>
              </a:rPr>
              <a:t>⑤ 쿠팡은 서버를 거치지 않고 검색 페이지로 바로 이동(딥링크만, API 연동 없음) — 다음 슬라이드 참고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맑은 고딕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48640"/>
            <a:ext cx="1599565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201168" tIns="0" bIns="0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데이터 흐름 5단계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182B"/>
                </a:solidFill>
                <a:latin typeface="맑은 고딕"/>
              </a:rPr>
              <a:t>요청이 실제로 흐르는 순서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23160"/>
            <a:ext cx="5074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2587752"/>
            <a:ext cx="384048" cy="384048"/>
          </a:xfrm>
          <a:prstGeom prst="ellipse">
            <a:avLst/>
          </a:prstGeom>
          <a:solidFill>
            <a:srgbClr val="FBE3C2"/>
          </a:solidFill>
          <a:ln w="12700">
            <a:solidFill>
              <a:srgbClr val="F0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5B4130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5603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D2B1F"/>
                </a:solidFill>
                <a:latin typeface="맑은 고딕"/>
              </a:rPr>
              <a:t>홈 화면 추천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898648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Home.jsx → GET /api/recipes?matchNames=... → Supabase 전체 조회 → selectors.js가 보유 재료와 매칭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76472"/>
            <a:ext cx="5074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3941064"/>
            <a:ext cx="384048" cy="384048"/>
          </a:xfrm>
          <a:prstGeom prst="ellipse">
            <a:avLst/>
          </a:prstGeom>
          <a:solidFill>
            <a:srgbClr val="FBE3C2"/>
          </a:solidFill>
          <a:ln w="12700">
            <a:solidFill>
              <a:srgbClr val="F0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5B4130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91363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D2B1F"/>
                </a:solidFill>
                <a:latin typeface="맑은 고딕"/>
              </a:rPr>
              <a:t>레시피 상세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25196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RecipeDetailPage.jsx → GET /api/recipes/:id → Supabase 단건 조회 → 재료 · 조리순서 반환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129784"/>
            <a:ext cx="5074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5294376"/>
            <a:ext cx="384048" cy="384048"/>
          </a:xfrm>
          <a:prstGeom prst="ellipse">
            <a:avLst/>
          </a:prstGeom>
          <a:solidFill>
            <a:srgbClr val="FBE3C2"/>
          </a:solidFill>
          <a:ln w="12700">
            <a:solidFill>
              <a:srgbClr val="F0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5B4130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26694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D2B1F"/>
                </a:solidFill>
                <a:latin typeface="맑은 고딕"/>
              </a:rPr>
              <a:t>영상 방향 판별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605272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GET /api/youtube/dimensions → 워치 페이지 HTML의 og:video 메타 태그를 정규식으로 파싱 (API 키 불필요)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423160"/>
            <a:ext cx="5074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9672" y="2587752"/>
            <a:ext cx="384048" cy="384048"/>
          </a:xfrm>
          <a:prstGeom prst="ellipse">
            <a:avLst/>
          </a:prstGeom>
          <a:solidFill>
            <a:srgbClr val="FBE3C2"/>
          </a:solidFill>
          <a:ln w="12700">
            <a:solidFill>
              <a:srgbClr val="F0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5B4130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5603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D2B1F"/>
                </a:solidFill>
                <a:latin typeface="맑은 고딕"/>
              </a:rPr>
              <a:t>재료 클릭 → 최저가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898648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PurchaseLinkPanel → GET /api/naver/search → 네이버 쇼핑 오픈API. 쿠팡은 검색 링크 + 추정가(네이버가×1.02)만 제공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776472"/>
            <a:ext cx="5074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9672" y="3941064"/>
            <a:ext cx="384048" cy="384048"/>
          </a:xfrm>
          <a:prstGeom prst="ellipse">
            <a:avLst/>
          </a:prstGeom>
          <a:solidFill>
            <a:srgbClr val="FBE3C2"/>
          </a:solidFill>
          <a:ln w="12700">
            <a:solidFill>
              <a:srgbClr val="F0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5B4130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91363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D2B1F"/>
                </a:solidFill>
                <a:latin typeface="맑은 고딕"/>
              </a:rPr>
              <a:t>냉장고 재료 선택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25196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FridgePage.jsx가 서버 없이 localStorage에 직접 저장 — 로그인 + DB 연동 전까지의 임시 저장소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맑은 고딕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48640"/>
            <a:ext cx="695706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201168" tIns="0" bIns="0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182B"/>
                </a:solidFill>
                <a:latin typeface="맑은 고딕"/>
              </a:rPr>
              <a:t>배포 구조와 계층별 기술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2316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FF3DF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569464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7A1E"/>
                </a:solidFill>
                <a:latin typeface="맑은 고딕"/>
              </a:rPr>
              <a:t>로컬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92608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D2B1F"/>
                </a:solidFill>
                <a:latin typeface="맑은 고딕"/>
              </a:rPr>
              <a:t>scripts/dev-server.js가 Express 앱을 3001 포트로 직접 기동. Vite(5173)가 /api/* 요청을 3001로 프록시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42316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DCEAE8"/>
          </a:solidFill>
          <a:ln w="12700">
            <a:solidFill>
              <a:srgbClr val="2F6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2569464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6360"/>
                </a:solidFill>
                <a:latin typeface="맑은 고딕"/>
              </a:rPr>
              <a:t>배포 (Vercel)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292608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D2B1F"/>
                </a:solidFill>
                <a:latin typeface="맑은 고딕"/>
              </a:rPr>
              <a:t>api/index.js가 같은 Express 앱을 그대로 export → Vercel Node 런타임이 서버리스 함수로 실행 (어댑터 불필요)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402336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200400"/>
                <a:gridCol w="5760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B4130"/>
                          </a:solidFill>
                          <a:latin typeface="맑은 고딕"/>
                        </a:rPr>
                        <a:t>계층</a:t>
                      </a:r>
                    </a:p>
                  </a:txBody>
                  <a:tcPr marL="109728" marR="109728" anchor="ctr">
                    <a:solidFill>
                      <a:srgbClr val="FBE3C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B4130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 marL="109728" marR="109728" anchor="ctr">
                    <a:solidFill>
                      <a:srgbClr val="FBE3C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B4130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109728" marR="109728" anchor="ctr">
                    <a:solidFill>
                      <a:srgbClr val="FBE3C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D2B1F"/>
                          </a:solidFill>
                          <a:latin typeface="맑은 고딕"/>
                        </a:rPr>
                        <a:t>화면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2B1F"/>
                          </a:solidFill>
                          <a:latin typeface="맑은 고딕"/>
                        </a:rPr>
                        <a:t>React 18 + Vite + Tailwind v4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2B1F"/>
                          </a:solidFill>
                          <a:latin typeface="맑은 고딕"/>
                        </a:rPr>
                        <a:t>SPA. /api/* 요청은 로컬에서 Vite 프록시로 3001에 전달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D2B1F"/>
                          </a:solidFill>
                          <a:latin typeface="맑은 고딕"/>
                        </a:rPr>
                        <a:t>서버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2B1F"/>
                          </a:solidFill>
                          <a:latin typeface="맑은 고딕"/>
                        </a:rPr>
                        <a:t>Express (server/app.js)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2B1F"/>
                          </a:solidFill>
                          <a:latin typeface="맑은 고딕"/>
                        </a:rPr>
                        <a:t>recipes · naver · youtube 3개 라우터. 로컬/Vercel 두 방식으로 실행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D2B1F"/>
                          </a:solidFill>
                          <a:latin typeface="맑은 고딕"/>
                        </a:rPr>
                        <a:t>DB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2B1F"/>
                          </a:solidFill>
                          <a:latin typeface="맑은 고딕"/>
                        </a:rPr>
                        <a:t>Supabase (Postgres)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2B1F"/>
                          </a:solidFill>
                          <a:latin typeface="맑은 고딕"/>
                        </a:rPr>
                        <a:t>recipes 테이블 1개. seedRecipes.js로 mockRecipes.js를 수동 upsert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D2B1F"/>
                          </a:solidFill>
                          <a:latin typeface="맑은 고딕"/>
                        </a:rPr>
                        <a:t>외부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2B1F"/>
                          </a:solidFill>
                          <a:latin typeface="맑은 고딕"/>
                        </a:rPr>
                        <a:t>네이버 쇼핑 · YouTube · 쿠팡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2B1F"/>
                          </a:solidFill>
                          <a:latin typeface="맑은 고딕"/>
                        </a:rPr>
                        <a:t>네이버=가격 API, 유튜브=페이지 스크래핑, 쿠팡=딥링크+추정가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822960" y="5989320"/>
            <a:ext cx="10515600" cy="0"/>
          </a:xfrm>
          <a:prstGeom prst="line">
            <a:avLst/>
          </a:prstGeom>
          <a:ln w="12700">
            <a:solidFill>
              <a:srgbClr val="E3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6099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7086"/>
                </a:solidFill>
                <a:latin typeface="맑은 고딕"/>
              </a:rPr>
              <a:t>로그인 · 결제 · 실시간 시세(KAMIS) 연동은 아직 없음 — 현재는 목업 레시피 데이터 + 두 개의 실시간 외부 조회(네이버 가격, 유튜브 영상 비율)만 서비스에 들어 있음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맑은 고딕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