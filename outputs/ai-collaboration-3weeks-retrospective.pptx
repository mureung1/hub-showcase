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08" y="16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첫 장에서는 기능 목록보다 작업 방식의 변화에 초점을 둔다.</a:t>
            </a:r>
          </a:p>
          <a:p>
            <a:r>
              <a:t>3주 동안 React MVP에서 시작해 Supabase, 애니메이션, TDD, Wiki까지 확장됐고, 그 과정에서 AI에게 그냥 코드를 맡기는 방식으로는 관리가 어렵다는 걸 체감했다.</a:t>
            </a:r>
          </a:p>
          <a:p>
            <a:r>
              <a:t>그래서 Skill과 Agent, 검증 스크립트를 갖춘 하네스를 만들었다는 메시지로 시작한다.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두 번째 장은 내 하네스가 추상적인 개념이 아니라 실제 폴더와 파일로 구성되어 있음을 보여준다.</a:t>
            </a:r>
          </a:p>
          <a:p>
            <a:r>
              <a:t>AGENTS.md는 전체 규칙이고, .codex/agents는 역할별 권한, .agents/skills는 절차, docs는 기록과 지식이다.</a:t>
            </a:r>
          </a:p>
          <a:p>
            <a:r>
              <a:t>이 구조 덕분에 세션이 바뀌어도 AI가 같은 기준으로 일을 이어갈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장에서는 내가 AI에게 바로 구현을 시키지 않는다는 점을 강조한다.</a:t>
            </a:r>
          </a:p>
          <a:p>
            <a:r>
              <a:t>먼저 analyze-request로 요구사항을 정리하고, create-plan으로 파일 범위와 검증 명령을 정한다.</a:t>
            </a:r>
          </a:p>
          <a:p>
            <a:r>
              <a:t>그 다음에만 execute-plan으로 구현하고, verify-result와 Wiki 계열 Skill로 검증과 지식화를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Agent를 설명할 때 단순히 역할 이름을 나열하지 않고, 권한 경계가 핵심이라고 설명한다.</a:t>
            </a:r>
          </a:p>
          <a:p>
            <a:r>
              <a:t>researcher와 planner, verifier는 읽기 중심이고, implementer와 wiki_curator, tdd_workflow는 쓰기 권한이 있지만 범위가 제한된다.</a:t>
            </a:r>
          </a:p>
          <a:p>
            <a:r>
              <a:t>특히 구현과 검증을 분리해서 AI가 스스로 완료를 통과시키지 못하게 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Skill은 Agent가 어떤 순서와 기준으로 일해야 하는지 적어둔 절차서다.</a:t>
            </a:r>
          </a:p>
          <a:p>
            <a:r>
              <a:t>요청 분석, 계획, 구현, 검증, UI/에셋, TDD, Wiki 작업이 각각 다른 Skill로 나뉘어 있다.</a:t>
            </a:r>
          </a:p>
          <a:p>
            <a:r>
              <a:t>특히 에셋 작업에서는 asset-quality-verifier가 품질 기준을 고정해줘서 주관적인 판단을 줄였다.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여기서는 앞에서 설명한 Skill 구조가 실제 에셋 작업에 어떻게 적용됐는지 보여준다.</a:t>
            </a:r>
          </a:p>
          <a:p>
            <a:r>
              <a:t>캐릭터 에셋은 단순히 예쁜 이미지를 고르는 문제가 아니라, sheet 규격과 anchor, baseline, manifest 경로가 맞아야 실제 웹에서 흔들리지 않는다.</a:t>
            </a:r>
          </a:p>
          <a:p>
            <a:r>
              <a:t>처음에는 contact sheet를 crop하는 방식도 시도했지만 문제가 생겼고, 이후 motion별 production sheet를 직접 생성하는 방식으로 바꿨다.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마지막 장은 기능 구현 사례다. 작은 도메인 규칙은 TDD로 먼저 테스트 케이스를 잡고, RED/GREEN 흐름으로 구현했다.</a:t>
            </a:r>
          </a:p>
          <a:p>
            <a:r>
              <a:t>Supabase 같은 기능은 API 요청과 응답, storage mode까지 수직 슬라이스로 검증했다.</a:t>
            </a:r>
          </a:p>
          <a:p>
            <a:r>
              <a:t>결과를 status, tasks, Wiki에 남겨서 다음 세션에서도 같은 맥락을 이어갈 수 있게 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1F92CA48-D215-4306-9700-5A6456DE15BE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7429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3주간 AI와 일한 방식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19A9C6F-F686-4496-9C0E-B901593BCB5F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828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667085"/>
                </a:solidFill>
              </a:defRPr>
            </a:pPr>
            <a:r>
              <a:rPr sz="1875" b="0">
                <a:solidFill>
                  <a:srgbClr val="667085"/>
                </a:solidFill>
              </a:rPr>
              <a:t>기능을 맡긴 것이 아니라, 반복 가능한 작업 하네스를 만들었다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4CA15BE-42D4-4412-9B1F-ABE5B03985CA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1714500" cy="571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1E3EECE-1160-4F03-B446-4F58085C7521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1333500" cy="781050"/>
          </a:xfrm>
          <a:prstGeom prst="roundRect">
            <a:avLst>
              <a:gd name="adj" fmla="val 9756"/>
            </a:avLst>
          </a:prstGeom>
          <a:solidFill>
            <a:srgbClr val="F4F6F8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8A7F160-E8E1-45F3-BB84-A744BDC5B53A}"/>
              </a:ext>
            </a:extLst>
          </p:cNvPr>
          <p:cNvSpPr>
            <a:spLocks noGrp="1"/>
          </p:cNvSpPr>
          <p:nvPr/>
        </p:nvSpPr>
        <p:spPr>
          <a:xfrm>
            <a:off x="819150" y="340995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React MVP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EFEBBCC-A349-4FEE-8EBE-9C57AD19601A}"/>
              </a:ext>
            </a:extLst>
          </p:cNvPr>
          <p:cNvSpPr>
            <a:spLocks noGrp="1"/>
          </p:cNvSpPr>
          <p:nvPr/>
        </p:nvSpPr>
        <p:spPr>
          <a:xfrm>
            <a:off x="2057400" y="3524250"/>
            <a:ext cx="4953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41DA83E-2D71-4D0F-8F7D-437171B7F848}"/>
              </a:ext>
            </a:extLst>
          </p:cNvPr>
          <p:cNvSpPr>
            <a:spLocks noGrp="1"/>
          </p:cNvSpPr>
          <p:nvPr/>
        </p:nvSpPr>
        <p:spPr>
          <a:xfrm>
            <a:off x="2590800" y="3143250"/>
            <a:ext cx="1333500" cy="781050"/>
          </a:xfrm>
          <a:prstGeom prst="roundRect">
            <a:avLst>
              <a:gd name="adj" fmla="val 9756"/>
            </a:avLst>
          </a:prstGeom>
          <a:solidFill>
            <a:srgbClr val="F4F6F8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9BCAD02-3C9D-4C1E-8912-3E5A6CDE90B3}"/>
              </a:ext>
            </a:extLst>
          </p:cNvPr>
          <p:cNvSpPr>
            <a:spLocks noGrp="1"/>
          </p:cNvSpPr>
          <p:nvPr/>
        </p:nvSpPr>
        <p:spPr>
          <a:xfrm>
            <a:off x="2724150" y="340995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Supabase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7F82497-AE22-4BF5-BFA2-AA647A526B68}"/>
              </a:ext>
            </a:extLst>
          </p:cNvPr>
          <p:cNvSpPr>
            <a:spLocks noGrp="1"/>
          </p:cNvSpPr>
          <p:nvPr/>
        </p:nvSpPr>
        <p:spPr>
          <a:xfrm>
            <a:off x="3962400" y="3524250"/>
            <a:ext cx="4953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6D874A9-6B7D-4306-AF24-31ABEB56E4EA}"/>
              </a:ext>
            </a:extLst>
          </p:cNvPr>
          <p:cNvSpPr>
            <a:spLocks noGrp="1"/>
          </p:cNvSpPr>
          <p:nvPr/>
        </p:nvSpPr>
        <p:spPr>
          <a:xfrm>
            <a:off x="4495800" y="3143250"/>
            <a:ext cx="1333500" cy="781050"/>
          </a:xfrm>
          <a:prstGeom prst="roundRect">
            <a:avLst>
              <a:gd name="adj" fmla="val 9756"/>
            </a:avLst>
          </a:prstGeom>
          <a:solidFill>
            <a:srgbClr val="EAF7FE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62FD449-C193-40A8-8CE4-40B39191C25D}"/>
              </a:ext>
            </a:extLst>
          </p:cNvPr>
          <p:cNvSpPr>
            <a:spLocks noGrp="1"/>
          </p:cNvSpPr>
          <p:nvPr/>
        </p:nvSpPr>
        <p:spPr>
          <a:xfrm>
            <a:off x="4629150" y="340995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동적 에셋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C4624FC-251B-49E2-B246-FAE6566DD573}"/>
              </a:ext>
            </a:extLst>
          </p:cNvPr>
          <p:cNvSpPr>
            <a:spLocks noGrp="1"/>
          </p:cNvSpPr>
          <p:nvPr/>
        </p:nvSpPr>
        <p:spPr>
          <a:xfrm>
            <a:off x="5867400" y="3524250"/>
            <a:ext cx="4953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A5611C2-9C84-47D3-96A1-402A6D28F0AE}"/>
              </a:ext>
            </a:extLst>
          </p:cNvPr>
          <p:cNvSpPr>
            <a:spLocks noGrp="1"/>
          </p:cNvSpPr>
          <p:nvPr/>
        </p:nvSpPr>
        <p:spPr>
          <a:xfrm>
            <a:off x="6400800" y="3143250"/>
            <a:ext cx="1333500" cy="781050"/>
          </a:xfrm>
          <a:prstGeom prst="roundRect">
            <a:avLst>
              <a:gd name="adj" fmla="val 9756"/>
            </a:avLst>
          </a:prstGeom>
          <a:solidFill>
            <a:srgbClr val="F4F6F8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DE3CB72-E340-44B2-A7B5-41D44662DF42}"/>
              </a:ext>
            </a:extLst>
          </p:cNvPr>
          <p:cNvSpPr>
            <a:spLocks noGrp="1"/>
          </p:cNvSpPr>
          <p:nvPr/>
        </p:nvSpPr>
        <p:spPr>
          <a:xfrm>
            <a:off x="6534150" y="340995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TDD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6B32D6-7072-403F-9C45-BEA58515A5C5}"/>
              </a:ext>
            </a:extLst>
          </p:cNvPr>
          <p:cNvSpPr>
            <a:spLocks noGrp="1"/>
          </p:cNvSpPr>
          <p:nvPr/>
        </p:nvSpPr>
        <p:spPr>
          <a:xfrm>
            <a:off x="7772400" y="3524250"/>
            <a:ext cx="4953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B05DF8F-27CF-42D0-9324-6740C9E83A7D}"/>
              </a:ext>
            </a:extLst>
          </p:cNvPr>
          <p:cNvSpPr>
            <a:spLocks noGrp="1"/>
          </p:cNvSpPr>
          <p:nvPr/>
        </p:nvSpPr>
        <p:spPr>
          <a:xfrm>
            <a:off x="8305800" y="3143250"/>
            <a:ext cx="1333500" cy="781050"/>
          </a:xfrm>
          <a:prstGeom prst="roundRect">
            <a:avLst>
              <a:gd name="adj" fmla="val 9756"/>
            </a:avLst>
          </a:prstGeom>
          <a:solidFill>
            <a:srgbClr val="F4F6F8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8891740-98D7-495E-A563-BFF3BBC1832D}"/>
              </a:ext>
            </a:extLst>
          </p:cNvPr>
          <p:cNvSpPr>
            <a:spLocks noGrp="1"/>
          </p:cNvSpPr>
          <p:nvPr/>
        </p:nvSpPr>
        <p:spPr>
          <a:xfrm>
            <a:off x="8439150" y="340995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Wiki/검증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8EE0E4A-B27A-4234-BBA6-9797B70BDE02}"/>
              </a:ext>
            </a:extLst>
          </p:cNvPr>
          <p:cNvSpPr>
            <a:spLocks noGrp="1"/>
          </p:cNvSpPr>
          <p:nvPr/>
        </p:nvSpPr>
        <p:spPr>
          <a:xfrm>
            <a:off x="609600" y="4876800"/>
            <a:ext cx="8572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AI 협업의 핵심은 ‘한 번에 잘 시키기’가 아니라, 역할과 절차를 남겨 다음 작업이 이어지게 하는 것이었다.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95396A9-1749-4558-AE20-4F2DB642C565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Sources: docs/status.md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BD0DE07-FED3-41D1-88BE-1EE09FC29CD7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97853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1194104B-B159-45A1-9F7D-6778FFB37870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HARNESS STRUCTURE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9029E01-1074-4EA8-82E6-3C55B8EE4A88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953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111827"/>
                </a:solidFill>
              </a:defRPr>
            </a:pPr>
            <a:r>
              <a:rPr sz="3225" b="1">
                <a:solidFill>
                  <a:srgbClr val="111827"/>
                </a:solidFill>
              </a:rPr>
              <a:t>내 하네스는 네 층으로 나뉜다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493F34F-3EBF-47C6-8D0A-0184F5BD5ABA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800100" cy="381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38949DD-156B-4C06-9D28-D8FC15892701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Sources: project harness files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6B086AE-E519-4B03-8617-C04FFEA322BE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8357E7C-6E69-4B7C-9C3F-13FC31A7AC4B}"/>
              </a:ext>
            </a:extLst>
          </p:cNvPr>
          <p:cNvSpPr>
            <a:spLocks noGrp="1"/>
          </p:cNvSpPr>
          <p:nvPr/>
        </p:nvSpPr>
        <p:spPr>
          <a:xfrm>
            <a:off x="723900" y="2438400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규칙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6CA9C2F-97CA-4AB3-A227-81B055B9AC05}"/>
              </a:ext>
            </a:extLst>
          </p:cNvPr>
          <p:cNvSpPr>
            <a:spLocks noGrp="1"/>
          </p:cNvSpPr>
          <p:nvPr/>
        </p:nvSpPr>
        <p:spPr>
          <a:xfrm>
            <a:off x="1809750" y="23431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AGENTS.md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5DBE1D9-F893-4557-A00E-6794568A7897}"/>
              </a:ext>
            </a:extLst>
          </p:cNvPr>
          <p:cNvSpPr>
            <a:spLocks noGrp="1"/>
          </p:cNvSpPr>
          <p:nvPr/>
        </p:nvSpPr>
        <p:spPr>
          <a:xfrm>
            <a:off x="1809750" y="270510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작업 전 확인, 금지사항, 완료 전 검증 기준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838AEB3-88C6-4F90-8898-E840D8559349}"/>
              </a:ext>
            </a:extLst>
          </p:cNvPr>
          <p:cNvSpPr>
            <a:spLocks noGrp="1"/>
          </p:cNvSpPr>
          <p:nvPr/>
        </p:nvSpPr>
        <p:spPr>
          <a:xfrm>
            <a:off x="609600" y="3067050"/>
            <a:ext cx="10001250" cy="9525"/>
          </a:xfrm>
          <a:prstGeom prst="rect">
            <a:avLst/>
          </a:prstGeom>
          <a:solidFill>
            <a:srgbClr val="ECEFF3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F0C438F-FA96-4993-AE30-A98043F783DD}"/>
              </a:ext>
            </a:extLst>
          </p:cNvPr>
          <p:cNvSpPr>
            <a:spLocks noGrp="1"/>
          </p:cNvSpPr>
          <p:nvPr/>
        </p:nvSpPr>
        <p:spPr>
          <a:xfrm>
            <a:off x="723900" y="3314700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역할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36611A7-FC78-45B6-8107-608A1B84AD0F}"/>
              </a:ext>
            </a:extLst>
          </p:cNvPr>
          <p:cNvSpPr>
            <a:spLocks noGrp="1"/>
          </p:cNvSpPr>
          <p:nvPr/>
        </p:nvSpPr>
        <p:spPr>
          <a:xfrm>
            <a:off x="1809750" y="32194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.codex/agents/*.toml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7C85547-C8F7-4503-BA0A-69D009F704D7}"/>
              </a:ext>
            </a:extLst>
          </p:cNvPr>
          <p:cNvSpPr>
            <a:spLocks noGrp="1"/>
          </p:cNvSpPr>
          <p:nvPr/>
        </p:nvSpPr>
        <p:spPr>
          <a:xfrm>
            <a:off x="1809750" y="358140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researcher, planner, implementer, verifier 등 권한 경계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2763AA9-EDCC-4A44-A764-046D80AA40A0}"/>
              </a:ext>
            </a:extLst>
          </p:cNvPr>
          <p:cNvSpPr>
            <a:spLocks noGrp="1"/>
          </p:cNvSpPr>
          <p:nvPr/>
        </p:nvSpPr>
        <p:spPr>
          <a:xfrm>
            <a:off x="609600" y="3943350"/>
            <a:ext cx="10001250" cy="9525"/>
          </a:xfrm>
          <a:prstGeom prst="rect">
            <a:avLst/>
          </a:prstGeom>
          <a:solidFill>
            <a:srgbClr val="ECEFF3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6E83B57-6447-4BE6-9E12-CD346F4CDB74}"/>
              </a:ext>
            </a:extLst>
          </p:cNvPr>
          <p:cNvSpPr>
            <a:spLocks noGrp="1"/>
          </p:cNvSpPr>
          <p:nvPr/>
        </p:nvSpPr>
        <p:spPr>
          <a:xfrm>
            <a:off x="723900" y="4191000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절차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D7FFBAF-21C3-4986-82D2-227E5BEFD4C2}"/>
              </a:ext>
            </a:extLst>
          </p:cNvPr>
          <p:cNvSpPr>
            <a:spLocks noGrp="1"/>
          </p:cNvSpPr>
          <p:nvPr/>
        </p:nvSpPr>
        <p:spPr>
          <a:xfrm>
            <a:off x="1809750" y="40957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.agents/skills/*/SKILL.md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CF8B620-D51F-4AF5-A265-C43471CA9EB0}"/>
              </a:ext>
            </a:extLst>
          </p:cNvPr>
          <p:cNvSpPr>
            <a:spLocks noGrp="1"/>
          </p:cNvSpPr>
          <p:nvPr/>
        </p:nvSpPr>
        <p:spPr>
          <a:xfrm>
            <a:off x="1809750" y="445770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요청 분석, 계획, 실행, 검증, Wiki 작업의 반복 규칙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DBDA0A7-331F-4ACA-A065-549CCBA1EF99}"/>
              </a:ext>
            </a:extLst>
          </p:cNvPr>
          <p:cNvSpPr>
            <a:spLocks noGrp="1"/>
          </p:cNvSpPr>
          <p:nvPr/>
        </p:nvSpPr>
        <p:spPr>
          <a:xfrm>
            <a:off x="609600" y="4819650"/>
            <a:ext cx="10001250" cy="9525"/>
          </a:xfrm>
          <a:prstGeom prst="rect">
            <a:avLst/>
          </a:prstGeom>
          <a:solidFill>
            <a:srgbClr val="ECEFF3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EC2DCD0-0765-437B-A945-7EF706F05502}"/>
              </a:ext>
            </a:extLst>
          </p:cNvPr>
          <p:cNvSpPr>
            <a:spLocks noGrp="1"/>
          </p:cNvSpPr>
          <p:nvPr/>
        </p:nvSpPr>
        <p:spPr>
          <a:xfrm>
            <a:off x="723900" y="5067300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기록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084B637-9237-4008-8304-BDC1AA86DDC8}"/>
              </a:ext>
            </a:extLst>
          </p:cNvPr>
          <p:cNvSpPr>
            <a:spLocks noGrp="1"/>
          </p:cNvSpPr>
          <p:nvPr/>
        </p:nvSpPr>
        <p:spPr>
          <a:xfrm>
            <a:off x="1809749" y="4972050"/>
            <a:ext cx="5351071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 dirty="0">
                <a:solidFill>
                  <a:srgbClr val="111827"/>
                </a:solidFill>
              </a:rPr>
              <a:t>docs/status.md · docs/tasks.md · docs/wiki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7A983A3-613A-40A1-82A4-14DE2494BF7C}"/>
              </a:ext>
            </a:extLst>
          </p:cNvPr>
          <p:cNvSpPr>
            <a:spLocks noGrp="1"/>
          </p:cNvSpPr>
          <p:nvPr/>
        </p:nvSpPr>
        <p:spPr>
          <a:xfrm>
            <a:off x="1809750" y="533400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완료/검증/다음 작업과 source-backed 지식 축적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DC67B89-1419-4919-B001-D8D7A27D880B}"/>
              </a:ext>
            </a:extLst>
          </p:cNvPr>
          <p:cNvSpPr>
            <a:spLocks noGrp="1"/>
          </p:cNvSpPr>
          <p:nvPr/>
        </p:nvSpPr>
        <p:spPr>
          <a:xfrm>
            <a:off x="609600" y="5695950"/>
            <a:ext cx="10001250" cy="9525"/>
          </a:xfrm>
          <a:prstGeom prst="rect">
            <a:avLst/>
          </a:prstGeom>
          <a:solidFill>
            <a:srgbClr val="ECEFF3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E35A882-7A88-4201-9B8F-E425DB025DCE}"/>
              </a:ext>
            </a:extLst>
          </p:cNvPr>
          <p:cNvSpPr>
            <a:spLocks noGrp="1"/>
          </p:cNvSpPr>
          <p:nvPr/>
        </p:nvSpPr>
        <p:spPr>
          <a:xfrm>
            <a:off x="9048750" y="762000"/>
            <a:ext cx="1714500" cy="1047750"/>
          </a:xfrm>
          <a:prstGeom prst="roundRect">
            <a:avLst>
              <a:gd name="adj" fmla="val 7273"/>
            </a:avLst>
          </a:prstGeom>
          <a:solidFill>
            <a:srgbClr val="F6FBFF"/>
          </a:solidFill>
          <a:ln w="9525">
            <a:solidFill>
              <a:srgbClr val="BFE7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10B935D-EEBA-4C3C-8367-909ECFD50939}"/>
              </a:ext>
            </a:extLst>
          </p:cNvPr>
          <p:cNvSpPr>
            <a:spLocks noGrp="1"/>
          </p:cNvSpPr>
          <p:nvPr/>
        </p:nvSpPr>
        <p:spPr>
          <a:xfrm>
            <a:off x="9296400" y="990600"/>
            <a:ext cx="14668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 dirty="0" err="1">
                <a:solidFill>
                  <a:srgbClr val="111827"/>
                </a:solidFill>
              </a:rPr>
              <a:t>검증</a:t>
            </a:r>
            <a:r>
              <a:rPr sz="1350" b="1" dirty="0">
                <a:solidFill>
                  <a:srgbClr val="111827"/>
                </a:solidFill>
              </a:rPr>
              <a:t> </a:t>
            </a:r>
            <a:r>
              <a:rPr sz="1350" b="1" dirty="0" err="1">
                <a:solidFill>
                  <a:srgbClr val="111827"/>
                </a:solidFill>
              </a:rPr>
              <a:t>스크립트</a:t>
            </a:r>
            <a:endParaRPr sz="1350" b="1" dirty="0">
              <a:solidFill>
                <a:srgbClr val="111827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1671632-2B54-4034-975C-B67E77C03B4C}"/>
              </a:ext>
            </a:extLst>
          </p:cNvPr>
          <p:cNvSpPr>
            <a:spLocks noGrp="1"/>
          </p:cNvSpPr>
          <p:nvPr/>
        </p:nvSpPr>
        <p:spPr>
          <a:xfrm>
            <a:off x="9239250" y="13525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verify-harness.ps1</a:t>
            </a:r>
          </a:p>
        </p:txBody>
      </p:sp>
    </p:spTree>
    <p:extLst>
      <p:ext uri="{BB962C8B-B14F-4D97-AF65-F5344CB8AC3E}">
        <p14:creationId xmlns:p14="http://schemas.microsoft.com/office/powerpoint/2010/main" val="519892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BA4BCEAD-BDA4-4C7B-B14D-5B443A29C3EA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WORKFLOW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7651FC5-68B3-47BC-AA95-090671F84069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953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111827"/>
                </a:solidFill>
              </a:defRPr>
            </a:pPr>
            <a:r>
              <a:rPr sz="3225" b="1">
                <a:solidFill>
                  <a:srgbClr val="111827"/>
                </a:solidFill>
              </a:rPr>
              <a:t>작업은 분석에서 시작하고 검증으로 끝난다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5C416DE-4C7B-4A97-9097-09E08BAF180A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800100" cy="381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4C12C67-EE0F-4F31-B6D9-101E48878124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Sources: project harness files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B8C7010-1B65-44B9-8F01-033E0A1D61B4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326FC0C-D267-48C3-A6FC-7E556C872BA4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1752600" cy="1543050"/>
          </a:xfrm>
          <a:prstGeom prst="roundRect">
            <a:avLst>
              <a:gd name="adj" fmla="val 4938"/>
            </a:avLst>
          </a:prstGeom>
          <a:solidFill>
            <a:srgbClr val="F4F6F8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8B2B0CA-EB6C-4BCC-9A8C-392D7307E12A}"/>
              </a:ext>
            </a:extLst>
          </p:cNvPr>
          <p:cNvSpPr>
            <a:spLocks noGrp="1"/>
          </p:cNvSpPr>
          <p:nvPr/>
        </p:nvSpPr>
        <p:spPr>
          <a:xfrm>
            <a:off x="781050" y="2781300"/>
            <a:ext cx="47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60C0C6-1832-4EAB-B478-33EA90ECF040}"/>
              </a:ext>
            </a:extLst>
          </p:cNvPr>
          <p:cNvSpPr>
            <a:spLocks noGrp="1"/>
          </p:cNvSpPr>
          <p:nvPr/>
        </p:nvSpPr>
        <p:spPr>
          <a:xfrm>
            <a:off x="781050" y="31813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analyze-request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340ED03-FD78-43C7-88B7-30C0A1F3E72A}"/>
              </a:ext>
            </a:extLst>
          </p:cNvPr>
          <p:cNvSpPr>
            <a:spLocks noGrp="1"/>
          </p:cNvSpPr>
          <p:nvPr/>
        </p:nvSpPr>
        <p:spPr>
          <a:xfrm>
            <a:off x="781050" y="3581400"/>
            <a:ext cx="133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67085"/>
                </a:solidFill>
              </a:defRPr>
            </a:pPr>
            <a:r>
              <a:rPr sz="1125" b="0" dirty="0" err="1">
                <a:solidFill>
                  <a:srgbClr val="667085"/>
                </a:solidFill>
              </a:rPr>
              <a:t>목표·제약·위험·수용</a:t>
            </a:r>
            <a:r>
              <a:rPr sz="1125" b="0" dirty="0">
                <a:solidFill>
                  <a:srgbClr val="667085"/>
                </a:solidFill>
              </a:rPr>
              <a:t> </a:t>
            </a:r>
            <a:r>
              <a:rPr sz="1125" b="0" dirty="0" err="1">
                <a:solidFill>
                  <a:srgbClr val="667085"/>
                </a:solidFill>
              </a:rPr>
              <a:t>조건</a:t>
            </a:r>
            <a:endParaRPr sz="1125" b="0" dirty="0">
              <a:solidFill>
                <a:srgbClr val="667085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477F3B7-706A-4540-BF6B-6A25A3384689}"/>
              </a:ext>
            </a:extLst>
          </p:cNvPr>
          <p:cNvSpPr>
            <a:spLocks noGrp="1"/>
          </p:cNvSpPr>
          <p:nvPr/>
        </p:nvSpPr>
        <p:spPr>
          <a:xfrm>
            <a:off x="2419350" y="3333750"/>
            <a:ext cx="28575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F423707-F7EE-48D4-990D-55B2F913337C}"/>
              </a:ext>
            </a:extLst>
          </p:cNvPr>
          <p:cNvSpPr>
            <a:spLocks noGrp="1"/>
          </p:cNvSpPr>
          <p:nvPr/>
        </p:nvSpPr>
        <p:spPr>
          <a:xfrm>
            <a:off x="2762250" y="2571750"/>
            <a:ext cx="1752600" cy="1543050"/>
          </a:xfrm>
          <a:prstGeom prst="roundRect">
            <a:avLst>
              <a:gd name="adj" fmla="val 4938"/>
            </a:avLst>
          </a:prstGeom>
          <a:solidFill>
            <a:srgbClr val="F4F6F8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E73188F-3ABD-4D13-B338-C08C84E1D29F}"/>
              </a:ext>
            </a:extLst>
          </p:cNvPr>
          <p:cNvSpPr>
            <a:spLocks noGrp="1"/>
          </p:cNvSpPr>
          <p:nvPr/>
        </p:nvSpPr>
        <p:spPr>
          <a:xfrm>
            <a:off x="2933700" y="2781300"/>
            <a:ext cx="47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37C2E76-D49B-4A10-93CF-530FCE619D21}"/>
              </a:ext>
            </a:extLst>
          </p:cNvPr>
          <p:cNvSpPr>
            <a:spLocks noGrp="1"/>
          </p:cNvSpPr>
          <p:nvPr/>
        </p:nvSpPr>
        <p:spPr>
          <a:xfrm>
            <a:off x="2933700" y="31813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create-plan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D5E38C1-37F2-4481-A00B-153D60153EF0}"/>
              </a:ext>
            </a:extLst>
          </p:cNvPr>
          <p:cNvSpPr>
            <a:spLocks noGrp="1"/>
          </p:cNvSpPr>
          <p:nvPr/>
        </p:nvSpPr>
        <p:spPr>
          <a:xfrm>
            <a:off x="2933700" y="3581400"/>
            <a:ext cx="133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67085"/>
                </a:solidFill>
              </a:defRPr>
            </a:pPr>
            <a:r>
              <a:rPr sz="1125" b="0" dirty="0" err="1">
                <a:solidFill>
                  <a:srgbClr val="667085"/>
                </a:solidFill>
              </a:rPr>
              <a:t>파일</a:t>
            </a:r>
            <a:r>
              <a:rPr sz="1125" b="0" dirty="0">
                <a:solidFill>
                  <a:srgbClr val="667085"/>
                </a:solidFill>
              </a:rPr>
              <a:t> </a:t>
            </a:r>
            <a:r>
              <a:rPr sz="1125" b="0" dirty="0" err="1">
                <a:solidFill>
                  <a:srgbClr val="667085"/>
                </a:solidFill>
              </a:rPr>
              <a:t>범위·검증</a:t>
            </a:r>
            <a:r>
              <a:rPr sz="1125" b="0" dirty="0">
                <a:solidFill>
                  <a:srgbClr val="667085"/>
                </a:solidFill>
              </a:rPr>
              <a:t> </a:t>
            </a:r>
            <a:r>
              <a:rPr sz="1125" b="0" dirty="0" err="1">
                <a:solidFill>
                  <a:srgbClr val="667085"/>
                </a:solidFill>
              </a:rPr>
              <a:t>명령·승인</a:t>
            </a:r>
            <a:r>
              <a:rPr sz="1125" b="0" dirty="0">
                <a:solidFill>
                  <a:srgbClr val="667085"/>
                </a:solidFill>
              </a:rPr>
              <a:t> </a:t>
            </a:r>
            <a:r>
              <a:rPr sz="1125" b="0" dirty="0" err="1">
                <a:solidFill>
                  <a:srgbClr val="667085"/>
                </a:solidFill>
              </a:rPr>
              <a:t>지점</a:t>
            </a:r>
            <a:endParaRPr sz="1125" b="0" dirty="0">
              <a:solidFill>
                <a:srgbClr val="667085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07B754B-8D20-4449-9D81-BF13DE7816FA}"/>
              </a:ext>
            </a:extLst>
          </p:cNvPr>
          <p:cNvSpPr>
            <a:spLocks noGrp="1"/>
          </p:cNvSpPr>
          <p:nvPr/>
        </p:nvSpPr>
        <p:spPr>
          <a:xfrm>
            <a:off x="4572000" y="3333750"/>
            <a:ext cx="28575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0464437-E8FA-4FCC-9F04-223F405E17F8}"/>
              </a:ext>
            </a:extLst>
          </p:cNvPr>
          <p:cNvSpPr>
            <a:spLocks noGrp="1"/>
          </p:cNvSpPr>
          <p:nvPr/>
        </p:nvSpPr>
        <p:spPr>
          <a:xfrm>
            <a:off x="4914900" y="2571750"/>
            <a:ext cx="1752600" cy="1543050"/>
          </a:xfrm>
          <a:prstGeom prst="roundRect">
            <a:avLst>
              <a:gd name="adj" fmla="val 4938"/>
            </a:avLst>
          </a:prstGeom>
          <a:solidFill>
            <a:srgbClr val="EFF8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FB16F35-8E54-4175-BDEF-15054B28A91A}"/>
              </a:ext>
            </a:extLst>
          </p:cNvPr>
          <p:cNvSpPr>
            <a:spLocks noGrp="1"/>
          </p:cNvSpPr>
          <p:nvPr/>
        </p:nvSpPr>
        <p:spPr>
          <a:xfrm>
            <a:off x="5086350" y="2781300"/>
            <a:ext cx="47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9DCBA4D-1F09-4F61-8DFB-DD759F16E0C1}"/>
              </a:ext>
            </a:extLst>
          </p:cNvPr>
          <p:cNvSpPr>
            <a:spLocks noGrp="1"/>
          </p:cNvSpPr>
          <p:nvPr/>
        </p:nvSpPr>
        <p:spPr>
          <a:xfrm>
            <a:off x="5086350" y="31813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execute-plan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0F14B9B-4EBB-40FC-9FB6-B52D56F7C00D}"/>
              </a:ext>
            </a:extLst>
          </p:cNvPr>
          <p:cNvSpPr>
            <a:spLocks noGrp="1"/>
          </p:cNvSpPr>
          <p:nvPr/>
        </p:nvSpPr>
        <p:spPr>
          <a:xfrm>
            <a:off x="5086350" y="3581400"/>
            <a:ext cx="133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승인된 좁은 범위만 구현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1A32EE9-3682-466A-8E44-538344FA3461}"/>
              </a:ext>
            </a:extLst>
          </p:cNvPr>
          <p:cNvSpPr>
            <a:spLocks noGrp="1"/>
          </p:cNvSpPr>
          <p:nvPr/>
        </p:nvSpPr>
        <p:spPr>
          <a:xfrm>
            <a:off x="6724650" y="3333750"/>
            <a:ext cx="28575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B0B9E82-9080-48FC-9B14-00BA6D385380}"/>
              </a:ext>
            </a:extLst>
          </p:cNvPr>
          <p:cNvSpPr>
            <a:spLocks noGrp="1"/>
          </p:cNvSpPr>
          <p:nvPr/>
        </p:nvSpPr>
        <p:spPr>
          <a:xfrm>
            <a:off x="7067550" y="2571750"/>
            <a:ext cx="1752600" cy="1543050"/>
          </a:xfrm>
          <a:prstGeom prst="roundRect">
            <a:avLst>
              <a:gd name="adj" fmla="val 4938"/>
            </a:avLst>
          </a:prstGeom>
          <a:solidFill>
            <a:srgbClr val="F4F6F8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3B9EEEF-E36F-4337-8DD3-CD11CEBFD6BB}"/>
              </a:ext>
            </a:extLst>
          </p:cNvPr>
          <p:cNvSpPr>
            <a:spLocks noGrp="1"/>
          </p:cNvSpPr>
          <p:nvPr/>
        </p:nvSpPr>
        <p:spPr>
          <a:xfrm>
            <a:off x="7239000" y="2781300"/>
            <a:ext cx="47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A343A6F-699D-45FA-8255-F4C3DEC702DA}"/>
              </a:ext>
            </a:extLst>
          </p:cNvPr>
          <p:cNvSpPr>
            <a:spLocks noGrp="1"/>
          </p:cNvSpPr>
          <p:nvPr/>
        </p:nvSpPr>
        <p:spPr>
          <a:xfrm>
            <a:off x="7239000" y="31813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verify-result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5F5D354-733E-405D-98F7-BD52A118D33E}"/>
              </a:ext>
            </a:extLst>
          </p:cNvPr>
          <p:cNvSpPr>
            <a:spLocks noGrp="1"/>
          </p:cNvSpPr>
          <p:nvPr/>
        </p:nvSpPr>
        <p:spPr>
          <a:xfrm>
            <a:off x="7239000" y="3581400"/>
            <a:ext cx="133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67085"/>
                </a:solidFill>
              </a:defRPr>
            </a:pPr>
            <a:r>
              <a:rPr sz="1125" b="0" dirty="0" err="1">
                <a:solidFill>
                  <a:srgbClr val="667085"/>
                </a:solidFill>
              </a:rPr>
              <a:t>독립</a:t>
            </a:r>
            <a:r>
              <a:rPr sz="1125" b="0" dirty="0">
                <a:solidFill>
                  <a:srgbClr val="667085"/>
                </a:solidFill>
              </a:rPr>
              <a:t> </a:t>
            </a:r>
            <a:r>
              <a:rPr sz="1125" b="0" dirty="0" err="1">
                <a:solidFill>
                  <a:srgbClr val="667085"/>
                </a:solidFill>
              </a:rPr>
              <a:t>검증과</a:t>
            </a:r>
            <a:r>
              <a:rPr sz="1125" b="0" dirty="0">
                <a:solidFill>
                  <a:srgbClr val="667085"/>
                </a:solidFill>
              </a:rPr>
              <a:t> </a:t>
            </a:r>
            <a:r>
              <a:rPr sz="1125" b="0" dirty="0" err="1">
                <a:solidFill>
                  <a:srgbClr val="667085"/>
                </a:solidFill>
              </a:rPr>
              <a:t>실패</a:t>
            </a:r>
            <a:r>
              <a:rPr sz="1125" b="0" dirty="0">
                <a:solidFill>
                  <a:srgbClr val="667085"/>
                </a:solidFill>
              </a:rPr>
              <a:t> </a:t>
            </a:r>
            <a:r>
              <a:rPr sz="1125" b="0" dirty="0" err="1">
                <a:solidFill>
                  <a:srgbClr val="667085"/>
                </a:solidFill>
              </a:rPr>
              <a:t>증거</a:t>
            </a:r>
            <a:endParaRPr sz="1125" b="0" dirty="0">
              <a:solidFill>
                <a:srgbClr val="667085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64650D3-DFC2-40F3-9844-CBB0D0B731B1}"/>
              </a:ext>
            </a:extLst>
          </p:cNvPr>
          <p:cNvSpPr>
            <a:spLocks noGrp="1"/>
          </p:cNvSpPr>
          <p:nvPr/>
        </p:nvSpPr>
        <p:spPr>
          <a:xfrm>
            <a:off x="8877300" y="3333750"/>
            <a:ext cx="28575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3BCC26AE-274F-4311-AEAB-7A919A16D670}"/>
              </a:ext>
            </a:extLst>
          </p:cNvPr>
          <p:cNvSpPr>
            <a:spLocks noGrp="1"/>
          </p:cNvSpPr>
          <p:nvPr/>
        </p:nvSpPr>
        <p:spPr>
          <a:xfrm>
            <a:off x="9220200" y="2571750"/>
            <a:ext cx="1752600" cy="1543050"/>
          </a:xfrm>
          <a:prstGeom prst="roundRect">
            <a:avLst>
              <a:gd name="adj" fmla="val 4938"/>
            </a:avLst>
          </a:prstGeom>
          <a:solidFill>
            <a:srgbClr val="F4F6F8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30D1BB1-1A44-4269-A6C2-99CE9C9B98B0}"/>
              </a:ext>
            </a:extLst>
          </p:cNvPr>
          <p:cNvSpPr>
            <a:spLocks noGrp="1"/>
          </p:cNvSpPr>
          <p:nvPr/>
        </p:nvSpPr>
        <p:spPr>
          <a:xfrm>
            <a:off x="9391650" y="2781300"/>
            <a:ext cx="47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127F12F-ED90-4EC7-A571-DB9760B22B77}"/>
              </a:ext>
            </a:extLst>
          </p:cNvPr>
          <p:cNvSpPr>
            <a:spLocks noGrp="1"/>
          </p:cNvSpPr>
          <p:nvPr/>
        </p:nvSpPr>
        <p:spPr>
          <a:xfrm>
            <a:off x="9391650" y="31813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 dirty="0">
                <a:solidFill>
                  <a:srgbClr val="111827"/>
                </a:solidFill>
              </a:rPr>
              <a:t>wiki-ingest/query/lint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0AAF3C2-E6D9-4EBD-B014-DA7017E42A99}"/>
              </a:ext>
            </a:extLst>
          </p:cNvPr>
          <p:cNvSpPr>
            <a:spLocks noGrp="1"/>
          </p:cNvSpPr>
          <p:nvPr/>
        </p:nvSpPr>
        <p:spPr>
          <a:xfrm>
            <a:off x="9391650" y="3581400"/>
            <a:ext cx="133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67085"/>
                </a:solidFill>
              </a:defRPr>
            </a:pPr>
            <a:r>
              <a:rPr sz="1125" b="0" dirty="0" err="1">
                <a:solidFill>
                  <a:srgbClr val="667085"/>
                </a:solidFill>
              </a:rPr>
              <a:t>지식</a:t>
            </a:r>
            <a:r>
              <a:rPr sz="1125" b="0" dirty="0">
                <a:solidFill>
                  <a:srgbClr val="667085"/>
                </a:solidFill>
              </a:rPr>
              <a:t> </a:t>
            </a:r>
            <a:r>
              <a:rPr sz="1125" b="0" dirty="0" err="1">
                <a:solidFill>
                  <a:srgbClr val="667085"/>
                </a:solidFill>
              </a:rPr>
              <a:t>축적과</a:t>
            </a:r>
            <a:r>
              <a:rPr sz="1125" b="0" dirty="0">
                <a:solidFill>
                  <a:srgbClr val="667085"/>
                </a:solidFill>
              </a:rPr>
              <a:t> </a:t>
            </a:r>
            <a:r>
              <a:rPr sz="1125" b="0" dirty="0" err="1">
                <a:solidFill>
                  <a:srgbClr val="667085"/>
                </a:solidFill>
              </a:rPr>
              <a:t>링크</a:t>
            </a:r>
            <a:r>
              <a:rPr sz="1125" b="0" dirty="0">
                <a:solidFill>
                  <a:srgbClr val="667085"/>
                </a:solidFill>
              </a:rPr>
              <a:t> </a:t>
            </a:r>
            <a:r>
              <a:rPr sz="1125" b="0" dirty="0" err="1">
                <a:solidFill>
                  <a:srgbClr val="667085"/>
                </a:solidFill>
              </a:rPr>
              <a:t>검증</a:t>
            </a:r>
            <a:endParaRPr sz="1125" b="0" dirty="0">
              <a:solidFill>
                <a:srgbClr val="667085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56FF034-14CF-4C3A-B951-D3B8C792FD77}"/>
              </a:ext>
            </a:extLst>
          </p:cNvPr>
          <p:cNvSpPr>
            <a:spLocks noGrp="1"/>
          </p:cNvSpPr>
          <p:nvPr/>
        </p:nvSpPr>
        <p:spPr>
          <a:xfrm>
            <a:off x="904875" y="4800600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 dirty="0" err="1">
                <a:solidFill>
                  <a:srgbClr val="111827"/>
                </a:solidFill>
              </a:rPr>
              <a:t>구현하기</a:t>
            </a:r>
            <a:r>
              <a:rPr sz="1875" b="1" dirty="0">
                <a:solidFill>
                  <a:srgbClr val="111827"/>
                </a:solidFill>
              </a:rPr>
              <a:t> </a:t>
            </a:r>
            <a:r>
              <a:rPr sz="1875" b="1" dirty="0" err="1">
                <a:solidFill>
                  <a:srgbClr val="111827"/>
                </a:solidFill>
              </a:rPr>
              <a:t>전에</a:t>
            </a:r>
            <a:r>
              <a:rPr sz="1875" b="1" dirty="0">
                <a:solidFill>
                  <a:srgbClr val="111827"/>
                </a:solidFill>
              </a:rPr>
              <a:t>, ‘</a:t>
            </a:r>
            <a:r>
              <a:rPr sz="1875" b="1" dirty="0" err="1">
                <a:solidFill>
                  <a:srgbClr val="111827"/>
                </a:solidFill>
              </a:rPr>
              <a:t>어디까지</a:t>
            </a:r>
            <a:r>
              <a:rPr sz="1875" b="1" dirty="0">
                <a:solidFill>
                  <a:srgbClr val="111827"/>
                </a:solidFill>
              </a:rPr>
              <a:t> </a:t>
            </a:r>
            <a:r>
              <a:rPr sz="1875" b="1" dirty="0" err="1">
                <a:solidFill>
                  <a:srgbClr val="111827"/>
                </a:solidFill>
              </a:rPr>
              <a:t>바꿀지’와</a:t>
            </a:r>
            <a:r>
              <a:rPr sz="1875" b="1" dirty="0">
                <a:solidFill>
                  <a:srgbClr val="111827"/>
                </a:solidFill>
              </a:rPr>
              <a:t> ‘</a:t>
            </a:r>
            <a:r>
              <a:rPr sz="1875" b="1" dirty="0" err="1">
                <a:solidFill>
                  <a:srgbClr val="111827"/>
                </a:solidFill>
              </a:rPr>
              <a:t>무엇을</a:t>
            </a:r>
            <a:r>
              <a:rPr sz="1875" b="1" dirty="0">
                <a:solidFill>
                  <a:srgbClr val="111827"/>
                </a:solidFill>
              </a:rPr>
              <a:t> </a:t>
            </a:r>
            <a:r>
              <a:rPr sz="1875" b="1" dirty="0" err="1">
                <a:solidFill>
                  <a:srgbClr val="111827"/>
                </a:solidFill>
              </a:rPr>
              <a:t>통과로</a:t>
            </a:r>
            <a:r>
              <a:rPr sz="1875" b="1" dirty="0">
                <a:solidFill>
                  <a:srgbClr val="111827"/>
                </a:solidFill>
              </a:rPr>
              <a:t> </a:t>
            </a:r>
            <a:r>
              <a:rPr sz="1875" b="1" dirty="0" err="1">
                <a:solidFill>
                  <a:srgbClr val="111827"/>
                </a:solidFill>
              </a:rPr>
              <a:t>볼지’를</a:t>
            </a:r>
            <a:r>
              <a:rPr sz="1875" b="1" dirty="0">
                <a:solidFill>
                  <a:srgbClr val="111827"/>
                </a:solidFill>
              </a:rPr>
              <a:t> </a:t>
            </a:r>
            <a:r>
              <a:rPr sz="1875" b="1" dirty="0" err="1">
                <a:solidFill>
                  <a:srgbClr val="111827"/>
                </a:solidFill>
              </a:rPr>
              <a:t>먼저</a:t>
            </a:r>
            <a:r>
              <a:rPr sz="1875" b="1" dirty="0">
                <a:solidFill>
                  <a:srgbClr val="111827"/>
                </a:solidFill>
              </a:rPr>
              <a:t> </a:t>
            </a:r>
            <a:r>
              <a:rPr sz="1875" b="1" dirty="0" err="1">
                <a:solidFill>
                  <a:srgbClr val="111827"/>
                </a:solidFill>
              </a:rPr>
              <a:t>고정한다</a:t>
            </a:r>
            <a:r>
              <a:rPr sz="1875" b="1" dirty="0">
                <a:solidFill>
                  <a:srgbClr val="111827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5130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E77FBB06-4E1A-4BB0-A570-2B562EB5D1B4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AGENT BOUNDARIES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C2E9E96-FDEC-42DC-A14F-A6200C47555F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953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111827"/>
                </a:solidFill>
              </a:defRPr>
            </a:pPr>
            <a:r>
              <a:rPr sz="3225" b="1" dirty="0">
                <a:solidFill>
                  <a:srgbClr val="111827"/>
                </a:solidFill>
              </a:rPr>
              <a:t>Agent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F7FA01F-66BB-4D0B-AE36-021B8EC95926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800100" cy="381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7CB920F-214D-4A8C-841D-9E552C835672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Sources: project harness files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F6E2931-C5FD-42FB-8720-3424E639688F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57B9C22-4B08-43D2-A106-120316B22BB7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10001250" cy="316230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D3768D6-3943-4489-9963-FC56BF8DE7BA}"/>
              </a:ext>
            </a:extLst>
          </p:cNvPr>
          <p:cNvSpPr>
            <a:spLocks noGrp="1"/>
          </p:cNvSpPr>
          <p:nvPr/>
        </p:nvSpPr>
        <p:spPr>
          <a:xfrm>
            <a:off x="933450" y="25146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Agent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4C590A4-B057-4474-80C9-1FDE8DC33A37}"/>
              </a:ext>
            </a:extLst>
          </p:cNvPr>
          <p:cNvSpPr>
            <a:spLocks noGrp="1"/>
          </p:cNvSpPr>
          <p:nvPr/>
        </p:nvSpPr>
        <p:spPr>
          <a:xfrm>
            <a:off x="3219450" y="25146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권한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B3B84E8-BD24-41C2-AD3A-385D985AE61D}"/>
              </a:ext>
            </a:extLst>
          </p:cNvPr>
          <p:cNvSpPr>
            <a:spLocks noGrp="1"/>
          </p:cNvSpPr>
          <p:nvPr/>
        </p:nvSpPr>
        <p:spPr>
          <a:xfrm>
            <a:off x="5562600" y="25146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맡긴 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75598BE-D20F-475A-80FD-F73D2DB96E67}"/>
              </a:ext>
            </a:extLst>
          </p:cNvPr>
          <p:cNvSpPr>
            <a:spLocks noGrp="1"/>
          </p:cNvSpPr>
          <p:nvPr/>
        </p:nvSpPr>
        <p:spPr>
          <a:xfrm>
            <a:off x="914400" y="2838450"/>
            <a:ext cx="93345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D7BD247-091A-4D81-85BB-99F51D7284CC}"/>
              </a:ext>
            </a:extLst>
          </p:cNvPr>
          <p:cNvSpPr>
            <a:spLocks noGrp="1"/>
          </p:cNvSpPr>
          <p:nvPr/>
        </p:nvSpPr>
        <p:spPr>
          <a:xfrm>
            <a:off x="933450" y="30099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EAD63"/>
                </a:solidFill>
              </a:defRPr>
            </a:pPr>
            <a:r>
              <a:rPr sz="1350" b="1" dirty="0">
                <a:solidFill>
                  <a:srgbClr val="2EAD63"/>
                </a:solidFill>
              </a:rPr>
              <a:t>researcher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B3587F4-682B-467C-9F7B-2D56D1295D08}"/>
              </a:ext>
            </a:extLst>
          </p:cNvPr>
          <p:cNvSpPr>
            <a:spLocks noGrp="1"/>
          </p:cNvSpPr>
          <p:nvPr/>
        </p:nvSpPr>
        <p:spPr>
          <a:xfrm>
            <a:off x="3219450" y="30099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read-only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38951E5-E3AE-4C36-8CF4-1CE17F1228F7}"/>
              </a:ext>
            </a:extLst>
          </p:cNvPr>
          <p:cNvSpPr>
            <a:spLocks noGrp="1"/>
          </p:cNvSpPr>
          <p:nvPr/>
        </p:nvSpPr>
        <p:spPr>
          <a:xfrm>
            <a:off x="5562600" y="30099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코드·문서·근거 조사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C150103-AFEE-450E-8AD1-B87484C6B013}"/>
              </a:ext>
            </a:extLst>
          </p:cNvPr>
          <p:cNvSpPr>
            <a:spLocks noGrp="1"/>
          </p:cNvSpPr>
          <p:nvPr/>
        </p:nvSpPr>
        <p:spPr>
          <a:xfrm>
            <a:off x="933450" y="33909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EAD63"/>
                </a:solidFill>
              </a:defRPr>
            </a:pPr>
            <a:r>
              <a:rPr sz="1350" b="1">
                <a:solidFill>
                  <a:srgbClr val="2EAD63"/>
                </a:solidFill>
              </a:rPr>
              <a:t>planner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2B8F5A8-7E6A-4A36-B842-3538E8C22700}"/>
              </a:ext>
            </a:extLst>
          </p:cNvPr>
          <p:cNvSpPr>
            <a:spLocks noGrp="1"/>
          </p:cNvSpPr>
          <p:nvPr/>
        </p:nvSpPr>
        <p:spPr>
          <a:xfrm>
            <a:off x="3219450" y="33909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 dirty="0">
                <a:solidFill>
                  <a:srgbClr val="111827"/>
                </a:solidFill>
              </a:rPr>
              <a:t>read-only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08D9C79-A71A-41AC-A32C-7A28BECB5F77}"/>
              </a:ext>
            </a:extLst>
          </p:cNvPr>
          <p:cNvSpPr>
            <a:spLocks noGrp="1"/>
          </p:cNvSpPr>
          <p:nvPr/>
        </p:nvSpPr>
        <p:spPr>
          <a:xfrm>
            <a:off x="5562600" y="33909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파일 단위 계획과 승인 지점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395B49C-E216-4807-99F0-7CF7EB76BEA2}"/>
              </a:ext>
            </a:extLst>
          </p:cNvPr>
          <p:cNvSpPr>
            <a:spLocks noGrp="1"/>
          </p:cNvSpPr>
          <p:nvPr/>
        </p:nvSpPr>
        <p:spPr>
          <a:xfrm>
            <a:off x="933450" y="37719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implementer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0512D70-1A30-46D5-8338-FE4E556D7344}"/>
              </a:ext>
            </a:extLst>
          </p:cNvPr>
          <p:cNvSpPr>
            <a:spLocks noGrp="1"/>
          </p:cNvSpPr>
          <p:nvPr/>
        </p:nvSpPr>
        <p:spPr>
          <a:xfrm>
            <a:off x="3219450" y="37719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 dirty="0">
                <a:solidFill>
                  <a:srgbClr val="111827"/>
                </a:solidFill>
              </a:rPr>
              <a:t>workspace-write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C314C0A-0C8F-4246-A818-AF3A63EF9B2D}"/>
              </a:ext>
            </a:extLst>
          </p:cNvPr>
          <p:cNvSpPr>
            <a:spLocks noGrp="1"/>
          </p:cNvSpPr>
          <p:nvPr/>
        </p:nvSpPr>
        <p:spPr>
          <a:xfrm>
            <a:off x="5562600" y="37719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승인된 범위만 최소 구현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828DEC8-2023-4F4C-8DAA-AC5CAA6C9D1E}"/>
              </a:ext>
            </a:extLst>
          </p:cNvPr>
          <p:cNvSpPr>
            <a:spLocks noGrp="1"/>
          </p:cNvSpPr>
          <p:nvPr/>
        </p:nvSpPr>
        <p:spPr>
          <a:xfrm>
            <a:off x="933450" y="41529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EAD63"/>
                </a:solidFill>
              </a:defRPr>
            </a:pPr>
            <a:r>
              <a:rPr sz="1350" b="1">
                <a:solidFill>
                  <a:srgbClr val="2EAD63"/>
                </a:solidFill>
              </a:rPr>
              <a:t>verifier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4CA1AEC-AE9E-4CAD-8FEC-36BD533831EA}"/>
              </a:ext>
            </a:extLst>
          </p:cNvPr>
          <p:cNvSpPr>
            <a:spLocks noGrp="1"/>
          </p:cNvSpPr>
          <p:nvPr/>
        </p:nvSpPr>
        <p:spPr>
          <a:xfrm>
            <a:off x="3219450" y="41529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 dirty="0">
                <a:solidFill>
                  <a:srgbClr val="111827"/>
                </a:solidFill>
              </a:rPr>
              <a:t>read-only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5FD9527-28D5-4DF2-8741-4CAFDF701BB4}"/>
              </a:ext>
            </a:extLst>
          </p:cNvPr>
          <p:cNvSpPr>
            <a:spLocks noGrp="1"/>
          </p:cNvSpPr>
          <p:nvPr/>
        </p:nvSpPr>
        <p:spPr>
          <a:xfrm>
            <a:off x="5562600" y="41529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독립 검증과 실패 보고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C71B69C-618E-4848-88EA-D5DE90FA1EBB}"/>
              </a:ext>
            </a:extLst>
          </p:cNvPr>
          <p:cNvSpPr>
            <a:spLocks noGrp="1"/>
          </p:cNvSpPr>
          <p:nvPr/>
        </p:nvSpPr>
        <p:spPr>
          <a:xfrm>
            <a:off x="933450" y="45339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wiki_curator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89163D7-98D2-4C42-9E69-0D7AA9CEBF69}"/>
              </a:ext>
            </a:extLst>
          </p:cNvPr>
          <p:cNvSpPr>
            <a:spLocks noGrp="1"/>
          </p:cNvSpPr>
          <p:nvPr/>
        </p:nvSpPr>
        <p:spPr>
          <a:xfrm>
            <a:off x="3219450" y="45339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workspace-write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4EBE50B-0C11-4823-8CED-CE34DE6AF1CD}"/>
              </a:ext>
            </a:extLst>
          </p:cNvPr>
          <p:cNvSpPr>
            <a:spLocks noGrp="1"/>
          </p:cNvSpPr>
          <p:nvPr/>
        </p:nvSpPr>
        <p:spPr>
          <a:xfrm>
            <a:off x="5562600" y="45339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승인된 Wiki 영역만 갱신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64441D8-6EEE-453A-9B6D-11BBA519FE05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tdd_workflow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37F331D-AE0A-4A1F-A2FC-85AC5905E196}"/>
              </a:ext>
            </a:extLst>
          </p:cNvPr>
          <p:cNvSpPr>
            <a:spLocks noGrp="1"/>
          </p:cNvSpPr>
          <p:nvPr/>
        </p:nvSpPr>
        <p:spPr>
          <a:xfrm>
            <a:off x="3219450" y="49149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workspace-write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637520D-16CF-4938-9248-7F3C0AADB2A4}"/>
              </a:ext>
            </a:extLst>
          </p:cNvPr>
          <p:cNvSpPr>
            <a:spLocks noGrp="1"/>
          </p:cNvSpPr>
          <p:nvPr/>
        </p:nvSpPr>
        <p:spPr>
          <a:xfrm>
            <a:off x="5562600" y="49149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RED/GREEN/REFACTOR 전용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EC6FD65-4C82-40F3-B5DE-95EC84B3D7AD}"/>
              </a:ext>
            </a:extLst>
          </p:cNvPr>
          <p:cNvSpPr>
            <a:spLocks noGrp="1"/>
          </p:cNvSpPr>
          <p:nvPr/>
        </p:nvSpPr>
        <p:spPr>
          <a:xfrm>
            <a:off x="1009650" y="5695950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 dirty="0" err="1">
                <a:solidFill>
                  <a:srgbClr val="111827"/>
                </a:solidFill>
              </a:rPr>
              <a:t>구현</a:t>
            </a:r>
            <a:r>
              <a:rPr sz="1650" b="1" dirty="0">
                <a:solidFill>
                  <a:srgbClr val="111827"/>
                </a:solidFill>
              </a:rPr>
              <a:t> </a:t>
            </a:r>
            <a:r>
              <a:rPr sz="1650" b="1" dirty="0" err="1">
                <a:solidFill>
                  <a:srgbClr val="111827"/>
                </a:solidFill>
              </a:rPr>
              <a:t>Agent가</a:t>
            </a:r>
            <a:r>
              <a:rPr sz="1650" b="1" dirty="0">
                <a:solidFill>
                  <a:srgbClr val="111827"/>
                </a:solidFill>
              </a:rPr>
              <a:t> </a:t>
            </a:r>
            <a:r>
              <a:rPr sz="1650" b="1" dirty="0" err="1">
                <a:solidFill>
                  <a:srgbClr val="111827"/>
                </a:solidFill>
              </a:rPr>
              <a:t>스스로</a:t>
            </a:r>
            <a:r>
              <a:rPr sz="1650" b="1" dirty="0">
                <a:solidFill>
                  <a:srgbClr val="111827"/>
                </a:solidFill>
              </a:rPr>
              <a:t> </a:t>
            </a:r>
            <a:r>
              <a:rPr sz="1650" b="1" dirty="0" err="1">
                <a:solidFill>
                  <a:srgbClr val="111827"/>
                </a:solidFill>
              </a:rPr>
              <a:t>완료를</a:t>
            </a:r>
            <a:r>
              <a:rPr sz="1650" b="1" dirty="0">
                <a:solidFill>
                  <a:srgbClr val="111827"/>
                </a:solidFill>
              </a:rPr>
              <a:t> </a:t>
            </a:r>
            <a:r>
              <a:rPr sz="1650" b="1" dirty="0" err="1">
                <a:solidFill>
                  <a:srgbClr val="111827"/>
                </a:solidFill>
              </a:rPr>
              <a:t>승인하지</a:t>
            </a:r>
            <a:r>
              <a:rPr sz="1650" b="1" dirty="0">
                <a:solidFill>
                  <a:srgbClr val="111827"/>
                </a:solidFill>
              </a:rPr>
              <a:t> </a:t>
            </a:r>
            <a:r>
              <a:rPr sz="1650" b="1" dirty="0" err="1">
                <a:solidFill>
                  <a:srgbClr val="111827"/>
                </a:solidFill>
              </a:rPr>
              <a:t>못하게</a:t>
            </a:r>
            <a:r>
              <a:rPr sz="1650" b="1" dirty="0">
                <a:solidFill>
                  <a:srgbClr val="111827"/>
                </a:solidFill>
              </a:rPr>
              <a:t> 한 </a:t>
            </a:r>
            <a:r>
              <a:rPr sz="1650" b="1" dirty="0" err="1">
                <a:solidFill>
                  <a:srgbClr val="111827"/>
                </a:solidFill>
              </a:rPr>
              <a:t>것이</a:t>
            </a:r>
            <a:r>
              <a:rPr sz="1650" b="1" dirty="0">
                <a:solidFill>
                  <a:srgbClr val="111827"/>
                </a:solidFill>
              </a:rPr>
              <a:t> </a:t>
            </a:r>
            <a:r>
              <a:rPr sz="1650" b="1" dirty="0" err="1">
                <a:solidFill>
                  <a:srgbClr val="111827"/>
                </a:solidFill>
              </a:rPr>
              <a:t>안전장치였다</a:t>
            </a:r>
            <a:r>
              <a:rPr sz="1650" b="1" dirty="0">
                <a:solidFill>
                  <a:srgbClr val="111827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133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6FD1FD5F-FB96-42A4-8FB5-0ED8F800AC9C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SKILL PLAYBOOKS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964F908-3BE0-43E7-BE1F-62B39CCFA321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953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111827"/>
                </a:solidFill>
              </a:defRPr>
            </a:pPr>
            <a:r>
              <a:rPr sz="3225" b="1" dirty="0">
                <a:solidFill>
                  <a:srgbClr val="111827"/>
                </a:solidFill>
              </a:rPr>
              <a:t>Skill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A72C6B7-F443-474E-8337-8300EC6DAC4C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800100" cy="381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3408F6E-6646-44E0-B00D-569ABD50E37A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Sources: project harness files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780613C-5E3B-4EFD-AD0C-8890EA67538A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694437C-4BFD-408B-B469-9AEF7F7FEFCD}"/>
              </a:ext>
            </a:extLst>
          </p:cNvPr>
          <p:cNvSpPr>
            <a:spLocks noGrp="1"/>
          </p:cNvSpPr>
          <p:nvPr/>
        </p:nvSpPr>
        <p:spPr>
          <a:xfrm>
            <a:off x="723900" y="2381250"/>
            <a:ext cx="278130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A59F029-F5BA-47AF-8176-F95E697D6C75}"/>
              </a:ext>
            </a:extLst>
          </p:cNvPr>
          <p:cNvSpPr>
            <a:spLocks noGrp="1"/>
          </p:cNvSpPr>
          <p:nvPr/>
        </p:nvSpPr>
        <p:spPr>
          <a:xfrm>
            <a:off x="723900" y="2381250"/>
            <a:ext cx="278130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0E32A3-3EEF-42D3-BD90-71ABABC185C2}"/>
              </a:ext>
            </a:extLst>
          </p:cNvPr>
          <p:cNvSpPr>
            <a:spLocks noGrp="1"/>
          </p:cNvSpPr>
          <p:nvPr/>
        </p:nvSpPr>
        <p:spPr>
          <a:xfrm>
            <a:off x="933450" y="2609850"/>
            <a:ext cx="2362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요청·계획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BA8E3C9-3FD9-4A95-A58D-7FFF14C21DB4}"/>
              </a:ext>
            </a:extLst>
          </p:cNvPr>
          <p:cNvSpPr>
            <a:spLocks noGrp="1"/>
          </p:cNvSpPr>
          <p:nvPr/>
        </p:nvSpPr>
        <p:spPr>
          <a:xfrm>
            <a:off x="933450" y="3009900"/>
            <a:ext cx="2362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analyze-request</a:t>
            </a:r>
          </a:p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create-plan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BC4B76A-8B56-4E89-A11B-C915E956BD6E}"/>
              </a:ext>
            </a:extLst>
          </p:cNvPr>
          <p:cNvSpPr>
            <a:spLocks noGrp="1"/>
          </p:cNvSpPr>
          <p:nvPr/>
        </p:nvSpPr>
        <p:spPr>
          <a:xfrm>
            <a:off x="4057650" y="2381250"/>
            <a:ext cx="278130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18756D3-98EA-4466-9334-C50421B532F8}"/>
              </a:ext>
            </a:extLst>
          </p:cNvPr>
          <p:cNvSpPr>
            <a:spLocks noGrp="1"/>
          </p:cNvSpPr>
          <p:nvPr/>
        </p:nvSpPr>
        <p:spPr>
          <a:xfrm>
            <a:off x="4057650" y="2381250"/>
            <a:ext cx="2781300" cy="47625"/>
          </a:xfrm>
          <a:prstGeom prst="rect">
            <a:avLst/>
          </a:prstGeom>
          <a:solidFill>
            <a:srgbClr val="2EAD63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59F145F-D42A-4FF7-9B7D-023727A2DE08}"/>
              </a:ext>
            </a:extLst>
          </p:cNvPr>
          <p:cNvSpPr>
            <a:spLocks noGrp="1"/>
          </p:cNvSpPr>
          <p:nvPr/>
        </p:nvSpPr>
        <p:spPr>
          <a:xfrm>
            <a:off x="4267200" y="2609850"/>
            <a:ext cx="2362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구현·검증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204948B-32AF-41CB-954F-785E73A81716}"/>
              </a:ext>
            </a:extLst>
          </p:cNvPr>
          <p:cNvSpPr>
            <a:spLocks noGrp="1"/>
          </p:cNvSpPr>
          <p:nvPr/>
        </p:nvSpPr>
        <p:spPr>
          <a:xfrm>
            <a:off x="4267200" y="3009900"/>
            <a:ext cx="2362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execute-plan</a:t>
            </a:r>
          </a:p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verify-result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FD4B44B-3E90-4797-971C-15E081D28959}"/>
              </a:ext>
            </a:extLst>
          </p:cNvPr>
          <p:cNvSpPr>
            <a:spLocks noGrp="1"/>
          </p:cNvSpPr>
          <p:nvPr/>
        </p:nvSpPr>
        <p:spPr>
          <a:xfrm>
            <a:off x="7391400" y="2381250"/>
            <a:ext cx="278130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F1FC723-73B9-4A0D-BA98-760B04133836}"/>
              </a:ext>
            </a:extLst>
          </p:cNvPr>
          <p:cNvSpPr>
            <a:spLocks noGrp="1"/>
          </p:cNvSpPr>
          <p:nvPr/>
        </p:nvSpPr>
        <p:spPr>
          <a:xfrm>
            <a:off x="7391400" y="2381250"/>
            <a:ext cx="2781300" cy="47625"/>
          </a:xfrm>
          <a:prstGeom prst="rect">
            <a:avLst/>
          </a:prstGeom>
          <a:solidFill>
            <a:srgbClr val="F4A26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8D2657A-ED1B-4C55-A811-3E429BD6F375}"/>
              </a:ext>
            </a:extLst>
          </p:cNvPr>
          <p:cNvSpPr>
            <a:spLocks noGrp="1"/>
          </p:cNvSpPr>
          <p:nvPr/>
        </p:nvSpPr>
        <p:spPr>
          <a:xfrm>
            <a:off x="7600950" y="2609850"/>
            <a:ext cx="2362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UI·에셋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E09B7AB-E669-4A44-833F-9EF403FB724B}"/>
              </a:ext>
            </a:extLst>
          </p:cNvPr>
          <p:cNvSpPr>
            <a:spLocks noGrp="1"/>
          </p:cNvSpPr>
          <p:nvPr/>
        </p:nvSpPr>
        <p:spPr>
          <a:xfrm>
            <a:off x="7600950" y="3009900"/>
            <a:ext cx="2362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xp-desktop-pet-ui</a:t>
            </a:r>
          </a:p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asset-quality-verifier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AE3AE44-EE19-4BC2-9C8F-935B5ED4CEFD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278130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97FC684-5B60-4833-BF8F-021975E3F6E1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2781300" cy="47625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DA591C7-A69D-4378-B698-C9C01ED0FD8E}"/>
              </a:ext>
            </a:extLst>
          </p:cNvPr>
          <p:cNvSpPr>
            <a:spLocks noGrp="1"/>
          </p:cNvSpPr>
          <p:nvPr/>
        </p:nvSpPr>
        <p:spPr>
          <a:xfrm>
            <a:off x="933450" y="4324350"/>
            <a:ext cx="2362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TDD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52DCC26-14A8-407A-B26E-BE41C0DCB959}"/>
              </a:ext>
            </a:extLst>
          </p:cNvPr>
          <p:cNvSpPr>
            <a:spLocks noGrp="1"/>
          </p:cNvSpPr>
          <p:nvPr/>
        </p:nvSpPr>
        <p:spPr>
          <a:xfrm>
            <a:off x="933450" y="4724400"/>
            <a:ext cx="2362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tdd-test-writing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794AB8A-DB89-4A3D-B168-E1B64A691300}"/>
              </a:ext>
            </a:extLst>
          </p:cNvPr>
          <p:cNvSpPr>
            <a:spLocks noGrp="1"/>
          </p:cNvSpPr>
          <p:nvPr/>
        </p:nvSpPr>
        <p:spPr>
          <a:xfrm>
            <a:off x="4057650" y="4095750"/>
            <a:ext cx="278130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3F42D5B-EDD9-4DC1-B2AC-AC82EEB06E5F}"/>
              </a:ext>
            </a:extLst>
          </p:cNvPr>
          <p:cNvSpPr>
            <a:spLocks noGrp="1"/>
          </p:cNvSpPr>
          <p:nvPr/>
        </p:nvSpPr>
        <p:spPr>
          <a:xfrm>
            <a:off x="4057650" y="4095750"/>
            <a:ext cx="2781300" cy="47625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102C50A-3433-4BD6-94DE-57A45A4CD13D}"/>
              </a:ext>
            </a:extLst>
          </p:cNvPr>
          <p:cNvSpPr>
            <a:spLocks noGrp="1"/>
          </p:cNvSpPr>
          <p:nvPr/>
        </p:nvSpPr>
        <p:spPr>
          <a:xfrm>
            <a:off x="4267200" y="4324350"/>
            <a:ext cx="2362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지식 관리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3D97C18-7108-4463-A3E4-D247EABB5FE3}"/>
              </a:ext>
            </a:extLst>
          </p:cNvPr>
          <p:cNvSpPr>
            <a:spLocks noGrp="1"/>
          </p:cNvSpPr>
          <p:nvPr/>
        </p:nvSpPr>
        <p:spPr>
          <a:xfrm>
            <a:off x="4267200" y="4724400"/>
            <a:ext cx="2362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wiki-ingest</a:t>
            </a:r>
          </a:p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wiki-query</a:t>
            </a:r>
          </a:p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wiki-lint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B3FCD89-4B00-4C51-A230-14DECCB9830E}"/>
              </a:ext>
            </a:extLst>
          </p:cNvPr>
          <p:cNvSpPr>
            <a:spLocks noGrp="1"/>
          </p:cNvSpPr>
          <p:nvPr/>
        </p:nvSpPr>
        <p:spPr>
          <a:xfrm>
            <a:off x="1028700" y="5734050"/>
            <a:ext cx="895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예: sprite sheet 검수는 감상이 아니라 frame size, anchor, baseline, manifest 경로 일치 여부로 판단했다.</a:t>
            </a:r>
          </a:p>
        </p:txBody>
      </p:sp>
    </p:spTree>
    <p:extLst>
      <p:ext uri="{BB962C8B-B14F-4D97-AF65-F5344CB8AC3E}">
        <p14:creationId xmlns:p14="http://schemas.microsoft.com/office/powerpoint/2010/main" val="2050508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7E89F003-A15E-4996-A03E-537F338456F9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APPLIED CASE · ASSETS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702B5C2-9764-44E6-A443-8C11573D1F1D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953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111827"/>
                </a:solidFill>
              </a:defRPr>
            </a:pPr>
            <a:r>
              <a:rPr sz="3225" b="1" dirty="0" err="1">
                <a:solidFill>
                  <a:srgbClr val="111827"/>
                </a:solidFill>
              </a:rPr>
              <a:t>사례</a:t>
            </a:r>
            <a:r>
              <a:rPr sz="3225" b="1" dirty="0">
                <a:solidFill>
                  <a:srgbClr val="111827"/>
                </a:solidFill>
              </a:rPr>
              <a:t> 1: </a:t>
            </a:r>
            <a:r>
              <a:rPr sz="3225" b="1" dirty="0" err="1">
                <a:solidFill>
                  <a:srgbClr val="111827"/>
                </a:solidFill>
              </a:rPr>
              <a:t>동적</a:t>
            </a:r>
            <a:r>
              <a:rPr sz="3225" b="1" dirty="0">
                <a:solidFill>
                  <a:srgbClr val="111827"/>
                </a:solidFill>
              </a:rPr>
              <a:t> </a:t>
            </a:r>
            <a:r>
              <a:rPr sz="3225" b="1" dirty="0" err="1">
                <a:solidFill>
                  <a:srgbClr val="111827"/>
                </a:solidFill>
              </a:rPr>
              <a:t>캐릭터</a:t>
            </a:r>
            <a:r>
              <a:rPr sz="3225" b="1" dirty="0">
                <a:solidFill>
                  <a:srgbClr val="111827"/>
                </a:solidFill>
              </a:rPr>
              <a:t> </a:t>
            </a:r>
            <a:r>
              <a:rPr sz="3225" b="1" dirty="0" err="1">
                <a:solidFill>
                  <a:srgbClr val="111827"/>
                </a:solidFill>
              </a:rPr>
              <a:t>에셋은</a:t>
            </a:r>
            <a:r>
              <a:rPr sz="3225" b="1" dirty="0">
                <a:solidFill>
                  <a:srgbClr val="111827"/>
                </a:solidFill>
              </a:rPr>
              <a:t> </a:t>
            </a:r>
            <a:r>
              <a:rPr sz="3225" b="1" dirty="0" err="1">
                <a:solidFill>
                  <a:srgbClr val="111827"/>
                </a:solidFill>
              </a:rPr>
              <a:t>Skill과</a:t>
            </a:r>
            <a:r>
              <a:rPr sz="3225" b="1" dirty="0">
                <a:solidFill>
                  <a:srgbClr val="111827"/>
                </a:solidFill>
              </a:rPr>
              <a:t> </a:t>
            </a:r>
            <a:r>
              <a:rPr sz="3225" b="1" dirty="0" err="1">
                <a:solidFill>
                  <a:srgbClr val="111827"/>
                </a:solidFill>
              </a:rPr>
              <a:t>검증</a:t>
            </a:r>
            <a:r>
              <a:rPr sz="3225" b="1" dirty="0">
                <a:solidFill>
                  <a:srgbClr val="111827"/>
                </a:solidFill>
              </a:rPr>
              <a:t> </a:t>
            </a:r>
            <a:r>
              <a:rPr sz="3225" b="1" dirty="0" err="1">
                <a:solidFill>
                  <a:srgbClr val="111827"/>
                </a:solidFill>
              </a:rPr>
              <a:t>기준으로</a:t>
            </a:r>
            <a:r>
              <a:rPr sz="3225" b="1" dirty="0">
                <a:solidFill>
                  <a:srgbClr val="111827"/>
                </a:solidFill>
              </a:rPr>
              <a:t> </a:t>
            </a:r>
            <a:r>
              <a:rPr sz="3225" b="1" dirty="0" err="1">
                <a:solidFill>
                  <a:srgbClr val="111827"/>
                </a:solidFill>
              </a:rPr>
              <a:t>반복했다</a:t>
            </a:r>
            <a:endParaRPr sz="3225" b="1" dirty="0">
              <a:solidFill>
                <a:srgbClr val="111827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1A227D6-BB26-4585-818F-EFC111AEA0EF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800100" cy="381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76FD97A-1986-476D-A28E-6F6675ADD3FD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Sources: project harness files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4020E98-EAA1-48D2-B647-B9DB07645A80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53F5E6B-A6BC-4C70-BDF5-C165032750CA}"/>
              </a:ext>
            </a:extLst>
          </p:cNvPr>
          <p:cNvSpPr>
            <a:spLocks noGrp="1"/>
          </p:cNvSpPr>
          <p:nvPr/>
        </p:nvSpPr>
        <p:spPr>
          <a:xfrm>
            <a:off x="704850" y="2343150"/>
            <a:ext cx="44577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D2F229-304B-41E1-9EDC-4D764460C696}"/>
              </a:ext>
            </a:extLst>
          </p:cNvPr>
          <p:cNvSpPr>
            <a:spLocks noGrp="1"/>
          </p:cNvSpPr>
          <p:nvPr/>
        </p:nvSpPr>
        <p:spPr>
          <a:xfrm>
            <a:off x="704850" y="2343150"/>
            <a:ext cx="445770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DB4E8B9-E0DE-4783-BA78-F8ACEEAFF76C}"/>
              </a:ext>
            </a:extLst>
          </p:cNvPr>
          <p:cNvSpPr>
            <a:spLocks noGrp="1"/>
          </p:cNvSpPr>
          <p:nvPr/>
        </p:nvSpPr>
        <p:spPr>
          <a:xfrm>
            <a:off x="914400" y="2571750"/>
            <a:ext cx="4038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적용 흐름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4D00D5B-88A9-414F-A081-52710E751AC0}"/>
              </a:ext>
            </a:extLst>
          </p:cNvPr>
          <p:cNvSpPr>
            <a:spLocks noGrp="1"/>
          </p:cNvSpPr>
          <p:nvPr/>
        </p:nvSpPr>
        <p:spPr>
          <a:xfrm>
            <a:off x="914400" y="2971800"/>
            <a:ext cx="4038600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 dirty="0" err="1">
                <a:solidFill>
                  <a:srgbClr val="667085"/>
                </a:solidFill>
              </a:rPr>
              <a:t>xp</a:t>
            </a:r>
            <a:r>
              <a:rPr sz="1200" b="0" dirty="0">
                <a:solidFill>
                  <a:srgbClr val="667085"/>
                </a:solidFill>
              </a:rPr>
              <a:t>-desktop-pet-</a:t>
            </a:r>
            <a:r>
              <a:rPr sz="1200" b="0" dirty="0" err="1">
                <a:solidFill>
                  <a:srgbClr val="667085"/>
                </a:solidFill>
              </a:rPr>
              <a:t>ui로</a:t>
            </a:r>
            <a:r>
              <a:rPr sz="1200" b="0" dirty="0">
                <a:solidFill>
                  <a:srgbClr val="667085"/>
                </a:solidFill>
              </a:rPr>
              <a:t> </a:t>
            </a:r>
            <a:r>
              <a:rPr sz="1200" b="0" dirty="0" err="1">
                <a:solidFill>
                  <a:srgbClr val="667085"/>
                </a:solidFill>
              </a:rPr>
              <a:t>정체성</a:t>
            </a:r>
            <a:r>
              <a:rPr sz="1200" b="0" dirty="0">
                <a:solidFill>
                  <a:srgbClr val="667085"/>
                </a:solidFill>
              </a:rPr>
              <a:t> </a:t>
            </a:r>
            <a:r>
              <a:rPr sz="1200" b="0" dirty="0" err="1">
                <a:solidFill>
                  <a:srgbClr val="667085"/>
                </a:solidFill>
              </a:rPr>
              <a:t>유지</a:t>
            </a:r>
            <a:endParaRPr sz="1200" b="0" dirty="0">
              <a:solidFill>
                <a:srgbClr val="667085"/>
              </a:solidFill>
            </a:endParaRPr>
          </a:p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 dirty="0">
                <a:solidFill>
                  <a:srgbClr val="667085"/>
                </a:solidFill>
              </a:rPr>
              <a:t>asset-quality-</a:t>
            </a:r>
            <a:r>
              <a:rPr sz="1200" b="0" dirty="0" err="1">
                <a:solidFill>
                  <a:srgbClr val="667085"/>
                </a:solidFill>
              </a:rPr>
              <a:t>verifier로</a:t>
            </a:r>
            <a:r>
              <a:rPr sz="1200" b="0" dirty="0">
                <a:solidFill>
                  <a:srgbClr val="667085"/>
                </a:solidFill>
              </a:rPr>
              <a:t> sheet </a:t>
            </a:r>
            <a:r>
              <a:rPr sz="1200" b="0" dirty="0" err="1">
                <a:solidFill>
                  <a:srgbClr val="667085"/>
                </a:solidFill>
              </a:rPr>
              <a:t>규격</a:t>
            </a:r>
            <a:r>
              <a:rPr sz="1200" b="0" dirty="0">
                <a:solidFill>
                  <a:srgbClr val="667085"/>
                </a:solidFill>
              </a:rPr>
              <a:t> </a:t>
            </a:r>
            <a:r>
              <a:rPr sz="1200" b="0" dirty="0" err="1">
                <a:solidFill>
                  <a:srgbClr val="667085"/>
                </a:solidFill>
              </a:rPr>
              <a:t>확인</a:t>
            </a:r>
            <a:endParaRPr sz="1200" b="0" dirty="0">
              <a:solidFill>
                <a:srgbClr val="667085"/>
              </a:solidFill>
            </a:endParaRPr>
          </a:p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 dirty="0">
                <a:solidFill>
                  <a:srgbClr val="667085"/>
                </a:solidFill>
              </a:rPr>
              <a:t>docs/asset-</a:t>
            </a:r>
            <a:r>
              <a:rPr sz="1200" b="0" dirty="0" err="1">
                <a:solidFill>
                  <a:srgbClr val="667085"/>
                </a:solidFill>
              </a:rPr>
              <a:t>prompts에</a:t>
            </a:r>
            <a:r>
              <a:rPr sz="1200" b="0" dirty="0">
                <a:solidFill>
                  <a:srgbClr val="667085"/>
                </a:solidFill>
              </a:rPr>
              <a:t> motion plan </a:t>
            </a:r>
            <a:r>
              <a:rPr sz="1200" b="0" dirty="0" err="1">
                <a:solidFill>
                  <a:srgbClr val="667085"/>
                </a:solidFill>
              </a:rPr>
              <a:t>기록</a:t>
            </a:r>
            <a:endParaRPr sz="1200" b="0" dirty="0">
              <a:solidFill>
                <a:srgbClr val="667085"/>
              </a:solidFill>
            </a:endParaRPr>
          </a:p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 dirty="0">
                <a:solidFill>
                  <a:srgbClr val="667085"/>
                </a:solidFill>
              </a:rPr>
              <a:t>?review=</a:t>
            </a:r>
            <a:r>
              <a:rPr sz="1200" b="0" dirty="0" err="1">
                <a:solidFill>
                  <a:srgbClr val="667085"/>
                </a:solidFill>
              </a:rPr>
              <a:t>sprites에서</a:t>
            </a:r>
            <a:r>
              <a:rPr sz="1200" b="0" dirty="0">
                <a:solidFill>
                  <a:srgbClr val="667085"/>
                </a:solidFill>
              </a:rPr>
              <a:t> </a:t>
            </a:r>
            <a:r>
              <a:rPr sz="1200" b="0" dirty="0" err="1">
                <a:solidFill>
                  <a:srgbClr val="667085"/>
                </a:solidFill>
              </a:rPr>
              <a:t>실제</a:t>
            </a:r>
            <a:r>
              <a:rPr sz="1200" b="0" dirty="0">
                <a:solidFill>
                  <a:srgbClr val="667085"/>
                </a:solidFill>
              </a:rPr>
              <a:t> sheet </a:t>
            </a:r>
            <a:r>
              <a:rPr sz="1200" b="0" dirty="0" err="1">
                <a:solidFill>
                  <a:srgbClr val="667085"/>
                </a:solidFill>
              </a:rPr>
              <a:t>시각</a:t>
            </a:r>
            <a:r>
              <a:rPr sz="1200" b="0" dirty="0">
                <a:solidFill>
                  <a:srgbClr val="667085"/>
                </a:solidFill>
              </a:rPr>
              <a:t> </a:t>
            </a:r>
            <a:r>
              <a:rPr sz="1200" b="0" dirty="0" err="1">
                <a:solidFill>
                  <a:srgbClr val="667085"/>
                </a:solidFill>
              </a:rPr>
              <a:t>검수</a:t>
            </a:r>
            <a:endParaRPr sz="1200" b="0" dirty="0">
              <a:solidFill>
                <a:srgbClr val="667085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786C8A7-2FAD-4185-9E83-2B433C2C65F8}"/>
              </a:ext>
            </a:extLst>
          </p:cNvPr>
          <p:cNvSpPr>
            <a:spLocks noGrp="1"/>
          </p:cNvSpPr>
          <p:nvPr/>
        </p:nvSpPr>
        <p:spPr>
          <a:xfrm>
            <a:off x="5772150" y="2343150"/>
            <a:ext cx="44577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D061CDB-72FE-4A4B-A631-634EA62928F7}"/>
              </a:ext>
            </a:extLst>
          </p:cNvPr>
          <p:cNvSpPr>
            <a:spLocks noGrp="1"/>
          </p:cNvSpPr>
          <p:nvPr/>
        </p:nvSpPr>
        <p:spPr>
          <a:xfrm>
            <a:off x="5772150" y="2343150"/>
            <a:ext cx="4457700" cy="47625"/>
          </a:xfrm>
          <a:prstGeom prst="rect">
            <a:avLst/>
          </a:prstGeom>
          <a:solidFill>
            <a:srgbClr val="F4A26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DFBE99D-2BCC-4199-9CFF-61E933126EC9}"/>
              </a:ext>
            </a:extLst>
          </p:cNvPr>
          <p:cNvSpPr>
            <a:spLocks noGrp="1"/>
          </p:cNvSpPr>
          <p:nvPr/>
        </p:nvSpPr>
        <p:spPr>
          <a:xfrm>
            <a:off x="5981700" y="2571750"/>
            <a:ext cx="4038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프로젝트 결과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7796175-8DD9-40B5-BD85-BC4BD9673620}"/>
              </a:ext>
            </a:extLst>
          </p:cNvPr>
          <p:cNvSpPr>
            <a:spLocks noGrp="1"/>
          </p:cNvSpPr>
          <p:nvPr/>
        </p:nvSpPr>
        <p:spPr>
          <a:xfrm>
            <a:off x="5981700" y="2971800"/>
            <a:ext cx="4038600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플라나리아 sample 생성</a:t>
            </a:r>
          </a:p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핑크 매니저·유리개구리 canonical 정리</a:t>
            </a:r>
          </a:p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바다달팽이·계란후라이 해파리 후보 생성</a:t>
            </a:r>
          </a:p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crop 실패 후 production sheet 직접 생성으로 전환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D896A02-448B-4803-A89B-9C5AF8FE0A55}"/>
              </a:ext>
            </a:extLst>
          </p:cNvPr>
          <p:cNvSpPr>
            <a:spLocks noGrp="1"/>
          </p:cNvSpPr>
          <p:nvPr/>
        </p:nvSpPr>
        <p:spPr>
          <a:xfrm>
            <a:off x="3000375" y="5238750"/>
            <a:ext cx="4953000" cy="361950"/>
          </a:xfrm>
          <a:prstGeom prst="roundRect">
            <a:avLst>
              <a:gd name="adj" fmla="val 21053"/>
            </a:avLst>
          </a:prstGeom>
          <a:solidFill>
            <a:srgbClr val="EFF8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10593A5-D550-4F72-9056-DD9E437872DF}"/>
              </a:ext>
            </a:extLst>
          </p:cNvPr>
          <p:cNvSpPr>
            <a:spLocks noGrp="1"/>
          </p:cNvSpPr>
          <p:nvPr/>
        </p:nvSpPr>
        <p:spPr>
          <a:xfrm>
            <a:off x="3133725" y="5314950"/>
            <a:ext cx="468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에셋도 코드처럼: 기준 → 후보 → 검수 → 승격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C738F49-15BB-4C55-8D6A-BF21929DFC55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Sources: status · asset prompts · verifier skill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99297EB-0DDA-4FA3-B124-5BB69E5F15D7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06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C931F6A3-D97D-42C4-509B-D203E60F3B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7064" y="188119"/>
            <a:ext cx="3657600" cy="60960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1AF13B8C-C7E4-9472-DCD8-D025CE4232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5943600"/>
            <a:ext cx="3657600" cy="60960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C679E86F-DCB5-C812-26D6-02B36EEE88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4774" y="166688"/>
            <a:ext cx="3657600" cy="609600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6C09EAE5-CB14-506D-44A8-0E8E98452A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900" y="1475880"/>
            <a:ext cx="3657600" cy="609600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FC2A0496-E6EB-DAD2-F456-D41FF75F097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4251" y="2324100"/>
            <a:ext cx="3657600" cy="609600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A8EDE959-E309-2E4E-A135-4F4C6F323F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75" y="3895725"/>
            <a:ext cx="3657600" cy="609600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7F912D67-7F42-D3FC-4984-7F484554536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225" y="3905250"/>
            <a:ext cx="2438400" cy="609600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28B39773-A358-2855-758B-81FEAEA4439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5864" y="4572000"/>
            <a:ext cx="3657600" cy="60960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48814462-2BCB-829C-DF15-FABA09AA98D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1464" y="1566430"/>
            <a:ext cx="3657600" cy="60960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899B9426-C37D-9999-D162-3339798E826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805" y="4972050"/>
            <a:ext cx="2438400" cy="609600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96B10185-7E45-6209-D7F6-7AC4A969A47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5276850"/>
            <a:ext cx="3657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69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C2A1CD52-31A1-4123-B38F-76680AA6FA31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APPLIED CASE · FEATURES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149512D-740C-4F60-860E-FB4AF2BE3FB1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953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111827"/>
                </a:solidFill>
              </a:defRPr>
            </a:pPr>
            <a:r>
              <a:rPr sz="3225" b="1">
                <a:solidFill>
                  <a:srgbClr val="111827"/>
                </a:solidFill>
              </a:rPr>
              <a:t>사례 2: 기능 구현은 TDD와 독립 검증으로 연결했다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75AC7EF-C334-4171-B3E7-5852283D7D6A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800100" cy="381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6292A12-B0EF-4F1F-9FC7-5A479B9C0BFC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Sources: project harness files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6403BBB-B39F-4400-9DE9-E4E78A14DBAD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80F4649-2B98-4059-B6BB-53A218FD8691}"/>
              </a:ext>
            </a:extLst>
          </p:cNvPr>
          <p:cNvSpPr>
            <a:spLocks noGrp="1"/>
          </p:cNvSpPr>
          <p:nvPr/>
        </p:nvSpPr>
        <p:spPr>
          <a:xfrm>
            <a:off x="704850" y="2247900"/>
            <a:ext cx="44767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2D12135-5AD7-4D39-999F-860ADA06CE54}"/>
              </a:ext>
            </a:extLst>
          </p:cNvPr>
          <p:cNvSpPr>
            <a:spLocks noGrp="1"/>
          </p:cNvSpPr>
          <p:nvPr/>
        </p:nvSpPr>
        <p:spPr>
          <a:xfrm>
            <a:off x="704850" y="2247900"/>
            <a:ext cx="447675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4ED68CF-A63B-4E94-AC6F-A0C143101288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4057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작은 규칙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7068A3A-516C-43FC-BBD1-D461EDFFAEE7}"/>
              </a:ext>
            </a:extLst>
          </p:cNvPr>
          <p:cNvSpPr>
            <a:spLocks noGrp="1"/>
          </p:cNvSpPr>
          <p:nvPr/>
        </p:nvSpPr>
        <p:spPr>
          <a:xfrm>
            <a:off x="914400" y="2876550"/>
            <a:ext cx="4572000" cy="457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 dirty="0" err="1">
                <a:solidFill>
                  <a:srgbClr val="667085"/>
                </a:solidFill>
              </a:rPr>
              <a:t>createRecoveryQuest를</a:t>
            </a:r>
            <a:r>
              <a:rPr sz="1200" b="0" dirty="0">
                <a:solidFill>
                  <a:srgbClr val="667085"/>
                </a:solidFill>
              </a:rPr>
              <a:t> </a:t>
            </a:r>
            <a:r>
              <a:rPr sz="1200" b="0" dirty="0" err="1">
                <a:solidFill>
                  <a:srgbClr val="667085"/>
                </a:solidFill>
              </a:rPr>
              <a:t>순수</a:t>
            </a:r>
            <a:r>
              <a:rPr sz="1200" b="0" dirty="0">
                <a:solidFill>
                  <a:srgbClr val="667085"/>
                </a:solidFill>
              </a:rPr>
              <a:t> </a:t>
            </a:r>
            <a:r>
              <a:rPr sz="1200" b="0" dirty="0" err="1">
                <a:solidFill>
                  <a:srgbClr val="667085"/>
                </a:solidFill>
              </a:rPr>
              <a:t>함수로</a:t>
            </a:r>
            <a:r>
              <a:rPr sz="1200" b="0" dirty="0">
                <a:solidFill>
                  <a:srgbClr val="667085"/>
                </a:solidFill>
              </a:rPr>
              <a:t> </a:t>
            </a:r>
            <a:r>
              <a:rPr sz="1200" b="0" dirty="0" err="1">
                <a:solidFill>
                  <a:srgbClr val="667085"/>
                </a:solidFill>
              </a:rPr>
              <a:t>분리하고</a:t>
            </a:r>
            <a:r>
              <a:rPr sz="1200" b="0" dirty="0">
                <a:solidFill>
                  <a:srgbClr val="667085"/>
                </a:solidFill>
              </a:rPr>
              <a:t> </a:t>
            </a:r>
            <a:r>
              <a:rPr sz="1200" b="0" dirty="0" err="1">
                <a:solidFill>
                  <a:srgbClr val="667085"/>
                </a:solidFill>
              </a:rPr>
              <a:t>Vitest</a:t>
            </a:r>
            <a:r>
              <a:rPr sz="1200" b="0" dirty="0">
                <a:solidFill>
                  <a:srgbClr val="667085"/>
                </a:solidFill>
              </a:rPr>
              <a:t> </a:t>
            </a:r>
            <a:r>
              <a:rPr sz="1200" b="0" dirty="0" err="1">
                <a:solidFill>
                  <a:srgbClr val="667085"/>
                </a:solidFill>
              </a:rPr>
              <a:t>대상으로</a:t>
            </a:r>
            <a:r>
              <a:rPr sz="1200" b="0" dirty="0">
                <a:solidFill>
                  <a:srgbClr val="667085"/>
                </a:solidFill>
              </a:rPr>
              <a:t> </a:t>
            </a:r>
            <a:r>
              <a:rPr sz="1200" b="0" dirty="0" err="1">
                <a:solidFill>
                  <a:srgbClr val="667085"/>
                </a:solidFill>
              </a:rPr>
              <a:t>계획</a:t>
            </a:r>
            <a:endParaRPr sz="1200" b="0" dirty="0">
              <a:solidFill>
                <a:srgbClr val="667085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F94BE03-F8D2-43F5-96EE-1977E209F18A}"/>
              </a:ext>
            </a:extLst>
          </p:cNvPr>
          <p:cNvSpPr>
            <a:spLocks noGrp="1"/>
          </p:cNvSpPr>
          <p:nvPr/>
        </p:nvSpPr>
        <p:spPr>
          <a:xfrm>
            <a:off x="704850" y="3352800"/>
            <a:ext cx="44767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5E028EF-47CD-426B-B431-E49A8EC49EDD}"/>
              </a:ext>
            </a:extLst>
          </p:cNvPr>
          <p:cNvSpPr>
            <a:spLocks noGrp="1"/>
          </p:cNvSpPr>
          <p:nvPr/>
        </p:nvSpPr>
        <p:spPr>
          <a:xfrm>
            <a:off x="704850" y="3352800"/>
            <a:ext cx="4476750" cy="47625"/>
          </a:xfrm>
          <a:prstGeom prst="rect">
            <a:avLst/>
          </a:prstGeom>
          <a:solidFill>
            <a:srgbClr val="2EAD63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2B19533-8C90-45FA-A1B9-A7FF69CC05EE}"/>
              </a:ext>
            </a:extLst>
          </p:cNvPr>
          <p:cNvSpPr>
            <a:spLocks noGrp="1"/>
          </p:cNvSpPr>
          <p:nvPr/>
        </p:nvSpPr>
        <p:spPr>
          <a:xfrm>
            <a:off x="914400" y="3581400"/>
            <a:ext cx="4057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수직 슬라이스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1EB8EF3-698B-4E1A-9D42-CAF22696BEDD}"/>
              </a:ext>
            </a:extLst>
          </p:cNvPr>
          <p:cNvSpPr>
            <a:spLocks noGrp="1"/>
          </p:cNvSpPr>
          <p:nvPr/>
        </p:nvSpPr>
        <p:spPr>
          <a:xfrm>
            <a:off x="914400" y="3981450"/>
            <a:ext cx="4057650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Quest Event API와 Supabase 저장·조회 흐름 검증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5DE4294-CA12-4DBF-96FC-73C9620EDD14}"/>
              </a:ext>
            </a:extLst>
          </p:cNvPr>
          <p:cNvSpPr>
            <a:spLocks noGrp="1"/>
          </p:cNvSpPr>
          <p:nvPr/>
        </p:nvSpPr>
        <p:spPr>
          <a:xfrm>
            <a:off x="704850" y="4457700"/>
            <a:ext cx="44767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B61CBFF-9DDC-4DF8-AC4F-76C621F05463}"/>
              </a:ext>
            </a:extLst>
          </p:cNvPr>
          <p:cNvSpPr>
            <a:spLocks noGrp="1"/>
          </p:cNvSpPr>
          <p:nvPr/>
        </p:nvSpPr>
        <p:spPr>
          <a:xfrm>
            <a:off x="704850" y="4457700"/>
            <a:ext cx="4476750" cy="47625"/>
          </a:xfrm>
          <a:prstGeom prst="rect">
            <a:avLst/>
          </a:prstGeom>
          <a:solidFill>
            <a:srgbClr val="F4A26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0C96AA1-6B9D-4823-862E-1DB6EEA19EAD}"/>
              </a:ext>
            </a:extLst>
          </p:cNvPr>
          <p:cNvSpPr>
            <a:spLocks noGrp="1"/>
          </p:cNvSpPr>
          <p:nvPr/>
        </p:nvSpPr>
        <p:spPr>
          <a:xfrm>
            <a:off x="914400" y="4686300"/>
            <a:ext cx="4057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확장 규칙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A5518B7-A919-493D-9E52-A67F8BD3F020}"/>
              </a:ext>
            </a:extLst>
          </p:cNvPr>
          <p:cNvSpPr>
            <a:spLocks noGrp="1"/>
          </p:cNvSpPr>
          <p:nvPr/>
        </p:nvSpPr>
        <p:spPr>
          <a:xfrm>
            <a:off x="914400" y="5086350"/>
            <a:ext cx="4057650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manager behavior, interaction object, outside transition을 테스트 가능한 단위로 분리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C9BDE63-8EF2-484C-BC78-6D81C430E63E}"/>
              </a:ext>
            </a:extLst>
          </p:cNvPr>
          <p:cNvSpPr>
            <a:spLocks noGrp="1"/>
          </p:cNvSpPr>
          <p:nvPr/>
        </p:nvSpPr>
        <p:spPr>
          <a:xfrm>
            <a:off x="6191250" y="2362200"/>
            <a:ext cx="3429000" cy="247650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81884CA-E453-423B-9270-F8678E32F084}"/>
              </a:ext>
            </a:extLst>
          </p:cNvPr>
          <p:cNvSpPr>
            <a:spLocks noGrp="1"/>
          </p:cNvSpPr>
          <p:nvPr/>
        </p:nvSpPr>
        <p:spPr>
          <a:xfrm>
            <a:off x="6743700" y="2819400"/>
            <a:ext cx="85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325" b="1">
                <a:solidFill>
                  <a:srgbClr val="D92D20"/>
                </a:solidFill>
              </a:defRPr>
            </a:pPr>
            <a:r>
              <a:rPr sz="2325" b="1">
                <a:solidFill>
                  <a:srgbClr val="D92D20"/>
                </a:solidFill>
              </a:rPr>
              <a:t>RED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23A156D-2330-48A8-9B4F-050ACB189A71}"/>
              </a:ext>
            </a:extLst>
          </p:cNvPr>
          <p:cNvSpPr>
            <a:spLocks noGrp="1"/>
          </p:cNvSpPr>
          <p:nvPr/>
        </p:nvSpPr>
        <p:spPr>
          <a:xfrm>
            <a:off x="7429500" y="3524250"/>
            <a:ext cx="133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325" b="1">
                <a:solidFill>
                  <a:srgbClr val="2EAD63"/>
                </a:solidFill>
              </a:defRPr>
            </a:pPr>
            <a:r>
              <a:rPr sz="2325" b="1">
                <a:solidFill>
                  <a:srgbClr val="2EAD63"/>
                </a:solidFill>
              </a:rPr>
              <a:t>GREEN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2E37FE7-5E90-4695-B76B-2A9BF9131949}"/>
              </a:ext>
            </a:extLst>
          </p:cNvPr>
          <p:cNvSpPr>
            <a:spLocks noGrp="1"/>
          </p:cNvSpPr>
          <p:nvPr/>
        </p:nvSpPr>
        <p:spPr>
          <a:xfrm>
            <a:off x="6619875" y="4248150"/>
            <a:ext cx="152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325" b="1">
                <a:solidFill>
                  <a:srgbClr val="3D8DFF"/>
                </a:solidFill>
              </a:defRPr>
            </a:pPr>
            <a:r>
              <a:rPr sz="2325" b="1">
                <a:solidFill>
                  <a:srgbClr val="3D8DFF"/>
                </a:solidFill>
              </a:rPr>
              <a:t>VERIFY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ED54A2A-4956-4C75-9F42-836C7A3C85F3}"/>
              </a:ext>
            </a:extLst>
          </p:cNvPr>
          <p:cNvSpPr>
            <a:spLocks noGrp="1"/>
          </p:cNvSpPr>
          <p:nvPr/>
        </p:nvSpPr>
        <p:spPr>
          <a:xfrm>
            <a:off x="7258050" y="3352800"/>
            <a:ext cx="7620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49B6D76-CB4C-468F-995E-E4DEEBCBFB94}"/>
              </a:ext>
            </a:extLst>
          </p:cNvPr>
          <p:cNvSpPr>
            <a:spLocks noGrp="1"/>
          </p:cNvSpPr>
          <p:nvPr/>
        </p:nvSpPr>
        <p:spPr>
          <a:xfrm>
            <a:off x="7696200" y="4057650"/>
            <a:ext cx="7620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0F580D2-22C2-49AF-B9E3-4F2F2CA06AE3}"/>
              </a:ext>
            </a:extLst>
          </p:cNvPr>
          <p:cNvSpPr>
            <a:spLocks noGrp="1"/>
          </p:cNvSpPr>
          <p:nvPr/>
        </p:nvSpPr>
        <p:spPr>
          <a:xfrm>
            <a:off x="990600" y="582930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결과는 docs/status.md, docs/tasks.md, Wiki에 남겨 다음 작업의 출발점으로 사용했다.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742B0CA-B2FE-4D2A-B87E-A200897A5D1B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Sources: status · tdd skill · tdd_workflow agent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D6B12D9-F1E2-4A81-8DF1-E1AA4AC474BF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8382959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888</Words>
  <Application>Microsoft Office PowerPoint</Application>
  <DocSecurity>0</DocSecurity>
  <PresentationFormat>와이드스크린</PresentationFormat>
  <Paragraphs>148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9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김동민</cp:lastModifiedBy>
  <cp:revision>1</cp:revision>
  <dcterms:created xsi:type="dcterms:W3CDTF">2026-07-24T04:55:32Z</dcterms:created>
  <dcterms:modified xsi:type="dcterms:W3CDTF">2026-07-24T05:12:26Z</dcterms:modified>
</cp:coreProperties>
</file>