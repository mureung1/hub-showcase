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c8334a8a3d43e9" /><Relationship Type="http://schemas.openxmlformats.org/officeDocument/2006/relationships/extended-properties" Target="/docProps/app.xml" Id="Rbfcc5e9598a047e8" /><Relationship Type="http://schemas.openxmlformats.org/officeDocument/2006/relationships/officeDocument" Target="/ppt/presentation.xml" Id="Rb05a13303a8244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da010687b4935"/>
  </p:sldMasterIdLst>
  <p:notesMasterIdLst>
    <p:notesMasterId xmlns:r="http://schemas.openxmlformats.org/officeDocument/2006/relationships" r:id="R81e559356ae348aa"/>
  </p:notesMasterIdLst>
  <p:sldIdLst>
    <p:sldId xmlns:r="http://schemas.openxmlformats.org/officeDocument/2006/relationships" id="256" r:id="R86508cdf97734b97"/>
    <p:sldId xmlns:r="http://schemas.openxmlformats.org/officeDocument/2006/relationships" id="257" r:id="R21712c2916104340"/>
    <p:sldId xmlns:r="http://schemas.openxmlformats.org/officeDocument/2006/relationships" id="258" r:id="R53b4d6fc054d4fd9"/>
    <p:sldId xmlns:r="http://schemas.openxmlformats.org/officeDocument/2006/relationships" id="259" r:id="R61f624f72d104812"/>
    <p:sldId xmlns:r="http://schemas.openxmlformats.org/officeDocument/2006/relationships" id="260" r:id="Rdc330f7f175a487a"/>
    <p:sldId xmlns:r="http://schemas.openxmlformats.org/officeDocument/2006/relationships" id="261" r:id="R819713550ba14a20"/>
    <p:sldId xmlns:r="http://schemas.openxmlformats.org/officeDocument/2006/relationships" id="262" r:id="R811861d2d36f465d"/>
    <p:sldId xmlns:r="http://schemas.openxmlformats.org/officeDocument/2006/relationships" id="263" r:id="Rf9af68c4cc7243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69cbd121b24838" /><Relationship Type="http://schemas.openxmlformats.org/officeDocument/2006/relationships/slideMaster" Target="/ppt/slideMasters/slideMaster1.xml" Id="R3edda010687b4935" /><Relationship Type="http://schemas.openxmlformats.org/officeDocument/2006/relationships/notesMaster" Target="/ppt/notesMasters/notesMaster1.xml" Id="R81e559356ae348aa" /><Relationship Type="http://schemas.openxmlformats.org/officeDocument/2006/relationships/presProps" Target="/ppt/presProps.xml" Id="R9c19ed7d4fbf4ca5" /><Relationship Type="http://schemas.openxmlformats.org/officeDocument/2006/relationships/tableStyles" Target="/ppt/tableStyles.xml" Id="R194568553af04aa7" /><Relationship Type="http://schemas.openxmlformats.org/officeDocument/2006/relationships/slide" Target="/ppt/slides/slide1.xml" Id="R86508cdf97734b97" /><Relationship Type="http://schemas.openxmlformats.org/officeDocument/2006/relationships/slide" Target="/ppt/slides/slide2.xml" Id="R21712c2916104340" /><Relationship Type="http://schemas.openxmlformats.org/officeDocument/2006/relationships/slide" Target="/ppt/slides/slide3.xml" Id="R53b4d6fc054d4fd9" /><Relationship Type="http://schemas.openxmlformats.org/officeDocument/2006/relationships/slide" Target="/ppt/slides/slide4.xml" Id="R61f624f72d104812" /><Relationship Type="http://schemas.openxmlformats.org/officeDocument/2006/relationships/slide" Target="/ppt/slides/slide5.xml" Id="Rdc330f7f175a487a" /><Relationship Type="http://schemas.openxmlformats.org/officeDocument/2006/relationships/slide" Target="/ppt/slides/slide6.xml" Id="R819713550ba14a20" /><Relationship Type="http://schemas.openxmlformats.org/officeDocument/2006/relationships/slide" Target="/ppt/slides/slide7.xml" Id="R811861d2d36f465d" /><Relationship Type="http://schemas.openxmlformats.org/officeDocument/2006/relationships/slide" Target="/ppt/slides/slide8.xml" Id="Rf9af68c4cc7243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84ed173015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7a5554c5a49b3" /><Relationship Type="http://schemas.openxmlformats.org/officeDocument/2006/relationships/notesMaster" Target="/ppt/notesMasters/notesMaster1.xml" Id="R1a775f9e0f5f40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7642c012e94d51" /><Relationship Type="http://schemas.openxmlformats.org/officeDocument/2006/relationships/notesMaster" Target="/ppt/notesMasters/notesMaster1.xml" Id="R0ee131b1bcde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6c27a54c14482c" /><Relationship Type="http://schemas.openxmlformats.org/officeDocument/2006/relationships/notesMaster" Target="/ppt/notesMasters/notesMaster1.xml" Id="R2a25e856f06c43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8312888a2f4c8e" /><Relationship Type="http://schemas.openxmlformats.org/officeDocument/2006/relationships/notesMaster" Target="/ppt/notesMasters/notesMaster1.xml" Id="Rdf7cd751164c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84d12c14114be0" /><Relationship Type="http://schemas.openxmlformats.org/officeDocument/2006/relationships/notesMaster" Target="/ppt/notesMasters/notesMaster1.xml" Id="R98fa7a9638c64a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0dcd0269294f08" /><Relationship Type="http://schemas.openxmlformats.org/officeDocument/2006/relationships/notesMaster" Target="/ppt/notesMasters/notesMaster1.xml" Id="Rad5dd8d5dc22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a7d56371e94534" /><Relationship Type="http://schemas.openxmlformats.org/officeDocument/2006/relationships/notesMaster" Target="/ppt/notesMasters/notesMaster1.xml" Id="R3318fe70b8b345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cf8bd47f31459f" /><Relationship Type="http://schemas.openxmlformats.org/officeDocument/2006/relationships/notesMaster" Target="/ppt/notesMasters/notesMaster1.xml" Id="R3076e1ab51874f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9ac4e60ab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a73f46476441d3" /><Relationship Type="http://schemas.openxmlformats.org/officeDocument/2006/relationships/slideLayout" Target="/ppt/slideLayouts/slideLayout1.xml" Id="Rcc835a4a07b6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835a4a07b6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b8f0c9c614d85" /><Relationship Type="http://schemas.openxmlformats.org/officeDocument/2006/relationships/image" Target="/ppt/media/image.bin" Id="R38feb945e95a4969" /><Relationship Type="http://schemas.openxmlformats.org/officeDocument/2006/relationships/notesSlide" Target="/ppt/notesSlides/notesSlide1.xml" Id="R35c818c73dfd4f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6992649c04c8e" /><Relationship Type="http://schemas.openxmlformats.org/officeDocument/2006/relationships/notesSlide" Target="/ppt/notesSlides/notesSlide2.xml" Id="Rb9d32dca2d4c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bcc79927b429a" /><Relationship Type="http://schemas.openxmlformats.org/officeDocument/2006/relationships/notesSlide" Target="/ppt/notesSlides/notesSlide3.xml" Id="R7b7dd8ed6148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b3fd9c3fc4be0" /><Relationship Type="http://schemas.openxmlformats.org/officeDocument/2006/relationships/image" Target="/ppt/media/image2.bin" Id="Ra7db9eb044244768" /><Relationship Type="http://schemas.openxmlformats.org/officeDocument/2006/relationships/notesSlide" Target="/ppt/notesSlides/notesSlide4.xml" Id="Rffb7bf3aabaf47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c733eda094eca" /><Relationship Type="http://schemas.openxmlformats.org/officeDocument/2006/relationships/image" Target="/ppt/media/image3.bin" Id="R75abe5fc01454b88" /><Relationship Type="http://schemas.openxmlformats.org/officeDocument/2006/relationships/notesSlide" Target="/ppt/notesSlides/notesSlide5.xml" Id="Rcb78141a300248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b906705564b49" /><Relationship Type="http://schemas.openxmlformats.org/officeDocument/2006/relationships/notesSlide" Target="/ppt/notesSlides/notesSlide6.xml" Id="Rf06097468296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4f3683d374b74" /><Relationship Type="http://schemas.openxmlformats.org/officeDocument/2006/relationships/notesSlide" Target="/ppt/notesSlides/notesSlide7.xml" Id="Rc8ed289ebeae47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e5836e03549b4" /><Relationship Type="http://schemas.openxmlformats.org/officeDocument/2006/relationships/notesSlide" Target="/ppt/notesSlides/notesSlide8.xml" Id="Rc36fe7ccf73b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eb945e95a4969"/>
          <a:srcRect xmlns:a="http://schemas.openxmlformats.org/drawingml/2006/main" l="0" t="5524" r="0" b="5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723900"/>
            <a:ext cx="4762500" cy="54102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76526-FF99-4DC9-8D1F-C06ACDAD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solidFill>
              <a:srgbClr val="DDEA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75DF3-8882-414B-8C04-B90091E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4F"/>
                </a:solidFill>
              </a:defRPr>
            </a:pPr>
            <a:r>
              <a:rPr sz="975" b="1">
                <a:solidFill>
                  <a:srgbClr val="2F6B4F"/>
                </a:solidFill>
              </a:rPr>
              <a:t>PROJECT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4B926-50D8-4221-9E9C-F2B009C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21A"/>
                </a:solidFill>
              </a:defRPr>
            </a:pPr>
            <a:r>
              <a:rPr sz="4200" b="1">
                <a:solidFill>
                  <a:srgbClr val="17221A"/>
                </a:solidFill>
              </a:rPr>
              <a:t>CampusCart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15EE2-CC65-4EE4-BB39-356FB42B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같이 사면 가벼워지는</a:t>
            </a:r>
          </a:p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캠퍼스 공동구매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0CFDB-A347-4DB6-8281-801CCEC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6"/>
                </a:solidFill>
              </a:defRPr>
            </a:pPr>
            <a:r>
              <a:rPr sz="1575" b="0">
                <a:solidFill>
                  <a:srgbClr val="617066"/>
                </a:solidFill>
              </a:rPr>
              <a:t>공동구매 참여부터 서로에게 편한</a:t>
            </a:r>
          </a:p>
          <a:p xmlns:a="http://schemas.openxmlformats.org/drawingml/2006/main">
            <a:pPr algn="l">
              <a:defRPr sz="1575" b="0">
                <a:solidFill>
                  <a:srgbClr val="617066"/>
                </a:solidFill>
              </a:defRPr>
            </a:pPr>
            <a:r>
              <a:rPr sz="1575" b="0">
                <a:solidFill>
                  <a:srgbClr val="617066"/>
                </a:solidFill>
              </a:rPr>
              <a:t>수령 장소를 찾는 과정까지 연결했습니다.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B5A09-0228-4219-8781-74E34CD0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1A"/>
                </a:solidFill>
              </a:defRPr>
            </a:pPr>
            <a:r>
              <a:rPr sz="1275" b="1">
                <a:solidFill>
                  <a:srgbClr val="17221A"/>
                </a:solidFill>
              </a:rPr>
              <a:t>N129 이시우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15DDE-B704-47E9-8355-DDA1E06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1260734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4A822-ED2D-48FE-9A91-AF63CCB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8A88D-D31B-4356-9F5C-319EE5D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1A"/>
                </a:solidFill>
              </a:defRPr>
            </a:pPr>
            <a:r>
              <a:rPr sz="2850" b="1">
                <a:solidFill>
                  <a:srgbClr val="17221A"/>
                </a:solidFill>
              </a:rPr>
              <a:t>같이 사고 싶어도, 모으고 만나기가 어렵습니다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A8A8-E6B8-4A66-BB67-E1A1B3A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5D106-7A4A-4889-8364-72F7F71B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858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1CF4C-CFFE-40CD-8956-313A0CA0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E4C22-5350-48A2-ABE7-837CA18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4E571-B3A3-4210-B162-713666D8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A"/>
                </a:solidFill>
              </a:defRPr>
            </a:pPr>
            <a:r>
              <a:rPr sz="1725" b="1">
                <a:solidFill>
                  <a:srgbClr val="17221A"/>
                </a:solidFill>
              </a:rPr>
              <a:t>사람을 찾기 어렵다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5F4E8-9576-46C2-AA3D-8B09D18C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6"/>
                </a:solidFill>
              </a:defRPr>
            </a:pPr>
            <a:r>
              <a:rPr sz="1275" b="0">
                <a:solidFill>
                  <a:srgbClr val="617066"/>
                </a:solidFill>
              </a:rPr>
              <a:t>필요한 물건이 같아도 함께 구매할 사람을 쉽게 찾기 어렵습니다.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7851C-CE53-44C2-870D-ECBC1C37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C3B93-F565-4A13-BD3C-A54CA5A8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47682-8BA2-41F8-9D1E-714FBAEA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A"/>
                </a:solidFill>
              </a:defRPr>
            </a:pPr>
            <a:r>
              <a:rPr sz="1725" b="1">
                <a:solidFill>
                  <a:srgbClr val="17221A"/>
                </a:solidFill>
              </a:rPr>
              <a:t>수령 장소가 제각각이다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452AD-DF51-4835-BBCC-A29374E7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6"/>
                </a:solidFill>
              </a:defRPr>
            </a:pPr>
            <a:r>
              <a:rPr sz="1275" b="0">
                <a:solidFill>
                  <a:srgbClr val="617066"/>
                </a:solidFill>
              </a:rPr>
              <a:t>참여자마다 출발 위치가 달라 모두에게 괜찮은 장소를 정하기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ED418-6B01-4CF8-B800-529BE9F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B7875-AC36-42A1-93FB-D1306409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1C227-9DC0-4060-BF41-29E416E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A"/>
                </a:solidFill>
              </a:defRPr>
            </a:pPr>
            <a:r>
              <a:rPr sz="1725" b="1">
                <a:solidFill>
                  <a:srgbClr val="17221A"/>
                </a:solidFill>
              </a:rPr>
              <a:t>진행 상황이 흩어진다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5B7C0-5B87-4A5A-A34C-A62773AF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6"/>
                </a:solidFill>
              </a:defRPr>
            </a:pPr>
            <a:r>
              <a:rPr sz="1275" b="0">
                <a:solidFill>
                  <a:srgbClr val="617066"/>
                </a:solidFill>
              </a:rPr>
              <a:t>참여 인원, 투표 결과, 수령 장소를 한눈에 확인하기 어렵습니다.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60FC4-9487-43BD-B35E-A93C373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3733800" cy="27432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solidFill>
              <a:srgbClr val="DDE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15769-2961-4197-BA6F-6DF2BC20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4F"/>
                </a:solidFill>
              </a:defRPr>
            </a:pPr>
            <a:r>
              <a:rPr sz="1500" b="1">
                <a:solidFill>
                  <a:srgbClr val="2F6B4F"/>
                </a:solidFill>
              </a:rPr>
              <a:t>CampusCart는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50E5A-47C4-4663-9085-E6A0BD1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527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21A"/>
                </a:solidFill>
              </a:defRPr>
            </a:pPr>
            <a:r>
              <a:rPr sz="2175" b="1">
                <a:solidFill>
                  <a:srgbClr val="17221A"/>
                </a:solidFill>
              </a:rPr>
              <a:t>모집 → 참여 → 장소 투표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08904-7186-4B35-8998-CD19B50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66"/>
                </a:solidFill>
              </a:defRPr>
            </a:pPr>
            <a:r>
              <a:rPr sz="1425" b="0">
                <a:solidFill>
                  <a:srgbClr val="617066"/>
                </a:solidFill>
              </a:rPr>
              <a:t>공동구매의 한 바퀴를</a:t>
            </a:r>
          </a:p>
          <a:p xmlns:a="http://schemas.openxmlformats.org/drawingml/2006/main">
            <a:pPr algn="l">
              <a:defRPr sz="1425" b="0">
                <a:solidFill>
                  <a:srgbClr val="617066"/>
                </a:solidFill>
              </a:defRPr>
            </a:pPr>
            <a:r>
              <a:rPr sz="1425" b="0">
                <a:solidFill>
                  <a:srgbClr val="617066"/>
                </a:solidFill>
              </a:rPr>
              <a:t>하나의 서비스 안에 담았습니다.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74F88-47AB-4F71-A2A4-7F8BBC6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70210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3F66D-EF9B-4DD7-B546-C0AF12D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9424E-0480-47E2-BC8F-F3801A7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1A"/>
                </a:solidFill>
              </a:defRPr>
            </a:pPr>
            <a:r>
              <a:rPr sz="2850" b="1">
                <a:solidFill>
                  <a:srgbClr val="17221A"/>
                </a:solidFill>
              </a:rPr>
              <a:t>사용자는 세 단계로 공동구매를 진행합니다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4BCBF-C5B9-4F25-81BC-B78FFDD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0D10F-8422-4CB9-AB28-0798D00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4523E-1C10-420D-BBEC-9D002BC6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1A"/>
                </a:solidFill>
              </a:defRPr>
            </a:pPr>
            <a:r>
              <a:rPr sz="1800" b="1">
                <a:solidFill>
                  <a:srgbClr val="17221A"/>
                </a:solidFill>
              </a:rPr>
              <a:t>1. 공동구매 탐색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86281-AC57-4E6A-B656-6477AE02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모집 중인 상품과 현재 인원,</a:t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마감 여부를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C6FD1-E095-475C-B456-CDA45239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A4043-00CD-428D-A5E8-F06AA23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F8AB0-BCAE-45B0-A682-A51CBCE2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2. 참여 정보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85A99-E62B-422D-A9E0-D97519DC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로그인 후 수량과 출발 위치를</a:t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입력해 공동구매에 참여합니다.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0BE73-3BB2-4CE2-92FB-2C99AA7D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참여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E3F20-E114-4539-8DA2-D9ECB1E8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050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4F616-E61D-4CC8-9F17-BA0F677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1A"/>
                </a:solidFill>
              </a:defRPr>
            </a:pPr>
            <a:r>
              <a:rPr sz="1800" b="1">
                <a:solidFill>
                  <a:srgbClr val="17221A"/>
                </a:solidFill>
              </a:rPr>
              <a:t>3. 수령 장소 투표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1FFFE-47E2-4E8D-9F0B-B865B33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참여자의 위치를 바탕으로 나온</a:t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후보 중 원하는 장소에 투표합니다.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BB5D7-08D6-422A-B64B-94DC64C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투표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A8A46-957A-41B9-B3BD-C4C56AFA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A256"/>
                </a:solidFill>
              </a:defRPr>
            </a:pPr>
            <a:r>
              <a:rPr sz="2100" b="1">
                <a:solidFill>
                  <a:srgbClr val="EAA25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04B40-0919-4822-A80C-91C13B06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AA256"/>
                </a:solidFill>
              </a:defRPr>
            </a:pPr>
            <a:r>
              <a:rPr sz="2100" b="1">
                <a:solidFill>
                  <a:srgbClr val="EAA25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69753-2A1F-44E8-9B15-5A1D8AC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21A"/>
                </a:solidFill>
              </a:defRPr>
            </a:pPr>
            <a:r>
              <a:rPr sz="1500" b="1">
                <a:solidFill>
                  <a:srgbClr val="17221A"/>
                </a:solidFill>
              </a:rPr>
              <a:t>현재는 화면·서버·DB가 실제로 연결되어 저장과 조회가 이어집니다.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E4AE6-AB24-44F1-9C62-15B1353E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1423592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52C43-5CDF-47EC-A351-CC48FC14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FEATURE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87AA2-38B3-41D1-9EF1-746CFF2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1A"/>
                </a:solidFill>
              </a:defRPr>
            </a:pPr>
            <a:r>
              <a:rPr sz="2850" b="1">
                <a:solidFill>
                  <a:srgbClr val="17221A"/>
                </a:solidFill>
              </a:rPr>
              <a:t>모집 상태와 참여 여부를 목록에서 바로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7D510-BA32-4AE5-8B85-0AB29780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b9eb044244768"/>
          <a:stretch xmlns:a="http://schemas.openxmlformats.org/drawingml/2006/main"/>
        </p:blipFill>
        <p:spPr>
          <a:xfrm xmlns:a="http://schemas.openxmlformats.org/drawingml/2006/main">
            <a:off x="2660431" y="1619250"/>
            <a:ext cx="3251638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E8325-FF3D-4AE3-AF1A-11A50E13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21A"/>
                </a:solidFill>
              </a:defRPr>
            </a:pPr>
            <a:r>
              <a:rPr sz="1875" b="1">
                <a:solidFill>
                  <a:srgbClr val="17221A"/>
                </a:solidFill>
              </a:rPr>
              <a:t>공동구매 목록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5D9C4-D5B4-4E3D-BC2F-6A0C579B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• 모집 상태와 현재 인원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• 전체·모집 중·내 참여·찜 필터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• 참여 취소 시 인원·상태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• 내가 만든 모집만 수정·삭제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D43D2-5A37-4F81-8F55-80BD72E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086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solidFill>
              <a:srgbClr val="DDE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5BC71-5DF5-4DA3-855A-0DCAF1A7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참여와 취소 결과는 Supabase의</a:t>
            </a:r>
          </a:p>
          <a:p xmlns:a="http://schemas.openxmlformats.org/drawingml/2006/main">
            <a:pPr algn="l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실제 데이터를 기준으로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4E4E3-DB50-4CEB-89BA-291EDAE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1258703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E0798-D5B2-414F-B8C7-E122B1C2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FEATURE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1911F-A1F1-49DA-8CFB-C119E657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1A"/>
                </a:solidFill>
              </a:defRPr>
            </a:pPr>
            <a:r>
              <a:rPr sz="2850" b="1">
                <a:solidFill>
                  <a:srgbClr val="17221A"/>
                </a:solidFill>
              </a:rPr>
              <a:t>각자의 위치에서 공통 수령 장소를 찾습니다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EA186-8590-4BC6-812B-F2CAE60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be5fc01454b88"/>
          <a:stretch xmlns:a="http://schemas.openxmlformats.org/drawingml/2006/main"/>
        </p:blipFill>
        <p:spPr>
          <a:xfrm xmlns:a="http://schemas.openxmlformats.org/drawingml/2006/main">
            <a:off x="6492039" y="1543050"/>
            <a:ext cx="4732421" cy="4495800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78C4C-37DD-4792-9403-961736E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21A"/>
                </a:solidFill>
              </a:defRPr>
            </a:pPr>
            <a:r>
              <a:rPr sz="1950" b="1">
                <a:solidFill>
                  <a:srgbClr val="17221A"/>
                </a:solidFill>
              </a:rPr>
              <a:t>참여 과정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2D2E6-D0A5-4C52-AD8D-CD1EFDCA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ABC74-0E07-4F92-A23D-11BDE36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1D9EF-997A-400B-9437-EDF62CE9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38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A"/>
                </a:solidFill>
              </a:defRPr>
            </a:pPr>
            <a:r>
              <a:rPr sz="1725" b="1">
                <a:solidFill>
                  <a:srgbClr val="17221A"/>
                </a:solidFill>
              </a:rPr>
              <a:t>수량과 출발 위치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1A32E-9457-4431-9AF9-517B1F84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6"/>
                </a:solidFill>
              </a:defRPr>
            </a:pPr>
            <a:r>
              <a:rPr sz="1275" b="0">
                <a:solidFill>
                  <a:srgbClr val="617066"/>
                </a:solidFill>
              </a:rPr>
              <a:t>참여자마다 자신의 정보를 남깁니다.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D5F22-4D9E-4234-8336-163F3469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946FB-779D-4893-AF25-8B28B623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761F7-3103-43AD-B254-A6F4C85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A"/>
                </a:solidFill>
              </a:defRPr>
            </a:pPr>
            <a:r>
              <a:rPr sz="1725" b="1">
                <a:solidFill>
                  <a:srgbClr val="17221A"/>
                </a:solidFill>
              </a:rPr>
              <a:t>공통 후보 장소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EA8CB-60E5-4FFD-8430-CD44CF8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67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6"/>
                </a:solidFill>
              </a:defRPr>
            </a:pPr>
            <a:r>
              <a:rPr sz="1275" b="0">
                <a:solidFill>
                  <a:srgbClr val="617066"/>
                </a:solidFill>
              </a:rPr>
              <a:t>참여 위치를 바탕으로 수령 장소 후보를 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60A9F-3597-4928-9B24-83E67BC7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37996-AB89-496D-897E-0AFCF320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DB0C1-8756-417A-A4F6-D1367D55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A"/>
                </a:solidFill>
              </a:defRPr>
            </a:pPr>
            <a:r>
              <a:rPr sz="1725" b="1">
                <a:solidFill>
                  <a:srgbClr val="17221A"/>
                </a:solidFill>
              </a:rPr>
              <a:t>닉네임으로 투표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937C7-BADC-46B9-BB91-966EEE5F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6"/>
                </a:solidFill>
              </a:defRPr>
            </a:pPr>
            <a:r>
              <a:rPr sz="1275" b="0">
                <a:solidFill>
                  <a:srgbClr val="617066"/>
                </a:solidFill>
              </a:rPr>
              <a:t>누가 어떤 장소를 선택했는지 함께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CAF50-0573-4EF6-94FB-BF9D25C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573504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309B2-D91C-4B76-A6BF-650A34F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826A4-993D-464B-84B3-79C07C4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1A"/>
                </a:solidFill>
              </a:defRPr>
            </a:pPr>
            <a:r>
              <a:rPr sz="2850" b="1">
                <a:solidFill>
                  <a:srgbClr val="17221A"/>
                </a:solidFill>
              </a:rPr>
              <a:t>화면의 요청이 서버를 거쳐 DB에 저장됩니다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8DBA0-4B37-4068-A155-1FC9C94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E03BD-7F4C-46C7-820D-B7AE812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1104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A256"/>
          </a:solidFill>
          <a:ln xmlns:a="http://schemas.openxmlformats.org/drawingml/2006/main" w="0">
            <a:solidFill>
              <a:srgbClr val="EAA2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F2911-EDBE-4578-90C2-63032C9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1104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A256"/>
          </a:solidFill>
          <a:ln xmlns:a="http://schemas.openxmlformats.org/drawingml/2006/main" w="0">
            <a:solidFill>
              <a:srgbClr val="EAA2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73664-CFE2-4148-891F-5B8B4794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28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78E0F-AD4E-48EE-BC27-46E1B0C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1A"/>
                </a:solidFill>
              </a:defRPr>
            </a:pPr>
            <a:r>
              <a:rPr sz="2100" b="1">
                <a:solidFill>
                  <a:srgbClr val="17221A"/>
                </a:solidFill>
              </a:rPr>
              <a:t>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9F529-FD38-4C24-A477-17BD8C52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사용자가 보는 화면</a:t>
            </a:r>
          </a:p>
          <a:p xmlns:a="http://schemas.openxmlformats.org/drawingml/2006/main">
            <a:pPr algn="ctr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목록·참여·투표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46479-2B26-4CBC-A11C-EC3F9781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028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A0F7C-B725-43C1-A254-8172D00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4F"/>
                </a:solidFill>
              </a:defRPr>
            </a:pPr>
            <a:r>
              <a:rPr sz="2100" b="1">
                <a:solidFill>
                  <a:srgbClr val="2F6B4F"/>
                </a:solidFill>
              </a:rPr>
              <a:t>Express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5E67B-E0DB-4A4F-9A48-DE0B651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요청 처리와 검사</a:t>
            </a:r>
          </a:p>
          <a:p xmlns:a="http://schemas.openxmlformats.org/drawingml/2006/main">
            <a:pPr algn="ctr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8565C-3B10-42E3-8C05-0FD34C5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028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40BBC-D9BC-4456-B6BC-894D5F4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1A"/>
                </a:solidFill>
              </a:defRPr>
            </a:pPr>
            <a:r>
              <a:rPr sz="2100" b="1">
                <a:solidFill>
                  <a:srgbClr val="17221A"/>
                </a:solidFill>
              </a:rPr>
              <a:t>Supabase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2C176-25AB-4F7B-9736-F5E14AE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데이터 저장</a:t>
            </a:r>
          </a:p>
          <a:p xmlns:a="http://schemas.openxmlformats.org/drawingml/2006/main">
            <a:pPr algn="ctr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Auth·여러 테이블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67229-70DE-4C00-8ED6-B0437D73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670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A0CD3-70A7-4880-BD46-036B27C1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조회·저장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71652-DD80-4580-A510-9830DD24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781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2577D-11F3-4821-AFCD-4B6683D3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05400"/>
            <a:ext cx="727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새로고침하거나 서버를 다시 실행해도 참여·투표 데이터가 유지됩니다.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3E36D-7B2D-474A-A126-09CF394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1071752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B3B82-0F30-4B92-A2E0-087188F4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B4F"/>
                </a:solidFill>
              </a:defRPr>
            </a:pPr>
            <a:r>
              <a:rPr sz="1200" b="1">
                <a:solidFill>
                  <a:srgbClr val="2F6B4F"/>
                </a:solidFill>
              </a:rPr>
              <a:t>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28D49-F638-457C-98F7-63E152A0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21A"/>
                </a:solidFill>
              </a:defRPr>
            </a:pPr>
            <a:r>
              <a:rPr sz="2850" b="1">
                <a:solidFill>
                  <a:srgbClr val="17221A"/>
                </a:solidFill>
              </a:rPr>
              <a:t>Agent와 함께 계획하고, 실제 화면과 DB를 확인했습니다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E3F00-CE38-4730-902F-B3AF747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66"/>
                </a:solidFill>
              </a:defRPr>
            </a:pPr>
            <a:r>
              <a:rPr sz="1050" b="1">
                <a:solidFill>
                  <a:srgbClr val="61706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A42A8-5F66-400C-BC7D-9B12E28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C007B-4386-4464-B3E5-57773B1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21A"/>
                </a:solidFill>
              </a:defRPr>
            </a:pPr>
            <a:r>
              <a:rPr sz="1875" b="1">
                <a:solidFill>
                  <a:srgbClr val="17221A"/>
                </a:solidFill>
              </a:rPr>
              <a:t>Agent 활용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74FF5-782C-457A-A2DE-DC399BC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267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개발 계획 Agent</a:t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기능을 화면·서버·DB 작업으로 나눔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검증 Agent</a:t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요구사항과 빠진 조건을 다시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직접 확인</a:t>
            </a:r>
          </a:p>
          <a:p xmlns:a="http://schemas.openxmlformats.org/drawingml/2006/main">
            <a:pPr algn="l">
              <a:defRPr sz="1350" b="0">
                <a:solidFill>
                  <a:srgbClr val="617066"/>
                </a:solidFill>
              </a:defRPr>
            </a:pPr>
            <a:r>
              <a:rPr sz="1350" b="0">
                <a:solidFill>
                  <a:srgbClr val="617066"/>
                </a:solidFill>
              </a:rPr>
              <a:t>코드를 실행하고 화면과 DB 결과를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4B915-0000-4958-9D94-7018522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149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solidFill>
              <a:srgbClr val="DDE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0429B-B553-492A-AC74-2D3E451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4F"/>
                </a:solidFill>
              </a:defRPr>
            </a:pPr>
            <a:r>
              <a:rPr sz="1875" b="1">
                <a:solidFill>
                  <a:srgbClr val="2F6B4F"/>
                </a:solidFill>
              </a:rPr>
              <a:t>직접 확인한 부분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5343-C136-4D5C-87E7-430800A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876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2D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2712-B81A-408A-B7E9-7D9BA50E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3C32"/>
                </a:solidFill>
              </a:defRPr>
            </a:pPr>
            <a:r>
              <a:rPr sz="1050" b="1">
                <a:solidFill>
                  <a:srgbClr val="A63C32"/>
                </a:solidFill>
              </a:rPr>
              <a:t>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BADA7-4531-4DD3-9863-83B25424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0985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1A"/>
                </a:solidFill>
              </a:defRPr>
            </a:pPr>
            <a:r>
              <a:rPr sz="1200" b="0">
                <a:solidFill>
                  <a:srgbClr val="17221A"/>
                </a:solidFill>
              </a:rPr>
              <a:t>참여·취소·투표 후 화면이 바뀌는지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AAFEF-C04F-478B-A7F7-6627E51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876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AD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33F83-2EB4-4A3A-85A2-1FE3A71F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C553B-110F-43E5-A5EB-5D631043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671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1A"/>
                </a:solidFill>
              </a:defRPr>
            </a:pPr>
            <a:r>
              <a:rPr sz="1200" b="0">
                <a:solidFill>
                  <a:srgbClr val="17221A"/>
                </a:solidFill>
              </a:rPr>
              <a:t>취소 후 인원과 참여 정보가 함께 바뀌는지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6F923-2484-4B8B-A7DD-1D8EBFD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8763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55B87-013A-4738-92CD-AA6E4F61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BDFE4-AFD6-4B37-A17B-46DFE8B6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2435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1A"/>
                </a:solidFill>
              </a:defRPr>
            </a:pPr>
            <a:r>
              <a:rPr sz="1200" b="0">
                <a:solidFill>
                  <a:srgbClr val="17221A"/>
                </a:solidFill>
              </a:rPr>
              <a:t>권한·중복 참여·취소 가능 상태를 다시 점검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A771D-B478-4732-A03E-FF50DDC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66"/>
                </a:solidFill>
              </a:defRPr>
            </a:pPr>
            <a:r>
              <a:rPr sz="900" b="0">
                <a:solidFill>
                  <a:srgbClr val="617066"/>
                </a:solidFill>
              </a:rPr>
              <a:t>AI Agent Challenge 2026 · N129 이시우</a:t>
            </a:r>
          </a:p>
        </p:txBody>
      </p:sp>
    </p:spTree>
    <p:extLst>
      <p:ext uri="{BB962C8B-B14F-4D97-AF65-F5344CB8AC3E}">
        <p14:creationId xmlns:p14="http://schemas.microsoft.com/office/powerpoint/2010/main" val="252063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B17AB-130E-461F-A586-E85FAEF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ADF"/>
                </a:solidFill>
              </a:defRPr>
            </a:pPr>
            <a:r>
              <a:rPr sz="1125" b="1">
                <a:solidFill>
                  <a:srgbClr val="DDEADF"/>
                </a:solidFill>
              </a:rPr>
              <a:t>CAMPUSCART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0DA24-C814-48F5-B58A-F1384583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공동구매 참여부터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수령 장소 결정까지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A4BF6-582E-46AB-A6A9-E12E3B65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ADF"/>
                </a:solidFill>
              </a:defRPr>
            </a:pPr>
            <a:r>
              <a:rPr sz="1800" b="0">
                <a:solidFill>
                  <a:srgbClr val="DDEADF"/>
                </a:solidFill>
              </a:rPr>
              <a:t>CampusCart 소개를 마치겠습니다.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4C09F-87BD-4DC5-8047-187C649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111C8-F1F3-4D5F-A680-10861763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2857500" cy="3238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5EE"/>
          </a:solidFill>
          <a:ln xmlns:a="http://schemas.openxmlformats.org/drawingml/2006/main" w="9525">
            <a:solidFill>
              <a:srgbClr val="F7F5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4BC55-C63D-4EB2-AF33-F664158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669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21A"/>
                </a:solidFill>
              </a:defRPr>
            </a:pPr>
            <a:r>
              <a:rPr sz="2100" b="1">
                <a:solidFill>
                  <a:srgbClr val="17221A"/>
                </a:solidFill>
              </a:rPr>
              <a:t>CampusCart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222EB-5060-4D59-AFB3-34963C6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B4F"/>
                </a:solidFill>
              </a:defRPr>
            </a:pPr>
            <a:r>
              <a:rPr sz="1575" b="1">
                <a:solidFill>
                  <a:srgbClr val="2F6B4F"/>
                </a:solidFill>
              </a:rPr>
              <a:t>같이 사면 가벼워지는</a:t>
            </a:r>
          </a:p>
          <a:p xmlns:a="http://schemas.openxmlformats.org/drawingml/2006/main">
            <a:pPr algn="ctr">
              <a:defRPr sz="1575" b="1">
                <a:solidFill>
                  <a:srgbClr val="2F6B4F"/>
                </a:solidFill>
              </a:defRPr>
            </a:pPr>
            <a:r>
              <a:rPr sz="1575" b="1">
                <a:solidFill>
                  <a:srgbClr val="2F6B4F"/>
                </a:solidFill>
              </a:rPr>
              <a:t>캠퍼스 공동구매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3A85-928A-485A-9149-D48FD07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ADF"/>
                </a:solidFill>
              </a:defRPr>
            </a:pPr>
            <a:r>
              <a:rPr sz="975" b="0">
                <a:solidFill>
                  <a:srgbClr val="DDEADF"/>
                </a:solidFill>
              </a:rPr>
              <a:t>N129 이시우</a:t>
            </a:r>
          </a:p>
        </p:txBody>
      </p:sp>
    </p:spTree>
    <p:extLst>
      <p:ext uri="{BB962C8B-B14F-4D97-AF65-F5344CB8AC3E}">
        <p14:creationId xmlns:p14="http://schemas.microsoft.com/office/powerpoint/2010/main" val="225580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2026-07-24T04:42:58.8350000Z</dcterms:created>
  <dcterms:modified xsi:type="dcterms:W3CDTF">2026-07-24T04:42:58.8350000Z</dcterms:modified>
</coreProperties>
</file>