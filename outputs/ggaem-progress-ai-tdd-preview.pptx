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ddf86683d348ed" /><Relationship Type="http://schemas.openxmlformats.org/officeDocument/2006/relationships/extended-properties" Target="/docProps/app.xml" Id="R4fc0cd3d69be47aa" /><Relationship Type="http://schemas.openxmlformats.org/officeDocument/2006/relationships/officeDocument" Target="/ppt/presentation.xml" Id="Rd1c33cd6284742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8b1020867d4d8c"/>
  </p:sldMasterIdLst>
  <p:notesMasterIdLst>
    <p:notesMasterId xmlns:r="http://schemas.openxmlformats.org/officeDocument/2006/relationships" r:id="R8cb4d8336af84f66"/>
  </p:notesMasterIdLst>
  <p:sldIdLst>
    <p:sldId xmlns:r="http://schemas.openxmlformats.org/officeDocument/2006/relationships" id="256" r:id="R2dff64651e8a414a"/>
    <p:sldId xmlns:r="http://schemas.openxmlformats.org/officeDocument/2006/relationships" id="257" r:id="Reb92b2067c054499"/>
    <p:sldId xmlns:r="http://schemas.openxmlformats.org/officeDocument/2006/relationships" id="258" r:id="Re8c8cfffa4ef4d5d"/>
    <p:sldId xmlns:r="http://schemas.openxmlformats.org/officeDocument/2006/relationships" id="259" r:id="R387b79efd95f4e77"/>
    <p:sldId xmlns:r="http://schemas.openxmlformats.org/officeDocument/2006/relationships" id="260" r:id="R43896dcbf60f42f3"/>
    <p:sldId xmlns:r="http://schemas.openxmlformats.org/officeDocument/2006/relationships" id="261" r:id="Re09936d9cb8e41d1"/>
    <p:sldId xmlns:r="http://schemas.openxmlformats.org/officeDocument/2006/relationships" id="262" r:id="R03dc720c77214222"/>
    <p:sldId xmlns:r="http://schemas.openxmlformats.org/officeDocument/2006/relationships" id="263" r:id="Rc3c48aaf3450425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f1698a309c47d8" /><Relationship Type="http://schemas.openxmlformats.org/officeDocument/2006/relationships/slideMaster" Target="/ppt/slideMasters/slideMaster1.xml" Id="Rb18b1020867d4d8c" /><Relationship Type="http://schemas.openxmlformats.org/officeDocument/2006/relationships/notesMaster" Target="/ppt/notesMasters/notesMaster1.xml" Id="R8cb4d8336af84f66" /><Relationship Type="http://schemas.openxmlformats.org/officeDocument/2006/relationships/presProps" Target="/ppt/presProps.xml" Id="Ra611282d40804d48" /><Relationship Type="http://schemas.openxmlformats.org/officeDocument/2006/relationships/tableStyles" Target="/ppt/tableStyles.xml" Id="Ra6137d821ef54d81" /><Relationship Type="http://schemas.openxmlformats.org/officeDocument/2006/relationships/slide" Target="/ppt/slides/slide1.xml" Id="R2dff64651e8a414a" /><Relationship Type="http://schemas.openxmlformats.org/officeDocument/2006/relationships/slide" Target="/ppt/slides/slide2.xml" Id="Reb92b2067c054499" /><Relationship Type="http://schemas.openxmlformats.org/officeDocument/2006/relationships/slide" Target="/ppt/slides/slide3.xml" Id="Re8c8cfffa4ef4d5d" /><Relationship Type="http://schemas.openxmlformats.org/officeDocument/2006/relationships/slide" Target="/ppt/slides/slide4.xml" Id="R387b79efd95f4e77" /><Relationship Type="http://schemas.openxmlformats.org/officeDocument/2006/relationships/slide" Target="/ppt/slides/slide5.xml" Id="R43896dcbf60f42f3" /><Relationship Type="http://schemas.openxmlformats.org/officeDocument/2006/relationships/slide" Target="/ppt/slides/slide6.xml" Id="Re09936d9cb8e41d1" /><Relationship Type="http://schemas.openxmlformats.org/officeDocument/2006/relationships/slide" Target="/ppt/slides/slide7.xml" Id="R03dc720c77214222" /><Relationship Type="http://schemas.openxmlformats.org/officeDocument/2006/relationships/slide" Target="/ppt/slides/slide8.xml" Id="Rc3c48aaf345042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eca47bd04149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7cc89dd4af46f6" /><Relationship Type="http://schemas.openxmlformats.org/officeDocument/2006/relationships/notesMaster" Target="/ppt/notesMasters/notesMaster1.xml" Id="R8ee75500a8854d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30e8b25f8946cf" /><Relationship Type="http://schemas.openxmlformats.org/officeDocument/2006/relationships/notesMaster" Target="/ppt/notesMasters/notesMaster1.xml" Id="R553d8dfeed3c4f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cad96498c54f9b" /><Relationship Type="http://schemas.openxmlformats.org/officeDocument/2006/relationships/notesMaster" Target="/ppt/notesMasters/notesMaster1.xml" Id="R58a93678f4d142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7c3c73a1fa495a" /><Relationship Type="http://schemas.openxmlformats.org/officeDocument/2006/relationships/notesMaster" Target="/ppt/notesMasters/notesMaster1.xml" Id="R4019e7b6b27b46e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52995e2ca94149" /><Relationship Type="http://schemas.openxmlformats.org/officeDocument/2006/relationships/notesMaster" Target="/ppt/notesMasters/notesMaster1.xml" Id="Re3affe779acf40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e68b53724340ac" /><Relationship Type="http://schemas.openxmlformats.org/officeDocument/2006/relationships/notesMaster" Target="/ppt/notesMasters/notesMaster1.xml" Id="Rf502b8303338488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b1fe6152e414987" /><Relationship Type="http://schemas.openxmlformats.org/officeDocument/2006/relationships/notesMaster" Target="/ppt/notesMasters/notesMaster1.xml" Id="Re524a215dcd9410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01e77ecf9c94af5" /><Relationship Type="http://schemas.openxmlformats.org/officeDocument/2006/relationships/notesMaster" Target="/ppt/notesMasters/notesMaster1.xml" Id="Re14d53f34ac944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fac6e51b7948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f754c0bdda468c" /><Relationship Type="http://schemas.openxmlformats.org/officeDocument/2006/relationships/slideLayout" Target="/ppt/slideLayouts/slideLayout1.xml" Id="R4e77bbca07854b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77bbca07854b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99a164b1ac4cf5" /><Relationship Type="http://schemas.openxmlformats.org/officeDocument/2006/relationships/image" Target="/ppt/media/image.png" Id="Rd5209512349044d9" /><Relationship Type="http://schemas.openxmlformats.org/officeDocument/2006/relationships/notesSlide" Target="/ppt/notesSlides/notesSlide1.xml" Id="R8b4cf4914b1240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b9c78189774698" /><Relationship Type="http://schemas.openxmlformats.org/officeDocument/2006/relationships/notesSlide" Target="/ppt/notesSlides/notesSlide2.xml" Id="R79d0e7885c6847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403765a13e4044" /><Relationship Type="http://schemas.openxmlformats.org/officeDocument/2006/relationships/notesSlide" Target="/ppt/notesSlides/notesSlide3.xml" Id="R1c090e31392c45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95bf18188349fe" /><Relationship Type="http://schemas.openxmlformats.org/officeDocument/2006/relationships/notesSlide" Target="/ppt/notesSlides/notesSlide4.xml" Id="Rbbcba6580ebd4b7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fec6da94e24ccd" /><Relationship Type="http://schemas.openxmlformats.org/officeDocument/2006/relationships/notesSlide" Target="/ppt/notesSlides/notesSlide5.xml" Id="Rc945c4943477487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4a20e13d024314" /><Relationship Type="http://schemas.openxmlformats.org/officeDocument/2006/relationships/notesSlide" Target="/ppt/notesSlides/notesSlide6.xml" Id="R1fb38a8d50f344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570987458e4f48" /><Relationship Type="http://schemas.openxmlformats.org/officeDocument/2006/relationships/notesSlide" Target="/ppt/notesSlides/notesSlide7.xml" Id="Rb76206d1969d451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b96386d63349e5" /><Relationship Type="http://schemas.openxmlformats.org/officeDocument/2006/relationships/notesSlide" Target="/ppt/notesSlides/notesSlide8.xml" Id="Rbf5fc273771d4db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2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777B6C-7622-4460-903F-C415F218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rPr>
              <a:t>MVP PROGRESS · 2026.07.24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DD3C98-1901-420A-B789-263AF09D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56197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AI 시대,</a:t>
            </a:r>
          </a:p>
          <a:p xmlns:a="http://schemas.openxmlformats.org/drawingml/2006/main">
            <a:pPr algn="l">
              <a:defRPr sz="37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생각을 깨우는 서비스 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72D33D-F9E7-4966-A65E-FB952FBC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48075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원문을 읽고, 질문하고, 한 줄로 남기는</a:t>
            </a:r>
          </a:p>
          <a:p xmlns:a="http://schemas.openxmlformats.org/drawingml/2006/main">
            <a:pPr algn="l">
              <a:defRPr sz="18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비판적 사고 습관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0B299E-459A-4DEA-B429-F47602753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33975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DD5A"/>
          </a:solidFill>
          <a:ln xmlns:a="http://schemas.openxmlformats.org/drawingml/2006/main" w="9525">
            <a:solidFill>
              <a:srgbClr val="F5DD5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069BED-8CE8-4752-A979-289F1B67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READ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E25728-A9AF-4D55-86EB-0AB8C065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33975"/>
            <a:ext cx="9715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5A8"/>
          </a:solidFill>
          <a:ln xmlns:a="http://schemas.openxmlformats.org/drawingml/2006/main" w="9525">
            <a:solidFill>
              <a:srgbClr val="FF95A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7A5A6E-410A-49BF-814D-FACA5413A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1720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THINK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2D6BC8-6F0B-4500-BE27-7C1194376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33975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6D6BE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B729FD-1FB1-451E-BBD9-51222955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72075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RECORD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E5DE21-CE3C-41A1-B679-9982F2E9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57200"/>
            <a:ext cx="5276850" cy="5562600"/>
          </a:xfrm>
          <a:prstGeom xmlns:a="http://schemas.openxmlformats.org/drawingml/2006/main" prst="roundRect">
            <a:avLst>
              <a:gd name="adj" fmla="val 2166"/>
            </a:avLst>
          </a:prstGeom>
          <a:solidFill xmlns:a="http://schemas.openxmlformats.org/drawingml/2006/main">
            <a:srgbClr val="DDF4ED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29A11B-4530-41B8-846F-11BC5CC0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847725"/>
            <a:ext cx="4457700" cy="47625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209512349044d9"/>
          <a:stretch xmlns:a="http://schemas.openxmlformats.org/drawingml/2006/main"/>
        </p:blipFill>
        <p:spPr>
          <a:xfrm xmlns:a="http://schemas.openxmlformats.org/drawingml/2006/main">
            <a:off x="7671642" y="1381125"/>
            <a:ext cx="2754217" cy="30480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D2A8AE-8A7D-46DB-8D5A-5FF7263D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95825"/>
            <a:ext cx="3657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내 생각을 깨우자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1F4AE9-1B4A-4B2E-97FD-21A7AE04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229225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서비스 소개 · 시연 · 아키텍처 · AI 활용</a:t>
            </a:r>
          </a:p>
        </p:txBody>
      </p:sp>
    </p:spTree>
    <p:extLst>
      <p:ext uri="{BB962C8B-B14F-4D97-AF65-F5344CB8AC3E}">
        <p14:creationId xmlns:p14="http://schemas.microsoft.com/office/powerpoint/2010/main" val="5116861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88A91C-D121-4FCD-AD76-3F18AC56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rPr>
              <a:t>01 · SERVICE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72A70F-68A5-425F-BFC0-278276F1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깸은 요약 대신 ‘생각할 이유’를 만든다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82FE84-FA62-42FE-A5B1-A944F526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32FC58-67E7-42EA-A7E7-65685A27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4762500" cy="3581400"/>
          </a:xfrm>
          <a:prstGeom xmlns:a="http://schemas.openxmlformats.org/drawingml/2006/main" prst="roundRect">
            <a:avLst>
              <a:gd name="adj" fmla="val 31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DC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53FF34-CFF8-4246-9899-5EA4A783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1181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EDE8"/>
          </a:solidFill>
          <a:ln xmlns:a="http://schemas.openxmlformats.org/drawingml/2006/main" w="9525">
            <a:solidFill>
              <a:srgbClr val="ECED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381359-717F-4E69-B8A5-2DB8CED2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일반적인 흐름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B1D4DC-23A2-41BA-9D1C-5A2EE9BC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28875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빠르게 소비하고</a:t>
            </a:r>
          </a:p>
          <a:p xmlns:a="http://schemas.openxmlformats.org/drawingml/2006/main">
            <a:pPr algn="l">
              <a:defRPr sz="232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‘읽음’에서 끝난다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CC5C4C-CF8E-4E93-9B02-26883BBE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DCD4"/>
          </a:solidFill>
          <a:ln xmlns:a="http://schemas.openxmlformats.org/drawingml/2006/main" w="9525">
            <a:solidFill>
              <a:srgbClr val="DBDC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C7DC79-811C-49FE-A726-C624D317B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24275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AI 요약으로 핵심만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492643-5D1A-41E5-BB5A-734EA085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DCD4"/>
          </a:solidFill>
          <a:ln xmlns:a="http://schemas.openxmlformats.org/drawingml/2006/main" w="9525">
            <a:solidFill>
              <a:srgbClr val="DBDC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15442E-E550-4ACA-9C9A-02373AA2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7195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다음 콘텐츠로 바로 이동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866BB4-9596-4C30-BA69-96736786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581150"/>
            <a:ext cx="5934075" cy="3581400"/>
          </a:xfrm>
          <a:prstGeom xmlns:a="http://schemas.openxmlformats.org/drawingml/2006/main" prst="roundRect">
            <a:avLst>
              <a:gd name="adj" fmla="val 3191"/>
            </a:avLst>
          </a:prstGeom>
          <a:solidFill xmlns:a="http://schemas.openxmlformats.org/drawingml/2006/main">
            <a:srgbClr val="DDF4ED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E03494-741B-4DF6-B7C5-7A93A15D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885950"/>
            <a:ext cx="1028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6D6BE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D9A23C-DC7B-42B6-9F75-F1B02C03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92405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깸의 흐름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D1CAAB-3A1B-4FF3-9A92-8146A97D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428875"/>
            <a:ext cx="457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원문을 읽고</a:t>
            </a:r>
          </a:p>
          <a:p xmlns:a="http://schemas.openxmlformats.org/drawingml/2006/main">
            <a:pPr algn="l">
              <a:defRPr sz="232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내 생각으로 끝낸다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2196DB-F0E6-4C14-8923-3117D57F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790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D5A"/>
          </a:solidFill>
          <a:ln xmlns:a="http://schemas.openxmlformats.org/drawingml/2006/main" w="9525">
            <a:solidFill>
              <a:srgbClr val="F5DD5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A5176B-B44F-4F24-B655-6D80C0CF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24275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질문 · 반박 · 연결 · 표현 중 한 가지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30C733-B8E1-4320-86E5-18DCAB6B0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238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5A8"/>
          </a:solidFill>
          <a:ln xmlns:a="http://schemas.openxmlformats.org/drawingml/2006/main" w="9525">
            <a:solidFill>
              <a:srgbClr val="FF95A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50F986-31BC-4ED9-AED8-DC930B49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1719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한 줄 생각을 기록하고 다시 확인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7C97F7-C7FB-4EFA-A395-0F96C05F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0"/>
            <a:ext cx="11201400" cy="600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242C"/>
          </a:solidFill>
          <a:ln xmlns:a="http://schemas.openxmlformats.org/drawingml/2006/main" w="9525">
            <a:solidFill>
              <a:srgbClr val="20242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21BAFD-77F1-4CA7-AC23-6245C080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769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콘텐츠 소비의 끝을 ‘읽음’에서 ‘생각 기록’으로 이동</a:t>
            </a:r>
          </a:p>
        </p:txBody>
      </p:sp>
    </p:spTree>
    <p:extLst>
      <p:ext uri="{BB962C8B-B14F-4D97-AF65-F5344CB8AC3E}">
        <p14:creationId xmlns:p14="http://schemas.microsoft.com/office/powerpoint/2010/main" val="16085874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0E16B7-E7CF-4915-9AE8-6DB377C8B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rPr>
              <a:t>02 · LIVE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50F1BD-4FA2-45FC-96AF-0D44F6ED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시연: 2분 안에 핵심 루프 한 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47601B-425C-4276-A44E-FAFB5F2A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883F34-417D-451C-89F4-9F21B00B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620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실제 서비스 화면으로 아래 흐름을 끊김 없이 보여줍니다.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96BC8B-BE2F-471F-B2A3-91F7522FD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BDCD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4C2990-F5BD-405D-AA79-CC1E49C2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336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D6BE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49387E-203B-402B-90C0-78A824A0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90775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9E37BC-C034-4E24-BD60-E589BCF4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24175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관심사 선택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8E600B-A341-43E8-AEC4-2413F6B85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24225"/>
            <a:ext cx="1857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1~3개 선택</a:t>
            </a:r>
          </a:p>
          <a:p xmlns:a="http://schemas.openxmlformats.org/drawingml/2006/main">
            <a:pPr algn="l">
              <a:def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익명 세션 시작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4265BA-3B7E-45E8-B98B-5F05A4FA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3336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D5A"/>
          </a:solidFill>
          <a:ln xmlns:a="http://schemas.openxmlformats.org/drawingml/2006/main" w="9525">
            <a:solidFill>
              <a:srgbClr val="F5DD5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8EBEEA-7E04-48FA-8B1C-1D8CDCF9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390775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B1BA42-1E70-4196-8B20-71C8842D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24175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오늘의 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2FF7E9-2043-40D4-B0A2-1FA8BD11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324225"/>
            <a:ext cx="1857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공용 풀에서</a:t>
            </a:r>
          </a:p>
          <a:p xmlns:a="http://schemas.openxmlformats.org/drawingml/2006/main">
            <a:pPr algn="l">
              <a:def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맞춤 글 1~3개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CFE971-7444-4939-98C1-9F8B8068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336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B4F5"/>
          </a:solidFill>
          <a:ln xmlns:a="http://schemas.openxmlformats.org/drawingml/2006/main" w="9525">
            <a:solidFill>
              <a:srgbClr val="A6B4F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E26857-696F-4E74-BBF5-5DE1B325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90775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239A50-3A9B-4284-BAD2-35C12D8C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924175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원문 읽기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3613EA-27FF-4919-9ABA-32ED6525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324225"/>
            <a:ext cx="1857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새 탭에서</a:t>
            </a:r>
          </a:p>
          <a:p xmlns:a="http://schemas.openxmlformats.org/drawingml/2006/main">
            <a:pPr algn="l">
              <a:def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원문 그대로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B9822D-F16B-4A45-BFD4-EE14D366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3336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5A8"/>
          </a:solidFill>
          <a:ln xmlns:a="http://schemas.openxmlformats.org/drawingml/2006/main" w="9525">
            <a:solidFill>
              <a:srgbClr val="FF95A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624716-883A-4019-A68A-7AA769AA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390775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3B9E69-9C2F-446A-8C7B-FA114BB9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24175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사고 미션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B1DA24-DB20-4CC3-8F66-DC4EA426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324225"/>
            <a:ext cx="1857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질문·반박·연결·표현</a:t>
            </a:r>
          </a:p>
          <a:p xmlns:a="http://schemas.openxmlformats.org/drawingml/2006/main">
            <a:pPr algn="l">
              <a:def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중 하나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A5E097-E7CA-4C96-8A50-0C638128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336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D6BE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320C80-E2DA-4FB4-82E8-7F967670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90775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D44477-A181-40F4-9292-731A5191F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24175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나의 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46C92A-AAEE-48DB-B6AF-DD82CB67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324225"/>
            <a:ext cx="1857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한 줄 기록을</a:t>
            </a:r>
          </a:p>
          <a:p xmlns:a="http://schemas.openxmlformats.org/drawingml/2006/main">
            <a:pPr algn="l">
              <a:def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캘린더에서 확인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82FB55-45E8-4971-AB7F-C348A4DE0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95875"/>
            <a:ext cx="112014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DC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9DE5D7-3799-47AE-9177-1B0CC91E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72100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242C"/>
          </a:solidFill>
          <a:ln xmlns:a="http://schemas.openxmlformats.org/drawingml/2006/main" w="9525">
            <a:solidFill>
              <a:srgbClr val="20242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EA9037-6290-449A-94FB-0C7B8BEB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102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발표 전환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1350BA-B45E-495A-922A-D1FEF2704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3149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이 슬라이드에서 실제 서비스로 전환 → 미션 저장 후 다시 발표자료로 복귀</a:t>
            </a:r>
          </a:p>
        </p:txBody>
      </p:sp>
    </p:spTree>
    <p:extLst>
      <p:ext uri="{BB962C8B-B14F-4D97-AF65-F5344CB8AC3E}">
        <p14:creationId xmlns:p14="http://schemas.microsoft.com/office/powerpoint/2010/main" val="8220774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7626433-E671-4B64-8C2D-E95EBF71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rPr>
              <a:t>03 ·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ADC719-F84C-4E7A-9F07-A0E23387C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현재 MVP는 핵심 사용자 루프까지 연결됐다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EA6ED6-AD22-4FE0-A76D-FB439EB3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A4D8D2-4F76-4A97-9B21-83A81FE1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620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화면, API, 데이터가 하나의 흐름으로 동작하며 콘텐츠 소스는 확장 중입니다.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172BDE-3ACB-4F14-BB81-91FD4B8F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19300"/>
            <a:ext cx="333375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DC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7F075B-3454-410B-A347-15E75028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19300"/>
            <a:ext cx="95250" cy="2647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DD5A"/>
          </a:solidFill>
          <a:ln xmlns:a="http://schemas.openxmlformats.org/drawingml/2006/main" w="9525">
            <a:solidFill>
              <a:srgbClr val="F5DD5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DF77AD-74D2-43C8-8B06-C0F740CB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781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4ED"/>
          </a:solidFill>
          <a:ln xmlns:a="http://schemas.openxmlformats.org/drawingml/2006/main" w="9525">
            <a:solidFill>
              <a:srgbClr val="DDF4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8BC392-271F-44CF-A7A0-78A21454D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rPr>
              <a:t>구현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2540B2-8848-457A-86FA-30098871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4320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사용자 경험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AAAA19-4F71-476C-A0CC-DEE60CB85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D5A"/>
          </a:solidFill>
          <a:ln xmlns:a="http://schemas.openxmlformats.org/drawingml/2006/main" w="9525">
            <a:solidFill>
              <a:srgbClr val="F5DD5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A7E11A-1C0A-482A-BA85-5DAF71EE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09925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관심사 1~3개 설정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189B94-E9EA-4293-B46A-72F46399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05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D5A"/>
          </a:solidFill>
          <a:ln xmlns:a="http://schemas.openxmlformats.org/drawingml/2006/main" w="9525">
            <a:solidFill>
              <a:srgbClr val="F5DD5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CA4ED0-AE28-42B6-A8A8-92AA0827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오늘의 글 추천·원문 이동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C27C96-A621-405C-93CE-5BDDE6B7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33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D5A"/>
          </a:solidFill>
          <a:ln xmlns:a="http://schemas.openxmlformats.org/drawingml/2006/main" w="9525">
            <a:solidFill>
              <a:srgbClr val="F5DD5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46F189-5902-4AE6-87E5-57B952FF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67175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미션 저장·월별 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C11FB5-8D65-46D4-B6A7-B267B26A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19300"/>
            <a:ext cx="333375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DC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698A21-60D8-445F-BB44-2312631A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19300"/>
            <a:ext cx="95250" cy="2647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6D6BE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01406B-6308-4AFC-93E5-3376D437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66950"/>
            <a:ext cx="781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4ED"/>
          </a:solidFill>
          <a:ln xmlns:a="http://schemas.openxmlformats.org/drawingml/2006/main" w="9525">
            <a:solidFill>
              <a:srgbClr val="DDF4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25E3FA-A3B0-4B33-A882-2F1CF603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050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rPr>
              <a:t>구현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6FD560-8E79-4C9D-B705-FF0F3C6B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4320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백엔드·데이터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624972-BA9F-442D-8D56-88ABA8F25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76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D6BE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920104-31A8-4FC2-AB3F-AB59C0D1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09925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FastAPI 계약과 JWT 검증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87D38F-0FE2-4301-95F2-63B96F2A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05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D6BE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3CF8-404E-4720-9558-1257696C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63855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Supabase Auth·RLS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6992E3-E441-44D1-AE00-8BAF1FC0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133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D6BE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A0C83B-B42F-4D80-8DF0-2E437DCA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067175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공용 콘텐츠·사용자 기록 분리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77BA43-5DD8-4839-9011-81B5A7E0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19300"/>
            <a:ext cx="333375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DC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BF38E6-0A63-4E93-A5FD-5EBAEADF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19300"/>
            <a:ext cx="95250" cy="2647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6B4F5"/>
          </a:solidFill>
          <a:ln xmlns:a="http://schemas.openxmlformats.org/drawingml/2006/main" w="9525">
            <a:solidFill>
              <a:srgbClr val="A6B4F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651DF5-1815-42BD-B1FC-3F9AA9C8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66950"/>
            <a:ext cx="781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4ED"/>
          </a:solidFill>
          <a:ln xmlns:a="http://schemas.openxmlformats.org/drawingml/2006/main" w="9525">
            <a:solidFill>
              <a:srgbClr val="DDF4E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B8D5DE-2C3A-4E81-BBB6-FB594431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050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rPr>
              <a:t>확장 중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E02120-46D2-4E51-AC03-BF1D00BC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4320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콘텐츠 수집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35C171-BD94-41C1-AEC5-F8A2C24E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76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B4F5"/>
          </a:solidFill>
          <a:ln xmlns:a="http://schemas.openxmlformats.org/drawingml/2006/main" w="9525">
            <a:solidFill>
              <a:srgbClr val="A6B4F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4B1904-D61B-46CF-A1CA-435B0FCC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09925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RSS 수동 CLI 수집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9193B5-1DFE-461D-86B9-B314D0AA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05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B4F5"/>
          </a:solidFill>
          <a:ln xmlns:a="http://schemas.openxmlformats.org/drawingml/2006/main" w="9525">
            <a:solidFill>
              <a:srgbClr val="A6B4F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78CE5E-6D7B-461A-9B28-C01240A44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3855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접근성·품질·중복 검사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B05139-F4B9-4F8B-90DA-E63E4E39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33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B4F5"/>
          </a:solidFill>
          <a:ln xmlns:a="http://schemas.openxmlformats.org/drawingml/2006/main" w="9525">
            <a:solidFill>
              <a:srgbClr val="A6B4F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A7ECF2D-905C-4597-ACDA-9CA07B05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67175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DEVOCEAN 등 소스 확대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24C677-8705-4DBD-9A6E-5F2E81B2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0"/>
            <a:ext cx="108775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20242C"/>
          </a:solidFill>
          <a:ln xmlns:a="http://schemas.openxmlformats.org/drawingml/2006/main" w="9525">
            <a:solidFill>
              <a:srgbClr val="20242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D3A71E1-5708-4F8B-9191-06195FF3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24475"/>
            <a:ext cx="10287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현재 수집은 자동 스케줄이 아니라 소스별 CLI 실행</a:t>
            </a:r>
          </a:p>
        </p:txBody>
      </p:sp>
    </p:spTree>
    <p:extLst>
      <p:ext uri="{BB962C8B-B14F-4D97-AF65-F5344CB8AC3E}">
        <p14:creationId xmlns:p14="http://schemas.microsoft.com/office/powerpoint/2010/main" val="155133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C2C09A-8B33-42C7-99C5-9E05640A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rPr>
              <a:t>04 · 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8A3BB5-4D9E-4A22-8629-20943700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데이터 요청은 API로, 인증만 직접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CF6A3F-80AC-4DFC-92B6-9E5BBAE9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814EF4-9D7D-4B15-B002-CB3F1BC0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8375"/>
            <a:ext cx="1466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DC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9CD53B-3FC1-4F87-BE3F-41D00D8E6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62225"/>
            <a:ext cx="108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사용자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0F1948-129E-4883-A80E-CD2CD188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38350"/>
            <a:ext cx="18097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DDF4ED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85FBAF-802B-4B34-BA65-77BD8F2D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38375"/>
            <a:ext cx="1123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6D6BE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BB2F4E-F0DB-49A5-AEDB-B6E72032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276475"/>
            <a:ext cx="971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FRONTEND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54FB2A-4698-4FAD-A475-9ECCAE70B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771775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React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350B18-EDF0-4203-8BAC-548105F6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038350"/>
            <a:ext cx="18097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DC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ACD1E4-9041-4F56-A8C7-5629BF88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238375"/>
            <a:ext cx="1123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242C"/>
          </a:solidFill>
          <a:ln xmlns:a="http://schemas.openxmlformats.org/drawingml/2006/main" w="9525">
            <a:solidFill>
              <a:srgbClr val="20242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F5BD28-D145-4D90-9AC8-E467DB8D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276475"/>
            <a:ext cx="971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BACKEND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3F3C16-610A-498A-8ED6-6E98F8F6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771775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FastAPI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934BEF-B906-4124-BDB8-F35C218E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38350"/>
            <a:ext cx="18097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DC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C98EA9-29AA-4F37-935B-30FF5DF1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38375"/>
            <a:ext cx="933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6B4F5"/>
          </a:solidFill>
          <a:ln xmlns:a="http://schemas.openxmlformats.org/drawingml/2006/main" w="9525">
            <a:solidFill>
              <a:srgbClr val="A6B4F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61CD5F-3F46-40D0-8908-94AAD792F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7647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57F35C-5D5F-4AF0-A53F-E24F5D95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24150"/>
            <a:ext cx="142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Supabase</a:t>
            </a:r>
          </a:p>
          <a:p xmlns:a="http://schemas.openxmlformats.org/drawingml/2006/main">
            <a:pPr algn="ctr">
              <a:defRPr sz="172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PostgreSQL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3D24E7-82F8-40FE-905B-FAEA754B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066800"/>
            <a:ext cx="15049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7D0"/>
          </a:solidFill>
          <a:ln xmlns:a="http://schemas.openxmlformats.org/drawingml/2006/main" w="9525">
            <a:solidFill>
              <a:srgbClr val="F5DD5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B5DB99-5D4B-4999-83D8-E2F41384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362075"/>
            <a:ext cx="1123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외부 원문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3CAE9A-683F-45E7-BBEF-615F3FCC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095750"/>
            <a:ext cx="18097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9EEFF"/>
          </a:solidFill>
          <a:ln xmlns:a="http://schemas.openxmlformats.org/drawingml/2006/main" w="9525">
            <a:solidFill>
              <a:srgbClr val="A6B4F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591E45-D1D0-478D-8695-1F0EDF49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4481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555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Supabase Auth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A91A8A-D556-4C40-85C8-463FA42BB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95750"/>
            <a:ext cx="18097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E9EE"/>
          </a:solidFill>
          <a:ln xmlns:a="http://schemas.openxmlformats.org/drawingml/2006/main" w="9525">
            <a:solidFill>
              <a:srgbClr val="FF95A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59681E-BD6B-457F-92E2-BF1103BE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4481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RSS 수집기</a:t>
            </a:r>
          </a:p>
        </p:txBody>
      </p:sp>
      <p:cxnSp>
        <p:nvCxnSpPr>
          <p:cNvPr id="59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962150" y="277177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242C"/>
            </a:solidFill>
            <a:prstDash val="solid"/>
            <a:tailEnd type="arrow" w="med" len="med"/>
          </a:ln>
        </p:spPr>
      </p:cxnSp>
      <p:cxnSp>
        <p:nvCxnSpPr>
          <p:cNvPr id="60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381500" y="2771775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242C"/>
            </a:solidFill>
            <a:prstDash val="solid"/>
            <a:tailEnd type="arrow" w="med" len="med"/>
          </a:ln>
        </p:spPr>
      </p:cxnSp>
      <p:cxnSp>
        <p:nvCxnSpPr>
          <p:cNvPr id="61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029450" y="2771775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242C"/>
            </a:solidFill>
            <a:prstDash val="solid"/>
            <a:tailEnd type="arrow" w="med" len="med"/>
          </a:ln>
        </p:spPr>
      </p:cxnSp>
      <p:cxnSp>
        <p:nvCxnSpPr>
          <p:cNvPr id="62" name=""/>
          <p:cNvCxnSpPr>
            <a:stCxn xmlns:a="http://schemas.openxmlformats.org/drawingml/2006/main" id="6" idx="0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V="1">
            <a:off x="3476625" y="1562100"/>
            <a:ext cx="6715125" cy="476250"/>
          </a:xfrm>
          <a:prstGeom xmlns:a="http://schemas.openxmlformats.org/drawingml/2006/main" prst="bentConnector5">
            <a:avLst>
              <a:gd name="adj1" fmla="val 0"/>
              <a:gd name="adj2" fmla="val 48000"/>
              <a:gd name="adj3" fmla="val 96596"/>
            </a:avLst>
          </a:prstGeom>
          <a:ln xmlns:a="http://schemas.openxmlformats.org/drawingml/2006/main" w="19050">
            <a:solidFill>
              <a:srgbClr val="F5DD5A"/>
            </a:solidFill>
            <a:prstDash val="solid"/>
            <a:tailEnd type="arrow" w="med" len="med"/>
          </a:ln>
        </p:spPr>
      </p:cxnSp>
      <p:cxnSp>
        <p:nvCxnSpPr>
          <p:cNvPr id="63" name=""/>
          <p:cNvCxnSpPr>
            <a:stCxn xmlns:a="http://schemas.openxmlformats.org/drawingml/2006/main" id="6" idx="2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3476625" y="3505200"/>
            <a:ext cx="1743075" cy="1143000"/>
          </a:xfrm>
          <a:prstGeom xmlns:a="http://schemas.openxmlformats.org/drawingml/2006/main" prst="bentConnector5">
            <a:avLst>
              <a:gd name="adj1" fmla="val 0"/>
              <a:gd name="adj2" fmla="val 20000"/>
              <a:gd name="adj3" fmla="val 86885"/>
            </a:avLst>
          </a:prstGeom>
          <a:ln xmlns:a="http://schemas.openxmlformats.org/drawingml/2006/main" w="19050">
            <a:solidFill>
              <a:srgbClr val="A6B4F5"/>
            </a:solidFill>
            <a:prstDash val="dash"/>
            <a:tailEnd type="arrow" w="med" len="med"/>
          </a:ln>
        </p:spPr>
      </p:cxnSp>
      <p:cxnSp>
        <p:nvCxnSpPr>
          <p:cNvPr id="64" name=""/>
          <p:cNvCxnSpPr>
            <a:stCxn xmlns:a="http://schemas.openxmlformats.org/drawingml/2006/main" id="22" idx="0"/>
            <a:endCxn xmlns:a="http://schemas.openxmlformats.org/drawingml/2006/main" id="14" idx="2"/>
          </p:cNvCxnSpPr>
          <p:nvPr/>
        </p:nvCxnSpPr>
        <p:spPr>
          <a:xfrm xmlns:a="http://schemas.openxmlformats.org/drawingml/2006/main" flipV="1">
            <a:off x="8772525" y="3505200"/>
            <a:ext cx="0" cy="590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95A8"/>
            </a:solidFill>
            <a:prstDash val="solid"/>
            <a:tailEnd type="arrow" w="med" len="me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87E2B1-A7FC-4B2F-A810-015072F4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1460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/api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C858BD-E12A-4C0F-B3CE-E663B4C8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14600"/>
            <a:ext cx="781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사용자 JWT + RLS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541475-388B-4A7E-98F2-3BE8D5A8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6196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익명 인증만 직접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F1F697-B3CD-4FA9-82CE-03C68964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44958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검증된 공용 콘텐츠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0B72E1-B11B-499D-8060-2589D8ED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19750"/>
            <a:ext cx="112014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242C"/>
          </a:solidFill>
          <a:ln xmlns:a="http://schemas.openxmlformats.org/drawingml/2006/main" w="9525">
            <a:solidFill>
              <a:srgbClr val="20242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28210A-7B81-4C42-9823-C8F03A30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43575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사용자 데이터 경로와 콘텐츠 수집 경로를 분리해 권한 경계를 명확히 유지</a:t>
            </a:r>
          </a:p>
        </p:txBody>
      </p:sp>
    </p:spTree>
    <p:extLst>
      <p:ext uri="{BB962C8B-B14F-4D97-AF65-F5344CB8AC3E}">
        <p14:creationId xmlns:p14="http://schemas.microsoft.com/office/powerpoint/2010/main" val="16931324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3E91D20-6457-463C-B5BC-821E3291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rPr>
              <a:t>05 · CONTENT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7A785D-5CFE-4460-89BA-C81A8224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공용 콘텐츠를 계속 갱신하고, 추천만 개인화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BDA049-4315-4307-B3F5-10E911E4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D58366-41A5-4B62-B23E-C9991625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4ED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360EC7-5A7C-4CF4-87C5-62E46B81C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4302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rPr>
              <a:t>사용자마다 콘텐츠 DB를 만들지 않는다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4E019F-A308-43D6-973C-1BA048BF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52675"/>
            <a:ext cx="1695450" cy="19240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DC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7B96A4-B014-4B9C-A944-21D4117D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03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D5A"/>
          </a:solidFill>
          <a:ln xmlns:a="http://schemas.openxmlformats.org/drawingml/2006/main" w="9525">
            <a:solidFill>
              <a:srgbClr val="F5DD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DDB265-1F0F-4481-8924-4F71F14B2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검증된 RSS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973E01-83E0-4F66-B36A-1F1D4557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공식 소스</a:t>
            </a:r>
          </a:p>
          <a:p xmlns:a="http://schemas.openxmlformats.org/drawingml/2006/main">
            <a:pPr algn="l">
              <a:def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활성 설정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9DBC7C-CFD6-440C-8DF8-B044348C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352675"/>
            <a:ext cx="1695450" cy="19240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DC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E8A0B0-96FD-43E7-A411-C5EAF7FC1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6003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D6BE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F2A2BB-B8AD-46D1-BEDD-EF8D87D9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99085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수집·파싱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03B5AA-953A-4ED6-85AF-623F106D0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476625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제목·URL</a:t>
            </a:r>
          </a:p>
          <a:p xmlns:a="http://schemas.openxmlformats.org/drawingml/2006/main">
            <a:pPr algn="l">
              <a:def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발행일·소개문</a:t>
            </a:r>
          </a:p>
        </p:txBody>
      </p:sp>
      <p:cxnSp>
        <p:nvCxnSpPr>
          <p:cNvPr id="51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190750" y="33147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242C"/>
            </a:solidFill>
            <a:prstDash val="solid"/>
            <a:tail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3B3CD2-78F0-470E-BB62-BE4806FE2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52675"/>
            <a:ext cx="1695450" cy="19240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DC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F60C44-C565-48D0-ADA0-D6ECB40E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6003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5A8"/>
          </a:solidFill>
          <a:ln xmlns:a="http://schemas.openxmlformats.org/drawingml/2006/main" w="9525">
            <a:solidFill>
              <a:srgbClr val="FF95A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F04B55-A647-4AB9-B1BB-B7680A0E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99085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품질 검사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D25A7E-6059-4115-9B8D-C702C497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476625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접근성·품질</a:t>
            </a:r>
          </a:p>
          <a:p xmlns:a="http://schemas.openxmlformats.org/drawingml/2006/main">
            <a:pPr algn="l">
              <a:def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Canonical 중복</a:t>
            </a:r>
          </a:p>
        </p:txBody>
      </p:sp>
      <p:cxnSp>
        <p:nvCxnSpPr>
          <p:cNvPr id="56" name=""/>
          <p:cNvCxnSpPr>
            <a:stCxn xmlns:a="http://schemas.openxmlformats.org/drawingml/2006/main" id="10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286250" y="33147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242C"/>
            </a:solidFill>
            <a:prstDash val="solid"/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09C2F0-3283-4A4F-B9EC-A7E4B605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52675"/>
            <a:ext cx="1695450" cy="19240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E9EEFF"/>
          </a:solidFill>
          <a:ln xmlns:a="http://schemas.openxmlformats.org/drawingml/2006/main" w="9525">
            <a:solidFill>
              <a:srgbClr val="A6B4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F331C3-BF27-460A-B003-6C56A495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003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B4F5"/>
          </a:solidFill>
          <a:ln xmlns:a="http://schemas.openxmlformats.org/drawingml/2006/main" w="9525">
            <a:solidFill>
              <a:srgbClr val="A6B4F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E4BDCA-98A2-4749-B38F-D1884DC6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99085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9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공용 콘텐츠 DB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0999B5-B63E-4202-8D51-F7A7A9CF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476625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기사·태그를</a:t>
            </a:r>
          </a:p>
          <a:p xmlns:a="http://schemas.openxmlformats.org/drawingml/2006/main">
            <a:pPr algn="l">
              <a:def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하나의 풀에 저장</a:t>
            </a:r>
          </a:p>
        </p:txBody>
      </p:sp>
      <p:cxnSp>
        <p:nvCxnSpPr>
          <p:cNvPr id="61" name=""/>
          <p:cNvCxnSpPr>
            <a:stCxn xmlns:a="http://schemas.openxmlformats.org/drawingml/2006/main" id="15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6381750" y="33147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242C"/>
            </a:solidFill>
            <a:prstDash val="solid"/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960C3C-9FBD-4E18-BD36-307820FDA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52675"/>
            <a:ext cx="1695450" cy="19240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DC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9C79DF-ED9A-4A82-908F-93D1D659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003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D6BE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625517-B838-4337-9AA7-CFEAC058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9085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맞춤 추천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6FFD87-055A-449F-906E-0F8433CC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76625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관심사·최신성</a:t>
            </a:r>
          </a:p>
          <a:p xmlns:a="http://schemas.openxmlformats.org/drawingml/2006/main">
            <a:pPr algn="l">
              <a:def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완료 기록 반영</a:t>
            </a:r>
          </a:p>
        </p:txBody>
      </p:sp>
      <p:cxnSp>
        <p:nvCxnSpPr>
          <p:cNvPr id="66" name=""/>
          <p:cNvCxnSpPr>
            <a:stCxn xmlns:a="http://schemas.openxmlformats.org/drawingml/2006/main" id="20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8477250" y="33147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242C"/>
            </a:solidFill>
            <a:prstDash val="solid"/>
            <a:tailEnd type="arrow" w="med" len="me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ADBBB5-8435-40D8-9285-8BA7877E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876800"/>
            <a:ext cx="29527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DC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E1C93F-D531-4B17-8AB5-FF950DBD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504825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242C"/>
          </a:solidFill>
          <a:ln xmlns:a="http://schemas.openxmlformats.org/drawingml/2006/main" w="9525">
            <a:solidFill>
              <a:srgbClr val="20242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B4744F-14FB-46FD-8DF9-3725C4D6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508635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USER SIGNAL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050BC6-6BB7-415F-A66A-AFFD4E8B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086350"/>
            <a:ext cx="13049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18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관심사 · 미션 완료 기록</a:t>
            </a:r>
          </a:p>
        </p:txBody>
      </p:sp>
      <p:cxnSp>
        <p:nvCxnSpPr>
          <p:cNvPr id="71" name=""/>
          <p:cNvCxnSpPr>
            <a:stCxn xmlns:a="http://schemas.openxmlformats.org/drawingml/2006/main" id="30" idx="0"/>
            <a:endCxn xmlns:a="http://schemas.openxmlformats.org/drawingml/2006/main" id="25" idx="2"/>
          </p:cNvCxnSpPr>
          <p:nvPr/>
        </p:nvCxnSpPr>
        <p:spPr>
          <a:xfrm xmlns:a="http://schemas.openxmlformats.org/drawingml/2006/main" flipV="1">
            <a:off x="9067800" y="4276725"/>
            <a:ext cx="657225" cy="6000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7F6B"/>
            </a:solidFill>
            <a:prstDash val="dash"/>
            <a:tailEnd type="arrow" w="med" len="me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68A031-51DC-42A8-BAC7-1A9DAE61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0062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rPr>
              <a:t>수집 주기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144FA06-D012-4BD9-8C46-977A1B40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05425"/>
            <a:ext cx="333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921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현재: 소스별 CLI 실행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0B8CC94-A33F-44AB-8094-3632F2F54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483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향후: 스케줄러를 붙여 같은 파이프라인 반복</a:t>
            </a:r>
          </a:p>
        </p:txBody>
      </p:sp>
    </p:spTree>
    <p:extLst>
      <p:ext uri="{BB962C8B-B14F-4D97-AF65-F5344CB8AC3E}">
        <p14:creationId xmlns:p14="http://schemas.microsoft.com/office/powerpoint/2010/main" val="14806170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2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E8305A6-F35D-4D21-860B-8D2E1CFD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rPr>
              <a:t>06 · AI COLLABORATION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447908-D051-4167-9286-F0DE3EB3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AI 협업을 반복 가능한 시스템으로 만들었다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860F91-BA3D-4327-A883-C8EA946E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4883BC-8415-4AB8-A868-BBC9FB26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rPr>
              <a:t>ROLE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895FBC-95B0-4846-9C70-9228A93A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192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역할 분리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AA3BF1-892F-4299-8F59-10E0041D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504950"/>
            <a:ext cx="19050" cy="1028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DCD4"/>
          </a:solidFill>
          <a:ln xmlns:a="http://schemas.openxmlformats.org/drawingml/2006/main" w="9525">
            <a:solidFill>
              <a:srgbClr val="DBDC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2646A1-E148-4779-B6D5-A40E5B1C9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562100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6D6BE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E285FD-C25E-4A60-8F74-A5BE6A7D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6002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Codex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32E472-9D36-406E-8EF5-D3A42B14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971675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요구사항·완료 기준 설계</a:t>
            </a:r>
          </a:p>
          <a:p xmlns:a="http://schemas.openxmlformats.org/drawingml/2006/main">
            <a:pPr algn="l">
              <a:defRPr sz="13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최종 구현 검증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8E6FE8-46CC-4B4D-97F1-41A3D6C56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9240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D6BE0C-F806-46BE-BD2A-FD9A64AF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56210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DD5A"/>
          </a:solidFill>
          <a:ln xmlns:a="http://schemas.openxmlformats.org/drawingml/2006/main" w="9525">
            <a:solidFill>
              <a:srgbClr val="F5DD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0F69A2-277B-4FD6-B34F-37F24EC6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6002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사람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2EDC98-1593-451D-8F2C-CF46349B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05740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범위와 결정 확정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29D82A-4EBB-4EEB-98DF-DC4723FD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240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DE217C-115E-4F38-BCFF-6E51FC5A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562100"/>
            <a:ext cx="1257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5A8"/>
          </a:solidFill>
          <a:ln xmlns:a="http://schemas.openxmlformats.org/drawingml/2006/main" w="9525">
            <a:solidFill>
              <a:srgbClr val="FF95A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0759DD-2320-4B39-AD5E-4F1981F2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60020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Claude Code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0D0F8E-7B97-4274-9294-71F4F44B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971675"/>
            <a:ext cx="331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확정된 설계 구현</a:t>
            </a:r>
          </a:p>
          <a:p xmlns:a="http://schemas.openxmlformats.org/drawingml/2006/main">
            <a:pPr algn="l">
              <a:defRPr sz="13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독립 서브에이전트 교차 검토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5A70D4-D73B-4BB1-AA03-846DEB235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24150"/>
            <a:ext cx="112014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DDF4ED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5F477F-DD73-4E2B-BA94-0F920CE3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718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rPr>
              <a:t>SKILL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0CDC80-B052-4E4F-B756-EBB83455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스킬화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53FBDF-ED72-4C19-BF3F-A1B081D2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924175"/>
            <a:ext cx="1905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6D6BE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198EF5-5445-44D0-9628-E287DCEC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9146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prototype-screen-sync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07E615-1F97-4AAB-9989-526E1D73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343275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프로토타입 비교 → 상태 계약 확인 → 화면 단위 구현 → 전체 회귀 검증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E3F5C5-0D73-40F9-80B4-DEA6A178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672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rPr>
              <a:t>SUB-AGENTS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EEC0DD-6D0C-42A0-95C6-38EFAE51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5295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전문화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F30338-6BD1-4B81-A5EE-B758D742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171950"/>
            <a:ext cx="1905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DCD4"/>
          </a:solidFill>
          <a:ln xmlns:a="http://schemas.openxmlformats.org/drawingml/2006/main" w="9525">
            <a:solidFill>
              <a:srgbClr val="DBDCD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6B0F71-1672-45CF-A1F7-310B61A4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95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D6BE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E846ED-DD4D-4A8D-A26A-7EB511AA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210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task_planner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5FCF36-31AF-4049-99EF-2319D7D4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5815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스프린트·이슈 계획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250ABF-B924-48ED-AF28-0F49003E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295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B4F5"/>
          </a:solidFill>
          <a:ln xmlns:a="http://schemas.openxmlformats.org/drawingml/2006/main" w="9525">
            <a:solidFill>
              <a:srgbClr val="A6B4F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EDC75B-40EB-4047-9D7C-FCF42856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2100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code-reviewer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6E8ECA-1BEF-477F-9752-95796E75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5815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구현 직후 독립 리뷰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A856AC-E8E4-4A30-B92B-C89411C2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295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5A8"/>
          </a:solidFill>
          <a:ln xmlns:a="http://schemas.openxmlformats.org/drawingml/2006/main" w="9525">
            <a:solidFill>
              <a:srgbClr val="FF95A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B60215-E750-450D-9DD1-1ECF93FC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2100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debugger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284750-02A4-4415-8F8A-6FEE76F5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5815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수정 전 원인 분석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3343CF-2840-4966-93E5-1D0806CC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19750"/>
            <a:ext cx="112014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242C"/>
          </a:solidFill>
          <a:ln xmlns:a="http://schemas.openxmlformats.org/drawingml/2006/main" w="9525">
            <a:solidFill>
              <a:srgbClr val="20242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18A00E0-FD85-4AC5-994D-59CD6F0B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62625"/>
            <a:ext cx="1062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반복되는 지시와 판단 기준을 프롬프트 · 스킬 · 에이전트로 코드화</a:t>
            </a:r>
          </a:p>
        </p:txBody>
      </p:sp>
    </p:spTree>
    <p:extLst>
      <p:ext uri="{BB962C8B-B14F-4D97-AF65-F5344CB8AC3E}">
        <p14:creationId xmlns:p14="http://schemas.microsoft.com/office/powerpoint/2010/main" val="7801149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2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B305DCA-B3C4-4D45-AE37-56D5FFC8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rPr>
              <a:t>07 · TDD TODAY &amp; NEXT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118714-5735-47E1-9816-D0E51872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TDD는 구현 순서를 고정하고, 다음은 검증 범위를 넓힌다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6D51CC-B7FD-4BF2-9946-BCB95F5B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CC5498-0000-4583-9A96-D286A76E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382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rPr>
              <a:t>CURRENT · TASK-BY-TASK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4D5BBA-B818-4F69-9D5A-27162941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BDCD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114F8D-562B-47C9-8C8B-2DE222FE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5A8"/>
          </a:solidFill>
          <a:ln xmlns:a="http://schemas.openxmlformats.org/drawingml/2006/main" w="9525">
            <a:solidFill>
              <a:srgbClr val="FF95A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01D469-FEFB-4DA0-A4C0-4A8D8BCE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39A8EF-1C77-4274-8316-BB10B6FF0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8425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rPr>
              <a:t>RED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F8EE20-787E-4064-8279-1A9CB2A2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실패 테스트 먼저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78A118-5274-477B-833F-9E3809FE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2266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요구사항을 관찰 가능한</a:t>
            </a:r>
          </a:p>
          <a:p xmlns:a="http://schemas.openxmlformats.org/drawingml/2006/main">
            <a:pPr algn="l">
              <a:def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실패로 먼저 고정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97E316-B5AD-49EE-83D8-060A2D8C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38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D6BE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C4A374-3B27-4F36-BA9C-8047154C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145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86856B-D539-4650-AAD8-3E9C47A1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38425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rPr>
              <a:t>GREEN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4DB4EE-6A7C-4808-81A3-E3DDC557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527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최소 구현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B37FEF-BE55-4F2E-832B-D341A37C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371850"/>
            <a:ext cx="2266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테스트를 통과하는 만큼만</a:t>
            </a:r>
          </a:p>
          <a:p xmlns:a="http://schemas.openxmlformats.org/drawingml/2006/main">
            <a:pPr algn="l">
              <a:def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production 코드 작성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E004BF-AF6F-4B41-BEB1-FB22BFC9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38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B4F5"/>
          </a:solidFill>
          <a:ln xmlns:a="http://schemas.openxmlformats.org/drawingml/2006/main" w="9525">
            <a:solidFill>
              <a:srgbClr val="A6B4F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F34A28-F9D1-40E1-8656-40670AF0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145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06BF11-A622-4657-AD75-3588ECF5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38425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rPr>
              <a:t>VERIFY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E62857-3189-4799-AACA-464C445B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527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focused → 전체 검증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A5A75-7350-49F6-977B-F1089EA2B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71850"/>
            <a:ext cx="2266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관련 테스트부터 실행한 뒤</a:t>
            </a:r>
          </a:p>
          <a:p xmlns:a="http://schemas.openxmlformats.org/drawingml/2006/main">
            <a:pPr algn="l">
              <a:def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전체 테스트·타입·빌드 확인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5FBC78-9C95-45FE-88A4-AB9EBAC8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38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D5A"/>
          </a:solidFill>
          <a:ln xmlns:a="http://schemas.openxmlformats.org/drawingml/2006/main" w="9525">
            <a:solidFill>
              <a:srgbClr val="F5DD5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743F55-4414-4021-9647-960528B9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145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516A24-7009-43A6-BE6D-A63D8E16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38425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rPr>
              <a:t>REVIEW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4C5CAE-EE89-486F-A74D-CCFA2217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527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독립 리뷰 후 재검증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BA1EDB-1B83-4E5F-A783-23BAD669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371850"/>
            <a:ext cx="2266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P0/P1을 수정하고</a:t>
            </a:r>
          </a:p>
          <a:p xmlns:a="http://schemas.openxmlformats.org/drawingml/2006/main">
            <a:pPr algn="l">
              <a:def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같은 명령을 다시 실행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220233-EB02-4FC1-9F8B-B8623B6F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71950"/>
            <a:ext cx="11201400" cy="1362075"/>
          </a:xfrm>
          <a:prstGeom xmlns:a="http://schemas.openxmlformats.org/drawingml/2006/main" prst="roundRect">
            <a:avLst>
              <a:gd name="adj" fmla="val 8392"/>
            </a:avLst>
          </a:prstGeom>
          <a:solidFill xmlns:a="http://schemas.openxmlformats.org/drawingml/2006/main">
            <a:srgbClr val="DDF4ED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5AA2F2-406F-4C2B-9B9D-E2C98594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007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rPr>
              <a:t>NEXT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4E5FD1-706C-486D-806A-72CF3063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2440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확장 계획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C4BF1A-C3C0-4C6C-9B2E-E26779D2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381500"/>
            <a:ext cx="19050" cy="895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6D6BE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2F2FB1-D5BE-49C9-9C69-37021509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3910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브라우저 흐름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A89B57-8418-441A-BAB5-573C6D46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10125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핵심 사용자 루프를</a:t>
            </a:r>
          </a:p>
          <a:p xmlns:a="http://schemas.openxmlformats.org/drawingml/2006/main">
            <a:pPr algn="l">
              <a:def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Playwright 자동화 후보로 전환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0E9F2A-D01A-4070-BA18-1B174E62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381500"/>
            <a:ext cx="9525" cy="895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DCD4"/>
          </a:solidFill>
          <a:ln xmlns:a="http://schemas.openxmlformats.org/drawingml/2006/main" w="9525">
            <a:solidFill>
              <a:srgbClr val="DBDCD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B56C3A-4DEE-48CB-A4D5-20003166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3910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데이터 경계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F368B5-C5E8-4C1E-959C-810B6F52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810125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Local Supabase 기반</a:t>
            </a:r>
          </a:p>
          <a:p xmlns:a="http://schemas.openxmlformats.org/drawingml/2006/main">
            <a:pPr algn="l">
              <a:def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RLS·트랜잭션 통합 검증 확대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D42922-6C1E-46F3-A425-F53E1648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81500"/>
            <a:ext cx="9525" cy="895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DCD4"/>
          </a:solidFill>
          <a:ln xmlns:a="http://schemas.openxmlformats.org/drawingml/2006/main" w="9525">
            <a:solidFill>
              <a:srgbClr val="DBDCD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5A5182-531C-4D31-AEBC-ACF2E032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910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반복 운영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3E490A-6848-43F1-B75C-450B7A55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10125"/>
            <a:ext cx="274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RED·focused·전체 검증을</a:t>
            </a:r>
          </a:p>
          <a:p xmlns:a="http://schemas.openxmlformats.org/drawingml/2006/main">
            <a:pPr algn="l">
              <a:def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계획과 스킬의 기본 체크리스트로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E90305B-7C45-40BF-B08A-1B96518A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0"/>
            <a:ext cx="112014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242C"/>
          </a:solidFill>
          <a:ln xmlns:a="http://schemas.openxmlformats.org/drawingml/2006/main" w="9525">
            <a:solidFill>
              <a:srgbClr val="20242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81356E3-F35C-4300-80F4-FD189DE0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0"/>
            <a:ext cx="10629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29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목표는 테스트 수가 아니라, 실패가 의미 있는 개발 루프</a:t>
            </a:r>
          </a:p>
        </p:txBody>
      </p:sp>
    </p:spTree>
    <p:extLst>
      <p:ext uri="{BB962C8B-B14F-4D97-AF65-F5344CB8AC3E}">
        <p14:creationId xmlns:p14="http://schemas.microsoft.com/office/powerpoint/2010/main" val="17918065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2026-07-24T03:59:00.2580000Z</dcterms:created>
  <dcterms:modified xsi:type="dcterms:W3CDTF">2026-07-24T03:59:00.2580000Z</dcterms:modified>
</coreProperties>
</file>