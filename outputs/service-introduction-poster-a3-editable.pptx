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9055c84958445b" /><Relationship Type="http://schemas.openxmlformats.org/officeDocument/2006/relationships/extended-properties" Target="/docProps/app.xml" Id="R3489e97a508e4bc5" /><Relationship Type="http://schemas.openxmlformats.org/officeDocument/2006/relationships/officeDocument" Target="/ppt/presentation.xml" Id="R5a5cdfa9e43046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eaf776cca64c2b"/>
  </p:sldMasterIdLst>
  <p:notesMasterIdLst>
    <p:notesMasterId xmlns:r="http://schemas.openxmlformats.org/officeDocument/2006/relationships" r:id="R941a7d65d4ca497e"/>
  </p:notesMasterIdLst>
  <p:sldIdLst>
    <p:sldId xmlns:r="http://schemas.openxmlformats.org/officeDocument/2006/relationships" id="256" r:id="Rf9d8144a1e404791"/>
  </p:sldIdLst>
  <p:sldSz cx="10696575" cy="151161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55eff4b0264ec7" /><Relationship Type="http://schemas.openxmlformats.org/officeDocument/2006/relationships/slideMaster" Target="/ppt/slideMasters/slideMaster1.xml" Id="R2deaf776cca64c2b" /><Relationship Type="http://schemas.openxmlformats.org/officeDocument/2006/relationships/notesMaster" Target="/ppt/notesMasters/notesMaster1.xml" Id="R941a7d65d4ca497e" /><Relationship Type="http://schemas.openxmlformats.org/officeDocument/2006/relationships/presProps" Target="/ppt/presProps.xml" Id="Rc50ac0b0771d4f56" /><Relationship Type="http://schemas.openxmlformats.org/officeDocument/2006/relationships/viewProps" Target="/ppt/viewProps.xml" Id="R0e6fc765040d4dbe" /><Relationship Type="http://schemas.openxmlformats.org/officeDocument/2006/relationships/tableStyles" Target="/ppt/tableStyles.xml" Id="R8b4c99fcc9934f03" /><Relationship Type="http://schemas.openxmlformats.org/officeDocument/2006/relationships/slide" Target="/ppt/slides/slide1.xml" Id="Rf9d8144a1e4047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7d9605bf474e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a847cf77b04ad8" /><Relationship Type="http://schemas.openxmlformats.org/officeDocument/2006/relationships/notesMaster" Target="/ppt/notesMasters/notesMaster1.xml" Id="Rd525fdc5726843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C:/Users/pkcha/OneDrive/문서/AI agent challenge/hub-upload-worktree/backend/routes/ingredients.js</a:t>
            </a:r>
          </a:p>
          <a:p xmlns:a="http://schemas.openxmlformats.org/drawingml/2006/main">
            <a:r>
              <a:t>- C:/Users/pkcha/OneDrive/문서/AI agent challenge/hub-upload-worktree/backend/routes/recommendations.js</a:t>
            </a:r>
          </a:p>
          <a:p xmlns:a="http://schemas.openxmlformats.org/drawingml/2006/main">
            <a:r>
              <a:t>- C:/Users/pkcha/OneDrive/문서/AI agent challenge/hub-upload-worktree/backend/services/geminiRecommendations.js</a:t>
            </a:r>
          </a:p>
          <a:p xmlns:a="http://schemas.openxmlformats.org/drawingml/2006/main">
            <a:r>
              <a:t>- C:/Users/pkcha/OneDrive/문서/AI agent challenge/hub-upload-worktree/frontend/src/services/ingredients.js</a:t>
            </a:r>
          </a:p>
          <a:p xmlns:a="http://schemas.openxmlformats.org/drawingml/2006/main">
            <a:r>
              <a:t>- C:/Users/pkcha/OneDrive/문서/AI agent challenge/hub-upload-worktree/frontend/src/services/recommendations.js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868bfdac9940e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a7207e6eab54233" /><Relationship Type="http://schemas.openxmlformats.org/officeDocument/2006/relationships/slideLayout" Target="/ppt/slideLayouts/slideLayout1.xml" Id="R6a5a90dd84b4433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5a90dd84b4433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f7d785cc9846fd" /><Relationship Type="http://schemas.openxmlformats.org/officeDocument/2006/relationships/notesSlide" Target="/ppt/notesSlides/notesSlide1.xml" Id="Rc3b03b022e3d4eb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직사각형 97">
            <a:extLst xmlns:a="http://schemas.openxmlformats.org/drawingml/2006/main">
              <a:ext uri="{FF2B5EF4-FFF2-40B4-BE49-F238E27FC236}">
                <a16:creationId xmlns:a16="http://schemas.microsoft.com/office/drawing/2014/main" id="{6D0FAF3F-B25F-A3A2-9907-AA7E0CCC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696575" cy="2466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직사각형 1">
            <a:extLst xmlns:a="http://schemas.openxmlformats.org/drawingml/2006/main">
              <a:ext uri="{FF2B5EF4-FFF2-40B4-BE49-F238E27FC236}">
                <a16:creationId xmlns:a16="http://schemas.microsoft.com/office/drawing/2014/main" id="{44FBD5E2-5619-75EB-8302-C2BFA996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3"/>
            <a:ext cx="552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E4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직사각형 2">
            <a:extLst xmlns:a="http://schemas.openxmlformats.org/drawingml/2006/main">
              <a:ext uri="{FF2B5EF4-FFF2-40B4-BE49-F238E27FC236}">
                <a16:creationId xmlns:a16="http://schemas.microsoft.com/office/drawing/2014/main" id="{6233E39D-9F18-0B87-7661-D193C1F2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3"/>
            <a:ext cx="647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E7DC"/>
                </a:solidFill>
              </a:defRPr>
            </a:pPr>
            <a:r>
              <a:rPr sz="2025" b="1">
                <a:solidFill>
                  <a:srgbClr val="FFE7DC"/>
                </a:solidFill>
              </a:rPr>
              <a:t>자취생을 위한</a:t>
            </a:r>
          </a:p>
        </p:txBody>
      </p:sp>
      <p:sp>
        <p:nvSpPr>
          <p:cNvPr id="4" name="직사각형 3">
            <a:extLst xmlns:a="http://schemas.openxmlformats.org/drawingml/2006/main">
              <a:ext uri="{FF2B5EF4-FFF2-40B4-BE49-F238E27FC236}">
                <a16:creationId xmlns:a16="http://schemas.microsoft.com/office/drawing/2014/main" id="{D8991A68-9177-080F-1051-245EB6F09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2488"/>
            <a:ext cx="671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500" b="1">
                <a:solidFill>
                  <a:srgbClr val="FFFFFF"/>
                </a:solidFill>
              </a:defRPr>
            </a:pPr>
            <a:r>
              <a:rPr sz="4500" b="1">
                <a:solidFill>
                  <a:srgbClr val="FFFFFF"/>
                </a:solidFill>
              </a:rPr>
              <a:t>있는대로</a:t>
            </a:r>
          </a:p>
        </p:txBody>
      </p:sp>
      <p:sp>
        <p:nvSpPr>
          <p:cNvPr id="5" name="직사각형 4">
            <a:extLst xmlns:a="http://schemas.openxmlformats.org/drawingml/2006/main">
              <a:ext uri="{FF2B5EF4-FFF2-40B4-BE49-F238E27FC236}">
                <a16:creationId xmlns:a16="http://schemas.microsoft.com/office/drawing/2014/main" id="{9471859D-876A-FCC4-8D76-A0246431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8313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냉장고 재료 기반 1인분 추천 서비스</a:t>
            </a:r>
          </a:p>
        </p:txBody>
      </p:sp>
      <p:sp>
        <p:nvSpPr>
          <p:cNvPr id="94" name="사각형: 둥근 모서리 93">
            <a:extLst xmlns:a="http://schemas.openxmlformats.org/drawingml/2006/main">
              <a:ext uri="{FF2B5EF4-FFF2-40B4-BE49-F238E27FC236}">
                <a16:creationId xmlns:a16="http://schemas.microsoft.com/office/drawing/2014/main" id="{AF12BAB8-A800-D6AB-5BA3-8DFA5E3E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0"/>
            <a:ext cx="9477375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7F0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5" name="직사각형 94">
            <a:extLst xmlns:a="http://schemas.openxmlformats.org/drawingml/2006/main">
              <a:ext uri="{FF2B5EF4-FFF2-40B4-BE49-F238E27FC236}">
                <a16:creationId xmlns:a16="http://schemas.microsoft.com/office/drawing/2014/main" id="{414B23F5-93D3-610C-2DA8-51FFA0BF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31607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6D36"/>
                </a:solidFill>
              </a:defRPr>
            </a:pPr>
            <a:r>
              <a:rPr sz="1350" b="1">
                <a:solidFill>
                  <a:srgbClr val="006D36"/>
                </a:solidFill>
              </a:rPr>
              <a:t>냉장고 데이터가 AI 추천을 거쳐 한 끼가 되고, 요리 결과가 다시 냉장고 데이터로 돌아옵니다.</a:t>
            </a:r>
          </a:p>
        </p:txBody>
      </p:sp>
      <p:sp>
        <p:nvSpPr>
          <p:cNvPr id="96" name="직사각형 95">
            <a:extLst xmlns:a="http://schemas.openxmlformats.org/drawingml/2006/main">
              <a:ext uri="{FF2B5EF4-FFF2-40B4-BE49-F238E27FC236}">
                <a16:creationId xmlns:a16="http://schemas.microsoft.com/office/drawing/2014/main" id="{B9A196CF-A91B-8CC4-F775-0A2AC8C6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018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D6A66"/>
                </a:solidFill>
              </a:defRPr>
            </a:pPr>
            <a:r>
              <a:rPr sz="975" b="1">
                <a:solidFill>
                  <a:srgbClr val="6D6A66"/>
                </a:solidFill>
              </a:rPr>
              <a:t>N091_박창현</a:t>
            </a:r>
          </a:p>
        </p:txBody>
      </p:sp>
      <p:sp>
        <p:nvSpPr>
          <p:cNvPr id="97" name="직사각형 96">
            <a:extLst xmlns:a="http://schemas.openxmlformats.org/drawingml/2006/main">
              <a:ext uri="{FF2B5EF4-FFF2-40B4-BE49-F238E27FC236}">
                <a16:creationId xmlns:a16="http://schemas.microsoft.com/office/drawing/2014/main" id="{B3C62EEC-511C-77DA-58A2-A796A94B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4801850"/>
            <a:ext cx="7372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D6A66"/>
                </a:solidFill>
              </a:defRPr>
            </a:pPr>
            <a:r>
              <a:rPr sz="900" b="0">
                <a:solidFill>
                  <a:srgbClr val="6D6A66"/>
                </a:solidFill>
              </a:rPr>
              <a:t>Frontend  React·Vite   |   Backend  Node.js·Express   |   Data  Supabase   |   AI  Gemini   |   Deploy  Vercel·Render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2075DCC-2E84-4C9A-901D-E2E2BF1F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A1C19"/>
                </a:solidFill>
              </a:defRPr>
            </a:pPr>
            <a:r>
              <a:rPr sz="2550" b="1">
                <a:solidFill>
                  <a:srgbClr val="1A1C19"/>
                </a:solidFill>
              </a:rPr>
              <a:t>재료는 있는데, 오늘 뭐 먹지?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B6E77CB-6822-41A1-AC48-4736D7755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790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D6A66"/>
                </a:solidFill>
              </a:defRPr>
            </a:pPr>
            <a:r>
              <a:rPr sz="1350" b="0">
                <a:solidFill>
                  <a:srgbClr val="6D6A66"/>
                </a:solidFill>
              </a:rPr>
              <a:t>냉장고 속 보유 재료와 소비기한을 확인해 지금 만들 수 있는 1인분 메뉴로 연결합니다.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954B2143-3D68-4504-A184-B7B1DEAA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57500"/>
            <a:ext cx="172402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8F5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9E95215-97B5-46E7-A8A4-8BAFDA20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38475"/>
            <a:ext cx="1495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6D36"/>
                </a:solidFill>
              </a:defRPr>
            </a:pPr>
            <a:r>
              <a:rPr sz="1125" b="1">
                <a:solidFill>
                  <a:srgbClr val="006D36"/>
                </a:solidFill>
              </a:rPr>
              <a:t>확인 → 추천 → 요리 → 반영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F3A161A-1517-44C9-8553-411FC3FC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9477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FC5F6D2-3B31-4832-A261-DFF9DB62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5915025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flow-arrow-right">
            <a:extLst xmlns:a="http://schemas.openxmlformats.org/drawingml/2006/main">
              <a:ext uri="{FF2B5EF4-FFF2-40B4-BE49-F238E27FC236}">
                <a16:creationId xmlns:a16="http://schemas.microsoft.com/office/drawing/2014/main" id="{3377F657-EB1D-460A-A206-03300646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5829300"/>
            <a:ext cx="161925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7D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9CCFF54D-3121-48AC-9230-3BC0B8CA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8353425"/>
            <a:ext cx="3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flow-arrow-down">
            <a:extLst xmlns:a="http://schemas.openxmlformats.org/drawingml/2006/main">
              <a:ext uri="{FF2B5EF4-FFF2-40B4-BE49-F238E27FC236}">
                <a16:creationId xmlns:a16="http://schemas.microsoft.com/office/drawing/2014/main" id="{891EAAB7-0564-47BA-963C-30B207E8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5388" y="8696325"/>
            <a:ext cx="161925" cy="16192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7D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CEE256C-D052-4A28-9411-3C870A194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089660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flow-arrow-left">
            <a:extLst xmlns:a="http://schemas.openxmlformats.org/drawingml/2006/main">
              <a:ext uri="{FF2B5EF4-FFF2-40B4-BE49-F238E27FC236}">
                <a16:creationId xmlns:a16="http://schemas.microsoft.com/office/drawing/2014/main" id="{222B5ECF-EE93-47A2-8481-43026A22A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0810875"/>
            <a:ext cx="161925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7D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9BEA8F5-DFAD-469B-AE23-D5844DA3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8353425"/>
            <a:ext cx="3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flow-arrow-up">
            <a:extLst xmlns:a="http://schemas.openxmlformats.org/drawingml/2006/main">
              <a:ext uri="{FF2B5EF4-FFF2-40B4-BE49-F238E27FC236}">
                <a16:creationId xmlns:a16="http://schemas.microsoft.com/office/drawing/2014/main" id="{2AFE6CAE-6D9F-4714-AD1B-93008811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8788" y="8353425"/>
            <a:ext cx="161925" cy="16192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7D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87A2B8CF-9EB9-4EE0-9755-1739E70E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4476750" cy="447675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D8CE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9352214E-6990-4A6F-8685-EC88BE8A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447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E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64254CF6-EDB1-4BEC-8488-3E6B321C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E7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66751311-D113-4916-A6BE-FD27A50D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576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7E47"/>
                </a:solidFill>
              </a:defRPr>
            </a:pPr>
            <a:r>
              <a:rPr sz="1650" b="1">
                <a:solidFill>
                  <a:srgbClr val="FF7E47"/>
                </a:solidFill>
              </a:rPr>
              <a:t>01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67FD730E-8835-4678-B0EE-B6B52EC07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181475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A1C19"/>
                </a:solidFill>
              </a:defRPr>
            </a:pPr>
            <a:r>
              <a:rPr sz="1875" b="1">
                <a:solidFill>
                  <a:srgbClr val="1A1C19"/>
                </a:solidFill>
              </a:rPr>
              <a:t>냉장고 확인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EB84CD2E-3838-481F-B1D2-F2948708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148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D6A66"/>
                </a:solidFill>
              </a:defRPr>
            </a:pPr>
            <a:r>
              <a:rPr sz="1125" b="0">
                <a:solidFill>
                  <a:srgbClr val="6D6A66"/>
                </a:solidFill>
              </a:rPr>
              <a:t>보유 재료·수량·소비기한을 한눈에 확인</a:t>
            </a:r>
          </a:p>
        </p:txBody>
      </p:sp>
      <p:sp>
        <p:nvSpPr>
          <p:cNvPr id="118" name="screenshot-placeholder-01">
            <a:extLst xmlns:a="http://schemas.openxmlformats.org/drawingml/2006/main">
              <a:ext uri="{FF2B5EF4-FFF2-40B4-BE49-F238E27FC236}">
                <a16:creationId xmlns:a16="http://schemas.microsoft.com/office/drawing/2014/main" id="{20948FAB-54F4-4410-AD72-123FDC6C4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10150"/>
            <a:ext cx="4057650" cy="2282428"/>
          </a:xfrm>
          <a:prstGeom xmlns:a="http://schemas.openxmlformats.org/drawingml/2006/main" prst="roundRect">
            <a:avLst>
              <a:gd name="adj" fmla="val 5008"/>
            </a:avLst>
          </a:prstGeom>
          <a:solidFill xmlns:a="http://schemas.openxmlformats.org/drawingml/2006/main">
            <a:srgbClr val="FBF8F4"/>
          </a:solidFill>
          <a:ln xmlns:a="http://schemas.openxmlformats.org/drawingml/2006/main" w="14288">
            <a:solidFill>
              <a:srgbClr val="E7D8CE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4DD590A-2B8B-4DA8-922B-D6733BE9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339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E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screenshot-label-01">
            <a:extLst xmlns:a="http://schemas.openxmlformats.org/drawingml/2006/main">
              <a:ext uri="{FF2B5EF4-FFF2-40B4-BE49-F238E27FC236}">
                <a16:creationId xmlns:a16="http://schemas.microsoft.com/office/drawing/2014/main" id="{86915028-FB4F-4A35-AF2C-8BB374EC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86350"/>
            <a:ext cx="3600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E47"/>
                </a:solidFill>
              </a:defRPr>
            </a:pPr>
            <a:r>
              <a:rPr sz="975" b="1">
                <a:solidFill>
                  <a:srgbClr val="FF7E47"/>
                </a:solidFill>
              </a:rPr>
              <a:t>SCREEN 01  ·  16:9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DAE4F9B-725F-4DDB-B377-623A8AF2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08489"/>
            <a:ext cx="4057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7AEA6"/>
                </a:solidFill>
              </a:defRPr>
            </a:pPr>
            <a:r>
              <a:rPr sz="1350" b="1">
                <a:solidFill>
                  <a:srgbClr val="B7AEA6"/>
                </a:solidFill>
              </a:rPr>
              <a:t>화면 캡처 영역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C5E2B6D3-8192-4D74-8546-A6B49940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968728"/>
            <a:ext cx="405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A79E96"/>
                </a:solidFill>
              </a:defRPr>
            </a:pPr>
            <a:r>
              <a:rPr sz="900" b="0">
                <a:solidFill>
                  <a:srgbClr val="A79E96"/>
                </a:solidFill>
              </a:rPr>
              <a:t>완성 후 이 도형을 실제 화면 이미지로 교체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45B88F52-B773-4C9E-A62B-A6B9FFF0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54503"/>
            <a:ext cx="405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E47"/>
                </a:solidFill>
              </a:defRPr>
            </a:pPr>
            <a:r>
              <a:rPr sz="1050" b="1">
                <a:solidFill>
                  <a:srgbClr val="FF7E47"/>
                </a:solidFill>
              </a:rPr>
              <a:t>화면 → 서버 → DB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D8DAC673-C123-4A77-B387-DBAEFF86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92628"/>
            <a:ext cx="4057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화면   GET /api/ingredients</a:t>
            </a:r>
          </a:p>
          <a:p xmlns:a="http://schemas.openxmlformats.org/drawingml/2006/main">
            <a:pPr algn="l"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서버   재료 목록 조회</a:t>
            </a:r>
          </a:p>
          <a:p xmlns:a="http://schemas.openxmlformats.org/drawingml/2006/main">
            <a:pPr algn="l"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DB      SELECT ingredients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DC07BC9-A623-4A6B-A1FA-93EA6185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943350"/>
            <a:ext cx="4476750" cy="447675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D8CE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B9A1B8AE-3D5F-4899-9E67-2C6E33D7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943350"/>
            <a:ext cx="447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D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EF4CFF9D-1156-43DC-B8B4-048BC01E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1719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8F5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48CB017D-1B32-42FB-A684-715739CA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2576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6D36"/>
                </a:solidFill>
              </a:defRPr>
            </a:pPr>
            <a:r>
              <a:rPr sz="1650" b="1">
                <a:solidFill>
                  <a:srgbClr val="006D36"/>
                </a:solidFill>
              </a:rPr>
              <a:t>02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A2050C93-F87F-4EBB-AF0E-28D59A64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181475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A1C19"/>
                </a:solidFill>
              </a:defRPr>
            </a:pPr>
            <a:r>
              <a:rPr sz="1875" b="1">
                <a:solidFill>
                  <a:srgbClr val="1A1C19"/>
                </a:solidFill>
              </a:rPr>
              <a:t>AI 메뉴 추천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653CA373-C5C9-489A-B4F5-5EADAFE4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5148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D6A66"/>
                </a:solidFill>
              </a:defRPr>
            </a:pPr>
            <a:r>
              <a:rPr sz="1125" b="0">
                <a:solidFill>
                  <a:srgbClr val="6D6A66"/>
                </a:solidFill>
              </a:rPr>
              <a:t>오늘의 상황을 반영해 1인분 메뉴 추천</a:t>
            </a:r>
          </a:p>
        </p:txBody>
      </p:sp>
      <p:sp>
        <p:nvSpPr>
          <p:cNvPr id="131" name="screenshot-placeholder-02">
            <a:extLst xmlns:a="http://schemas.openxmlformats.org/drawingml/2006/main">
              <a:ext uri="{FF2B5EF4-FFF2-40B4-BE49-F238E27FC236}">
                <a16:creationId xmlns:a16="http://schemas.microsoft.com/office/drawing/2014/main" id="{3996D9BC-0797-46AE-9E64-063037C5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5010150"/>
            <a:ext cx="4057650" cy="2282428"/>
          </a:xfrm>
          <a:prstGeom xmlns:a="http://schemas.openxmlformats.org/drawingml/2006/main" prst="roundRect">
            <a:avLst>
              <a:gd name="adj" fmla="val 5008"/>
            </a:avLst>
          </a:prstGeom>
          <a:solidFill xmlns:a="http://schemas.openxmlformats.org/drawingml/2006/main">
            <a:srgbClr val="FBF8F4"/>
          </a:solidFill>
          <a:ln xmlns:a="http://schemas.openxmlformats.org/drawingml/2006/main" w="14288">
            <a:solidFill>
              <a:srgbClr val="E7D8CE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0F46E570-2D5C-4284-8415-799AD2CA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1339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D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screenshot-label-02">
            <a:extLst xmlns:a="http://schemas.openxmlformats.org/drawingml/2006/main">
              <a:ext uri="{FF2B5EF4-FFF2-40B4-BE49-F238E27FC236}">
                <a16:creationId xmlns:a16="http://schemas.microsoft.com/office/drawing/2014/main" id="{FD01C279-417D-4076-BF30-230F77B9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5086350"/>
            <a:ext cx="3600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D36"/>
                </a:solidFill>
              </a:defRPr>
            </a:pPr>
            <a:r>
              <a:rPr sz="975" b="1">
                <a:solidFill>
                  <a:srgbClr val="006D36"/>
                </a:solidFill>
              </a:rPr>
              <a:t>SCREEN 02  ·  16:9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7128D7B2-A5C2-4948-95C7-F90622F2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6008489"/>
            <a:ext cx="4057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7AEA6"/>
                </a:solidFill>
              </a:defRPr>
            </a:pPr>
            <a:r>
              <a:rPr sz="1350" b="1">
                <a:solidFill>
                  <a:srgbClr val="B7AEA6"/>
                </a:solidFill>
              </a:rPr>
              <a:t>화면 캡처 영역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A80A9FF4-670E-4E0D-89E2-5C59B10B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6968728"/>
            <a:ext cx="405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A79E96"/>
                </a:solidFill>
              </a:defRPr>
            </a:pPr>
            <a:r>
              <a:rPr sz="900" b="0">
                <a:solidFill>
                  <a:srgbClr val="A79E96"/>
                </a:solidFill>
              </a:rPr>
              <a:t>완성 후 이 도형을 실제 화면 이미지로 교체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34C2462A-B333-4A0E-A6B6-65704276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7454503"/>
            <a:ext cx="405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6D36"/>
                </a:solidFill>
              </a:defRPr>
            </a:pPr>
            <a:r>
              <a:rPr sz="1050" b="1">
                <a:solidFill>
                  <a:srgbClr val="006D36"/>
                </a:solidFill>
              </a:rPr>
              <a:t>화면 → 서버 → DB·AI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934DB4DF-05C3-4AE0-9560-8BB417FD5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7692628"/>
            <a:ext cx="4057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화면   POST /api/recommendations</a:t>
            </a:r>
          </a:p>
          <a:p xmlns:a="http://schemas.openxmlformats.org/drawingml/2006/main">
            <a:pPr algn="l"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서버   우선순위·캐시·응답 검증</a:t>
            </a:r>
          </a:p>
          <a:p xmlns:a="http://schemas.openxmlformats.org/drawingml/2006/main">
            <a:pPr algn="l"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DB·AI  재료 조회 → Gemini JSON 생성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5417ECF8-9343-40B4-B3BD-1FF0DB622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05850"/>
            <a:ext cx="4476750" cy="447675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D8CE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8EF57020-3428-41B3-A18F-E0834B51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05850"/>
            <a:ext cx="447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D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E0726466-317F-46F2-B50A-D606DE0B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9344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8F5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3F4B5DD4-0555-4663-B304-5CB39C57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0201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6D36"/>
                </a:solidFill>
              </a:defRPr>
            </a:pPr>
            <a:r>
              <a:rPr sz="1650" b="1">
                <a:solidFill>
                  <a:srgbClr val="006D36"/>
                </a:solidFill>
              </a:rPr>
              <a:t>04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B6551BE2-4BB8-4574-A4E7-A26DEC3DD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8943975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A1C19"/>
                </a:solidFill>
              </a:defRPr>
            </a:pPr>
            <a:r>
              <a:rPr sz="1875" b="1">
                <a:solidFill>
                  <a:srgbClr val="1A1C19"/>
                </a:solidFill>
              </a:rPr>
              <a:t>요리 완료·재료 반영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E47F1AF5-3917-4CB9-A980-0F1B5CA6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92773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D6A66"/>
                </a:solidFill>
              </a:defRPr>
            </a:pPr>
            <a:r>
              <a:rPr sz="1125" b="0">
                <a:solidFill>
                  <a:srgbClr val="6D6A66"/>
                </a:solidFill>
              </a:rPr>
              <a:t>사용한 재료를 차감해 다음 추천에 반영</a:t>
            </a:r>
          </a:p>
        </p:txBody>
      </p:sp>
      <p:sp>
        <p:nvSpPr>
          <p:cNvPr id="144" name="screenshot-placeholder-04">
            <a:extLst xmlns:a="http://schemas.openxmlformats.org/drawingml/2006/main">
              <a:ext uri="{FF2B5EF4-FFF2-40B4-BE49-F238E27FC236}">
                <a16:creationId xmlns:a16="http://schemas.microsoft.com/office/drawing/2014/main" id="{D3CB36BE-33A2-46F3-BFD4-3C9EEAED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772650"/>
            <a:ext cx="4057650" cy="2282428"/>
          </a:xfrm>
          <a:prstGeom xmlns:a="http://schemas.openxmlformats.org/drawingml/2006/main" prst="roundRect">
            <a:avLst>
              <a:gd name="adj" fmla="val 5008"/>
            </a:avLst>
          </a:prstGeom>
          <a:solidFill xmlns:a="http://schemas.openxmlformats.org/drawingml/2006/main">
            <a:srgbClr val="FBF8F4"/>
          </a:solidFill>
          <a:ln xmlns:a="http://schemas.openxmlformats.org/drawingml/2006/main" w="14288">
            <a:solidFill>
              <a:srgbClr val="E7D8CE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008531B1-249E-480D-B971-96C828AB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8964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D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screenshot-label-04">
            <a:extLst xmlns:a="http://schemas.openxmlformats.org/drawingml/2006/main">
              <a:ext uri="{FF2B5EF4-FFF2-40B4-BE49-F238E27FC236}">
                <a16:creationId xmlns:a16="http://schemas.microsoft.com/office/drawing/2014/main" id="{4254DB53-2D4E-4949-AFA7-4772F52C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9848850"/>
            <a:ext cx="3600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D36"/>
                </a:solidFill>
              </a:defRPr>
            </a:pPr>
            <a:r>
              <a:rPr sz="975" b="1">
                <a:solidFill>
                  <a:srgbClr val="006D36"/>
                </a:solidFill>
              </a:rPr>
              <a:t>SCREEN 04  ·  16:9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76E58595-B505-421D-AB13-8631B66C5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0770989"/>
            <a:ext cx="4057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7AEA6"/>
                </a:solidFill>
              </a:defRPr>
            </a:pPr>
            <a:r>
              <a:rPr sz="1350" b="1">
                <a:solidFill>
                  <a:srgbClr val="B7AEA6"/>
                </a:solidFill>
              </a:rPr>
              <a:t>화면 캡처 영역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A16BB16B-D9BC-4D29-AAE3-8D4AA5B9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1731228"/>
            <a:ext cx="405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A79E96"/>
                </a:solidFill>
              </a:defRPr>
            </a:pPr>
            <a:r>
              <a:rPr sz="900" b="0">
                <a:solidFill>
                  <a:srgbClr val="A79E96"/>
                </a:solidFill>
              </a:rPr>
              <a:t>완성 후 이 도형을 실제 화면 이미지로 교체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DC3F62A5-3F51-4E3E-8238-34DBAAF0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2217003"/>
            <a:ext cx="405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6D36"/>
                </a:solidFill>
              </a:defRPr>
            </a:pPr>
            <a:r>
              <a:rPr sz="1050" b="1">
                <a:solidFill>
                  <a:srgbClr val="006D36"/>
                </a:solidFill>
              </a:rPr>
              <a:t>화면 → 서버 → DB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DAC493ED-A318-4393-93F5-B77D2BA5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2455128"/>
            <a:ext cx="4057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화면   POST /api/ingredients/consume</a:t>
            </a:r>
          </a:p>
          <a:p xmlns:a="http://schemas.openxmlformats.org/drawingml/2006/main">
            <a:pPr algn="l"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서버   단위·수량·차감량 검증</a:t>
            </a:r>
          </a:p>
          <a:p xmlns:a="http://schemas.openxmlformats.org/drawingml/2006/main">
            <a:pPr algn="l"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DB      UPDATE 또는 DELETE ingredients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AEA05487-EC4E-432A-BD8C-76B2FCD0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8705850"/>
            <a:ext cx="4476750" cy="447675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D8CE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7BB6305B-CA0A-4FFF-9D45-08FA6FCF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8705850"/>
            <a:ext cx="447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E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BE390897-F46D-4465-BF4C-E6FCFB64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89344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E7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F5210E80-EF94-4C7E-8D3D-00D8356B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90201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7E47"/>
                </a:solidFill>
              </a:defRPr>
            </a:pPr>
            <a:r>
              <a:rPr sz="1650" b="1">
                <a:solidFill>
                  <a:srgbClr val="FF7E47"/>
                </a:solidFill>
              </a:rPr>
              <a:t>03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B8B75F3C-D082-42D9-8A29-090409B2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8943975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A1C19"/>
                </a:solidFill>
              </a:defRPr>
            </a:pPr>
            <a:r>
              <a:rPr sz="1875" b="1">
                <a:solidFill>
                  <a:srgbClr val="1A1C19"/>
                </a:solidFill>
              </a:rPr>
              <a:t>레시피 상세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3A33E926-7A47-49B2-8DFE-5AFB48DE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92773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D6A66"/>
                </a:solidFill>
              </a:defRPr>
            </a:pPr>
            <a:r>
              <a:rPr sz="1125" b="0">
                <a:solidFill>
                  <a:srgbClr val="6D6A66"/>
                </a:solidFill>
              </a:rPr>
              <a:t>재료·수량·대체안·조리 순서를 확인</a:t>
            </a:r>
          </a:p>
        </p:txBody>
      </p:sp>
      <p:sp>
        <p:nvSpPr>
          <p:cNvPr id="157" name="screenshot-placeholder-03">
            <a:extLst xmlns:a="http://schemas.openxmlformats.org/drawingml/2006/main">
              <a:ext uri="{FF2B5EF4-FFF2-40B4-BE49-F238E27FC236}">
                <a16:creationId xmlns:a16="http://schemas.microsoft.com/office/drawing/2014/main" id="{F4220C0D-B417-42C8-8076-2252EE4AE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9772650"/>
            <a:ext cx="4057650" cy="2282428"/>
          </a:xfrm>
          <a:prstGeom xmlns:a="http://schemas.openxmlformats.org/drawingml/2006/main" prst="roundRect">
            <a:avLst>
              <a:gd name="adj" fmla="val 5008"/>
            </a:avLst>
          </a:prstGeom>
          <a:solidFill xmlns:a="http://schemas.openxmlformats.org/drawingml/2006/main">
            <a:srgbClr val="FBF8F4"/>
          </a:solidFill>
          <a:ln xmlns:a="http://schemas.openxmlformats.org/drawingml/2006/main" w="14288">
            <a:solidFill>
              <a:srgbClr val="E7D8CE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6D363ABD-B691-42DB-B698-A78BD008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98964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E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screenshot-label-03">
            <a:extLst xmlns:a="http://schemas.openxmlformats.org/drawingml/2006/main">
              <a:ext uri="{FF2B5EF4-FFF2-40B4-BE49-F238E27FC236}">
                <a16:creationId xmlns:a16="http://schemas.microsoft.com/office/drawing/2014/main" id="{8625B01A-48C5-4010-B702-CEDA3521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848850"/>
            <a:ext cx="3600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E47"/>
                </a:solidFill>
              </a:defRPr>
            </a:pPr>
            <a:r>
              <a:rPr sz="975" b="1">
                <a:solidFill>
                  <a:srgbClr val="FF7E47"/>
                </a:solidFill>
              </a:rPr>
              <a:t>SCREEN 03  ·  16:9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902E7DEC-684D-4C2F-AD49-DFF18184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0770989"/>
            <a:ext cx="4057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7AEA6"/>
                </a:solidFill>
              </a:defRPr>
            </a:pPr>
            <a:r>
              <a:rPr sz="1350" b="1">
                <a:solidFill>
                  <a:srgbClr val="B7AEA6"/>
                </a:solidFill>
              </a:rPr>
              <a:t>화면 캡처 영역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23836877-17D0-480B-AD9C-79DFFF55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1731228"/>
            <a:ext cx="405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A79E96"/>
                </a:solidFill>
              </a:defRPr>
            </a:pPr>
            <a:r>
              <a:rPr sz="900" b="0">
                <a:solidFill>
                  <a:srgbClr val="A79E96"/>
                </a:solidFill>
              </a:rPr>
              <a:t>완성 후 이 도형을 실제 화면 이미지로 교체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6267BAF5-1FF9-425E-A2C4-5F0DF8F9A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2217003"/>
            <a:ext cx="405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E47"/>
                </a:solidFill>
              </a:defRPr>
            </a:pPr>
            <a:r>
              <a:rPr sz="1050" b="1">
                <a:solidFill>
                  <a:srgbClr val="FF7E47"/>
                </a:solidFill>
              </a:rPr>
              <a:t>추천 화면 → 상세 화면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1CB73BFC-E6B8-480C-9D01-B7A839A3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2455128"/>
            <a:ext cx="4057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추천 화면   선택한 recipe 객체 전달</a:t>
            </a:r>
          </a:p>
          <a:p xmlns:a="http://schemas.openxmlformats.org/drawingml/2006/main">
            <a:pPr algn="l"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상세 화면   조리 정보 표시</a:t>
            </a:r>
          </a:p>
          <a:p xmlns:a="http://schemas.openxmlformats.org/drawingml/2006/main">
            <a:pPr algn="l"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추가 API 호출 없이 즉시 전환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CA3BE4DB-3075-42AD-9029-308886AE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401675"/>
            <a:ext cx="9477375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7F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5A675502-A68C-46CC-9752-7943E187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525500"/>
            <a:ext cx="909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6D36"/>
                </a:solidFill>
              </a:defRPr>
            </a:pPr>
            <a:r>
              <a:rPr sz="1350" b="1">
                <a:solidFill>
                  <a:srgbClr val="006D36"/>
                </a:solidFill>
              </a:rPr>
              <a:t>재료 데이터  →  AI 추천  →  1인분 레시피  →  요리 완료  →  냉장고 재고 갱신</a:t>
            </a:r>
          </a:p>
        </p:txBody>
      </p:sp>
    </p:spTree>
    <p:extLst>
      <p:ext uri="{BB962C8B-B14F-4D97-AF65-F5344CB8AC3E}">
        <p14:creationId xmlns:p14="http://schemas.microsoft.com/office/powerpoint/2010/main" val="7302426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2026-07-28T07:11:52.7580000Z</dcterms:created>
  <dcterms:modified xsi:type="dcterms:W3CDTF">2026-07-28T07:11:52.7580000Z</dcterms:modified>
</coreProperties>
</file>