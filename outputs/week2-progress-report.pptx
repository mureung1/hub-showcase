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1edba2ac6b4a9b" /><Relationship Type="http://schemas.openxmlformats.org/officeDocument/2006/relationships/extended-properties" Target="/docProps/app.xml" Id="Rfcb9512c24e947ff" /><Relationship Type="http://schemas.openxmlformats.org/officeDocument/2006/relationships/officeDocument" Target="/ppt/presentation.xml" Id="R8a251f1502ee4c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d47cdcbb6544ff"/>
  </p:sldMasterIdLst>
  <p:notesMasterIdLst>
    <p:notesMasterId xmlns:r="http://schemas.openxmlformats.org/officeDocument/2006/relationships" r:id="R3598a53b5b044e16"/>
  </p:notesMasterIdLst>
  <p:sldIdLst>
    <p:sldId xmlns:r="http://schemas.openxmlformats.org/officeDocument/2006/relationships" id="256" r:id="R057ec55ecf8048bb"/>
    <p:sldId xmlns:r="http://schemas.openxmlformats.org/officeDocument/2006/relationships" id="257" r:id="Rc92574355bce40e7"/>
    <p:sldId xmlns:r="http://schemas.openxmlformats.org/officeDocument/2006/relationships" id="258" r:id="R5e5bab614e904565"/>
    <p:sldId xmlns:r="http://schemas.openxmlformats.org/officeDocument/2006/relationships" id="259" r:id="R74256b60ab274f9c"/>
    <p:sldId xmlns:r="http://schemas.openxmlformats.org/officeDocument/2006/relationships" id="260" r:id="R2c2e5f68c9ee4745"/>
    <p:sldId xmlns:r="http://schemas.openxmlformats.org/officeDocument/2006/relationships" id="261" r:id="R9dff909f304c40f5"/>
    <p:sldId xmlns:r="http://schemas.openxmlformats.org/officeDocument/2006/relationships" id="262" r:id="R0a19ecb76fff49a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4edfb67c6d469d" /><Relationship Type="http://schemas.openxmlformats.org/officeDocument/2006/relationships/slideMaster" Target="/ppt/slideMasters/slideMaster1.xml" Id="R87d47cdcbb6544ff" /><Relationship Type="http://schemas.openxmlformats.org/officeDocument/2006/relationships/notesMaster" Target="/ppt/notesMasters/notesMaster1.xml" Id="R3598a53b5b044e16" /><Relationship Type="http://schemas.openxmlformats.org/officeDocument/2006/relationships/presProps" Target="/ppt/presProps.xml" Id="R8ffed4305204461e" /><Relationship Type="http://schemas.openxmlformats.org/officeDocument/2006/relationships/tableStyles" Target="/ppt/tableStyles.xml" Id="R0cc7f51e1879401d" /><Relationship Type="http://schemas.openxmlformats.org/officeDocument/2006/relationships/slide" Target="/ppt/slides/slide1.xml" Id="R057ec55ecf8048bb" /><Relationship Type="http://schemas.openxmlformats.org/officeDocument/2006/relationships/slide" Target="/ppt/slides/slide2.xml" Id="Rc92574355bce40e7" /><Relationship Type="http://schemas.openxmlformats.org/officeDocument/2006/relationships/slide" Target="/ppt/slides/slide3.xml" Id="R5e5bab614e904565" /><Relationship Type="http://schemas.openxmlformats.org/officeDocument/2006/relationships/slide" Target="/ppt/slides/slide4.xml" Id="R74256b60ab274f9c" /><Relationship Type="http://schemas.openxmlformats.org/officeDocument/2006/relationships/slide" Target="/ppt/slides/slide5.xml" Id="R2c2e5f68c9ee4745" /><Relationship Type="http://schemas.openxmlformats.org/officeDocument/2006/relationships/slide" Target="/ppt/slides/slide6.xml" Id="R9dff909f304c40f5" /><Relationship Type="http://schemas.openxmlformats.org/officeDocument/2006/relationships/slide" Target="/ppt/slides/slide7.xml" Id="R0a19ecb76fff49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35d4a217d040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ca6215d91d4199" /><Relationship Type="http://schemas.openxmlformats.org/officeDocument/2006/relationships/notesMaster" Target="/ppt/notesMasters/notesMaster1.xml" Id="Re4912cd6572a48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026c3594364e88" /><Relationship Type="http://schemas.openxmlformats.org/officeDocument/2006/relationships/notesMaster" Target="/ppt/notesMasters/notesMaster1.xml" Id="R3566f54d50894c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a6c0e6e90b42d8" /><Relationship Type="http://schemas.openxmlformats.org/officeDocument/2006/relationships/notesMaster" Target="/ppt/notesMasters/notesMaster1.xml" Id="R4123c42bf0264e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3217dd0af5431c" /><Relationship Type="http://schemas.openxmlformats.org/officeDocument/2006/relationships/notesMaster" Target="/ppt/notesMasters/notesMaster1.xml" Id="R3626c6d6115b46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4e5999316b4c10" /><Relationship Type="http://schemas.openxmlformats.org/officeDocument/2006/relationships/notesMaster" Target="/ppt/notesMasters/notesMaster1.xml" Id="Rb6edd083e9c940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c90588823142e6" /><Relationship Type="http://schemas.openxmlformats.org/officeDocument/2006/relationships/notesMaster" Target="/ppt/notesMasters/notesMaster1.xml" Id="R039a1d477e974c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333f7aa7394d73" /><Relationship Type="http://schemas.openxmlformats.org/officeDocument/2006/relationships/notesMaster" Target="/ppt/notesMasters/notesMaster1.xml" Id="R2b170d82b08d49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13c898ebcc4e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aa3c8bef814685" /><Relationship Type="http://schemas.openxmlformats.org/officeDocument/2006/relationships/slideLayout" Target="/ppt/slideLayouts/slideLayout1.xml" Id="R476372097a704a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6372097a704a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fc452736241d3" /><Relationship Type="http://schemas.openxmlformats.org/officeDocument/2006/relationships/notesSlide" Target="/ppt/notesSlides/notesSlide1.xml" Id="R60ca7de9bd7549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bedfaec2040fd" /><Relationship Type="http://schemas.openxmlformats.org/officeDocument/2006/relationships/notesSlide" Target="/ppt/notesSlides/notesSlide2.xml" Id="R797738627d0e47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dd131c4fb4ecf" /><Relationship Type="http://schemas.openxmlformats.org/officeDocument/2006/relationships/notesSlide" Target="/ppt/notesSlides/notesSlide3.xml" Id="Rbb34be9c342647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67f02236e443c" /><Relationship Type="http://schemas.openxmlformats.org/officeDocument/2006/relationships/notesSlide" Target="/ppt/notesSlides/notesSlide4.xml" Id="Re9ade05d1f354d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c6a394c4c40ec" /><Relationship Type="http://schemas.openxmlformats.org/officeDocument/2006/relationships/notesSlide" Target="/ppt/notesSlides/notesSlide5.xml" Id="R5b8d8f4d6a7743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4a90fb71a4468" /><Relationship Type="http://schemas.openxmlformats.org/officeDocument/2006/relationships/notesSlide" Target="/ppt/notesSlides/notesSlide6.xml" Id="R997ac8632b374a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83878068a4085" /><Relationship Type="http://schemas.openxmlformats.org/officeDocument/2006/relationships/notesSlide" Target="/ppt/notesSlides/notesSlide7.xml" Id="Rabd2dbf0c88747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lue-side">
            <a:extLst xmlns:a="http://schemas.openxmlformats.org/drawingml/2006/main">
              <a:ext uri="{FF2B5EF4-FFF2-40B4-BE49-F238E27FC236}">
                <a16:creationId xmlns:a16="http://schemas.microsoft.com/office/drawing/2014/main" id="{C962C0BD-6DF1-45BD-88D7-8B27B3D0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CC82A76F-45D5-4205-890D-03326DC3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0B2D5C"/>
                </a:solidFill>
              </a:defRPr>
            </a:pPr>
            <a:r>
              <a:rPr sz="3900" b="1">
                <a:solidFill>
                  <a:srgbClr val="0B2D5C"/>
                </a:solidFill>
              </a:rPr>
              <a:t>2주차 핵심 작업 정리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747CD3E-380A-4714-839E-2362C92D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950" b="0">
                <a:solidFill>
                  <a:srgbClr val="172033"/>
                </a:solidFill>
              </a:defRPr>
            </a:pPr>
            <a:r>
              <a:rPr sz="1950" b="0">
                <a:solidFill>
                  <a:srgbClr val="172033"/>
                </a:solidFill>
              </a:rPr>
              <a:t>정적 프로토타입을 React MVP로 옮기고, 핵심 퀘스트 흐름을 서버 요청까지 이어지게 만들었다.</a:t>
            </a:r>
          </a:p>
        </p:txBody>
      </p:sp>
      <p:sp>
        <p:nvSpPr>
          <p:cNvPr id="4" name="badge-React MVP Flow">
            <a:extLst xmlns:a="http://schemas.openxmlformats.org/drawingml/2006/main">
              <a:ext uri="{FF2B5EF4-FFF2-40B4-BE49-F238E27FC236}">
                <a16:creationId xmlns:a16="http://schemas.microsoft.com/office/drawing/2014/main" id="{FF1CE271-D5B2-4C87-95D4-4D63F05F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000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A9CBFF"/>
            </a:solidFill>
            <a:prstDash val="solid"/>
          </a:ln>
        </p:spPr>
      </p:sp>
      <p:sp>
        <p:nvSpPr>
          <p:cNvPr id="5" name="badge-text-React MVP Flow">
            <a:extLst xmlns:a="http://schemas.openxmlformats.org/drawingml/2006/main">
              <a:ext uri="{FF2B5EF4-FFF2-40B4-BE49-F238E27FC236}">
                <a16:creationId xmlns:a16="http://schemas.microsoft.com/office/drawing/2014/main" id="{DA3F28A2-3CC3-4E2E-9647-DC0AB8CB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React MVP Flow</a:t>
            </a:r>
          </a:p>
        </p:txBody>
      </p:sp>
      <p:sp>
        <p:nvSpPr>
          <p:cNvPr id="6" name="badge-Quest Event API">
            <a:extLst xmlns:a="http://schemas.openxmlformats.org/drawingml/2006/main">
              <a:ext uri="{FF2B5EF4-FFF2-40B4-BE49-F238E27FC236}">
                <a16:creationId xmlns:a16="http://schemas.microsoft.com/office/drawing/2014/main" id="{A367C96B-F659-4CFE-A1AC-AE6BB87B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43250"/>
            <a:ext cx="2000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A9CBFF"/>
            </a:solidFill>
            <a:prstDash val="solid"/>
          </a:ln>
        </p:spPr>
      </p:sp>
      <p:sp>
        <p:nvSpPr>
          <p:cNvPr id="7" name="badge-text-Quest Event API">
            <a:extLst xmlns:a="http://schemas.openxmlformats.org/drawingml/2006/main">
              <a:ext uri="{FF2B5EF4-FFF2-40B4-BE49-F238E27FC236}">
                <a16:creationId xmlns:a16="http://schemas.microsoft.com/office/drawing/2014/main" id="{F38A5B02-C24B-499D-9393-A0DE4FEA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194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Quest Event API</a:t>
            </a:r>
          </a:p>
        </p:txBody>
      </p:sp>
      <p:sp>
        <p:nvSpPr>
          <p:cNvPr id="8" name="pr-line">
            <a:extLst xmlns:a="http://schemas.openxmlformats.org/drawingml/2006/main">
              <a:ext uri="{FF2B5EF4-FFF2-40B4-BE49-F238E27FC236}">
                <a16:creationId xmlns:a16="http://schemas.microsoft.com/office/drawing/2014/main" id="{B3E06CDB-3ED9-4E76-9EF9-6C1E6409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근거 PR: #910 Agent 운영 체계 · #1049 React mock flow · #1112 XP/API slice</a:t>
            </a:r>
          </a:p>
        </p:txBody>
      </p:sp>
      <p:sp>
        <p:nvSpPr>
          <p:cNvPr id="9" name="summary-shape">
            <a:extLst xmlns:a="http://schemas.openxmlformats.org/drawingml/2006/main">
              <a:ext uri="{FF2B5EF4-FFF2-40B4-BE49-F238E27FC236}">
                <a16:creationId xmlns:a16="http://schemas.microsoft.com/office/drawing/2014/main" id="{68B983BA-213A-4811-BAF3-0868C8B5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066800"/>
            <a:ext cx="2381250" cy="2952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D4E7FF"/>
            </a:solidFill>
            <a:prstDash val="solid"/>
          </a:ln>
        </p:spPr>
      </p:sp>
      <p:sp>
        <p:nvSpPr>
          <p:cNvPr id="10" name="summary-title">
            <a:extLst xmlns:a="http://schemas.openxmlformats.org/drawingml/2006/main">
              <a:ext uri="{FF2B5EF4-FFF2-40B4-BE49-F238E27FC236}">
                <a16:creationId xmlns:a16="http://schemas.microsoft.com/office/drawing/2014/main" id="{DF9352B4-7A98-40BB-B08D-C961769E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428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B2D5C"/>
                </a:solidFill>
              </a:defRPr>
            </a:pPr>
            <a:r>
              <a:rPr sz="1650" b="1">
                <a:solidFill>
                  <a:srgbClr val="0B2D5C"/>
                </a:solidFill>
              </a:rPr>
              <a:t>이번 주의 변화</a:t>
            </a:r>
          </a:p>
        </p:txBody>
      </p:sp>
      <p:sp>
        <p:nvSpPr>
          <p:cNvPr id="11" name="summary-words">
            <a:extLst xmlns:a="http://schemas.openxmlformats.org/drawingml/2006/main">
              <a:ext uri="{FF2B5EF4-FFF2-40B4-BE49-F238E27FC236}">
                <a16:creationId xmlns:a16="http://schemas.microsoft.com/office/drawing/2014/main" id="{E7CC33E9-0898-4F24-A4F4-9EA5E17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52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화면 흐름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+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서버 요청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+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확장 데이터</a:t>
            </a:r>
          </a:p>
        </p:txBody>
      </p:sp>
    </p:spTree>
    <p:extLst>
      <p:ext uri="{BB962C8B-B14F-4D97-AF65-F5344CB8AC3E}">
        <p14:creationId xmlns:p14="http://schemas.microsoft.com/office/powerpoint/2010/main" val="319889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ule">
            <a:extLst xmlns:a="http://schemas.openxmlformats.org/drawingml/2006/main">
              <a:ext uri="{FF2B5EF4-FFF2-40B4-BE49-F238E27FC236}">
                <a16:creationId xmlns:a16="http://schemas.microsoft.com/office/drawing/2014/main" id="{889185EB-0EA3-44A0-AC63-4D9DAAC1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81694282-AFAE-47D2-BCD8-4EF991C0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핵심 작업 1 · React MVP Flow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6AD9C3-DA88-400D-B6E0-EC40BEAD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0B2D5C"/>
                </a:solidFill>
              </a:defRPr>
            </a:pPr>
            <a:r>
              <a:rPr sz="2925" b="1">
                <a:solidFill>
                  <a:srgbClr val="0B2D5C"/>
                </a:solidFill>
              </a:rPr>
              <a:t>React 화면 흐름을 실제 MVP 동작으로 묶었다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346D490-B6CF-4AF6-855D-1B831E6F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82"/>
                </a:solidFill>
              </a:defRPr>
            </a:pPr>
            <a:r>
              <a:rPr sz="1200" b="1">
                <a:solidFill>
                  <a:srgbClr val="5B6B82"/>
                </a:solidFill>
              </a:rPr>
              <a:t>02</a:t>
            </a:r>
          </a:p>
        </p:txBody>
      </p:sp>
      <p:sp>
        <p:nvSpPr>
          <p:cNvPr id="5" name="claim">
            <a:extLst xmlns:a="http://schemas.openxmlformats.org/drawingml/2006/main">
              <a:ext uri="{FF2B5EF4-FFF2-40B4-BE49-F238E27FC236}">
                <a16:creationId xmlns:a16="http://schemas.microsoft.com/office/drawing/2014/main" id="{0CDD25A6-3523-44C0-BCF5-E79AEE04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5B6B82"/>
                </a:solidFill>
              </a:defRPr>
            </a:pPr>
            <a:r>
              <a:rPr sz="1725" b="0">
                <a:solidFill>
                  <a:srgbClr val="5B6B82"/>
                </a:solidFill>
              </a:rPr>
              <a:t>Profile Setup부터 기록 노트까지 사용자가 따라갈 수 있는 하나의 흐름으로 연결했다.</a:t>
            </a:r>
          </a:p>
        </p:txBody>
      </p:sp>
      <p:sp>
        <p:nvSpPr>
          <p:cNvPr id="6" name="node-Profile Setup">
            <a:extLst xmlns:a="http://schemas.openxmlformats.org/drawingml/2006/main">
              <a:ext uri="{FF2B5EF4-FFF2-40B4-BE49-F238E27FC236}">
                <a16:creationId xmlns:a16="http://schemas.microsoft.com/office/drawing/2014/main" id="{0635C8D2-EDE8-47E1-A150-2BB905A2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13906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BBD7FF"/>
            </a:solidFill>
            <a:prstDash val="solid"/>
          </a:ln>
        </p:spPr>
      </p:sp>
      <p:sp>
        <p:nvSpPr>
          <p:cNvPr id="7" name="node-text-Profile Setup">
            <a:extLst xmlns:a="http://schemas.openxmlformats.org/drawingml/2006/main">
              <a:ext uri="{FF2B5EF4-FFF2-40B4-BE49-F238E27FC236}">
                <a16:creationId xmlns:a16="http://schemas.microsoft.com/office/drawing/2014/main" id="{7794EAF4-394E-4016-BD7A-6F3119EE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Profile Setup</a:t>
            </a:r>
          </a:p>
        </p:txBody>
      </p:sp>
      <p:sp>
        <p:nvSpPr>
          <p:cNvPr id="8" name="node-XP Desktop">
            <a:extLst xmlns:a="http://schemas.openxmlformats.org/drawingml/2006/main">
              <a:ext uri="{FF2B5EF4-FFF2-40B4-BE49-F238E27FC236}">
                <a16:creationId xmlns:a16="http://schemas.microsoft.com/office/drawing/2014/main" id="{B1270562-3E71-4832-BAFB-FBA19AEB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00300"/>
            <a:ext cx="13906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BBD7FF"/>
            </a:solidFill>
            <a:prstDash val="solid"/>
          </a:ln>
        </p:spPr>
      </p:sp>
      <p:sp>
        <p:nvSpPr>
          <p:cNvPr id="9" name="node-text-XP Desktop">
            <a:extLst xmlns:a="http://schemas.openxmlformats.org/drawingml/2006/main">
              <a:ext uri="{FF2B5EF4-FFF2-40B4-BE49-F238E27FC236}">
                <a16:creationId xmlns:a16="http://schemas.microsoft.com/office/drawing/2014/main" id="{2AE7F8B3-9D69-423A-A51F-5F801B4F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33650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XP Desktop</a:t>
            </a:r>
          </a:p>
        </p:txBody>
      </p:sp>
      <p:sp>
        <p:nvSpPr>
          <p:cNvPr id="10" name="node-오늘의 퀘스트">
            <a:extLst xmlns:a="http://schemas.openxmlformats.org/drawingml/2006/main">
              <a:ext uri="{FF2B5EF4-FFF2-40B4-BE49-F238E27FC236}">
                <a16:creationId xmlns:a16="http://schemas.microsoft.com/office/drawing/2014/main" id="{2E601D83-48C7-4A44-A243-B3D5FE5F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0300"/>
            <a:ext cx="13906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BBD7FF"/>
            </a:solidFill>
            <a:prstDash val="solid"/>
          </a:ln>
        </p:spPr>
      </p:sp>
      <p:sp>
        <p:nvSpPr>
          <p:cNvPr id="11" name="node-text-오늘의 퀘스트">
            <a:extLst xmlns:a="http://schemas.openxmlformats.org/drawingml/2006/main">
              <a:ext uri="{FF2B5EF4-FFF2-40B4-BE49-F238E27FC236}">
                <a16:creationId xmlns:a16="http://schemas.microsoft.com/office/drawing/2014/main" id="{688424D8-1AA8-4B58-A51F-3E1D0D54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33650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오늘의 퀘스트</a:t>
            </a:r>
          </a:p>
        </p:txBody>
      </p:sp>
      <p:sp>
        <p:nvSpPr>
          <p:cNvPr id="12" name="node-QuestRunner.exe">
            <a:extLst xmlns:a="http://schemas.openxmlformats.org/drawingml/2006/main">
              <a:ext uri="{FF2B5EF4-FFF2-40B4-BE49-F238E27FC236}">
                <a16:creationId xmlns:a16="http://schemas.microsoft.com/office/drawing/2014/main" id="{FCC05295-1AE6-4146-8493-A58D9440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13906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BBD7FF"/>
            </a:solidFill>
            <a:prstDash val="solid"/>
          </a:ln>
        </p:spPr>
      </p:sp>
      <p:sp>
        <p:nvSpPr>
          <p:cNvPr id="13" name="node-text-QuestRunner.exe">
            <a:extLst xmlns:a="http://schemas.openxmlformats.org/drawingml/2006/main">
              <a:ext uri="{FF2B5EF4-FFF2-40B4-BE49-F238E27FC236}">
                <a16:creationId xmlns:a16="http://schemas.microsoft.com/office/drawing/2014/main" id="{6E8F9F09-7734-4B0C-B7CF-C3C1A66C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33650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QuestRunner.exe</a:t>
            </a:r>
          </a:p>
        </p:txBody>
      </p:sp>
      <p:sp>
        <p:nvSpPr>
          <p:cNvPr id="14" name="node-완료/실패/복구">
            <a:extLst xmlns:a="http://schemas.openxmlformats.org/drawingml/2006/main">
              <a:ext uri="{FF2B5EF4-FFF2-40B4-BE49-F238E27FC236}">
                <a16:creationId xmlns:a16="http://schemas.microsoft.com/office/drawing/2014/main" id="{FD9065F9-B62F-4074-9604-2886212D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00300"/>
            <a:ext cx="13906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BBD7FF"/>
            </a:solidFill>
            <a:prstDash val="solid"/>
          </a:ln>
        </p:spPr>
      </p:sp>
      <p:sp>
        <p:nvSpPr>
          <p:cNvPr id="15" name="node-text-완료/실패/복구">
            <a:extLst xmlns:a="http://schemas.openxmlformats.org/drawingml/2006/main">
              <a:ext uri="{FF2B5EF4-FFF2-40B4-BE49-F238E27FC236}">
                <a16:creationId xmlns:a16="http://schemas.microsoft.com/office/drawing/2014/main" id="{A6687A6F-8A85-4C6B-AA55-646A84E1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33650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완료/실패/복구</a:t>
            </a:r>
          </a:p>
        </p:txBody>
      </p:sp>
      <p:sp>
        <p:nvSpPr>
          <p:cNvPr id="16" name="node-기록 노트">
            <a:extLst xmlns:a="http://schemas.openxmlformats.org/drawingml/2006/main">
              <a:ext uri="{FF2B5EF4-FFF2-40B4-BE49-F238E27FC236}">
                <a16:creationId xmlns:a16="http://schemas.microsoft.com/office/drawing/2014/main" id="{A6A704E2-35DD-43CD-BE8A-77947A2A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00300"/>
            <a:ext cx="13906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BBD7FF"/>
            </a:solidFill>
            <a:prstDash val="solid"/>
          </a:ln>
        </p:spPr>
      </p:sp>
      <p:sp>
        <p:nvSpPr>
          <p:cNvPr id="17" name="node-text-기록 노트">
            <a:extLst xmlns:a="http://schemas.openxmlformats.org/drawingml/2006/main">
              <a:ext uri="{FF2B5EF4-FFF2-40B4-BE49-F238E27FC236}">
                <a16:creationId xmlns:a16="http://schemas.microsoft.com/office/drawing/2014/main" id="{64FFF03E-C43B-4282-9E48-504A899F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33650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기록 노트</a:t>
            </a:r>
          </a:p>
        </p:txBody>
      </p:sp>
      <p:cxnSp>
        <p:nvCxnSpPr>
          <p:cNvPr id="48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14550" y="27241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905250" y="27241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95950" y="27241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486650" y="27241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277350" y="27241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triangle" w="sm" len="sm"/>
          </a:ln>
        </p:spPr>
      </p:cxnSp>
      <p:sp>
        <p:nvSpPr>
          <p:cNvPr id="23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262C3A74-96EC-4F52-AD8C-0AD0856B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bullet-0">
            <a:extLst xmlns:a="http://schemas.openxmlformats.org/drawingml/2006/main">
              <a:ext uri="{FF2B5EF4-FFF2-40B4-BE49-F238E27FC236}">
                <a16:creationId xmlns:a16="http://schemas.microsoft.com/office/drawing/2014/main" id="{8957888F-0E43-4F41-81F8-BA8AB992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`questStatus`, `openWindows`, `manager`, `logs`가 화면 전환의 기준이 됐다.</a:t>
            </a:r>
          </a:p>
        </p:txBody>
      </p:sp>
      <p:sp>
        <p:nvSpPr>
          <p:cNvPr id="25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A91CF56B-75FD-4390-9DFC-92273E42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bullet-1">
            <a:extLst xmlns:a="http://schemas.openxmlformats.org/drawingml/2006/main">
              <a:ext uri="{FF2B5EF4-FFF2-40B4-BE49-F238E27FC236}">
                <a16:creationId xmlns:a16="http://schemas.microsoft.com/office/drawing/2014/main" id="{53A804B4-292E-4126-91D2-7E45E140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HTML 기준안은 시각 목표로 남기고, React는 실제 확장 구현 타깃으로 정리했다.</a:t>
            </a:r>
          </a:p>
        </p:txBody>
      </p:sp>
      <p:sp>
        <p:nvSpPr>
          <p:cNvPr id="27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203069DE-E367-4427-833B-B913BE22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8" name="bullet-2">
            <a:extLst xmlns:a="http://schemas.openxmlformats.org/drawingml/2006/main">
              <a:ext uri="{FF2B5EF4-FFF2-40B4-BE49-F238E27FC236}">
                <a16:creationId xmlns:a16="http://schemas.microsoft.com/office/drawing/2014/main" id="{91F0E09E-943C-4B61-AF91-3E81CD08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완료·실패·복구 버튼이 기록 노트와 Lumi 상태 변화까지 이어진다.</a:t>
            </a:r>
          </a:p>
        </p:txBody>
      </p:sp>
      <p:sp>
        <p:nvSpPr>
          <p:cNvPr id="29" name="footer-line">
            <a:extLst xmlns:a="http://schemas.openxmlformats.org/drawingml/2006/main">
              <a:ext uri="{FF2B5EF4-FFF2-40B4-BE49-F238E27FC236}">
                <a16:creationId xmlns:a16="http://schemas.microsoft.com/office/drawing/2014/main" id="{E4A210FF-E27E-43FA-A3E3-944F7340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7FB"/>
            </a:solidFill>
            <a:prstDash val="solid"/>
          </a:ln>
        </p:spPr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73D8FA9D-5622-4CB7-B61A-1BBEA985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Code: src/App.tsx · src/data/questLogs.ts · src/layers/storage/questLogRepository.ts</a:t>
            </a:r>
          </a:p>
        </p:txBody>
      </p:sp>
    </p:spTree>
    <p:extLst>
      <p:ext uri="{BB962C8B-B14F-4D97-AF65-F5344CB8AC3E}">
        <p14:creationId xmlns:p14="http://schemas.microsoft.com/office/powerpoint/2010/main" val="8960398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ule">
            <a:extLst xmlns:a="http://schemas.openxmlformats.org/drawingml/2006/main">
              <a:ext uri="{FF2B5EF4-FFF2-40B4-BE49-F238E27FC236}">
                <a16:creationId xmlns:a16="http://schemas.microsoft.com/office/drawing/2014/main" id="{86708CE6-0151-469B-A6B1-A4EB8512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8515E1DF-6A53-4100-93CD-4143FA13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React Flow가 해결한 문제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6616C4-D539-4E04-A981-6A2CA8F0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0B2D5C"/>
                </a:solidFill>
              </a:defRPr>
            </a:pPr>
            <a:r>
              <a:rPr sz="2925" b="1">
                <a:solidFill>
                  <a:srgbClr val="0B2D5C"/>
                </a:solidFill>
              </a:rPr>
              <a:t>HTML 시연 화면과 React 구현의 역할을 분리했다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73184A1-87FB-48AB-9663-480FBB15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82"/>
                </a:solidFill>
              </a:defRPr>
            </a:pPr>
            <a:r>
              <a:rPr sz="1200" b="1">
                <a:solidFill>
                  <a:srgbClr val="5B6B82"/>
                </a:solidFill>
              </a:rPr>
              <a:t>03</a:t>
            </a:r>
          </a:p>
        </p:txBody>
      </p:sp>
      <p:sp>
        <p:nvSpPr>
          <p:cNvPr id="5" name="claim">
            <a:extLst xmlns:a="http://schemas.openxmlformats.org/drawingml/2006/main">
              <a:ext uri="{FF2B5EF4-FFF2-40B4-BE49-F238E27FC236}">
                <a16:creationId xmlns:a16="http://schemas.microsoft.com/office/drawing/2014/main" id="{096354D7-9854-499C-9042-D07B2C7F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5B6B82"/>
                </a:solidFill>
              </a:defRPr>
            </a:pPr>
            <a:r>
              <a:rPr sz="1725" b="0">
                <a:solidFill>
                  <a:srgbClr val="5B6B82"/>
                </a:solidFill>
              </a:rPr>
              <a:t>정적 HTML은 기준안, React는 상태와 이벤트를 가진 실제 앱으로 두면서 재작성 논쟁을 줄였다.</a:t>
            </a:r>
          </a:p>
        </p:txBody>
      </p:sp>
      <p:sp>
        <p:nvSpPr>
          <p:cNvPr id="6" name="left-column">
            <a:extLst xmlns:a="http://schemas.openxmlformats.org/drawingml/2006/main">
              <a:ext uri="{FF2B5EF4-FFF2-40B4-BE49-F238E27FC236}">
                <a16:creationId xmlns:a16="http://schemas.microsoft.com/office/drawing/2014/main" id="{CB5AF695-54E4-44BD-BDE7-9B073138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48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BBD7FF"/>
            </a:solidFill>
            <a:prstDash val="solid"/>
          </a:ln>
        </p:spPr>
      </p:sp>
      <p:sp>
        <p:nvSpPr>
          <p:cNvPr id="7" name="right-column">
            <a:extLst xmlns:a="http://schemas.openxmlformats.org/drawingml/2006/main">
              <a:ext uri="{FF2B5EF4-FFF2-40B4-BE49-F238E27FC236}">
                <a16:creationId xmlns:a16="http://schemas.microsoft.com/office/drawing/2014/main" id="{36560E50-D14B-4C63-993F-5918BADF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09750"/>
            <a:ext cx="5048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BD7FF"/>
            </a:solidFill>
            <a:prstDash val="solid"/>
          </a:ln>
        </p:spPr>
      </p:sp>
      <p:sp>
        <p:nvSpPr>
          <p:cNvPr id="8" name="left-title">
            <a:extLst xmlns:a="http://schemas.openxmlformats.org/drawingml/2006/main">
              <a:ext uri="{FF2B5EF4-FFF2-40B4-BE49-F238E27FC236}">
                <a16:creationId xmlns:a16="http://schemas.microsoft.com/office/drawing/2014/main" id="{24CD81AA-9D0B-4771-BE48-735E4A52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B2D5C"/>
                </a:solidFill>
              </a:defRPr>
            </a:pPr>
            <a:r>
              <a:rPr sz="1800" b="1">
                <a:solidFill>
                  <a:srgbClr val="0B2D5C"/>
                </a:solidFill>
              </a:rPr>
              <a:t>기준안: prototype-static.html</a:t>
            </a:r>
          </a:p>
        </p:txBody>
      </p:sp>
      <p:sp>
        <p:nvSpPr>
          <p:cNvPr id="9" name="left-body">
            <a:extLst xmlns:a="http://schemas.openxmlformats.org/drawingml/2006/main">
              <a:ext uri="{FF2B5EF4-FFF2-40B4-BE49-F238E27FC236}">
                <a16:creationId xmlns:a16="http://schemas.microsoft.com/office/drawing/2014/main" id="{9549A5B5-94ED-4756-A875-9211C3D4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419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XP 데스크톱의 시각 품질과 클릭 흐름을 고정해두는 기준. 발표에서 “어떻게 보여야 하는지”를 확인하는 역할이다.</a:t>
            </a:r>
          </a:p>
        </p:txBody>
      </p:sp>
      <p:sp>
        <p:nvSpPr>
          <p:cNvPr id="10" name="right-title">
            <a:extLst xmlns:a="http://schemas.openxmlformats.org/drawingml/2006/main">
              <a:ext uri="{FF2B5EF4-FFF2-40B4-BE49-F238E27FC236}">
                <a16:creationId xmlns:a16="http://schemas.microsoft.com/office/drawing/2014/main" id="{BA860C77-0810-4113-8A7F-ECFBDD82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431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B2D5C"/>
                </a:solidFill>
              </a:defRPr>
            </a:pPr>
            <a:r>
              <a:rPr sz="1800" b="1">
                <a:solidFill>
                  <a:srgbClr val="0B2D5C"/>
                </a:solidFill>
              </a:rPr>
              <a:t>구현: React MVP</a:t>
            </a:r>
          </a:p>
        </p:txBody>
      </p:sp>
      <p:sp>
        <p:nvSpPr>
          <p:cNvPr id="11" name="right-body">
            <a:extLst xmlns:a="http://schemas.openxmlformats.org/drawingml/2006/main">
              <a:ext uri="{FF2B5EF4-FFF2-40B4-BE49-F238E27FC236}">
                <a16:creationId xmlns:a16="http://schemas.microsoft.com/office/drawing/2014/main" id="{904A8CFC-F5ED-49F1-AA31-7E1AEE79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14625"/>
            <a:ext cx="419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창 열림, 퀘스트 상태, Lumi 상태, 기록 노트 렌더링을 state와 이벤트 handler로 연결하는 실제 서비스 타깃이다.</a:t>
            </a:r>
          </a:p>
        </p:txBody>
      </p:sp>
      <p:sp>
        <p:nvSpPr>
          <p:cNvPr id="12" name="bridge">
            <a:extLst xmlns:a="http://schemas.openxmlformats.org/drawingml/2006/main">
              <a:ext uri="{FF2B5EF4-FFF2-40B4-BE49-F238E27FC236}">
                <a16:creationId xmlns:a16="http://schemas.microsoft.com/office/drawing/2014/main" id="{E798844D-D973-445F-8C41-F0028195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19700"/>
            <a:ext cx="21336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3" name="bridge-text">
            <a:extLst xmlns:a="http://schemas.openxmlformats.org/drawingml/2006/main">
              <a:ext uri="{FF2B5EF4-FFF2-40B4-BE49-F238E27FC236}">
                <a16:creationId xmlns:a16="http://schemas.microsoft.com/office/drawing/2014/main" id="{EF7FE28A-0364-4D92-8BC3-051187F2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3340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visual 기준 → flow 구현</a:t>
            </a:r>
          </a:p>
        </p:txBody>
      </p:sp>
      <p:sp>
        <p:nvSpPr>
          <p:cNvPr id="1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30F518C-C8D2-4E70-861F-C37D627D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7FB"/>
            </a:solidFill>
            <a:prstDash val="solid"/>
          </a:ln>
        </p:spPr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49ED1259-79EE-4711-AE9D-7CE380A1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Outcome: 시각 기준과 상태 구현을 분리해 유지보수 방향을 명확히 함</a:t>
            </a:r>
          </a:p>
        </p:txBody>
      </p:sp>
    </p:spTree>
    <p:extLst>
      <p:ext uri="{BB962C8B-B14F-4D97-AF65-F5344CB8AC3E}">
        <p14:creationId xmlns:p14="http://schemas.microsoft.com/office/powerpoint/2010/main" val="12151587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ule">
            <a:extLst xmlns:a="http://schemas.openxmlformats.org/drawingml/2006/main">
              <a:ext uri="{FF2B5EF4-FFF2-40B4-BE49-F238E27FC236}">
                <a16:creationId xmlns:a16="http://schemas.microsoft.com/office/drawing/2014/main" id="{C303B49C-2939-4E6C-8CB1-29834BD9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B55A819D-88B3-47E6-862B-AED66433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핵심 작업 2 · Server/API Slice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F7795B-481D-475D-9860-2A86A22E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0B2D5C"/>
                </a:solidFill>
              </a:defRPr>
            </a:pPr>
            <a:r>
              <a:rPr sz="2925" b="1">
                <a:solidFill>
                  <a:srgbClr val="0B2D5C"/>
                </a:solidFill>
              </a:rPr>
              <a:t>기록 저장을 Quest Event 구조로 확장했다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FE62DDE-36AB-4AD7-B260-3727DEAF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82"/>
                </a:solidFill>
              </a:defRPr>
            </a:pPr>
            <a:r>
              <a:rPr sz="1200" b="1">
                <a:solidFill>
                  <a:srgbClr val="5B6B82"/>
                </a:solidFill>
              </a:rPr>
              <a:t>04</a:t>
            </a:r>
          </a:p>
        </p:txBody>
      </p:sp>
      <p:sp>
        <p:nvSpPr>
          <p:cNvPr id="5" name="claim">
            <a:extLst xmlns:a="http://schemas.openxmlformats.org/drawingml/2006/main">
              <a:ext uri="{FF2B5EF4-FFF2-40B4-BE49-F238E27FC236}">
                <a16:creationId xmlns:a16="http://schemas.microsoft.com/office/drawing/2014/main" id="{638C22F8-A136-456A-A3AC-50F494BA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5B6B82"/>
                </a:solidFill>
              </a:defRPr>
            </a:pPr>
            <a:r>
              <a:rPr sz="1725" b="0">
                <a:solidFill>
                  <a:srgbClr val="5B6B82"/>
                </a:solidFill>
              </a:rPr>
              <a:t>단순 완료 기록이 아니라, 나중에 LLM 매니저가 읽을 수 있는 행동 데이터로 저장 단위를 바꿨다.</a:t>
            </a:r>
          </a:p>
        </p:txBody>
      </p:sp>
      <p:sp>
        <p:nvSpPr>
          <p:cNvPr id="6" name="node-React Event">
            <a:extLst xmlns:a="http://schemas.openxmlformats.org/drawingml/2006/main">
              <a:ext uri="{FF2B5EF4-FFF2-40B4-BE49-F238E27FC236}">
                <a16:creationId xmlns:a16="http://schemas.microsoft.com/office/drawing/2014/main" id="{2FBD3B30-28EE-448B-BF69-9F92C6AE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1619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BBD7FF"/>
            </a:solidFill>
            <a:prstDash val="solid"/>
          </a:ln>
        </p:spPr>
      </p:sp>
      <p:sp>
        <p:nvSpPr>
          <p:cNvPr id="7" name="node-text-React Event">
            <a:extLst xmlns:a="http://schemas.openxmlformats.org/drawingml/2006/main">
              <a:ext uri="{FF2B5EF4-FFF2-40B4-BE49-F238E27FC236}">
                <a16:creationId xmlns:a16="http://schemas.microsoft.com/office/drawing/2014/main" id="{72B5F5A0-C240-461E-AA58-892C59FF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28900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React Event</a:t>
            </a:r>
          </a:p>
        </p:txBody>
      </p:sp>
      <p:sp>
        <p:nvSpPr>
          <p:cNvPr id="8" name="node-Hono API">
            <a:extLst xmlns:a="http://schemas.openxmlformats.org/drawingml/2006/main">
              <a:ext uri="{FF2B5EF4-FFF2-40B4-BE49-F238E27FC236}">
                <a16:creationId xmlns:a16="http://schemas.microsoft.com/office/drawing/2014/main" id="{5A57E93F-C8FA-4378-9D03-9F87285A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95550"/>
            <a:ext cx="1619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BBD7FF"/>
            </a:solidFill>
            <a:prstDash val="solid"/>
          </a:ln>
        </p:spPr>
      </p:sp>
      <p:sp>
        <p:nvSpPr>
          <p:cNvPr id="9" name="node-text-Hono API">
            <a:extLst xmlns:a="http://schemas.openxmlformats.org/drawingml/2006/main">
              <a:ext uri="{FF2B5EF4-FFF2-40B4-BE49-F238E27FC236}">
                <a16:creationId xmlns:a16="http://schemas.microsoft.com/office/drawing/2014/main" id="{EBD723C3-CB8E-4E70-B3C6-7F502ACE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28900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Hono API</a:t>
            </a:r>
          </a:p>
        </p:txBody>
      </p:sp>
      <p:sp>
        <p:nvSpPr>
          <p:cNvPr id="10" name="node-Quest Event Store">
            <a:extLst xmlns:a="http://schemas.openxmlformats.org/drawingml/2006/main">
              <a:ext uri="{FF2B5EF4-FFF2-40B4-BE49-F238E27FC236}">
                <a16:creationId xmlns:a16="http://schemas.microsoft.com/office/drawing/2014/main" id="{CFF776D4-E27C-4796-AE09-EDBCD438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95550"/>
            <a:ext cx="1809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BBD7FF"/>
            </a:solidFill>
            <a:prstDash val="solid"/>
          </a:ln>
        </p:spPr>
      </p:sp>
      <p:sp>
        <p:nvSpPr>
          <p:cNvPr id="11" name="node-text-Quest Event Store">
            <a:extLst xmlns:a="http://schemas.openxmlformats.org/drawingml/2006/main">
              <a:ext uri="{FF2B5EF4-FFF2-40B4-BE49-F238E27FC236}">
                <a16:creationId xmlns:a16="http://schemas.microsoft.com/office/drawing/2014/main" id="{639B7F84-3F05-4093-9A2B-70B413A8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2890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Quest Event Store</a:t>
            </a:r>
          </a:p>
        </p:txBody>
      </p:sp>
      <p:sp>
        <p:nvSpPr>
          <p:cNvPr id="12" name="node-Manager Context">
            <a:extLst xmlns:a="http://schemas.openxmlformats.org/drawingml/2006/main">
              <a:ext uri="{FF2B5EF4-FFF2-40B4-BE49-F238E27FC236}">
                <a16:creationId xmlns:a16="http://schemas.microsoft.com/office/drawing/2014/main" id="{7FEC8F8B-DE23-4EFC-ABF3-BC6D1216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95550"/>
            <a:ext cx="1905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BBD7FF"/>
            </a:solidFill>
            <a:prstDash val="solid"/>
          </a:ln>
        </p:spPr>
      </p:sp>
      <p:sp>
        <p:nvSpPr>
          <p:cNvPr id="13" name="node-text-Manager Context">
            <a:extLst xmlns:a="http://schemas.openxmlformats.org/drawingml/2006/main">
              <a:ext uri="{FF2B5EF4-FFF2-40B4-BE49-F238E27FC236}">
                <a16:creationId xmlns:a16="http://schemas.microsoft.com/office/drawing/2014/main" id="{57E5460D-6503-4C97-969E-15B24310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2890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Manager Context</a:t>
            </a:r>
          </a:p>
        </p:txBody>
      </p: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67000" y="28289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953000" y="28289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29500" y="28289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triangle" w="sm" len="sm"/>
          </a:ln>
        </p:spPr>
      </p:cxnSp>
      <p:sp>
        <p:nvSpPr>
          <p:cNvPr id="17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1D02424F-4334-4C03-8035-A940C97A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bullet-0">
            <a:extLst xmlns:a="http://schemas.openxmlformats.org/drawingml/2006/main">
              <a:ext uri="{FF2B5EF4-FFF2-40B4-BE49-F238E27FC236}">
                <a16:creationId xmlns:a16="http://schemas.microsoft.com/office/drawing/2014/main" id="{47E7C374-7179-45EF-9279-8F2F73F9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76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POST /api/quest-events: 완료·실패·복구 이벤트를 저장한다.</a:t>
            </a:r>
          </a:p>
        </p:txBody>
      </p:sp>
      <p:sp>
        <p:nvSpPr>
          <p:cNvPr id="19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DCC6D084-C7B1-42DE-A810-43F1DEAA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bullet-1">
            <a:extLst xmlns:a="http://schemas.openxmlformats.org/drawingml/2006/main">
              <a:ext uri="{FF2B5EF4-FFF2-40B4-BE49-F238E27FC236}">
                <a16:creationId xmlns:a16="http://schemas.microsoft.com/office/drawing/2014/main" id="{F6CB6F7E-6DA0-43C2-A464-C50030E2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148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GET /api/quest-events: 기록 노트가 이벤트 결과를 렌더링한다.</a:t>
            </a:r>
          </a:p>
        </p:txBody>
      </p:sp>
      <p:sp>
        <p:nvSpPr>
          <p:cNvPr id="21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94649042-3B60-41B3-A2DE-FAF72710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bullet-2">
            <a:extLst xmlns:a="http://schemas.openxmlformats.org/drawingml/2006/main">
              <a:ext uri="{FF2B5EF4-FFF2-40B4-BE49-F238E27FC236}">
                <a16:creationId xmlns:a16="http://schemas.microsoft.com/office/drawing/2014/main" id="{98DDAAAA-34DA-4942-9DA2-64AB512B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720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GET /api/manager-context: Lumi가 최근 흐름을 반영한다.</a:t>
            </a:r>
          </a:p>
        </p:txBody>
      </p:sp>
      <p:sp>
        <p:nvSpPr>
          <p:cNvPr id="2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89E7DB9E-5714-42E5-A3BC-250FF9A2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7FB"/>
            </a:solidFill>
            <a:prstDash val="solid"/>
          </a:ln>
        </p:spPr>
      </p:sp>
      <p:sp>
        <p:nvSpPr>
          <p:cNvPr id="24" name="footer">
            <a:extLst xmlns:a="http://schemas.openxmlformats.org/drawingml/2006/main">
              <a:ext uri="{FF2B5EF4-FFF2-40B4-BE49-F238E27FC236}">
                <a16:creationId xmlns:a16="http://schemas.microsoft.com/office/drawing/2014/main" id="{864B318A-2DF9-4B76-A39D-034D166B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Code: server/app.ts · server/contracts/questEvents.ts · server/lib/questEventStore.ts · src/layers/storage/questLogApi.ts</a:t>
            </a:r>
          </a:p>
        </p:txBody>
      </p:sp>
    </p:spTree>
    <p:extLst>
      <p:ext uri="{BB962C8B-B14F-4D97-AF65-F5344CB8AC3E}">
        <p14:creationId xmlns:p14="http://schemas.microsoft.com/office/powerpoint/2010/main" val="19692377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61774601-9FB9-446B-85F1-D5F1BC20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8F7FE965-04DF-43A4-B20F-AE23D995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브라우저 mock vs 서버 mock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CC0A5A-2015-40C3-88FD-E22F8005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0B2D5C"/>
                </a:solidFill>
              </a:defRPr>
            </a:pPr>
            <a:r>
              <a:rPr sz="2925" b="1">
                <a:solidFill>
                  <a:srgbClr val="0B2D5C"/>
                </a:solidFill>
              </a:rPr>
              <a:t>서버 mock은 비용 회피가 아니라 연결 검증 단계다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FEB37F4-C4EF-4D48-BB5A-79DF8C73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82"/>
                </a:solidFill>
              </a:defRPr>
            </a:pPr>
            <a:r>
              <a:rPr sz="1200" b="1">
                <a:solidFill>
                  <a:srgbClr val="5B6B82"/>
                </a:solidFill>
              </a:rPr>
              <a:t>05</a:t>
            </a:r>
          </a:p>
        </p:txBody>
      </p:sp>
      <p:sp>
        <p:nvSpPr>
          <p:cNvPr id="5" name="claim">
            <a:extLst xmlns:a="http://schemas.openxmlformats.org/drawingml/2006/main">
              <a:ext uri="{FF2B5EF4-FFF2-40B4-BE49-F238E27FC236}">
                <a16:creationId xmlns:a16="http://schemas.microsoft.com/office/drawing/2014/main" id="{093791AD-2037-457D-854C-38FD475E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5B6B82"/>
                </a:solidFill>
              </a:defRPr>
            </a:pPr>
            <a:r>
              <a:rPr sz="1725" b="0">
                <a:solidFill>
                  <a:srgbClr val="5B6B82"/>
                </a:solidFill>
              </a:rPr>
              <a:t>이번 단계는 DB 없이도 FE-BE 흐름을 진짜 요청/응답으로 확인하기 위한 중간 단계다.</a:t>
            </a:r>
          </a:p>
        </p:txBody>
      </p:sp>
      <p:sp>
        <p:nvSpPr>
          <p:cNvPr id="6" name="left-column">
            <a:extLst xmlns:a="http://schemas.openxmlformats.org/drawingml/2006/main">
              <a:ext uri="{FF2B5EF4-FFF2-40B4-BE49-F238E27FC236}">
                <a16:creationId xmlns:a16="http://schemas.microsoft.com/office/drawing/2014/main" id="{AFB688E6-769C-43BB-967E-7A5541F8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48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BBD7FF"/>
            </a:solidFill>
            <a:prstDash val="solid"/>
          </a:ln>
        </p:spPr>
      </p:sp>
      <p:sp>
        <p:nvSpPr>
          <p:cNvPr id="7" name="right-column">
            <a:extLst xmlns:a="http://schemas.openxmlformats.org/drawingml/2006/main">
              <a:ext uri="{FF2B5EF4-FFF2-40B4-BE49-F238E27FC236}">
                <a16:creationId xmlns:a16="http://schemas.microsoft.com/office/drawing/2014/main" id="{429BAE24-B740-4328-AF5F-637CBE1E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09750"/>
            <a:ext cx="5048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BD7FF"/>
            </a:solidFill>
            <a:prstDash val="solid"/>
          </a:ln>
        </p:spPr>
      </p:sp>
      <p:sp>
        <p:nvSpPr>
          <p:cNvPr id="8" name="left-title">
            <a:extLst xmlns:a="http://schemas.openxmlformats.org/drawingml/2006/main">
              <a:ext uri="{FF2B5EF4-FFF2-40B4-BE49-F238E27FC236}">
                <a16:creationId xmlns:a16="http://schemas.microsoft.com/office/drawing/2014/main" id="{8F6BE327-2C0F-426C-855B-8BC36CD6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B2D5C"/>
                </a:solidFill>
              </a:defRPr>
            </a:pPr>
            <a:r>
              <a:rPr sz="1800" b="1">
                <a:solidFill>
                  <a:srgbClr val="0B2D5C"/>
                </a:solidFill>
              </a:rPr>
              <a:t>브라우저 mock</a:t>
            </a:r>
          </a:p>
        </p:txBody>
      </p:sp>
      <p:sp>
        <p:nvSpPr>
          <p:cNvPr id="9" name="left-body">
            <a:extLst xmlns:a="http://schemas.openxmlformats.org/drawingml/2006/main">
              <a:ext uri="{FF2B5EF4-FFF2-40B4-BE49-F238E27FC236}">
                <a16:creationId xmlns:a16="http://schemas.microsoft.com/office/drawing/2014/main" id="{1416E314-4602-4BAF-93F3-C6C1651B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419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React 안에서만 state가 바뀐다. 창 위치, 시작 메뉴, 선택 중인 실패 이유처럼 순간적인 UI 상태에 적합하다.</a:t>
            </a:r>
          </a:p>
        </p:txBody>
      </p:sp>
      <p:sp>
        <p:nvSpPr>
          <p:cNvPr id="10" name="right-title">
            <a:extLst xmlns:a="http://schemas.openxmlformats.org/drawingml/2006/main">
              <a:ext uri="{FF2B5EF4-FFF2-40B4-BE49-F238E27FC236}">
                <a16:creationId xmlns:a16="http://schemas.microsoft.com/office/drawing/2014/main" id="{3A78AD4C-C3C6-4391-AE7A-31C453F9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431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B2D5C"/>
                </a:solidFill>
              </a:defRPr>
            </a:pPr>
            <a:r>
              <a:rPr sz="1800" b="1">
                <a:solidFill>
                  <a:srgbClr val="0B2D5C"/>
                </a:solidFill>
              </a:rPr>
              <a:t>서버 mock</a:t>
            </a:r>
          </a:p>
        </p:txBody>
      </p:sp>
      <p:sp>
        <p:nvSpPr>
          <p:cNvPr id="11" name="right-body">
            <a:extLst xmlns:a="http://schemas.openxmlformats.org/drawingml/2006/main">
              <a:ext uri="{FF2B5EF4-FFF2-40B4-BE49-F238E27FC236}">
                <a16:creationId xmlns:a16="http://schemas.microsoft.com/office/drawing/2014/main" id="{7F28D877-0BF6-4400-8F7B-AA459DE4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14625"/>
            <a:ext cx="419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React가 Hono API로 실제 요청을 보낸다. 서버는 DB 대신 memory store에 저장하고 manager context를 계산한다.</a:t>
            </a:r>
          </a:p>
        </p:txBody>
      </p:sp>
      <p:sp>
        <p:nvSpPr>
          <p:cNvPr id="12" name="bottom-claim">
            <a:extLst xmlns:a="http://schemas.openxmlformats.org/drawingml/2006/main">
              <a:ext uri="{FF2B5EF4-FFF2-40B4-BE49-F238E27FC236}">
                <a16:creationId xmlns:a16="http://schemas.microsoft.com/office/drawing/2014/main" id="{8254317C-5B36-416D-A3B2-997A6FF7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530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핵심: Supabase 연결 전에도 ‘화면 → 서버 → 응답 → 화면 갱신’ 한 사이클을 검증할 수 있다.</a:t>
            </a:r>
          </a:p>
        </p:txBody>
      </p:sp>
      <p:sp>
        <p:nvSpPr>
          <p:cNvPr id="1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BCA5567E-8662-44C5-864F-8A89F936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7FB"/>
            </a:solidFill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A5BDFEA2-4044-4096-8D22-35D4D917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Memory store는 dev server가 살아 있는 동안 유지되고, 서버 재시작 시 초기화됨</a:t>
            </a:r>
          </a:p>
        </p:txBody>
      </p:sp>
    </p:spTree>
    <p:extLst>
      <p:ext uri="{BB962C8B-B14F-4D97-AF65-F5344CB8AC3E}">
        <p14:creationId xmlns:p14="http://schemas.microsoft.com/office/powerpoint/2010/main" val="8385101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rule">
            <a:extLst xmlns:a="http://schemas.openxmlformats.org/drawingml/2006/main">
              <a:ext uri="{FF2B5EF4-FFF2-40B4-BE49-F238E27FC236}">
                <a16:creationId xmlns:a16="http://schemas.microsoft.com/office/drawing/2014/main" id="{AEBDD686-6218-47FA-B8B1-C1821927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D071FA44-50B0-45AF-BED2-DA5E9A85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Future-ready Data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C86D63-5197-4850-846E-9EC9935C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0B2D5C"/>
                </a:solidFill>
              </a:defRPr>
            </a:pPr>
            <a:r>
              <a:rPr sz="2925" b="1">
                <a:solidFill>
                  <a:srgbClr val="0B2D5C"/>
                </a:solidFill>
              </a:rPr>
              <a:t>확장 기능을 위해 이벤트 데이터에 맥락을 남겼다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118911F-2D58-47E7-9899-D3B7B6C8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82"/>
                </a:solidFill>
              </a:defRPr>
            </a:pPr>
            <a:r>
              <a:rPr sz="1200" b="1">
                <a:solidFill>
                  <a:srgbClr val="5B6B82"/>
                </a:solidFill>
              </a:rPr>
              <a:t>06</a:t>
            </a:r>
          </a:p>
        </p:txBody>
      </p:sp>
      <p:sp>
        <p:nvSpPr>
          <p:cNvPr id="5" name="claim">
            <a:extLst xmlns:a="http://schemas.openxmlformats.org/drawingml/2006/main">
              <a:ext uri="{FF2B5EF4-FFF2-40B4-BE49-F238E27FC236}">
                <a16:creationId xmlns:a16="http://schemas.microsoft.com/office/drawing/2014/main" id="{7F8646FB-5AC4-4789-8F98-9AD38D23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5B6B82"/>
                </a:solidFill>
              </a:defRPr>
            </a:pPr>
            <a:r>
              <a:rPr sz="1725" b="0">
                <a:solidFill>
                  <a:srgbClr val="5B6B82"/>
                </a:solidFill>
              </a:rPr>
              <a:t>나중에 DB/LLM 구조를 다시 뜯지 않도록, 지금 필요한 최소 확장 필드를 먼저 열어뒀다.</a:t>
            </a:r>
          </a:p>
        </p:txBody>
      </p:sp>
      <p:sp>
        <p:nvSpPr>
          <p:cNvPr id="6" name="quest-event-center">
            <a:extLst xmlns:a="http://schemas.openxmlformats.org/drawingml/2006/main">
              <a:ext uri="{FF2B5EF4-FFF2-40B4-BE49-F238E27FC236}">
                <a16:creationId xmlns:a16="http://schemas.microsoft.com/office/drawing/2014/main" id="{70EEF068-0F05-4A55-BE91-662124E9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667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7" name="center-title">
            <a:extLst xmlns:a="http://schemas.openxmlformats.org/drawingml/2006/main">
              <a:ext uri="{FF2B5EF4-FFF2-40B4-BE49-F238E27FC236}">
                <a16:creationId xmlns:a16="http://schemas.microsoft.com/office/drawing/2014/main" id="{759F7C10-3ECB-4CA6-9168-BF3CBB57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52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Quest Event</a:t>
            </a:r>
          </a:p>
        </p:txBody>
      </p:sp>
      <p:sp>
        <p:nvSpPr>
          <p:cNvPr id="8" name="center-sub">
            <a:extLst xmlns:a="http://schemas.openxmlformats.org/drawingml/2006/main">
              <a:ext uri="{FF2B5EF4-FFF2-40B4-BE49-F238E27FC236}">
                <a16:creationId xmlns:a16="http://schemas.microsoft.com/office/drawing/2014/main" id="{87ABCFAE-6737-491F-B9CC-CADFC9ED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33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metadata · managerContext · rewardHints</a:t>
            </a:r>
          </a:p>
        </p:txBody>
      </p:sp>
      <p:sp>
        <p:nvSpPr>
          <p:cNvPr id="9" name="ext-개인화 AI 매니저">
            <a:extLst xmlns:a="http://schemas.openxmlformats.org/drawingml/2006/main">
              <a:ext uri="{FF2B5EF4-FFF2-40B4-BE49-F238E27FC236}">
                <a16:creationId xmlns:a16="http://schemas.microsoft.com/office/drawing/2014/main" id="{D4427A35-F5A0-4CCC-A384-68FB3BA6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2095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BBD7FF"/>
            </a:solidFill>
            <a:prstDash val="solid"/>
          </a:ln>
        </p:spPr>
      </p:sp>
      <p:sp>
        <p:nvSpPr>
          <p:cNvPr id="10" name="ext-text-개인화 AI 매니저">
            <a:extLst xmlns:a="http://schemas.openxmlformats.org/drawingml/2006/main">
              <a:ext uri="{FF2B5EF4-FFF2-40B4-BE49-F238E27FC236}">
                <a16:creationId xmlns:a16="http://schemas.microsoft.com/office/drawing/2014/main" id="{07390E6D-B1EE-4739-954B-3786DA0D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0982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개인화 AI 매니저</a:t>
            </a:r>
          </a:p>
        </p:txBody>
      </p:sp>
      <p:cxnSp>
        <p:nvCxnSpPr>
          <p:cNvPr id="39" name=""/>
          <p:cNvCxnSpPr>
            <a:stCxn xmlns:a="http://schemas.openxmlformats.org/drawingml/2006/main" id="6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3143250" y="2514600"/>
            <a:ext cx="161925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8EBEFF"/>
            </a:solidFill>
            <a:prstDash val="solid"/>
          </a:ln>
        </p:spPr>
      </p:cxnSp>
      <p:sp>
        <p:nvSpPr>
          <p:cNvPr id="12" name="ext-하루 흐름 반영">
            <a:extLst xmlns:a="http://schemas.openxmlformats.org/drawingml/2006/main">
              <a:ext uri="{FF2B5EF4-FFF2-40B4-BE49-F238E27FC236}">
                <a16:creationId xmlns:a16="http://schemas.microsoft.com/office/drawing/2014/main" id="{7C806F6F-CDB2-4CEE-89B9-842569E2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67200"/>
            <a:ext cx="2095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BBD7FF"/>
            </a:solidFill>
            <a:prstDash val="solid"/>
          </a:ln>
        </p:spPr>
      </p:sp>
      <p:sp>
        <p:nvSpPr>
          <p:cNvPr id="13" name="ext-text-하루 흐름 반영">
            <a:extLst xmlns:a="http://schemas.openxmlformats.org/drawingml/2006/main">
              <a:ext uri="{FF2B5EF4-FFF2-40B4-BE49-F238E27FC236}">
                <a16:creationId xmlns:a16="http://schemas.microsoft.com/office/drawing/2014/main" id="{56C2CAC0-B1FB-49BC-9A2A-475CEDCF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4386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하루 흐름 반영</a:t>
            </a:r>
          </a:p>
        </p:txBody>
      </p:sp>
      <p:cxnSp>
        <p:nvCxnSpPr>
          <p:cNvPr id="42" name=""/>
          <p:cNvCxnSpPr>
            <a:stCxn xmlns:a="http://schemas.openxmlformats.org/drawingml/2006/main" id="6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667125" y="3219450"/>
            <a:ext cx="1095375" cy="13239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8EBEFF"/>
            </a:solidFill>
            <a:prstDash val="solid"/>
          </a:ln>
        </p:spPr>
      </p:cxnSp>
      <p:sp>
        <p:nvSpPr>
          <p:cNvPr id="15" name="ext-보상/테마/사운드">
            <a:extLst xmlns:a="http://schemas.openxmlformats.org/drawingml/2006/main">
              <a:ext uri="{FF2B5EF4-FFF2-40B4-BE49-F238E27FC236}">
                <a16:creationId xmlns:a16="http://schemas.microsoft.com/office/drawing/2014/main" id="{44716D6F-70F7-4C90-8B28-F8F16225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62500"/>
            <a:ext cx="2095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BBD7FF"/>
            </a:solidFill>
            <a:prstDash val="solid"/>
          </a:ln>
        </p:spPr>
      </p:sp>
      <p:sp>
        <p:nvSpPr>
          <p:cNvPr id="16" name="ext-text-보상/테마/사운드">
            <a:extLst xmlns:a="http://schemas.openxmlformats.org/drawingml/2006/main">
              <a:ext uri="{FF2B5EF4-FFF2-40B4-BE49-F238E27FC236}">
                <a16:creationId xmlns:a16="http://schemas.microsoft.com/office/drawing/2014/main" id="{D237DD54-1BAA-4EE5-A6CE-33BD076F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339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보상/테마/사운드</a:t>
            </a:r>
          </a:p>
        </p:txBody>
      </p:sp>
      <p:cxnSp>
        <p:nvCxnSpPr>
          <p:cNvPr id="45" name=""/>
          <p:cNvCxnSpPr>
            <a:stCxn xmlns:a="http://schemas.openxmlformats.org/drawingml/2006/main" id="6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5734050" y="3676650"/>
            <a:ext cx="361950" cy="10858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8EBEFF"/>
            </a:solidFill>
            <a:prstDash val="solid"/>
          </a:ln>
        </p:spPr>
      </p:cxnSp>
      <p:sp>
        <p:nvSpPr>
          <p:cNvPr id="18" name="ext-공개 퀘스트 탐색">
            <a:extLst xmlns:a="http://schemas.openxmlformats.org/drawingml/2006/main">
              <a:ext uri="{FF2B5EF4-FFF2-40B4-BE49-F238E27FC236}">
                <a16:creationId xmlns:a16="http://schemas.microsoft.com/office/drawing/2014/main" id="{00E045D2-0EFF-432B-9E91-685B7D6D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2095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BBD7FF"/>
            </a:solidFill>
            <a:prstDash val="solid"/>
          </a:ln>
        </p:spPr>
      </p:sp>
      <p:sp>
        <p:nvSpPr>
          <p:cNvPr id="19" name="ext-text-공개 퀘스트 탐색">
            <a:extLst xmlns:a="http://schemas.openxmlformats.org/drawingml/2006/main">
              <a:ext uri="{FF2B5EF4-FFF2-40B4-BE49-F238E27FC236}">
                <a16:creationId xmlns:a16="http://schemas.microsoft.com/office/drawing/2014/main" id="{DD64AE31-322E-42A6-AA04-A91D02EE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공개 퀘스트 탐색</a:t>
            </a:r>
          </a:p>
        </p:txBody>
      </p:sp>
      <p:cxnSp>
        <p:nvCxnSpPr>
          <p:cNvPr id="48" name=""/>
          <p:cNvCxnSpPr>
            <a:stCxn xmlns:a="http://schemas.openxmlformats.org/drawingml/2006/main" id="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429500" y="3219450"/>
            <a:ext cx="666750" cy="13239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8EBEFF"/>
            </a:solidFill>
            <a:prstDash val="solid"/>
          </a:ln>
        </p:spPr>
      </p:cxnSp>
      <p:sp>
        <p:nvSpPr>
          <p:cNvPr id="21" name="ext-현실 픽셀화 TV">
            <a:extLst xmlns:a="http://schemas.openxmlformats.org/drawingml/2006/main">
              <a:ext uri="{FF2B5EF4-FFF2-40B4-BE49-F238E27FC236}">
                <a16:creationId xmlns:a16="http://schemas.microsoft.com/office/drawing/2014/main" id="{A3CA9A0B-3B65-4332-A1DC-031CDB23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38375"/>
            <a:ext cx="2095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BBD7FF"/>
            </a:solidFill>
            <a:prstDash val="solid"/>
          </a:ln>
        </p:spPr>
      </p:sp>
      <p:sp>
        <p:nvSpPr>
          <p:cNvPr id="22" name="ext-text-현실 픽셀화 TV">
            <a:extLst xmlns:a="http://schemas.openxmlformats.org/drawingml/2006/main">
              <a:ext uri="{FF2B5EF4-FFF2-40B4-BE49-F238E27FC236}">
                <a16:creationId xmlns:a16="http://schemas.microsoft.com/office/drawing/2014/main" id="{A56F69DB-A580-4427-B4ED-C6BDFACA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0982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현실 픽셀화 TV</a:t>
            </a:r>
          </a:p>
        </p:txBody>
      </p:sp>
      <p:cxnSp>
        <p:nvCxnSpPr>
          <p:cNvPr id="51" name=""/>
          <p:cNvCxnSpPr>
            <a:stCxn xmlns:a="http://schemas.openxmlformats.org/drawingml/2006/main" id="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7429500" y="2514600"/>
            <a:ext cx="104775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8EBEFF"/>
            </a:solidFill>
            <a:prstDash val="solid"/>
          </a:ln>
        </p:spPr>
      </p:cxnSp>
      <p:sp>
        <p:nvSpPr>
          <p:cNvPr id="24" name="ext-웹캠 손 제스처">
            <a:extLst xmlns:a="http://schemas.openxmlformats.org/drawingml/2006/main">
              <a:ext uri="{FF2B5EF4-FFF2-40B4-BE49-F238E27FC236}">
                <a16:creationId xmlns:a16="http://schemas.microsoft.com/office/drawing/2014/main" id="{15759F54-2110-4A3F-9B91-A4F2E211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2095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BBD7FF"/>
            </a:solidFill>
            <a:prstDash val="solid"/>
          </a:ln>
        </p:spPr>
      </p:sp>
      <p:sp>
        <p:nvSpPr>
          <p:cNvPr id="25" name="ext-text-웹캠 손 제스처">
            <a:extLst xmlns:a="http://schemas.openxmlformats.org/drawingml/2006/main">
              <a:ext uri="{FF2B5EF4-FFF2-40B4-BE49-F238E27FC236}">
                <a16:creationId xmlns:a16="http://schemas.microsoft.com/office/drawing/2014/main" id="{A9A9AD02-8BD7-4318-8B0F-D7C02C2C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240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B2D5C"/>
                </a:solidFill>
              </a:defRPr>
            </a:pPr>
            <a:r>
              <a:rPr sz="1275" b="1">
                <a:solidFill>
                  <a:srgbClr val="0B2D5C"/>
                </a:solidFill>
              </a:rPr>
              <a:t>웹캠 손 제스처</a:t>
            </a:r>
          </a:p>
        </p:txBody>
      </p:sp>
      <p:cxnSp>
        <p:nvCxnSpPr>
          <p:cNvPr id="54" name=""/>
          <p:cNvCxnSpPr>
            <a:stCxn xmlns:a="http://schemas.openxmlformats.org/drawingml/2006/main" id="6" idx="0"/>
            <a:endCxn xmlns:a="http://schemas.openxmlformats.org/drawingml/2006/main" id="24" idx="2"/>
          </p:cNvCxnSpPr>
          <p:nvPr/>
        </p:nvCxnSpPr>
        <p:spPr>
          <a:xfrm xmlns:a="http://schemas.openxmlformats.org/drawingml/2006/main" flipH="1" flipV="1">
            <a:off x="5810250" y="2505075"/>
            <a:ext cx="28575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8EBEFF"/>
            </a:solidFill>
            <a:prstDash val="solid"/>
          </a:ln>
        </p:spPr>
      </p:cxnSp>
      <p:sp>
        <p:nvSpPr>
          <p:cNvPr id="27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959C181-5410-4A6D-AC5F-3166761E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7FB"/>
            </a:solidFill>
            <a:prstDash val="solid"/>
          </a:ln>
        </p:spPr>
      </p:sp>
      <p:sp>
        <p:nvSpPr>
          <p:cNvPr id="28" name="footer">
            <a:extLst xmlns:a="http://schemas.openxmlformats.org/drawingml/2006/main">
              <a:ext uri="{FF2B5EF4-FFF2-40B4-BE49-F238E27FC236}">
                <a16:creationId xmlns:a16="http://schemas.microsoft.com/office/drawing/2014/main" id="{D8188E88-11C0-41EE-BDE5-748D9DEC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Schema: event_type · result · failure_reason · manager_mood_after · manager_line · metadata</a:t>
            </a:r>
          </a:p>
        </p:txBody>
      </p:sp>
    </p:spTree>
    <p:extLst>
      <p:ext uri="{BB962C8B-B14F-4D97-AF65-F5344CB8AC3E}">
        <p14:creationId xmlns:p14="http://schemas.microsoft.com/office/powerpoint/2010/main" val="16740066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ule">
            <a:extLst xmlns:a="http://schemas.openxmlformats.org/drawingml/2006/main">
              <a:ext uri="{FF2B5EF4-FFF2-40B4-BE49-F238E27FC236}">
                <a16:creationId xmlns:a16="http://schemas.microsoft.com/office/drawing/2014/main" id="{DD362F75-973B-4907-82E8-98B273A7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4F9AC81-9FFC-4150-95E1-1468262B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검증 결과와 다음 단계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B4C034-03A2-43AF-B5DF-B0F912E1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0B2D5C"/>
                </a:solidFill>
              </a:defRPr>
            </a:pPr>
            <a:r>
              <a:rPr sz="2925" b="1">
                <a:solidFill>
                  <a:srgbClr val="0B2D5C"/>
                </a:solidFill>
              </a:rPr>
              <a:t>검증은 통과했고, 다음은 실제 DB 연결이다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9654E6A-C448-48B2-A449-E738B502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82"/>
                </a:solidFill>
              </a:defRPr>
            </a:pPr>
            <a:r>
              <a:rPr sz="1200" b="1">
                <a:solidFill>
                  <a:srgbClr val="5B6B82"/>
                </a:solidFill>
              </a:rPr>
              <a:t>07</a:t>
            </a:r>
          </a:p>
        </p:txBody>
      </p:sp>
      <p:sp>
        <p:nvSpPr>
          <p:cNvPr id="5" name="claim">
            <a:extLst xmlns:a="http://schemas.openxmlformats.org/drawingml/2006/main">
              <a:ext uri="{FF2B5EF4-FFF2-40B4-BE49-F238E27FC236}">
                <a16:creationId xmlns:a16="http://schemas.microsoft.com/office/drawing/2014/main" id="{CEE5A927-990E-4B8E-BC1F-3D1CD479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5B6B82"/>
                </a:solidFill>
              </a:defRPr>
            </a:pPr>
            <a:r>
              <a:rPr sz="1725" b="0">
                <a:solidFill>
                  <a:srgbClr val="5B6B82"/>
                </a:solidFill>
              </a:rPr>
              <a:t>현재는 Hono 서버 요청 흐름까지 확인했고, Supabase table 생성 후 영구 저장으로 넘어가면 수직 슬라이스가 닫힌다.</a:t>
            </a:r>
          </a:p>
        </p:txBody>
      </p:sp>
      <p:sp>
        <p:nvSpPr>
          <p:cNvPr id="6" name="verify-box">
            <a:extLst xmlns:a="http://schemas.openxmlformats.org/drawingml/2006/main">
              <a:ext uri="{FF2B5EF4-FFF2-40B4-BE49-F238E27FC236}">
                <a16:creationId xmlns:a16="http://schemas.microsoft.com/office/drawing/2014/main" id="{434B1C6F-5561-44B8-AF04-B9935DE3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1430">
            <a:solidFill>
              <a:srgbClr val="BBD7FF"/>
            </a:solidFill>
            <a:prstDash val="solid"/>
          </a:ln>
        </p:spPr>
      </p:sp>
      <p:sp>
        <p:nvSpPr>
          <p:cNvPr id="7" name="verify-title">
            <a:extLst xmlns:a="http://schemas.openxmlformats.org/drawingml/2006/main">
              <a:ext uri="{FF2B5EF4-FFF2-40B4-BE49-F238E27FC236}">
                <a16:creationId xmlns:a16="http://schemas.microsoft.com/office/drawing/2014/main" id="{4282F9EA-1FB1-47DC-899D-D907B609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2D5C"/>
                </a:solidFill>
              </a:defRPr>
            </a:pPr>
            <a:r>
              <a:rPr sz="2025" b="1">
                <a:solidFill>
                  <a:srgbClr val="0B2D5C"/>
                </a:solidFill>
              </a:rPr>
              <a:t>검증 완료</a:t>
            </a:r>
          </a:p>
        </p:txBody>
      </p:sp>
      <p:sp>
        <p:nvSpPr>
          <p:cNvPr id="8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3DC5B365-971D-4B8F-BA04-DBC9E3ED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bullet-0">
            <a:extLst xmlns:a="http://schemas.openxmlformats.org/drawingml/2006/main">
              <a:ext uri="{FF2B5EF4-FFF2-40B4-BE49-F238E27FC236}">
                <a16:creationId xmlns:a16="http://schemas.microsoft.com/office/drawing/2014/main" id="{C7F5BCCF-41D9-4CFA-9E11-F1D1F72E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npm.cmd run typecheck</a:t>
            </a:r>
          </a:p>
        </p:txBody>
      </p:sp>
      <p:sp>
        <p:nvSpPr>
          <p:cNvPr id="10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2FD17CF6-3781-4108-9F71-2DF94EB4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bullet-1">
            <a:extLst xmlns:a="http://schemas.openxmlformats.org/drawingml/2006/main">
              <a:ext uri="{FF2B5EF4-FFF2-40B4-BE49-F238E27FC236}">
                <a16:creationId xmlns:a16="http://schemas.microsoft.com/office/drawing/2014/main" id="{86DAD339-179B-4CB2-99D7-B89EC63B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004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npm.cmd run typecheck:server</a:t>
            </a:r>
          </a:p>
        </p:txBody>
      </p:sp>
      <p:sp>
        <p:nvSpPr>
          <p:cNvPr id="12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42ABE1A3-C6EB-4672-8E0F-50B5D510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43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bullet-2">
            <a:extLst xmlns:a="http://schemas.openxmlformats.org/drawingml/2006/main">
              <a:ext uri="{FF2B5EF4-FFF2-40B4-BE49-F238E27FC236}">
                <a16:creationId xmlns:a16="http://schemas.microsoft.com/office/drawing/2014/main" id="{CB7F9381-FAED-48A1-BAA9-75AD5B7F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576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HTTP smoke test: POST/GET/context OK</a:t>
            </a:r>
          </a:p>
        </p:txBody>
      </p:sp>
      <p:sp>
        <p:nvSpPr>
          <p:cNvPr id="14" name="next-box">
            <a:extLst xmlns:a="http://schemas.openxmlformats.org/drawingml/2006/main">
              <a:ext uri="{FF2B5EF4-FFF2-40B4-BE49-F238E27FC236}">
                <a16:creationId xmlns:a16="http://schemas.microsoft.com/office/drawing/2014/main" id="{C763F882-D557-4C75-A240-22DD4118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BD7FF"/>
            </a:solidFill>
            <a:prstDash val="solid"/>
          </a:ln>
        </p:spPr>
      </p:sp>
      <p:sp>
        <p:nvSpPr>
          <p:cNvPr id="15" name="next-title">
            <a:extLst xmlns:a="http://schemas.openxmlformats.org/drawingml/2006/main">
              <a:ext uri="{FF2B5EF4-FFF2-40B4-BE49-F238E27FC236}">
                <a16:creationId xmlns:a16="http://schemas.microsoft.com/office/drawing/2014/main" id="{C9F0A2B4-A2EF-4EFC-87F0-3038882D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71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B2D5C"/>
                </a:solidFill>
              </a:defRPr>
            </a:pPr>
            <a:r>
              <a:rPr sz="2025" b="1">
                <a:solidFill>
                  <a:srgbClr val="0B2D5C"/>
                </a:solidFill>
              </a:rPr>
              <a:t>다음 단계</a:t>
            </a:r>
          </a:p>
        </p:txBody>
      </p:sp>
      <p:sp>
        <p:nvSpPr>
          <p:cNvPr id="16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B7F01F67-3D74-4B77-ABE2-3487382E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bullet-0">
            <a:extLst xmlns:a="http://schemas.openxmlformats.org/drawingml/2006/main">
              <a:ext uri="{FF2B5EF4-FFF2-40B4-BE49-F238E27FC236}">
                <a16:creationId xmlns:a16="http://schemas.microsoft.com/office/drawing/2014/main" id="{33868E3C-F84E-4375-97A3-72EDC44E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Supabase에 quest_logs 이벤트 스키마 생성</a:t>
            </a:r>
          </a:p>
        </p:txBody>
      </p:sp>
      <p:sp>
        <p:nvSpPr>
          <p:cNvPr id="18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5E58FE21-405F-4351-B400-6AF4B5DC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9" name="bullet-1">
            <a:extLst xmlns:a="http://schemas.openxmlformats.org/drawingml/2006/main">
              <a:ext uri="{FF2B5EF4-FFF2-40B4-BE49-F238E27FC236}">
                <a16:creationId xmlns:a16="http://schemas.microsoft.com/office/drawing/2014/main" id="{FAA9F4EE-F976-4978-9B08-8D359377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004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로컬 .env에 실제 값은 커밋 없이 설정</a:t>
            </a:r>
          </a:p>
        </p:txBody>
      </p:sp>
      <p:sp>
        <p:nvSpPr>
          <p:cNvPr id="20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7DCED9F8-CC13-453C-99DF-8993AEBD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43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bullet-2">
            <a:extLst xmlns:a="http://schemas.openxmlformats.org/drawingml/2006/main">
              <a:ext uri="{FF2B5EF4-FFF2-40B4-BE49-F238E27FC236}">
                <a16:creationId xmlns:a16="http://schemas.microsoft.com/office/drawing/2014/main" id="{8ADCE1FE-77FB-424E-84E9-D2682A74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576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실제 DB 저장/조회로 수직 슬라이스 완성</a:t>
            </a:r>
          </a:p>
        </p:txBody>
      </p:sp>
      <p:sp>
        <p:nvSpPr>
          <p:cNvPr id="22" name="closing">
            <a:extLst xmlns:a="http://schemas.openxmlformats.org/drawingml/2006/main">
              <a:ext uri="{FF2B5EF4-FFF2-40B4-BE49-F238E27FC236}">
                <a16:creationId xmlns:a16="http://schemas.microsoft.com/office/drawing/2014/main" id="{209B20E3-51DA-4986-BE34-D931B777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673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이번 주 핵심 결과: React MVP 흐름과 서버 요청 구조가 같은 방향으로 연결됐다.</a:t>
            </a:r>
          </a:p>
        </p:txBody>
      </p:sp>
      <p:sp>
        <p:nvSpPr>
          <p:cNvPr id="2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1A604AF-5916-4B34-A32A-97A3BCDA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7FB"/>
            </a:solidFill>
            <a:prstDash val="solid"/>
          </a:ln>
        </p:spPr>
      </p:sp>
      <p:sp>
        <p:nvSpPr>
          <p:cNvPr id="24" name="footer">
            <a:extLst xmlns:a="http://schemas.openxmlformats.org/drawingml/2006/main">
              <a:ext uri="{FF2B5EF4-FFF2-40B4-BE49-F238E27FC236}">
                <a16:creationId xmlns:a16="http://schemas.microsoft.com/office/drawing/2014/main" id="{066BAA50-FDF4-466C-BB51-B3722696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Sources: PR heads #910/#1049/#1112 · docs/status.md · docs/api-contracts.md · docs/db-schema.md</a:t>
            </a:r>
          </a:p>
        </p:txBody>
      </p:sp>
    </p:spTree>
    <p:extLst>
      <p:ext uri="{BB962C8B-B14F-4D97-AF65-F5344CB8AC3E}">
        <p14:creationId xmlns:p14="http://schemas.microsoft.com/office/powerpoint/2010/main" val="1642263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2026-07-16T09:17:39.5780000Z</dcterms:created>
  <dcterms:modified xsi:type="dcterms:W3CDTF">2026-07-16T09:17:39.5780000Z</dcterms:modified>
</coreProperties>
</file>