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FCA60-AD44-5086-FA72-44BA6199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53A89-1F74-DADA-A456-8E592C3E2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58975-958B-AD93-022F-616F8F453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887E-6D54-C556-DC8E-B64B720FB7F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061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lue-side">
            <a:extLst>
              <a:ext uri="{FF2B5EF4-FFF2-40B4-BE49-F238E27FC236}">
                <a16:creationId xmlns:a16="http://schemas.microsoft.com/office/drawing/2014/main" id="{C962C0BD-6DF1-45BD-88D7-8B27B3D09B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CC82A76F-45D5-4205-890D-03326DC350B6}"/>
              </a:ext>
            </a:extLst>
          </p:cNvPr>
          <p:cNvSpPr>
            <a:spLocks noGrp="1"/>
          </p:cNvSpPr>
          <p:nvPr/>
        </p:nvSpPr>
        <p:spPr>
          <a:xfrm>
            <a:off x="838200" y="933450"/>
            <a:ext cx="742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900" b="1">
                <a:solidFill>
                  <a:srgbClr val="0B2D5C"/>
                </a:solidFill>
              </a:defRPr>
            </a:pPr>
            <a:r>
              <a:rPr sz="3900" b="1">
                <a:solidFill>
                  <a:srgbClr val="0B2D5C"/>
                </a:solidFill>
              </a:rPr>
              <a:t>2주차 핵심 작업 정리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747CD3E-380A-4714-839E-2362C92D6439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7810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4000"/>
              </a:lnSpc>
              <a:buNone/>
              <a:defRPr sz="1950" b="0">
                <a:solidFill>
                  <a:srgbClr val="172033"/>
                </a:solidFill>
              </a:defRPr>
            </a:pPr>
            <a:r>
              <a:rPr sz="1950" b="0" dirty="0" err="1">
                <a:solidFill>
                  <a:srgbClr val="172033"/>
                </a:solidFill>
              </a:rPr>
              <a:t>정적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프로토타입을</a:t>
            </a:r>
            <a:r>
              <a:rPr sz="1950" b="0" dirty="0">
                <a:solidFill>
                  <a:srgbClr val="172033"/>
                </a:solidFill>
              </a:rPr>
              <a:t> React </a:t>
            </a:r>
            <a:r>
              <a:rPr sz="1950" b="0" dirty="0" err="1">
                <a:solidFill>
                  <a:srgbClr val="172033"/>
                </a:solidFill>
              </a:rPr>
              <a:t>MVP로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옮기고</a:t>
            </a:r>
            <a:r>
              <a:rPr sz="1950" b="0" dirty="0">
                <a:solidFill>
                  <a:srgbClr val="172033"/>
                </a:solidFill>
              </a:rPr>
              <a:t>, </a:t>
            </a:r>
            <a:r>
              <a:rPr sz="1950" b="0" dirty="0" err="1">
                <a:solidFill>
                  <a:srgbClr val="172033"/>
                </a:solidFill>
              </a:rPr>
              <a:t>핵심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퀘스트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흐름을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서버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요청까지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이어지게</a:t>
            </a:r>
            <a:r>
              <a:rPr sz="1950" b="0" dirty="0">
                <a:solidFill>
                  <a:srgbClr val="172033"/>
                </a:solidFill>
              </a:rPr>
              <a:t> </a:t>
            </a:r>
            <a:r>
              <a:rPr sz="1950" b="0" dirty="0" err="1">
                <a:solidFill>
                  <a:srgbClr val="172033"/>
                </a:solidFill>
              </a:rPr>
              <a:t>만들었다</a:t>
            </a:r>
            <a:r>
              <a:rPr sz="1950" b="0" dirty="0">
                <a:solidFill>
                  <a:srgbClr val="172033"/>
                </a:solidFill>
              </a:rPr>
              <a:t>.</a:t>
            </a:r>
          </a:p>
        </p:txBody>
      </p:sp>
      <p:sp>
        <p:nvSpPr>
          <p:cNvPr id="9" name="summary-shape">
            <a:extLst>
              <a:ext uri="{FF2B5EF4-FFF2-40B4-BE49-F238E27FC236}">
                <a16:creationId xmlns:a16="http://schemas.microsoft.com/office/drawing/2014/main" id="{68B983BA-213A-4811-BAF3-0868C8B53FB9}"/>
              </a:ext>
            </a:extLst>
          </p:cNvPr>
          <p:cNvSpPr>
            <a:spLocks noGrp="1"/>
          </p:cNvSpPr>
          <p:nvPr/>
        </p:nvSpPr>
        <p:spPr>
          <a:xfrm>
            <a:off x="5153025" y="2771776"/>
            <a:ext cx="2381250" cy="2952750"/>
          </a:xfrm>
          <a:prstGeom prst="roundRect">
            <a:avLst>
              <a:gd name="adj" fmla="val 4800"/>
            </a:avLst>
          </a:prstGeom>
          <a:solidFill>
            <a:srgbClr val="EAF3FF"/>
          </a:solidFill>
          <a:ln w="11430">
            <a:solidFill>
              <a:srgbClr val="D4E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ummary-title">
            <a:extLst>
              <a:ext uri="{FF2B5EF4-FFF2-40B4-BE49-F238E27FC236}">
                <a16:creationId xmlns:a16="http://schemas.microsoft.com/office/drawing/2014/main" id="{DF9352B4-7A98-40BB-B08D-C961769E7743}"/>
              </a:ext>
            </a:extLst>
          </p:cNvPr>
          <p:cNvSpPr>
            <a:spLocks noGrp="1"/>
          </p:cNvSpPr>
          <p:nvPr/>
        </p:nvSpPr>
        <p:spPr>
          <a:xfrm>
            <a:off x="5467350" y="3133726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2D5C"/>
                </a:solidFill>
              </a:defRPr>
            </a:pPr>
            <a:endParaRPr sz="1650" b="1" dirty="0">
              <a:solidFill>
                <a:srgbClr val="0B2D5C"/>
              </a:solidFill>
            </a:endParaRPr>
          </a:p>
        </p:txBody>
      </p:sp>
      <p:sp>
        <p:nvSpPr>
          <p:cNvPr id="11" name="summary-words">
            <a:extLst>
              <a:ext uri="{FF2B5EF4-FFF2-40B4-BE49-F238E27FC236}">
                <a16:creationId xmlns:a16="http://schemas.microsoft.com/office/drawing/2014/main" id="{E7CC33E9-0898-4F24-A4F4-9EA5E170B458}"/>
              </a:ext>
            </a:extLst>
          </p:cNvPr>
          <p:cNvSpPr>
            <a:spLocks noGrp="1"/>
          </p:cNvSpPr>
          <p:nvPr/>
        </p:nvSpPr>
        <p:spPr>
          <a:xfrm>
            <a:off x="5219700" y="2940050"/>
            <a:ext cx="225425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lang="ko-KR" altLang="en-US" sz="2100" b="1" dirty="0">
                <a:solidFill>
                  <a:srgbClr val="2563EB"/>
                </a:solidFill>
              </a:rPr>
              <a:t>플로우 정리</a:t>
            </a:r>
            <a:endParaRPr sz="2100" b="1" dirty="0">
              <a:solidFill>
                <a:srgbClr val="2563EB"/>
              </a:solidFill>
            </a:endParaRPr>
          </a:p>
          <a:p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 dirty="0">
                <a:solidFill>
                  <a:srgbClr val="2563EB"/>
                </a:solidFill>
              </a:rPr>
              <a:t>+</a:t>
            </a:r>
          </a:p>
          <a:p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 dirty="0" err="1">
                <a:solidFill>
                  <a:srgbClr val="2563EB"/>
                </a:solidFill>
              </a:rPr>
              <a:t>서버</a:t>
            </a:r>
            <a:r>
              <a:rPr sz="2100" b="1" dirty="0">
                <a:solidFill>
                  <a:srgbClr val="2563EB"/>
                </a:solidFill>
              </a:rPr>
              <a:t> </a:t>
            </a:r>
            <a:r>
              <a:rPr sz="2100" b="1" dirty="0" err="1">
                <a:solidFill>
                  <a:srgbClr val="2563EB"/>
                </a:solidFill>
              </a:rPr>
              <a:t>요청</a:t>
            </a:r>
            <a:endParaRPr sz="2100" b="1" dirty="0">
              <a:solidFill>
                <a:srgbClr val="2563EB"/>
              </a:solidFill>
            </a:endParaRPr>
          </a:p>
          <a:p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 dirty="0">
                <a:solidFill>
                  <a:srgbClr val="2563EB"/>
                </a:solidFill>
              </a:rPr>
              <a:t>+</a:t>
            </a:r>
          </a:p>
          <a:p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 dirty="0" err="1">
                <a:solidFill>
                  <a:srgbClr val="2563EB"/>
                </a:solidFill>
              </a:rPr>
              <a:t>확장</a:t>
            </a:r>
            <a:r>
              <a:rPr sz="2100" b="1" dirty="0">
                <a:solidFill>
                  <a:srgbClr val="2563EB"/>
                </a:solidFill>
              </a:rPr>
              <a:t> </a:t>
            </a:r>
            <a:r>
              <a:rPr sz="2100" b="1" dirty="0" err="1">
                <a:solidFill>
                  <a:srgbClr val="2563EB"/>
                </a:solidFill>
              </a:rPr>
              <a:t>데이터</a:t>
            </a:r>
            <a:endParaRPr sz="2100" b="1" dirty="0">
              <a:solidFill>
                <a:srgbClr val="2563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op-rule">
            <a:extLst>
              <a:ext uri="{FF2B5EF4-FFF2-40B4-BE49-F238E27FC236}">
                <a16:creationId xmlns:a16="http://schemas.microsoft.com/office/drawing/2014/main" id="{889185EB-0EA3-44A0-AC63-4D9DAAC1A7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1694282-AFAE-47D2-BCD8-4EF991C0619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핵심 작업 1 · React MVP Flow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16AD9C3-DA88-400D-B6E0-EC40BEAD2FE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React state가 클릭 흐름을 실제 화면 전환으로 만든다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0CDD25A6-3523-44C0-BCF5-E79AEE04B7A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첫 접속부터 완료/실패/복구까지, 사용자 행동이 state와 handler를 거쳐 창과 데이터를 바꾼다.</a:t>
            </a:r>
          </a:p>
        </p:txBody>
      </p:sp>
      <p:sp>
        <p:nvSpPr>
          <p:cNvPr id="6" name="node-Profile Setup">
            <a:extLst>
              <a:ext uri="{FF2B5EF4-FFF2-40B4-BE49-F238E27FC236}">
                <a16:creationId xmlns:a16="http://schemas.microsoft.com/office/drawing/2014/main" id="{0635C8D2-EDE8-47E1-A150-2BB905A2B692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390650" cy="647700"/>
          </a:xfrm>
          <a:prstGeom prst="roundRect">
            <a:avLst>
              <a:gd name="adj" fmla="val 88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node-text-Profile Setup">
            <a:extLst>
              <a:ext uri="{FF2B5EF4-FFF2-40B4-BE49-F238E27FC236}">
                <a16:creationId xmlns:a16="http://schemas.microsoft.com/office/drawing/2014/main" id="{7794EAF4-394E-4016-BD7A-6F3119EE8F8C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Profile</a:t>
            </a:r>
          </a:p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Setup</a:t>
            </a:r>
          </a:p>
        </p:txBody>
      </p:sp>
      <p:sp>
        <p:nvSpPr>
          <p:cNvPr id="8" name="node-XP Desktop">
            <a:extLst>
              <a:ext uri="{FF2B5EF4-FFF2-40B4-BE49-F238E27FC236}">
                <a16:creationId xmlns:a16="http://schemas.microsoft.com/office/drawing/2014/main" id="{B1270562-3E71-4832-BAFB-FBA19AEBCCF4}"/>
              </a:ext>
            </a:extLst>
          </p:cNvPr>
          <p:cNvSpPr>
            <a:spLocks noGrp="1"/>
          </p:cNvSpPr>
          <p:nvPr/>
        </p:nvSpPr>
        <p:spPr>
          <a:xfrm>
            <a:off x="2514600" y="2400300"/>
            <a:ext cx="1390650" cy="647700"/>
          </a:xfrm>
          <a:prstGeom prst="roundRect">
            <a:avLst>
              <a:gd name="adj" fmla="val 88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ode-text-XP Desktop">
            <a:extLst>
              <a:ext uri="{FF2B5EF4-FFF2-40B4-BE49-F238E27FC236}">
                <a16:creationId xmlns:a16="http://schemas.microsoft.com/office/drawing/2014/main" id="{2AE7F8B3-9D69-423A-A51F-5F801B4FDCFF}"/>
              </a:ext>
            </a:extLst>
          </p:cNvPr>
          <p:cNvSpPr>
            <a:spLocks noGrp="1"/>
          </p:cNvSpPr>
          <p:nvPr/>
        </p:nvSpPr>
        <p:spPr>
          <a:xfrm>
            <a:off x="2628900" y="25336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XP</a:t>
            </a:r>
          </a:p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Desktop</a:t>
            </a:r>
          </a:p>
        </p:txBody>
      </p:sp>
      <p:sp>
        <p:nvSpPr>
          <p:cNvPr id="10" name="node-오늘의 퀘스트">
            <a:extLst>
              <a:ext uri="{FF2B5EF4-FFF2-40B4-BE49-F238E27FC236}">
                <a16:creationId xmlns:a16="http://schemas.microsoft.com/office/drawing/2014/main" id="{2E601D83-48C7-4A44-A243-B3D5FE5F8106}"/>
              </a:ext>
            </a:extLst>
          </p:cNvPr>
          <p:cNvSpPr>
            <a:spLocks noGrp="1"/>
          </p:cNvSpPr>
          <p:nvPr/>
        </p:nvSpPr>
        <p:spPr>
          <a:xfrm>
            <a:off x="4305300" y="2400300"/>
            <a:ext cx="1390650" cy="647700"/>
          </a:xfrm>
          <a:prstGeom prst="roundRect">
            <a:avLst>
              <a:gd name="adj" fmla="val 88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node-text-오늘의 퀘스트">
            <a:extLst>
              <a:ext uri="{FF2B5EF4-FFF2-40B4-BE49-F238E27FC236}">
                <a16:creationId xmlns:a16="http://schemas.microsoft.com/office/drawing/2014/main" id="{688424D8-1AA8-4B58-A51F-3E1D0D542F4D}"/>
              </a:ext>
            </a:extLst>
          </p:cNvPr>
          <p:cNvSpPr>
            <a:spLocks noGrp="1"/>
          </p:cNvSpPr>
          <p:nvPr/>
        </p:nvSpPr>
        <p:spPr>
          <a:xfrm>
            <a:off x="4419600" y="25336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Quest</a:t>
            </a:r>
          </a:p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Draft</a:t>
            </a:r>
          </a:p>
        </p:txBody>
      </p:sp>
      <p:sp>
        <p:nvSpPr>
          <p:cNvPr id="12" name="node-QuestRunner.exe">
            <a:extLst>
              <a:ext uri="{FF2B5EF4-FFF2-40B4-BE49-F238E27FC236}">
                <a16:creationId xmlns:a16="http://schemas.microsoft.com/office/drawing/2014/main" id="{FCC05295-1AE6-4146-8493-A58D9440681F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1390650" cy="647700"/>
          </a:xfrm>
          <a:prstGeom prst="roundRect">
            <a:avLst>
              <a:gd name="adj" fmla="val 88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node-text-QuestRunner.exe">
            <a:extLst>
              <a:ext uri="{FF2B5EF4-FFF2-40B4-BE49-F238E27FC236}">
                <a16:creationId xmlns:a16="http://schemas.microsoft.com/office/drawing/2014/main" id="{6E8F9F09-7734-4B0C-B7CF-C3C1A66C8B03}"/>
              </a:ext>
            </a:extLst>
          </p:cNvPr>
          <p:cNvSpPr>
            <a:spLocks noGrp="1"/>
          </p:cNvSpPr>
          <p:nvPr/>
        </p:nvSpPr>
        <p:spPr>
          <a:xfrm>
            <a:off x="6210300" y="25336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QuestRunner</a:t>
            </a:r>
          </a:p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.exe</a:t>
            </a:r>
          </a:p>
        </p:txBody>
      </p:sp>
      <p:sp>
        <p:nvSpPr>
          <p:cNvPr id="14" name="node-완료/실패/복구">
            <a:extLst>
              <a:ext uri="{FF2B5EF4-FFF2-40B4-BE49-F238E27FC236}">
                <a16:creationId xmlns:a16="http://schemas.microsoft.com/office/drawing/2014/main" id="{FD9065F9-B62F-4074-9604-2886212D3DE3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1390650" cy="647700"/>
          </a:xfrm>
          <a:prstGeom prst="roundRect">
            <a:avLst>
              <a:gd name="adj" fmla="val 88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node-text-완료/실패/복구">
            <a:extLst>
              <a:ext uri="{FF2B5EF4-FFF2-40B4-BE49-F238E27FC236}">
                <a16:creationId xmlns:a16="http://schemas.microsoft.com/office/drawing/2014/main" id="{A6687A6F-8A85-4C6B-AA55-646A84E1D1B9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Result</a:t>
            </a:r>
          </a:p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Handlers</a:t>
            </a:r>
          </a:p>
        </p:txBody>
      </p:sp>
      <p:sp>
        <p:nvSpPr>
          <p:cNvPr id="16" name="node-기록 노트">
            <a:extLst>
              <a:ext uri="{FF2B5EF4-FFF2-40B4-BE49-F238E27FC236}">
                <a16:creationId xmlns:a16="http://schemas.microsoft.com/office/drawing/2014/main" id="{A6A704E2-35DD-43CD-BE8A-77947A2A24E5}"/>
              </a:ext>
            </a:extLst>
          </p:cNvPr>
          <p:cNvSpPr>
            <a:spLocks noGrp="1"/>
          </p:cNvSpPr>
          <p:nvPr/>
        </p:nvSpPr>
        <p:spPr>
          <a:xfrm>
            <a:off x="9677400" y="2400300"/>
            <a:ext cx="1390650" cy="647700"/>
          </a:xfrm>
          <a:prstGeom prst="roundRect">
            <a:avLst>
              <a:gd name="adj" fmla="val 88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node-text-기록 노트">
            <a:extLst>
              <a:ext uri="{FF2B5EF4-FFF2-40B4-BE49-F238E27FC236}">
                <a16:creationId xmlns:a16="http://schemas.microsoft.com/office/drawing/2014/main" id="{64FFF03E-C43B-4282-9E48-504A899F67FE}"/>
              </a:ext>
            </a:extLst>
          </p:cNvPr>
          <p:cNvSpPr>
            <a:spLocks noGrp="1"/>
          </p:cNvSpPr>
          <p:nvPr/>
        </p:nvSpPr>
        <p:spPr>
          <a:xfrm>
            <a:off x="9791700" y="25336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Journal</a:t>
            </a:r>
          </a:p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(on click)</a:t>
            </a:r>
          </a:p>
        </p:txBody>
      </p:sp>
      <p:cxnSp>
        <p:nvCxnSpPr>
          <p:cNvPr id="70" name="직선 화살표 연결선 69"/>
          <p:cNvCxnSpPr>
            <a:stCxn id="6" idx="3"/>
            <a:endCxn id="8" idx="1"/>
          </p:cNvCxnSpPr>
          <p:nvPr/>
        </p:nvCxnSpPr>
        <p:spPr>
          <a:xfrm>
            <a:off x="2114550" y="2724150"/>
            <a:ext cx="4000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71" name="직선 화살표 연결선 70"/>
          <p:cNvCxnSpPr>
            <a:stCxn id="8" idx="3"/>
            <a:endCxn id="10" idx="1"/>
          </p:cNvCxnSpPr>
          <p:nvPr/>
        </p:nvCxnSpPr>
        <p:spPr>
          <a:xfrm>
            <a:off x="3905250" y="2724150"/>
            <a:ext cx="4000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72" name="직선 화살표 연결선 71"/>
          <p:cNvCxnSpPr>
            <a:stCxn id="10" idx="3"/>
            <a:endCxn id="12" idx="1"/>
          </p:cNvCxnSpPr>
          <p:nvPr/>
        </p:nvCxnSpPr>
        <p:spPr>
          <a:xfrm>
            <a:off x="5695950" y="2724150"/>
            <a:ext cx="4000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73" name="직선 화살표 연결선 72"/>
          <p:cNvCxnSpPr>
            <a:stCxn id="12" idx="3"/>
            <a:endCxn id="14" idx="1"/>
          </p:cNvCxnSpPr>
          <p:nvPr/>
        </p:nvCxnSpPr>
        <p:spPr>
          <a:xfrm>
            <a:off x="7486650" y="2724150"/>
            <a:ext cx="4000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74" name="직선 화살표 연결선 73"/>
          <p:cNvCxnSpPr>
            <a:stCxn id="14" idx="3"/>
            <a:endCxn id="16" idx="1"/>
          </p:cNvCxnSpPr>
          <p:nvPr/>
        </p:nvCxnSpPr>
        <p:spPr>
          <a:xfrm>
            <a:off x="9277350" y="2724150"/>
            <a:ext cx="4000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23" name="bullet-dot-0">
            <a:extLst>
              <a:ext uri="{FF2B5EF4-FFF2-40B4-BE49-F238E27FC236}">
                <a16:creationId xmlns:a16="http://schemas.microsoft.com/office/drawing/2014/main" id="{262C3A74-96EC-4F52-AD8C-0AD0856B5F87}"/>
              </a:ext>
            </a:extLst>
          </p:cNvPr>
          <p:cNvSpPr>
            <a:spLocks noGrp="1"/>
          </p:cNvSpPr>
          <p:nvPr/>
        </p:nvSpPr>
        <p:spPr>
          <a:xfrm>
            <a:off x="914400" y="38004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bullet-0">
            <a:extLst>
              <a:ext uri="{FF2B5EF4-FFF2-40B4-BE49-F238E27FC236}">
                <a16:creationId xmlns:a16="http://schemas.microsoft.com/office/drawing/2014/main" id="{8957888F-0E43-4F41-81F8-BA8AB9921660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`screen`, `questStatus`, `openWindows`가 초기 화면과 창 열림을 결정한다.</a:t>
            </a:r>
          </a:p>
        </p:txBody>
      </p:sp>
      <p:sp>
        <p:nvSpPr>
          <p:cNvPr id="25" name="bullet-dot-1">
            <a:extLst>
              <a:ext uri="{FF2B5EF4-FFF2-40B4-BE49-F238E27FC236}">
                <a16:creationId xmlns:a16="http://schemas.microsoft.com/office/drawing/2014/main" id="{A91CF56B-75FD-4390-9DFC-92273E427B5D}"/>
              </a:ext>
            </a:extLst>
          </p:cNvPr>
          <p:cNvSpPr>
            <a:spLocks noGrp="1"/>
          </p:cNvSpPr>
          <p:nvPr/>
        </p:nvSpPr>
        <p:spPr>
          <a:xfrm>
            <a:off x="914400" y="42576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bullet-1">
            <a:extLst>
              <a:ext uri="{FF2B5EF4-FFF2-40B4-BE49-F238E27FC236}">
                <a16:creationId xmlns:a16="http://schemas.microsoft.com/office/drawing/2014/main" id="{53A804B4-292E-4126-91D2-7E45E1403E98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`profile`, `quest`, `manager`, `logs`가 props로 내려가 화면을 그린다.</a:t>
            </a:r>
          </a:p>
        </p:txBody>
      </p:sp>
      <p:sp>
        <p:nvSpPr>
          <p:cNvPr id="27" name="bullet-dot-2">
            <a:extLst>
              <a:ext uri="{FF2B5EF4-FFF2-40B4-BE49-F238E27FC236}">
                <a16:creationId xmlns:a16="http://schemas.microsoft.com/office/drawing/2014/main" id="{203069DE-E367-4427-833B-B913BE223B89}"/>
              </a:ext>
            </a:extLst>
          </p:cNvPr>
          <p:cNvSpPr>
            <a:spLocks noGrp="1"/>
          </p:cNvSpPr>
          <p:nvPr/>
        </p:nvSpPr>
        <p:spPr>
          <a:xfrm>
            <a:off x="914400" y="47148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bullet-2">
            <a:extLst>
              <a:ext uri="{FF2B5EF4-FFF2-40B4-BE49-F238E27FC236}">
                <a16:creationId xmlns:a16="http://schemas.microsoft.com/office/drawing/2014/main" id="{91F0E09E-943C-4B61-AF91-3E81CD08FD9B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완료/실패/복구 handler가 EXP, Lumi 상태, 기록 데이터를 갱신한다.</a:t>
            </a:r>
          </a:p>
        </p:txBody>
      </p:sp>
      <p:sp>
        <p:nvSpPr>
          <p:cNvPr id="29" name="footer-line">
            <a:extLst>
              <a:ext uri="{FF2B5EF4-FFF2-40B4-BE49-F238E27FC236}">
                <a16:creationId xmlns:a16="http://schemas.microsoft.com/office/drawing/2014/main" id="{E4A210FF-E27E-43FA-A3E3-944F7340E676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0"/>
          </a:xfrm>
          <a:prstGeom prst="line">
            <a:avLst/>
          </a:prstGeom>
          <a:noFill/>
          <a:ln w="9525">
            <a:solidFill>
              <a:srgbClr val="D9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footer">
            <a:extLst>
              <a:ext uri="{FF2B5EF4-FFF2-40B4-BE49-F238E27FC236}">
                <a16:creationId xmlns:a16="http://schemas.microsoft.com/office/drawing/2014/main" id="{73D8FA9D-5622-4CB7-B61A-1BBEA98555F6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 dirty="0">
                <a:solidFill>
                  <a:srgbClr val="5B6B82"/>
                </a:solidFill>
              </a:rPr>
              <a:t>Code: </a:t>
            </a:r>
            <a:r>
              <a:rPr sz="975" b="0" dirty="0" err="1">
                <a:solidFill>
                  <a:srgbClr val="5B6B82"/>
                </a:solidFill>
              </a:rPr>
              <a:t>src</a:t>
            </a:r>
            <a:r>
              <a:rPr sz="975" b="0" dirty="0">
                <a:solidFill>
                  <a:srgbClr val="5B6B82"/>
                </a:solidFill>
              </a:rPr>
              <a:t>/</a:t>
            </a:r>
            <a:r>
              <a:rPr sz="975" b="0" dirty="0" err="1">
                <a:solidFill>
                  <a:srgbClr val="5B6B82"/>
                </a:solidFill>
              </a:rPr>
              <a:t>App.tsx</a:t>
            </a:r>
            <a:r>
              <a:rPr sz="975" b="0" dirty="0">
                <a:solidFill>
                  <a:srgbClr val="5B6B82"/>
                </a:solidFill>
              </a:rPr>
              <a:t> · </a:t>
            </a:r>
            <a:r>
              <a:rPr sz="975" b="0" dirty="0" err="1">
                <a:solidFill>
                  <a:srgbClr val="5B6B82"/>
                </a:solidFill>
              </a:rPr>
              <a:t>src</a:t>
            </a:r>
            <a:r>
              <a:rPr sz="975" b="0" dirty="0">
                <a:solidFill>
                  <a:srgbClr val="5B6B82"/>
                </a:solidFill>
              </a:rPr>
              <a:t>/data/</a:t>
            </a:r>
            <a:r>
              <a:rPr sz="975" b="0" dirty="0" err="1">
                <a:solidFill>
                  <a:srgbClr val="5B6B82"/>
                </a:solidFill>
              </a:rPr>
              <a:t>questLogs.ts</a:t>
            </a:r>
            <a:r>
              <a:rPr sz="975" b="0" dirty="0">
                <a:solidFill>
                  <a:srgbClr val="5B6B82"/>
                </a:solidFill>
              </a:rPr>
              <a:t> · </a:t>
            </a:r>
            <a:r>
              <a:rPr sz="975" b="0" dirty="0" err="1">
                <a:solidFill>
                  <a:srgbClr val="5B6B82"/>
                </a:solidFill>
              </a:rPr>
              <a:t>src</a:t>
            </a:r>
            <a:r>
              <a:rPr sz="975" b="0" dirty="0">
                <a:solidFill>
                  <a:srgbClr val="5B6B82"/>
                </a:solidFill>
              </a:rPr>
              <a:t>/layers/storage/</a:t>
            </a:r>
            <a:r>
              <a:rPr sz="975" b="0" dirty="0" err="1">
                <a:solidFill>
                  <a:srgbClr val="5B6B82"/>
                </a:solidFill>
              </a:rPr>
              <a:t>questLogApi.ts</a:t>
            </a:r>
            <a:endParaRPr sz="975" b="0" dirty="0">
              <a:solidFill>
                <a:srgbClr val="5B6B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03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rule">
            <a:extLst>
              <a:ext uri="{FF2B5EF4-FFF2-40B4-BE49-F238E27FC236}">
                <a16:creationId xmlns:a16="http://schemas.microsoft.com/office/drawing/2014/main" id="{C303B49C-2939-4E6C-8CB1-29834BD9DA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B55A819D-88B3-47E6-862B-AED66433A3A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핵심 작업 2 · Server/API Slice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F7795B-481D-475D-9860-2A86A22E20C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기록 저장을 Quest Event 구조로 확장했다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638C22F8-A136-456A-A3AC-50F494BACD8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단순 완료 기록이 아니라, 나중에 LLM 매니저가 읽을 수 있는 행동 데이터로 저장 단위를 바꿨다.</a:t>
            </a:r>
          </a:p>
        </p:txBody>
      </p:sp>
      <p:sp>
        <p:nvSpPr>
          <p:cNvPr id="6" name="node-React Event">
            <a:extLst>
              <a:ext uri="{FF2B5EF4-FFF2-40B4-BE49-F238E27FC236}">
                <a16:creationId xmlns:a16="http://schemas.microsoft.com/office/drawing/2014/main" id="{2FBD3B30-28EE-448B-BF69-9F92C6AEB895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619250" cy="666750"/>
          </a:xfrm>
          <a:prstGeom prst="roundRect">
            <a:avLst>
              <a:gd name="adj" fmla="val 8571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node-text-React Event">
            <a:extLst>
              <a:ext uri="{FF2B5EF4-FFF2-40B4-BE49-F238E27FC236}">
                <a16:creationId xmlns:a16="http://schemas.microsoft.com/office/drawing/2014/main" id="{72B5F5A0-C240-461E-AA58-892C59FFF9AD}"/>
              </a:ext>
            </a:extLst>
          </p:cNvPr>
          <p:cNvSpPr>
            <a:spLocks noGrp="1"/>
          </p:cNvSpPr>
          <p:nvPr/>
        </p:nvSpPr>
        <p:spPr>
          <a:xfrm>
            <a:off x="1162050" y="2628900"/>
            <a:ext cx="1390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React Event</a:t>
            </a:r>
          </a:p>
        </p:txBody>
      </p:sp>
      <p:sp>
        <p:nvSpPr>
          <p:cNvPr id="8" name="node-Hono API">
            <a:extLst>
              <a:ext uri="{FF2B5EF4-FFF2-40B4-BE49-F238E27FC236}">
                <a16:creationId xmlns:a16="http://schemas.microsoft.com/office/drawing/2014/main" id="{5A57E93F-C8FA-4378-9D03-9F87285AD521}"/>
              </a:ext>
            </a:extLst>
          </p:cNvPr>
          <p:cNvSpPr>
            <a:spLocks noGrp="1"/>
          </p:cNvSpPr>
          <p:nvPr/>
        </p:nvSpPr>
        <p:spPr>
          <a:xfrm>
            <a:off x="3333750" y="2495550"/>
            <a:ext cx="1619250" cy="666750"/>
          </a:xfrm>
          <a:prstGeom prst="roundRect">
            <a:avLst>
              <a:gd name="adj" fmla="val 8571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ode-text-Hono API">
            <a:extLst>
              <a:ext uri="{FF2B5EF4-FFF2-40B4-BE49-F238E27FC236}">
                <a16:creationId xmlns:a16="http://schemas.microsoft.com/office/drawing/2014/main" id="{EBD723C3-CB8E-4E70-B3C6-7F502ACE8284}"/>
              </a:ext>
            </a:extLst>
          </p:cNvPr>
          <p:cNvSpPr>
            <a:spLocks noGrp="1"/>
          </p:cNvSpPr>
          <p:nvPr/>
        </p:nvSpPr>
        <p:spPr>
          <a:xfrm>
            <a:off x="3448050" y="2628900"/>
            <a:ext cx="1390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Hono API</a:t>
            </a:r>
          </a:p>
        </p:txBody>
      </p:sp>
      <p:sp>
        <p:nvSpPr>
          <p:cNvPr id="10" name="node-Quest Event Store">
            <a:extLst>
              <a:ext uri="{FF2B5EF4-FFF2-40B4-BE49-F238E27FC236}">
                <a16:creationId xmlns:a16="http://schemas.microsoft.com/office/drawing/2014/main" id="{CFF776D4-E27C-4796-AE09-EDBCD43836D8}"/>
              </a:ext>
            </a:extLst>
          </p:cNvPr>
          <p:cNvSpPr>
            <a:spLocks noGrp="1"/>
          </p:cNvSpPr>
          <p:nvPr/>
        </p:nvSpPr>
        <p:spPr>
          <a:xfrm>
            <a:off x="5619750" y="2495550"/>
            <a:ext cx="1809750" cy="666750"/>
          </a:xfrm>
          <a:prstGeom prst="roundRect">
            <a:avLst>
              <a:gd name="adj" fmla="val 8571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node-text-Quest Event Store">
            <a:extLst>
              <a:ext uri="{FF2B5EF4-FFF2-40B4-BE49-F238E27FC236}">
                <a16:creationId xmlns:a16="http://schemas.microsoft.com/office/drawing/2014/main" id="{639B7F84-3F05-4093-9A2B-70B413A886F0}"/>
              </a:ext>
            </a:extLst>
          </p:cNvPr>
          <p:cNvSpPr>
            <a:spLocks noGrp="1"/>
          </p:cNvSpPr>
          <p:nvPr/>
        </p:nvSpPr>
        <p:spPr>
          <a:xfrm>
            <a:off x="5734050" y="2628900"/>
            <a:ext cx="1581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Quest Event Store</a:t>
            </a:r>
          </a:p>
        </p:txBody>
      </p:sp>
      <p:sp>
        <p:nvSpPr>
          <p:cNvPr id="12" name="node-Manager Context">
            <a:extLst>
              <a:ext uri="{FF2B5EF4-FFF2-40B4-BE49-F238E27FC236}">
                <a16:creationId xmlns:a16="http://schemas.microsoft.com/office/drawing/2014/main" id="{7FEC8F8B-DE23-4EFC-ABF3-BC6D1216AE1F}"/>
              </a:ext>
            </a:extLst>
          </p:cNvPr>
          <p:cNvSpPr>
            <a:spLocks noGrp="1"/>
          </p:cNvSpPr>
          <p:nvPr/>
        </p:nvSpPr>
        <p:spPr>
          <a:xfrm>
            <a:off x="8191500" y="2495550"/>
            <a:ext cx="1905000" cy="666750"/>
          </a:xfrm>
          <a:prstGeom prst="roundRect">
            <a:avLst>
              <a:gd name="adj" fmla="val 8571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node-text-Manager Context">
            <a:extLst>
              <a:ext uri="{FF2B5EF4-FFF2-40B4-BE49-F238E27FC236}">
                <a16:creationId xmlns:a16="http://schemas.microsoft.com/office/drawing/2014/main" id="{57E5460D-6503-4C97-969E-15B243100E78}"/>
              </a:ext>
            </a:extLst>
          </p:cNvPr>
          <p:cNvSpPr>
            <a:spLocks noGrp="1"/>
          </p:cNvSpPr>
          <p:nvPr/>
        </p:nvSpPr>
        <p:spPr>
          <a:xfrm>
            <a:off x="8305800" y="2628900"/>
            <a:ext cx="1676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Manager Context</a:t>
            </a:r>
          </a:p>
        </p:txBody>
      </p:sp>
      <p:cxnSp>
        <p:nvCxnSpPr>
          <p:cNvPr id="54" name="직선 화살표 연결선 53"/>
          <p:cNvCxnSpPr>
            <a:stCxn id="6" idx="3"/>
            <a:endCxn id="8" idx="1"/>
          </p:cNvCxnSpPr>
          <p:nvPr/>
        </p:nvCxnSpPr>
        <p:spPr>
          <a:xfrm>
            <a:off x="2667000" y="2828925"/>
            <a:ext cx="6667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55" name="직선 화살표 연결선 54"/>
          <p:cNvCxnSpPr>
            <a:stCxn id="8" idx="3"/>
            <a:endCxn id="10" idx="1"/>
          </p:cNvCxnSpPr>
          <p:nvPr/>
        </p:nvCxnSpPr>
        <p:spPr>
          <a:xfrm>
            <a:off x="4953000" y="2828925"/>
            <a:ext cx="66675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56" name="직선 화살표 연결선 55"/>
          <p:cNvCxnSpPr>
            <a:stCxn id="10" idx="3"/>
            <a:endCxn id="12" idx="1"/>
          </p:cNvCxnSpPr>
          <p:nvPr/>
        </p:nvCxnSpPr>
        <p:spPr>
          <a:xfrm>
            <a:off x="7429500" y="2828925"/>
            <a:ext cx="762000" cy="0"/>
          </a:xfrm>
          <a:prstGeom prst="straightConnector1">
            <a:avLst/>
          </a:prstGeom>
          <a:ln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17" name="bullet-dot-0">
            <a:extLst>
              <a:ext uri="{FF2B5EF4-FFF2-40B4-BE49-F238E27FC236}">
                <a16:creationId xmlns:a16="http://schemas.microsoft.com/office/drawing/2014/main" id="{1D02424F-4334-4C03-8035-A940C97AD01F}"/>
              </a:ext>
            </a:extLst>
          </p:cNvPr>
          <p:cNvSpPr>
            <a:spLocks noGrp="1"/>
          </p:cNvSpPr>
          <p:nvPr/>
        </p:nvSpPr>
        <p:spPr>
          <a:xfrm>
            <a:off x="1143000" y="39433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bullet-0">
            <a:extLst>
              <a:ext uri="{FF2B5EF4-FFF2-40B4-BE49-F238E27FC236}">
                <a16:creationId xmlns:a16="http://schemas.microsoft.com/office/drawing/2014/main" id="{47E7C374-7179-45EF-9279-8F2F73F9084C}"/>
              </a:ext>
            </a:extLst>
          </p:cNvPr>
          <p:cNvSpPr>
            <a:spLocks noGrp="1"/>
          </p:cNvSpPr>
          <p:nvPr/>
        </p:nvSpPr>
        <p:spPr>
          <a:xfrm>
            <a:off x="1371600" y="3857625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POST /api/quest-events: 완료·실패·복구 이벤트를 저장한다.</a:t>
            </a:r>
          </a:p>
        </p:txBody>
      </p:sp>
      <p:sp>
        <p:nvSpPr>
          <p:cNvPr id="19" name="bullet-dot-1">
            <a:extLst>
              <a:ext uri="{FF2B5EF4-FFF2-40B4-BE49-F238E27FC236}">
                <a16:creationId xmlns:a16="http://schemas.microsoft.com/office/drawing/2014/main" id="{DCC6D084-C7B1-42DE-A810-43F1DEAA79BB}"/>
              </a:ext>
            </a:extLst>
          </p:cNvPr>
          <p:cNvSpPr>
            <a:spLocks noGrp="1"/>
          </p:cNvSpPr>
          <p:nvPr/>
        </p:nvSpPr>
        <p:spPr>
          <a:xfrm>
            <a:off x="1143000" y="44005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bullet-1">
            <a:extLst>
              <a:ext uri="{FF2B5EF4-FFF2-40B4-BE49-F238E27FC236}">
                <a16:creationId xmlns:a16="http://schemas.microsoft.com/office/drawing/2014/main" id="{F6CB6F7E-6DA0-43C2-A464-C50030E28E0F}"/>
              </a:ext>
            </a:extLst>
          </p:cNvPr>
          <p:cNvSpPr>
            <a:spLocks noGrp="1"/>
          </p:cNvSpPr>
          <p:nvPr/>
        </p:nvSpPr>
        <p:spPr>
          <a:xfrm>
            <a:off x="1371600" y="4314825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GET /api/quest-events: 기록 노트가 이벤트 결과를 렌더링한다.</a:t>
            </a:r>
          </a:p>
        </p:txBody>
      </p:sp>
      <p:sp>
        <p:nvSpPr>
          <p:cNvPr id="21" name="bullet-dot-2">
            <a:extLst>
              <a:ext uri="{FF2B5EF4-FFF2-40B4-BE49-F238E27FC236}">
                <a16:creationId xmlns:a16="http://schemas.microsoft.com/office/drawing/2014/main" id="{94649042-3B60-41B3-A2DE-FAF727105527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bullet-2">
            <a:extLst>
              <a:ext uri="{FF2B5EF4-FFF2-40B4-BE49-F238E27FC236}">
                <a16:creationId xmlns:a16="http://schemas.microsoft.com/office/drawing/2014/main" id="{98DDAAAA-34DA-4942-9DA2-64AB512BA54E}"/>
              </a:ext>
            </a:extLst>
          </p:cNvPr>
          <p:cNvSpPr>
            <a:spLocks noGrp="1"/>
          </p:cNvSpPr>
          <p:nvPr/>
        </p:nvSpPr>
        <p:spPr>
          <a:xfrm>
            <a:off x="1371600" y="4772025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GET /api/manager-context: Lumi가 최근 흐름을 반영한다.</a:t>
            </a:r>
          </a:p>
        </p:txBody>
      </p:sp>
      <p:sp>
        <p:nvSpPr>
          <p:cNvPr id="23" name="footer-line">
            <a:extLst>
              <a:ext uri="{FF2B5EF4-FFF2-40B4-BE49-F238E27FC236}">
                <a16:creationId xmlns:a16="http://schemas.microsoft.com/office/drawing/2014/main" id="{89E7DB9E-5714-42E5-A3BC-250FF9A25132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0"/>
          </a:xfrm>
          <a:prstGeom prst="line">
            <a:avLst/>
          </a:prstGeom>
          <a:noFill/>
          <a:ln w="9525">
            <a:solidFill>
              <a:srgbClr val="D9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864B318A-2DF9-4B76-A39D-034D166B5036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Code: server/app.ts · server/contracts/questEvents.ts · server/lib/questEventStore.ts · src/layers/storage/questLogApi.ts</a:t>
            </a:r>
          </a:p>
        </p:txBody>
      </p:sp>
    </p:spTree>
    <p:extLst>
      <p:ext uri="{BB962C8B-B14F-4D97-AF65-F5344CB8AC3E}">
        <p14:creationId xmlns:p14="http://schemas.microsoft.com/office/powerpoint/2010/main" val="196923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op-rule">
            <a:extLst>
              <a:ext uri="{FF2B5EF4-FFF2-40B4-BE49-F238E27FC236}">
                <a16:creationId xmlns:a16="http://schemas.microsoft.com/office/drawing/2014/main" id="{61774601-9FB9-446B-85F1-D5F1BC20CE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F7FE965-04DF-43A4-B20F-AE23D9954E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브라우저 mock vs 서버 mock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CC0A5A-2015-40C3-88FD-E22F8005A21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서버 mock은 비용 회피가 아니라 연결 검증 단계다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093791AD-2037-457D-854C-38FD475E497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이번 단계는 DB 없이도 FE-BE 흐름을 진짜 요청/응답으로 확인하기 위한 중간 단계다.</a:t>
            </a:r>
          </a:p>
        </p:txBody>
      </p:sp>
      <p:sp>
        <p:nvSpPr>
          <p:cNvPr id="6" name="left-column">
            <a:extLst>
              <a:ext uri="{FF2B5EF4-FFF2-40B4-BE49-F238E27FC236}">
                <a16:creationId xmlns:a16="http://schemas.microsoft.com/office/drawing/2014/main" id="{AFB688E6-769C-43BB-967E-7A5541F898F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048250" cy="3143250"/>
          </a:xfrm>
          <a:prstGeom prst="roundRect">
            <a:avLst>
              <a:gd name="adj" fmla="val 2424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right-column">
            <a:extLst>
              <a:ext uri="{FF2B5EF4-FFF2-40B4-BE49-F238E27FC236}">
                <a16:creationId xmlns:a16="http://schemas.microsoft.com/office/drawing/2014/main" id="{429BAE24-B740-4328-AF5F-637CBE1E8400}"/>
              </a:ext>
            </a:extLst>
          </p:cNvPr>
          <p:cNvSpPr>
            <a:spLocks noGrp="1"/>
          </p:cNvSpPr>
          <p:nvPr/>
        </p:nvSpPr>
        <p:spPr>
          <a:xfrm>
            <a:off x="6457950" y="1809750"/>
            <a:ext cx="5048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left-title">
            <a:extLst>
              <a:ext uri="{FF2B5EF4-FFF2-40B4-BE49-F238E27FC236}">
                <a16:creationId xmlns:a16="http://schemas.microsoft.com/office/drawing/2014/main" id="{8F6BE327-2C0F-426C-855B-8BC36CD6CDEE}"/>
              </a:ext>
            </a:extLst>
          </p:cNvPr>
          <p:cNvSpPr>
            <a:spLocks noGrp="1"/>
          </p:cNvSpPr>
          <p:nvPr/>
        </p:nvSpPr>
        <p:spPr>
          <a:xfrm>
            <a:off x="1047750" y="214312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브라우저 mock</a:t>
            </a:r>
          </a:p>
        </p:txBody>
      </p:sp>
      <p:sp>
        <p:nvSpPr>
          <p:cNvPr id="9" name="left-body">
            <a:extLst>
              <a:ext uri="{FF2B5EF4-FFF2-40B4-BE49-F238E27FC236}">
                <a16:creationId xmlns:a16="http://schemas.microsoft.com/office/drawing/2014/main" id="{1416E314-4602-4BAF-93F3-C6C1651BE39E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4191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React 안에서만 state가 바뀐다. 창 위치, 시작 메뉴, 선택 중인 실패 이유처럼 순간적인 UI 상태에 적합하다.</a:t>
            </a:r>
          </a:p>
        </p:txBody>
      </p:sp>
      <p:sp>
        <p:nvSpPr>
          <p:cNvPr id="10" name="right-title">
            <a:extLst>
              <a:ext uri="{FF2B5EF4-FFF2-40B4-BE49-F238E27FC236}">
                <a16:creationId xmlns:a16="http://schemas.microsoft.com/office/drawing/2014/main" id="{3A78AD4C-C3C6-4391-AE7A-31C453F9AC48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서버 mock</a:t>
            </a:r>
          </a:p>
        </p:txBody>
      </p:sp>
      <p:sp>
        <p:nvSpPr>
          <p:cNvPr id="11" name="right-body">
            <a:extLst>
              <a:ext uri="{FF2B5EF4-FFF2-40B4-BE49-F238E27FC236}">
                <a16:creationId xmlns:a16="http://schemas.microsoft.com/office/drawing/2014/main" id="{7F28D877-0BF6-4400-8F7B-AA459DE40216}"/>
              </a:ext>
            </a:extLst>
          </p:cNvPr>
          <p:cNvSpPr>
            <a:spLocks noGrp="1"/>
          </p:cNvSpPr>
          <p:nvPr/>
        </p:nvSpPr>
        <p:spPr>
          <a:xfrm>
            <a:off x="6819900" y="2714625"/>
            <a:ext cx="4191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React가 Hono API로 실제 요청을 보낸다. 서버는 DB 대신 memory store에 저장하고 manager context를 계산한다.</a:t>
            </a:r>
          </a:p>
        </p:txBody>
      </p:sp>
      <p:sp>
        <p:nvSpPr>
          <p:cNvPr id="12" name="bottom-claim">
            <a:extLst>
              <a:ext uri="{FF2B5EF4-FFF2-40B4-BE49-F238E27FC236}">
                <a16:creationId xmlns:a16="http://schemas.microsoft.com/office/drawing/2014/main" id="{8254317C-5B36-416D-A3B2-997A6FF72182}"/>
              </a:ext>
            </a:extLst>
          </p:cNvPr>
          <p:cNvSpPr>
            <a:spLocks noGrp="1"/>
          </p:cNvSpPr>
          <p:nvPr/>
        </p:nvSpPr>
        <p:spPr>
          <a:xfrm>
            <a:off x="1066800" y="53530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핵심: Supabase 연결 전에도 ‘화면 → 서버 → 응답 → 화면 갱신’ 한 사이클을 검증할 수 있다.</a:t>
            </a:r>
          </a:p>
        </p:txBody>
      </p:sp>
      <p:sp>
        <p:nvSpPr>
          <p:cNvPr id="13" name="footer-line">
            <a:extLst>
              <a:ext uri="{FF2B5EF4-FFF2-40B4-BE49-F238E27FC236}">
                <a16:creationId xmlns:a16="http://schemas.microsoft.com/office/drawing/2014/main" id="{BCA5567E-8662-44C5-864F-8A89F936FDFA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0"/>
          </a:xfrm>
          <a:prstGeom prst="line">
            <a:avLst/>
          </a:prstGeom>
          <a:noFill/>
          <a:ln w="9525">
            <a:solidFill>
              <a:srgbClr val="D9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A5BDFEA2-4044-4096-8D22-35D4D917DCC3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Memory store는 dev server가 살아 있는 동안 유지되고, 서버 재시작 시 초기화됨</a:t>
            </a:r>
          </a:p>
        </p:txBody>
      </p:sp>
    </p:spTree>
    <p:extLst>
      <p:ext uri="{BB962C8B-B14F-4D97-AF65-F5344CB8AC3E}">
        <p14:creationId xmlns:p14="http://schemas.microsoft.com/office/powerpoint/2010/main" val="83851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op-rule">
            <a:extLst>
              <a:ext uri="{FF2B5EF4-FFF2-40B4-BE49-F238E27FC236}">
                <a16:creationId xmlns:a16="http://schemas.microsoft.com/office/drawing/2014/main" id="{AEBDD686-6218-47FA-B8B1-C18219274E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D071FA44-50B0-45AF-BED2-DA5E9A85F0E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Future-ready Data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DC86D63-5197-4850-846E-9EC9935CF2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확장 기능을 위해 이벤트 데이터에 맥락을 남겼다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7F8646FB-5AC4-4789-8F98-9AD38D23B903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나중에 DB/LLM 구조를 다시 뜯지 않도록, 지금 필요한 최소 확장 필드를 먼저 열어뒀다.</a:t>
            </a:r>
          </a:p>
        </p:txBody>
      </p:sp>
      <p:sp>
        <p:nvSpPr>
          <p:cNvPr id="6" name="quest-event-center">
            <a:extLst>
              <a:ext uri="{FF2B5EF4-FFF2-40B4-BE49-F238E27FC236}">
                <a16:creationId xmlns:a16="http://schemas.microsoft.com/office/drawing/2014/main" id="{70EEF068-0F05-4A55-BE91-662124E9C38B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2667000" cy="9144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143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enter-title">
            <a:extLst>
              <a:ext uri="{FF2B5EF4-FFF2-40B4-BE49-F238E27FC236}">
                <a16:creationId xmlns:a16="http://schemas.microsoft.com/office/drawing/2014/main" id="{759F7C10-3ECB-4CA6-9168-BF3CBB57CF18}"/>
              </a:ext>
            </a:extLst>
          </p:cNvPr>
          <p:cNvSpPr>
            <a:spLocks noGrp="1"/>
          </p:cNvSpPr>
          <p:nvPr/>
        </p:nvSpPr>
        <p:spPr>
          <a:xfrm>
            <a:off x="5095875" y="29527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Quest Event</a:t>
            </a:r>
          </a:p>
        </p:txBody>
      </p:sp>
      <p:sp>
        <p:nvSpPr>
          <p:cNvPr id="8" name="center-sub">
            <a:extLst>
              <a:ext uri="{FF2B5EF4-FFF2-40B4-BE49-F238E27FC236}">
                <a16:creationId xmlns:a16="http://schemas.microsoft.com/office/drawing/2014/main" id="{87ABCFAE-6737-491F-B9CC-CADFC9EDF8C6}"/>
              </a:ext>
            </a:extLst>
          </p:cNvPr>
          <p:cNvSpPr>
            <a:spLocks noGrp="1"/>
          </p:cNvSpPr>
          <p:nvPr/>
        </p:nvSpPr>
        <p:spPr>
          <a:xfrm>
            <a:off x="5010150" y="3333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metadata · managerContext · rewardHints</a:t>
            </a:r>
          </a:p>
        </p:txBody>
      </p:sp>
      <p:sp>
        <p:nvSpPr>
          <p:cNvPr id="9" name="ext-개인화 AI 매니저">
            <a:extLst>
              <a:ext uri="{FF2B5EF4-FFF2-40B4-BE49-F238E27FC236}">
                <a16:creationId xmlns:a16="http://schemas.microsoft.com/office/drawing/2014/main" id="{D4427A35-F5A0-4CCC-A384-68FB3BA674CA}"/>
              </a:ext>
            </a:extLst>
          </p:cNvPr>
          <p:cNvSpPr>
            <a:spLocks noGrp="1"/>
          </p:cNvSpPr>
          <p:nvPr/>
        </p:nvSpPr>
        <p:spPr>
          <a:xfrm>
            <a:off x="1047750" y="2238375"/>
            <a:ext cx="2095500" cy="552450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ext-text-개인화 AI 매니저">
            <a:extLst>
              <a:ext uri="{FF2B5EF4-FFF2-40B4-BE49-F238E27FC236}">
                <a16:creationId xmlns:a16="http://schemas.microsoft.com/office/drawing/2014/main" id="{07390E6D-B1EE-4739-954B-3786DA0D60E4}"/>
              </a:ext>
            </a:extLst>
          </p:cNvPr>
          <p:cNvSpPr>
            <a:spLocks noGrp="1"/>
          </p:cNvSpPr>
          <p:nvPr/>
        </p:nvSpPr>
        <p:spPr>
          <a:xfrm>
            <a:off x="1181100" y="2409825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개인화 AI 매니저</a:t>
            </a:r>
          </a:p>
        </p:txBody>
      </p:sp>
      <p:cxnSp>
        <p:nvCxnSpPr>
          <p:cNvPr id="65" name="직선 화살표 연결선 64"/>
          <p:cNvCxnSpPr>
            <a:stCxn id="6" idx="1"/>
            <a:endCxn id="9" idx="3"/>
          </p:cNvCxnSpPr>
          <p:nvPr/>
        </p:nvCxnSpPr>
        <p:spPr>
          <a:xfrm flipH="1" flipV="1">
            <a:off x="3143250" y="2514600"/>
            <a:ext cx="1619250" cy="704850"/>
          </a:xfrm>
          <a:prstGeom prst="straightConnector1">
            <a:avLst/>
          </a:prstGeom>
          <a:ln w="13335">
            <a:solidFill>
              <a:srgbClr val="8EBEFF"/>
            </a:solidFill>
            <a:prstDash val="solid"/>
          </a:ln>
        </p:spPr>
      </p:cxnSp>
      <p:sp>
        <p:nvSpPr>
          <p:cNvPr id="12" name="ext-하루 흐름 반영">
            <a:extLst>
              <a:ext uri="{FF2B5EF4-FFF2-40B4-BE49-F238E27FC236}">
                <a16:creationId xmlns:a16="http://schemas.microsoft.com/office/drawing/2014/main" id="{7C806F6F-CDB2-4CEE-89B9-842569E2C043}"/>
              </a:ext>
            </a:extLst>
          </p:cNvPr>
          <p:cNvSpPr>
            <a:spLocks noGrp="1"/>
          </p:cNvSpPr>
          <p:nvPr/>
        </p:nvSpPr>
        <p:spPr>
          <a:xfrm>
            <a:off x="1571625" y="4267200"/>
            <a:ext cx="2095500" cy="552450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xt-text-하루 흐름 반영">
            <a:extLst>
              <a:ext uri="{FF2B5EF4-FFF2-40B4-BE49-F238E27FC236}">
                <a16:creationId xmlns:a16="http://schemas.microsoft.com/office/drawing/2014/main" id="{56C2CAC0-B1FB-49BC-9A2A-475CEDCF6B26}"/>
              </a:ext>
            </a:extLst>
          </p:cNvPr>
          <p:cNvSpPr>
            <a:spLocks noGrp="1"/>
          </p:cNvSpPr>
          <p:nvPr/>
        </p:nvSpPr>
        <p:spPr>
          <a:xfrm>
            <a:off x="1704975" y="443865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하루 흐름 반영</a:t>
            </a:r>
          </a:p>
        </p:txBody>
      </p:sp>
      <p:cxnSp>
        <p:nvCxnSpPr>
          <p:cNvPr id="68" name="직선 화살표 연결선 67"/>
          <p:cNvCxnSpPr>
            <a:stCxn id="6" idx="1"/>
            <a:endCxn id="12" idx="3"/>
          </p:cNvCxnSpPr>
          <p:nvPr/>
        </p:nvCxnSpPr>
        <p:spPr>
          <a:xfrm flipH="1">
            <a:off x="3667125" y="3219450"/>
            <a:ext cx="1095375" cy="1323975"/>
          </a:xfrm>
          <a:prstGeom prst="straightConnector1">
            <a:avLst/>
          </a:prstGeom>
          <a:ln w="13335">
            <a:solidFill>
              <a:srgbClr val="8EBEFF"/>
            </a:solidFill>
            <a:prstDash val="solid"/>
          </a:ln>
        </p:spPr>
      </p:cxnSp>
      <p:sp>
        <p:nvSpPr>
          <p:cNvPr id="15" name="ext-보상/테마/사운드">
            <a:extLst>
              <a:ext uri="{FF2B5EF4-FFF2-40B4-BE49-F238E27FC236}">
                <a16:creationId xmlns:a16="http://schemas.microsoft.com/office/drawing/2014/main" id="{44716D6F-70F7-4C90-8B28-F8F162256AAA}"/>
              </a:ext>
            </a:extLst>
          </p:cNvPr>
          <p:cNvSpPr>
            <a:spLocks noGrp="1"/>
          </p:cNvSpPr>
          <p:nvPr/>
        </p:nvSpPr>
        <p:spPr>
          <a:xfrm>
            <a:off x="4686300" y="4762500"/>
            <a:ext cx="2095500" cy="552450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ext-text-보상/테마/사운드">
            <a:extLst>
              <a:ext uri="{FF2B5EF4-FFF2-40B4-BE49-F238E27FC236}">
                <a16:creationId xmlns:a16="http://schemas.microsoft.com/office/drawing/2014/main" id="{D237DD54-1BAA-4EE5-A6CE-33BD076F29FC}"/>
              </a:ext>
            </a:extLst>
          </p:cNvPr>
          <p:cNvSpPr>
            <a:spLocks noGrp="1"/>
          </p:cNvSpPr>
          <p:nvPr/>
        </p:nvSpPr>
        <p:spPr>
          <a:xfrm>
            <a:off x="4819650" y="493395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보상/테마/사운드</a:t>
            </a:r>
          </a:p>
        </p:txBody>
      </p:sp>
      <p:cxnSp>
        <p:nvCxnSpPr>
          <p:cNvPr id="71" name="직선 화살표 연결선 70"/>
          <p:cNvCxnSpPr>
            <a:stCxn id="6" idx="2"/>
            <a:endCxn id="15" idx="0"/>
          </p:cNvCxnSpPr>
          <p:nvPr/>
        </p:nvCxnSpPr>
        <p:spPr>
          <a:xfrm flipH="1">
            <a:off x="5734050" y="3676650"/>
            <a:ext cx="361950" cy="1085850"/>
          </a:xfrm>
          <a:prstGeom prst="straightConnector1">
            <a:avLst/>
          </a:prstGeom>
          <a:ln w="13335">
            <a:solidFill>
              <a:srgbClr val="8EBEFF"/>
            </a:solidFill>
            <a:prstDash val="solid"/>
          </a:ln>
        </p:spPr>
      </p:cxnSp>
      <p:sp>
        <p:nvSpPr>
          <p:cNvPr id="18" name="ext-공개 퀘스트 탐색">
            <a:extLst>
              <a:ext uri="{FF2B5EF4-FFF2-40B4-BE49-F238E27FC236}">
                <a16:creationId xmlns:a16="http://schemas.microsoft.com/office/drawing/2014/main" id="{00E045D2-0EFF-432B-9E91-685B7D6D8D17}"/>
              </a:ext>
            </a:extLst>
          </p:cNvPr>
          <p:cNvSpPr>
            <a:spLocks noGrp="1"/>
          </p:cNvSpPr>
          <p:nvPr/>
        </p:nvSpPr>
        <p:spPr>
          <a:xfrm>
            <a:off x="8096250" y="4267200"/>
            <a:ext cx="2095500" cy="552450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ext-text-공개 퀘스트 탐색">
            <a:extLst>
              <a:ext uri="{FF2B5EF4-FFF2-40B4-BE49-F238E27FC236}">
                <a16:creationId xmlns:a16="http://schemas.microsoft.com/office/drawing/2014/main" id="{DD64AE31-322E-42A6-AA04-A91D02EECA02}"/>
              </a:ext>
            </a:extLst>
          </p:cNvPr>
          <p:cNvSpPr>
            <a:spLocks noGrp="1"/>
          </p:cNvSpPr>
          <p:nvPr/>
        </p:nvSpPr>
        <p:spPr>
          <a:xfrm>
            <a:off x="8229600" y="4438650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공개 퀘스트 탐색</a:t>
            </a:r>
          </a:p>
        </p:txBody>
      </p:sp>
      <p:cxnSp>
        <p:nvCxnSpPr>
          <p:cNvPr id="74" name="직선 화살표 연결선 73"/>
          <p:cNvCxnSpPr>
            <a:stCxn id="6" idx="3"/>
            <a:endCxn id="18" idx="1"/>
          </p:cNvCxnSpPr>
          <p:nvPr/>
        </p:nvCxnSpPr>
        <p:spPr>
          <a:xfrm>
            <a:off x="7429500" y="3219450"/>
            <a:ext cx="666750" cy="1323975"/>
          </a:xfrm>
          <a:prstGeom prst="straightConnector1">
            <a:avLst/>
          </a:prstGeom>
          <a:ln w="13335">
            <a:solidFill>
              <a:srgbClr val="8EBEFF"/>
            </a:solidFill>
            <a:prstDash val="solid"/>
          </a:ln>
        </p:spPr>
      </p:cxnSp>
      <p:sp>
        <p:nvSpPr>
          <p:cNvPr id="21" name="ext-현실 픽셀화 TV">
            <a:extLst>
              <a:ext uri="{FF2B5EF4-FFF2-40B4-BE49-F238E27FC236}">
                <a16:creationId xmlns:a16="http://schemas.microsoft.com/office/drawing/2014/main" id="{A3CA9A0B-3B65-4332-A1DC-031CDB23F619}"/>
              </a:ext>
            </a:extLst>
          </p:cNvPr>
          <p:cNvSpPr>
            <a:spLocks noGrp="1"/>
          </p:cNvSpPr>
          <p:nvPr/>
        </p:nvSpPr>
        <p:spPr>
          <a:xfrm>
            <a:off x="8477250" y="2238375"/>
            <a:ext cx="2095500" cy="552450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ext-text-현실 픽셀화 TV">
            <a:extLst>
              <a:ext uri="{FF2B5EF4-FFF2-40B4-BE49-F238E27FC236}">
                <a16:creationId xmlns:a16="http://schemas.microsoft.com/office/drawing/2014/main" id="{A56F69DB-A580-4427-B4ED-C6BDFACAC26B}"/>
              </a:ext>
            </a:extLst>
          </p:cNvPr>
          <p:cNvSpPr>
            <a:spLocks noGrp="1"/>
          </p:cNvSpPr>
          <p:nvPr/>
        </p:nvSpPr>
        <p:spPr>
          <a:xfrm>
            <a:off x="8610600" y="2409825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현실 픽셀화 TV</a:t>
            </a:r>
          </a:p>
        </p:txBody>
      </p:sp>
      <p:cxnSp>
        <p:nvCxnSpPr>
          <p:cNvPr id="77" name="직선 화살표 연결선 76"/>
          <p:cNvCxnSpPr>
            <a:stCxn id="6" idx="3"/>
            <a:endCxn id="21" idx="1"/>
          </p:cNvCxnSpPr>
          <p:nvPr/>
        </p:nvCxnSpPr>
        <p:spPr>
          <a:xfrm flipV="1">
            <a:off x="7429500" y="2514600"/>
            <a:ext cx="1047750" cy="704850"/>
          </a:xfrm>
          <a:prstGeom prst="straightConnector1">
            <a:avLst/>
          </a:prstGeom>
          <a:ln w="13335">
            <a:solidFill>
              <a:srgbClr val="8EBEFF"/>
            </a:solidFill>
            <a:prstDash val="solid"/>
          </a:ln>
        </p:spPr>
      </p:cxnSp>
      <p:sp>
        <p:nvSpPr>
          <p:cNvPr id="24" name="ext-웹캠 손 제스처">
            <a:extLst>
              <a:ext uri="{FF2B5EF4-FFF2-40B4-BE49-F238E27FC236}">
                <a16:creationId xmlns:a16="http://schemas.microsoft.com/office/drawing/2014/main" id="{15759F54-2110-4A3F-9B91-A4F2E2110606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2095500" cy="552450"/>
          </a:xfrm>
          <a:prstGeom prst="roundRect">
            <a:avLst>
              <a:gd name="adj" fmla="val 10345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ext-text-웹캠 손 제스처">
            <a:extLst>
              <a:ext uri="{FF2B5EF4-FFF2-40B4-BE49-F238E27FC236}">
                <a16:creationId xmlns:a16="http://schemas.microsoft.com/office/drawing/2014/main" id="{A9A9AD02-8BD7-4318-8B0F-D7C02C2C8D08}"/>
              </a:ext>
            </a:extLst>
          </p:cNvPr>
          <p:cNvSpPr>
            <a:spLocks noGrp="1"/>
          </p:cNvSpPr>
          <p:nvPr/>
        </p:nvSpPr>
        <p:spPr>
          <a:xfrm>
            <a:off x="4895850" y="2124075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웹캠 손 제스처</a:t>
            </a:r>
          </a:p>
        </p:txBody>
      </p:sp>
      <p:cxnSp>
        <p:nvCxnSpPr>
          <p:cNvPr id="80" name="직선 화살표 연결선 79"/>
          <p:cNvCxnSpPr>
            <a:stCxn id="6" idx="0"/>
            <a:endCxn id="24" idx="2"/>
          </p:cNvCxnSpPr>
          <p:nvPr/>
        </p:nvCxnSpPr>
        <p:spPr>
          <a:xfrm flipH="1" flipV="1">
            <a:off x="5810250" y="2505075"/>
            <a:ext cx="285750" cy="257175"/>
          </a:xfrm>
          <a:prstGeom prst="straightConnector1">
            <a:avLst/>
          </a:prstGeom>
          <a:ln w="13335">
            <a:solidFill>
              <a:srgbClr val="8EBEFF"/>
            </a:solidFill>
            <a:prstDash val="solid"/>
          </a:ln>
        </p:spPr>
      </p:cxnSp>
      <p:sp>
        <p:nvSpPr>
          <p:cNvPr id="27" name="footer-line">
            <a:extLst>
              <a:ext uri="{FF2B5EF4-FFF2-40B4-BE49-F238E27FC236}">
                <a16:creationId xmlns:a16="http://schemas.microsoft.com/office/drawing/2014/main" id="{9959C181-5410-4A6D-AC5F-3166761E4376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0"/>
          </a:xfrm>
          <a:prstGeom prst="line">
            <a:avLst/>
          </a:prstGeom>
          <a:noFill/>
          <a:ln w="9525">
            <a:solidFill>
              <a:srgbClr val="D9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D8188E88-11C0-41EE-BDE5-748D9DEC159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Schema: event_type · result · failure_reason · manager_mood_after · manager_line · metadata</a:t>
            </a:r>
          </a:p>
        </p:txBody>
      </p:sp>
    </p:spTree>
    <p:extLst>
      <p:ext uri="{BB962C8B-B14F-4D97-AF65-F5344CB8AC3E}">
        <p14:creationId xmlns:p14="http://schemas.microsoft.com/office/powerpoint/2010/main" val="167400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rule">
            <a:extLst>
              <a:ext uri="{FF2B5EF4-FFF2-40B4-BE49-F238E27FC236}">
                <a16:creationId xmlns:a16="http://schemas.microsoft.com/office/drawing/2014/main" id="{DD362F75-973B-4907-82E8-98B273A73F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44F9AC81-9FFC-4150-95E1-1468262B05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검증 결과와 다음 단계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9B4C034-03A2-43AF-B5DF-B0F912E1F8D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검증은 통과했고, 다음은 실제 DB 연결이다</a:t>
            </a:r>
          </a:p>
        </p:txBody>
      </p:sp>
      <p:sp>
        <p:nvSpPr>
          <p:cNvPr id="5" name="claim">
            <a:extLst>
              <a:ext uri="{FF2B5EF4-FFF2-40B4-BE49-F238E27FC236}">
                <a16:creationId xmlns:a16="http://schemas.microsoft.com/office/drawing/2014/main" id="{CEE5A927-990E-4B8E-BC1F-3D1CD479BBA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현재는 Hono 서버 요청 흐름까지 확인했고, Supabase table 생성 후 영구 저장으로 넘어가면 수직 슬라이스가 닫힌다.</a:t>
            </a:r>
          </a:p>
        </p:txBody>
      </p:sp>
      <p:sp>
        <p:nvSpPr>
          <p:cNvPr id="6" name="verify-box">
            <a:extLst>
              <a:ext uri="{FF2B5EF4-FFF2-40B4-BE49-F238E27FC236}">
                <a16:creationId xmlns:a16="http://schemas.microsoft.com/office/drawing/2014/main" id="{434B1C6F-5561-44B8-AF04-B9935DE3725F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verify-title">
            <a:extLst>
              <a:ext uri="{FF2B5EF4-FFF2-40B4-BE49-F238E27FC236}">
                <a16:creationId xmlns:a16="http://schemas.microsoft.com/office/drawing/2014/main" id="{4282F9EA-1FB1-47DC-899D-D907B6090B35}"/>
              </a:ext>
            </a:extLst>
          </p:cNvPr>
          <p:cNvSpPr>
            <a:spLocks noGrp="1"/>
          </p:cNvSpPr>
          <p:nvPr/>
        </p:nvSpPr>
        <p:spPr>
          <a:xfrm>
            <a:off x="1200150" y="2571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2D5C"/>
                </a:solidFill>
              </a:defRPr>
            </a:pPr>
            <a:r>
              <a:rPr sz="2025" b="1">
                <a:solidFill>
                  <a:srgbClr val="0B2D5C"/>
                </a:solidFill>
              </a:rPr>
              <a:t>검증 완료</a:t>
            </a:r>
          </a:p>
        </p:txBody>
      </p:sp>
      <p:sp>
        <p:nvSpPr>
          <p:cNvPr id="8" name="bullet-dot-0">
            <a:extLst>
              <a:ext uri="{FF2B5EF4-FFF2-40B4-BE49-F238E27FC236}">
                <a16:creationId xmlns:a16="http://schemas.microsoft.com/office/drawing/2014/main" id="{3DC5B365-971D-4B8F-BA04-DBC9E3ED16DD}"/>
              </a:ext>
            </a:extLst>
          </p:cNvPr>
          <p:cNvSpPr>
            <a:spLocks noGrp="1"/>
          </p:cNvSpPr>
          <p:nvPr/>
        </p:nvSpPr>
        <p:spPr>
          <a:xfrm>
            <a:off x="1276350" y="32289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bullet-0">
            <a:extLst>
              <a:ext uri="{FF2B5EF4-FFF2-40B4-BE49-F238E27FC236}">
                <a16:creationId xmlns:a16="http://schemas.microsoft.com/office/drawing/2014/main" id="{C7F5BCCF-41D9-4CFA-9E11-F1D1F72E7AFD}"/>
              </a:ext>
            </a:extLst>
          </p:cNvPr>
          <p:cNvSpPr>
            <a:spLocks noGrp="1"/>
          </p:cNvSpPr>
          <p:nvPr/>
        </p:nvSpPr>
        <p:spPr>
          <a:xfrm>
            <a:off x="1504950" y="31432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npm.cmd run typecheck</a:t>
            </a:r>
          </a:p>
        </p:txBody>
      </p:sp>
      <p:sp>
        <p:nvSpPr>
          <p:cNvPr id="10" name="bullet-dot-1">
            <a:extLst>
              <a:ext uri="{FF2B5EF4-FFF2-40B4-BE49-F238E27FC236}">
                <a16:creationId xmlns:a16="http://schemas.microsoft.com/office/drawing/2014/main" id="{2FD17CF6-3781-4108-9F71-2DF94EB43FC1}"/>
              </a:ext>
            </a:extLst>
          </p:cNvPr>
          <p:cNvSpPr>
            <a:spLocks noGrp="1"/>
          </p:cNvSpPr>
          <p:nvPr/>
        </p:nvSpPr>
        <p:spPr>
          <a:xfrm>
            <a:off x="1276350" y="36861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bullet-1">
            <a:extLst>
              <a:ext uri="{FF2B5EF4-FFF2-40B4-BE49-F238E27FC236}">
                <a16:creationId xmlns:a16="http://schemas.microsoft.com/office/drawing/2014/main" id="{86DAD339-179B-4CB2-99D7-B89EC63B0E27}"/>
              </a:ext>
            </a:extLst>
          </p:cNvPr>
          <p:cNvSpPr>
            <a:spLocks noGrp="1"/>
          </p:cNvSpPr>
          <p:nvPr/>
        </p:nvSpPr>
        <p:spPr>
          <a:xfrm>
            <a:off x="1504950" y="36004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npm.cmd run typecheck:server</a:t>
            </a:r>
          </a:p>
        </p:txBody>
      </p:sp>
      <p:sp>
        <p:nvSpPr>
          <p:cNvPr id="12" name="bullet-dot-2">
            <a:extLst>
              <a:ext uri="{FF2B5EF4-FFF2-40B4-BE49-F238E27FC236}">
                <a16:creationId xmlns:a16="http://schemas.microsoft.com/office/drawing/2014/main" id="{42ABE1A3-C6EB-4672-8E0F-50B5D510D973}"/>
              </a:ext>
            </a:extLst>
          </p:cNvPr>
          <p:cNvSpPr>
            <a:spLocks noGrp="1"/>
          </p:cNvSpPr>
          <p:nvPr/>
        </p:nvSpPr>
        <p:spPr>
          <a:xfrm>
            <a:off x="1276350" y="41433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CB7F9381-FAED-48A1-BAA9-75AD5B7F8740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HTTP smoke test: POST/GET/context OK</a:t>
            </a:r>
          </a:p>
        </p:txBody>
      </p:sp>
      <p:sp>
        <p:nvSpPr>
          <p:cNvPr id="14" name="next-box">
            <a:extLst>
              <a:ext uri="{FF2B5EF4-FFF2-40B4-BE49-F238E27FC236}">
                <a16:creationId xmlns:a16="http://schemas.microsoft.com/office/drawing/2014/main" id="{C763F882-D557-4C75-A240-22DD411820FC}"/>
              </a:ext>
            </a:extLst>
          </p:cNvPr>
          <p:cNvSpPr>
            <a:spLocks noGrp="1"/>
          </p:cNvSpPr>
          <p:nvPr/>
        </p:nvSpPr>
        <p:spPr>
          <a:xfrm>
            <a:off x="6572250" y="226695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BBD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next-title">
            <a:extLst>
              <a:ext uri="{FF2B5EF4-FFF2-40B4-BE49-F238E27FC236}">
                <a16:creationId xmlns:a16="http://schemas.microsoft.com/office/drawing/2014/main" id="{C9F0A2B4-A2EF-4EFC-87F0-3038882D16A3}"/>
              </a:ext>
            </a:extLst>
          </p:cNvPr>
          <p:cNvSpPr>
            <a:spLocks noGrp="1"/>
          </p:cNvSpPr>
          <p:nvPr/>
        </p:nvSpPr>
        <p:spPr>
          <a:xfrm>
            <a:off x="6915150" y="2571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2D5C"/>
                </a:solidFill>
              </a:defRPr>
            </a:pPr>
            <a:r>
              <a:rPr sz="2025" b="1">
                <a:solidFill>
                  <a:srgbClr val="0B2D5C"/>
                </a:solidFill>
              </a:rPr>
              <a:t>다음 단계</a:t>
            </a:r>
          </a:p>
        </p:txBody>
      </p:sp>
      <p:sp>
        <p:nvSpPr>
          <p:cNvPr id="16" name="bullet-dot-0">
            <a:extLst>
              <a:ext uri="{FF2B5EF4-FFF2-40B4-BE49-F238E27FC236}">
                <a16:creationId xmlns:a16="http://schemas.microsoft.com/office/drawing/2014/main" id="{B7F01F67-3D74-4B77-ABE2-3487382E462E}"/>
              </a:ext>
            </a:extLst>
          </p:cNvPr>
          <p:cNvSpPr>
            <a:spLocks noGrp="1"/>
          </p:cNvSpPr>
          <p:nvPr/>
        </p:nvSpPr>
        <p:spPr>
          <a:xfrm>
            <a:off x="6991350" y="32289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bullet-0">
            <a:extLst>
              <a:ext uri="{FF2B5EF4-FFF2-40B4-BE49-F238E27FC236}">
                <a16:creationId xmlns:a16="http://schemas.microsoft.com/office/drawing/2014/main" id="{33868E3C-F84E-4375-97A3-72EDC44EB490}"/>
              </a:ext>
            </a:extLst>
          </p:cNvPr>
          <p:cNvSpPr>
            <a:spLocks noGrp="1"/>
          </p:cNvSpPr>
          <p:nvPr/>
        </p:nvSpPr>
        <p:spPr>
          <a:xfrm>
            <a:off x="7219950" y="31432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Supabase에 quest_logs 이벤트 스키마 생성</a:t>
            </a:r>
          </a:p>
        </p:txBody>
      </p:sp>
      <p:sp>
        <p:nvSpPr>
          <p:cNvPr id="18" name="bullet-dot-1">
            <a:extLst>
              <a:ext uri="{FF2B5EF4-FFF2-40B4-BE49-F238E27FC236}">
                <a16:creationId xmlns:a16="http://schemas.microsoft.com/office/drawing/2014/main" id="{5E58FE21-405F-4351-B400-6AF4B5DCC4F3}"/>
              </a:ext>
            </a:extLst>
          </p:cNvPr>
          <p:cNvSpPr>
            <a:spLocks noGrp="1"/>
          </p:cNvSpPr>
          <p:nvPr/>
        </p:nvSpPr>
        <p:spPr>
          <a:xfrm>
            <a:off x="6991350" y="36861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bullet-1">
            <a:extLst>
              <a:ext uri="{FF2B5EF4-FFF2-40B4-BE49-F238E27FC236}">
                <a16:creationId xmlns:a16="http://schemas.microsoft.com/office/drawing/2014/main" id="{FAA9F4EE-F976-4978-9B08-8D35937792C4}"/>
              </a:ext>
            </a:extLst>
          </p:cNvPr>
          <p:cNvSpPr>
            <a:spLocks noGrp="1"/>
          </p:cNvSpPr>
          <p:nvPr/>
        </p:nvSpPr>
        <p:spPr>
          <a:xfrm>
            <a:off x="7219950" y="36004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로컬 .env에 실제 값은 커밋 없이 설정</a:t>
            </a:r>
          </a:p>
        </p:txBody>
      </p:sp>
      <p:sp>
        <p:nvSpPr>
          <p:cNvPr id="20" name="bullet-dot-2">
            <a:extLst>
              <a:ext uri="{FF2B5EF4-FFF2-40B4-BE49-F238E27FC236}">
                <a16:creationId xmlns:a16="http://schemas.microsoft.com/office/drawing/2014/main" id="{7DCED9F8-CC13-453C-99DF-8993AEBD6BCA}"/>
              </a:ext>
            </a:extLst>
          </p:cNvPr>
          <p:cNvSpPr>
            <a:spLocks noGrp="1"/>
          </p:cNvSpPr>
          <p:nvPr/>
        </p:nvSpPr>
        <p:spPr>
          <a:xfrm>
            <a:off x="6991350" y="41433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bullet-2">
            <a:extLst>
              <a:ext uri="{FF2B5EF4-FFF2-40B4-BE49-F238E27FC236}">
                <a16:creationId xmlns:a16="http://schemas.microsoft.com/office/drawing/2014/main" id="{8ADCE1FE-77FB-424E-84E9-D2682A74F99D}"/>
              </a:ext>
            </a:extLst>
          </p:cNvPr>
          <p:cNvSpPr>
            <a:spLocks noGrp="1"/>
          </p:cNvSpPr>
          <p:nvPr/>
        </p:nvSpPr>
        <p:spPr>
          <a:xfrm>
            <a:off x="7219950" y="40576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실제 DB 저장/조회로 수직 슬라이스 완성</a:t>
            </a:r>
          </a:p>
        </p:txBody>
      </p:sp>
      <p:sp>
        <p:nvSpPr>
          <p:cNvPr id="22" name="closing">
            <a:extLst>
              <a:ext uri="{FF2B5EF4-FFF2-40B4-BE49-F238E27FC236}">
                <a16:creationId xmlns:a16="http://schemas.microsoft.com/office/drawing/2014/main" id="{209B20E3-51DA-4986-BE34-D931B7772206}"/>
              </a:ext>
            </a:extLst>
          </p:cNvPr>
          <p:cNvSpPr>
            <a:spLocks noGrp="1"/>
          </p:cNvSpPr>
          <p:nvPr/>
        </p:nvSpPr>
        <p:spPr>
          <a:xfrm>
            <a:off x="1066800" y="54673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이번 주 핵심 결과: React MVP 흐름과 서버 요청 구조가 같은 방향으로 연결됐다.</a:t>
            </a:r>
          </a:p>
        </p:txBody>
      </p:sp>
      <p:sp>
        <p:nvSpPr>
          <p:cNvPr id="23" name="footer-line">
            <a:extLst>
              <a:ext uri="{FF2B5EF4-FFF2-40B4-BE49-F238E27FC236}">
                <a16:creationId xmlns:a16="http://schemas.microsoft.com/office/drawing/2014/main" id="{D1A604AF-5916-4B34-A32A-97A3BCDAD476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0"/>
          </a:xfrm>
          <a:prstGeom prst="line">
            <a:avLst/>
          </a:prstGeom>
          <a:noFill/>
          <a:ln w="9525">
            <a:solidFill>
              <a:srgbClr val="D9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066BAA50-FDF4-466C-BB51-B3722696E87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Sources: PR heads #910/#1049/#1112 · docs/status.md · docs/api-contracts.md · docs/db-schema.md</a:t>
            </a:r>
          </a:p>
        </p:txBody>
      </p:sp>
    </p:spTree>
    <p:extLst>
      <p:ext uri="{BB962C8B-B14F-4D97-AF65-F5344CB8AC3E}">
        <p14:creationId xmlns:p14="http://schemas.microsoft.com/office/powerpoint/2010/main" val="1642263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F397-E0DC-E6BC-FC83-F1A670A6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rule">
            <a:extLst>
              <a:ext uri="{FF2B5EF4-FFF2-40B4-BE49-F238E27FC236}">
                <a16:creationId xmlns:a16="http://schemas.microsoft.com/office/drawing/2014/main" id="{FAAD4E7E-8CD7-018F-A0A6-0280835B7A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3997C71B-A3A2-4B6E-3410-768333E3B17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lang="ko-KR" altLang="en-US" sz="1200" b="1" dirty="0">
                <a:solidFill>
                  <a:srgbClr val="2563EB"/>
                </a:solidFill>
              </a:rPr>
              <a:t>스크린샷</a:t>
            </a:r>
            <a:endParaRPr sz="1200" b="1" dirty="0">
              <a:solidFill>
                <a:srgbClr val="2563EB"/>
              </a:solidFill>
            </a:endParaRPr>
          </a:p>
        </p:txBody>
      </p:sp>
      <p:sp>
        <p:nvSpPr>
          <p:cNvPr id="23" name="footer-line">
            <a:extLst>
              <a:ext uri="{FF2B5EF4-FFF2-40B4-BE49-F238E27FC236}">
                <a16:creationId xmlns:a16="http://schemas.microsoft.com/office/drawing/2014/main" id="{069D47C5-FAE8-2014-7DEE-AE3996ADA110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0"/>
          </a:xfrm>
          <a:prstGeom prst="line">
            <a:avLst/>
          </a:prstGeom>
          <a:noFill/>
          <a:ln w="9525">
            <a:solidFill>
              <a:srgbClr val="D9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6084EB2-E0D0-7F36-8498-02BC10F3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850" y="1456775"/>
            <a:ext cx="5042516" cy="3401525"/>
          </a:xfrm>
          <a:prstGeom prst="rect">
            <a:avLst/>
          </a:prstGeom>
        </p:spPr>
      </p:pic>
      <p:pic>
        <p:nvPicPr>
          <p:cNvPr id="28" name="그림 27" descr="사용자 첨부 파일">
            <a:extLst>
              <a:ext uri="{FF2B5EF4-FFF2-40B4-BE49-F238E27FC236}">
                <a16:creationId xmlns:a16="http://schemas.microsoft.com/office/drawing/2014/main" id="{726A93B1-814F-F712-11DE-652F65A93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25" y="1377535"/>
            <a:ext cx="5098496" cy="314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921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DocSecurity>0</DocSecurity>
  <PresentationFormat>와이드스크린</PresentationFormat>
  <Paragraphs>72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김동민</cp:lastModifiedBy>
  <cp:revision>2</cp:revision>
  <dcterms:created xsi:type="dcterms:W3CDTF">2026-07-16T09:54:21Z</dcterms:created>
  <dcterms:modified xsi:type="dcterms:W3CDTF">2026-07-16T11:06:13Z</dcterms:modified>
</cp:coreProperties>
</file>