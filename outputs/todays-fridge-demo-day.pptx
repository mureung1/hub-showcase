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3a5c63f9d74139" /><Relationship Type="http://schemas.openxmlformats.org/officeDocument/2006/relationships/extended-properties" Target="/docProps/app.xml" Id="Ra238e39397b34c49" /><Relationship Type="http://schemas.openxmlformats.org/officeDocument/2006/relationships/officeDocument" Target="/ppt/presentation.xml" Id="R247e2f2b62d14b1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a386a676b8422f"/>
  </p:sldMasterIdLst>
  <p:notesMasterIdLst>
    <p:notesMasterId xmlns:r="http://schemas.openxmlformats.org/officeDocument/2006/relationships" r:id="R113823f006454488"/>
  </p:notesMasterIdLst>
  <p:sldIdLst>
    <p:sldId xmlns:r="http://schemas.openxmlformats.org/officeDocument/2006/relationships" id="256" r:id="Rb6826c3c7dc449fd"/>
    <p:sldId xmlns:r="http://schemas.openxmlformats.org/officeDocument/2006/relationships" id="257" r:id="Ra8cd41358001491e"/>
    <p:sldId xmlns:r="http://schemas.openxmlformats.org/officeDocument/2006/relationships" id="258" r:id="R8d0692e99a374855"/>
    <p:sldId xmlns:r="http://schemas.openxmlformats.org/officeDocument/2006/relationships" id="259" r:id="Rb730458189ab4aa3"/>
    <p:sldId xmlns:r="http://schemas.openxmlformats.org/officeDocument/2006/relationships" id="260" r:id="Ra6238df63b174ce1"/>
    <p:sldId xmlns:r="http://schemas.openxmlformats.org/officeDocument/2006/relationships" id="261" r:id="R2ae2b907f1084e8b"/>
    <p:sldId xmlns:r="http://schemas.openxmlformats.org/officeDocument/2006/relationships" id="262" r:id="Rbf770138904c497d"/>
    <p:sldId xmlns:r="http://schemas.openxmlformats.org/officeDocument/2006/relationships" id="263" r:id="Rc844a52e590e480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862c0ff765406d" /><Relationship Type="http://schemas.openxmlformats.org/officeDocument/2006/relationships/slideMaster" Target="/ppt/slideMasters/slideMaster1.xml" Id="R8fa386a676b8422f" /><Relationship Type="http://schemas.openxmlformats.org/officeDocument/2006/relationships/notesMaster" Target="/ppt/notesMasters/notesMaster1.xml" Id="R113823f006454488" /><Relationship Type="http://schemas.openxmlformats.org/officeDocument/2006/relationships/presProps" Target="/ppt/presProps.xml" Id="R5e461783011f44d0" /><Relationship Type="http://schemas.openxmlformats.org/officeDocument/2006/relationships/tableStyles" Target="/ppt/tableStyles.xml" Id="R73e4a1e4b84c4241" /><Relationship Type="http://schemas.openxmlformats.org/officeDocument/2006/relationships/slide" Target="/ppt/slides/slide1.xml" Id="Rb6826c3c7dc449fd" /><Relationship Type="http://schemas.openxmlformats.org/officeDocument/2006/relationships/slide" Target="/ppt/slides/slide2.xml" Id="Ra8cd41358001491e" /><Relationship Type="http://schemas.openxmlformats.org/officeDocument/2006/relationships/slide" Target="/ppt/slides/slide3.xml" Id="R8d0692e99a374855" /><Relationship Type="http://schemas.openxmlformats.org/officeDocument/2006/relationships/slide" Target="/ppt/slides/slide4.xml" Id="Rb730458189ab4aa3" /><Relationship Type="http://schemas.openxmlformats.org/officeDocument/2006/relationships/slide" Target="/ppt/slides/slide5.xml" Id="Ra6238df63b174ce1" /><Relationship Type="http://schemas.openxmlformats.org/officeDocument/2006/relationships/slide" Target="/ppt/slides/slide6.xml" Id="R2ae2b907f1084e8b" /><Relationship Type="http://schemas.openxmlformats.org/officeDocument/2006/relationships/slide" Target="/ppt/slides/slide7.xml" Id="Rbf770138904c497d" /><Relationship Type="http://schemas.openxmlformats.org/officeDocument/2006/relationships/slide" Target="/ppt/slides/slide8.xml" Id="Rc844a52e590e480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e617047095408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da0f5b1f154ff2" /><Relationship Type="http://schemas.openxmlformats.org/officeDocument/2006/relationships/notesMaster" Target="/ppt/notesMasters/notesMaster1.xml" Id="R41bc7cb8bd8145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9082bb09a884b4d" /><Relationship Type="http://schemas.openxmlformats.org/officeDocument/2006/relationships/notesMaster" Target="/ppt/notesMasters/notesMaster1.xml" Id="R97e1579e97fa4aa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11188ab8144b57" /><Relationship Type="http://schemas.openxmlformats.org/officeDocument/2006/relationships/notesMaster" Target="/ppt/notesMasters/notesMaster1.xml" Id="Rb02800cab61846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e69b8ee57b478f" /><Relationship Type="http://schemas.openxmlformats.org/officeDocument/2006/relationships/notesMaster" Target="/ppt/notesMasters/notesMaster1.xml" Id="R9cdaa5c7fca9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6ca508decc4719" /><Relationship Type="http://schemas.openxmlformats.org/officeDocument/2006/relationships/notesMaster" Target="/ppt/notesMasters/notesMaster1.xml" Id="R1f7c01482e1242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c2b449fea83432d" /><Relationship Type="http://schemas.openxmlformats.org/officeDocument/2006/relationships/notesMaster" Target="/ppt/notesMasters/notesMaster1.xml" Id="R71846bc0b9bf4ad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828496f9be49dc" /><Relationship Type="http://schemas.openxmlformats.org/officeDocument/2006/relationships/notesMaster" Target="/ppt/notesMasters/notesMaster1.xml" Id="R415b4715f3474f8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52ea5154bc476c" /><Relationship Type="http://schemas.openxmlformats.org/officeDocument/2006/relationships/notesMaster" Target="/ppt/notesMasters/notesMaster1.xml" Id="Raf2064e020c44a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0:00–0:45</a:t>
            </a:r>
          </a:p>
          <a:p xmlns:a="http://schemas.openxmlformats.org/drawingml/2006/main">
            <a:r>
              <a:t>안녕하세요. 이번 주에는 오늘의 냉장고를 단순 UI 프로토타입에서 실제 데이터와 AI 추천이 연결되는 서비스로 한 단계 끌어올렸습니다.</a:t>
            </a:r>
          </a:p>
          <a:p xmlns:a="http://schemas.openxmlformats.org/drawingml/2006/main">
            <a:r>
              <a:t>오늘은 기획 의도, 진행 상황, 이번 주 핵심 구현, 개발 구조를 짚고 마지막에 실제 사용자 흐름을 시연하겠습니다.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0:45–2:00</a:t>
            </a:r>
          </a:p>
          <a:p xmlns:a="http://schemas.openxmlformats.org/drawingml/2006/main">
            <a:r>
              <a:t>기획의 출발점은 재료 관리 자체가 아닙니다. 자취생 입장에서는 냉장고에 무엇이 있는지 알아도 오늘 무엇을 먹을지 결정하기가 어렵습니다.</a:t>
            </a:r>
          </a:p>
          <a:p xmlns:a="http://schemas.openxmlformats.org/drawingml/2006/main">
            <a:r>
              <a:t>그래서 서비스의 핵심 질문을 ‘무엇을 보관하고 있나’에서 ‘지금 무엇을 만들 수 있나’로 바꿨습니다.</a:t>
            </a:r>
          </a:p>
          <a:p xmlns:a="http://schemas.openxmlformats.org/drawingml/2006/main">
            <a:r>
              <a:t>소비기한이 가까운 재료를 먼저 보여주고, 사용자의 조리 여력까지 받아 메뉴 선택지를 줄이는 것이 핵심입니다.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2:00–3:15</a:t>
            </a:r>
          </a:p>
          <a:p xmlns:a="http://schemas.openxmlformats.org/drawingml/2006/main">
            <a:r>
              <a:t>현재는 재료 데이터가 Supabase에 저장되고, 그 데이터를 Express API가 읽어 Gemini 추천으로 연결합니다.</a:t>
            </a:r>
          </a:p>
          <a:p xmlns:a="http://schemas.openxmlformats.org/drawingml/2006/main">
            <a:r>
              <a:t>추천 결과는 한 번에 세 개씩 제공하고 최대 열다섯 개까지 확장할 수 있습니다.</a:t>
            </a:r>
          </a:p>
          <a:p xmlns:a="http://schemas.openxmlformats.org/drawingml/2006/main">
            <a:r>
              <a:t>품질 측면에서는 oxlint와 프로덕션 빌드가 통과했고, 자동 테스트 77개 중 72개가 통과했습니다.</a:t>
            </a:r>
          </a:p>
          <a:p xmlns:a="http://schemas.openxmlformats.org/drawingml/2006/main">
            <a:r>
              <a:t>남은 다섯 건은 1/0, 0/0 같은 비정상 수량 형식입니다. 핵심 흐름과 분리된 입력 검증 엣지 케이스이며 다음 보완 항목으로 관리하고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3:15–4:35</a:t>
            </a:r>
          </a:p>
          <a:p xmlns:a="http://schemas.openxmlformats.org/drawingml/2006/main">
            <a:r>
              <a:t>이번 주 핵심은 세 가지 사용자 체감 변화입니다.</a:t>
            </a:r>
          </a:p>
          <a:p xmlns:a="http://schemas.openxmlformats.org/drawingml/2006/main">
            <a:r>
              <a:t>첫째, 재료가 실제 DB에 저장되고 중복 입력은 병합되기 때문에 냉장고 상태를 신뢰할 수 있게 됐습니다.</a:t>
            </a:r>
          </a:p>
          <a:p xmlns:a="http://schemas.openxmlformats.org/drawingml/2006/main">
            <a:r>
              <a:t>둘째, 단순 날짜 표시가 아니라 보관 방식과 D-day를 이용해 무엇부터 먹어야 하는지 우선순위를 줍니다.</a:t>
            </a:r>
          </a:p>
          <a:p xmlns:a="http://schemas.openxmlformats.org/drawingml/2006/main">
            <a:r>
              <a:t>셋째, 추천을 카드에서 끝내지 않고 상세 레시피, 저장, 부족 재료 확인과 구매 행동까지 이어지게 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4:35–6:05</a:t>
            </a:r>
          </a:p>
          <a:p xmlns:a="http://schemas.openxmlformats.org/drawingml/2006/main">
            <a:r>
              <a:t>추천의 핵심은 Gemini를 호출하는 것보다 생성 이후를 통제하는 데 있습니다.</a:t>
            </a:r>
          </a:p>
          <a:p xmlns:a="http://schemas.openxmlformats.org/drawingml/2006/main">
            <a:r>
              <a:t>서버가 Supabase에서 현재 재료를 직접 읽고, 필요한 필드만 모델에 전달합니다.</a:t>
            </a:r>
          </a:p>
          <a:p xmlns:a="http://schemas.openxmlformats.org/drawingml/2006/main">
            <a:r>
              <a:t>응답은 구조화 JSON으로 받고 Zod 스키마와 서버 정책으로 다시 검증합니다.</a:t>
            </a:r>
          </a:p>
          <a:p xmlns:a="http://schemas.openxmlformats.org/drawingml/2006/main">
            <a:r>
              <a:t>만료 재료는 제외하고, 부족 재료 수를 제한하며, 메뉴 이름과 핵심 재료 조합으로 중복을 막습니다.</a:t>
            </a:r>
          </a:p>
          <a:p xmlns:a="http://schemas.openxmlformats.org/drawingml/2006/main">
            <a:r>
              <a:t>동일 조건은 Supabase 캐시를 재사용하고, 외부 API가 실패해도 마지막 성공 결과가 있으면 화면을 유지합니다.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6:05–7:45</a:t>
            </a:r>
          </a:p>
          <a:p xmlns:a="http://schemas.openxmlformats.org/drawingml/2006/main">
            <a:r>
              <a:t>구조의 핵심 원칙은 역할 분리입니다.</a:t>
            </a:r>
          </a:p>
          <a:p xmlns:a="http://schemas.openxmlformats.org/drawingml/2006/main">
            <a:r>
              <a:t>React는 화면과 사용자 상태를 담당하고, Express는 API 경계와 공통 오류 형식을 담당합니다.</a:t>
            </a:r>
          </a:p>
          <a:p xmlns:a="http://schemas.openxmlformats.org/drawingml/2006/main">
            <a:r>
              <a:t>실제 추천 정책과 Zod 검증, 캐시와 중복 제거는 서비스 레이어에 모았습니다.</a:t>
            </a:r>
          </a:p>
          <a:p xmlns:a="http://schemas.openxmlformats.org/drawingml/2006/main">
            <a:r>
              <a:t>Supabase Secret key와 Gemini API key는 서버 환경변수에만 있고 브라우저에는 노출하지 않습니다.</a:t>
            </a:r>
          </a:p>
          <a:p xmlns:a="http://schemas.openxmlformats.org/drawingml/2006/main">
            <a:r>
              <a:t>이 구조 덕분에 AI 모델을 바꾸거나 정책을 보강해도 프론트 화면의 변경을 최소화할 수 있습니다.</a:t>
            </a:r>
          </a:p>
          <a:p xmlns:a="http://schemas.openxmlformats.org/drawingml/2006/main">
            <a:r>
              <a:t>아래 품질 레일은 현재 검증 상태입니다. 테스트 다섯 건은 솔직하게 남은 과제로 표시했습니다.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7:45–9:15</a:t>
            </a:r>
          </a:p>
          <a:p xmlns:a="http://schemas.openxmlformats.org/drawingml/2006/main">
            <a:r>
              <a:t>이제 실제 흐름을 보겠습니다.</a:t>
            </a:r>
          </a:p>
          <a:p xmlns:a="http://schemas.openxmlformats.org/drawingml/2006/main">
            <a:r>
              <a:t>첫 화면에서 Supabase의 재료 11개를 읽고, 가장 임박한 삼겹살 D-1을 상단에 강조합니다.</a:t>
            </a:r>
          </a:p>
          <a:p xmlns:a="http://schemas.openxmlformats.org/drawingml/2006/main">
            <a:r>
              <a:t>사용자는 오늘 메뉴 추천을 누르고, 불 없이·15분·균형식 중 현재 가능한 조리 여력을 선택합니다.</a:t>
            </a:r>
          </a:p>
          <a:p xmlns:a="http://schemas.openxmlformats.org/drawingml/2006/main">
            <a:r>
              <a:t>여기서는 ‘불도 켜기 싫어요’를 선택했고, 현재 재료로 가능한 메뉴 세 개가 나옵니다.</a:t>
            </a:r>
          </a:p>
          <a:p xmlns:a="http://schemas.openxmlformats.org/drawingml/2006/main">
            <a:r>
              <a:t>부족 재료 한 개까지 허용할지 선택할 수 있고, 다른 추천 보기를 누르면 기존 fingerprint를 제외한 다음 세 개를 요청합니다.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9:15–10:00</a:t>
            </a:r>
          </a:p>
          <a:p xmlns:a="http://schemas.openxmlformats.org/drawingml/2006/main">
            <a:r>
              <a:t>추천 카드를 선택하면 레시피 상세로 이동합니다.</a:t>
            </a:r>
          </a:p>
          <a:p xmlns:a="http://schemas.openxmlformats.org/drawingml/2006/main">
            <a:r>
              <a:t>보유 재료와 선택 재료를 구분하고, 대체 재료, 조리 순서, 영양 안내와 주의사항까지 제공합니다.</a:t>
            </a:r>
          </a:p>
          <a:p xmlns:a="http://schemas.openxmlformats.org/drawingml/2006/main">
            <a:r>
              <a:t>정리하면 이번 주에는 DB에 저장된 냉장고 상태가 실제 저녁 메뉴 결정으로 이어지는 한 사이클을 완성했습니다.</a:t>
            </a:r>
          </a:p>
          <a:p xmlns:a="http://schemas.openxmlformats.org/drawingml/2006/main">
            <a:r>
              <a:t>다음은 비정상 수량 입력 다섯 건을 보완하고 GitHub Actions로 테스트·lint·build를 자동화한 뒤 배포로 연결하겠습니다.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04018d381742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1b332de074463b" /><Relationship Type="http://schemas.openxmlformats.org/officeDocument/2006/relationships/slideLayout" Target="/ppt/slideLayouts/slideLayout1.xml" Id="R1bdb5b70f6e7440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db5b70f6e7440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f1bd469fe4ba5" /><Relationship Type="http://schemas.openxmlformats.org/officeDocument/2006/relationships/notesSlide" Target="/ppt/notesSlides/notesSlide1.xml" Id="R260ca8b8cb5844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e3175fb24f407e" /><Relationship Type="http://schemas.openxmlformats.org/officeDocument/2006/relationships/image" Target="/ppt/media/image.jpeg" Id="R558afb9e760b4692" /><Relationship Type="http://schemas.openxmlformats.org/officeDocument/2006/relationships/notesSlide" Target="/ppt/notesSlides/notesSlide2.xml" Id="R4267cce398ea48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3cefef8354e69" /><Relationship Type="http://schemas.openxmlformats.org/officeDocument/2006/relationships/notesSlide" Target="/ppt/notesSlides/notesSlide3.xml" Id="Rb19cb50e2ef543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cff95afa7b4105" /><Relationship Type="http://schemas.openxmlformats.org/officeDocument/2006/relationships/notesSlide" Target="/ppt/notesSlides/notesSlide4.xml" Id="Ra8b55c2dfa484f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d98e4680214274" /><Relationship Type="http://schemas.openxmlformats.org/officeDocument/2006/relationships/notesSlide" Target="/ppt/notesSlides/notesSlide5.xml" Id="Rabd4d1e0a88243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0dd84ece0e43c6" /><Relationship Type="http://schemas.openxmlformats.org/officeDocument/2006/relationships/notesSlide" Target="/ppt/notesSlides/notesSlide6.xml" Id="R3e284ddf162444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e8a07bb9748bd" /><Relationship Type="http://schemas.openxmlformats.org/officeDocument/2006/relationships/image" Target="/ppt/media/image2.jpeg" Id="Rf3ad3a149f2a4be2" /><Relationship Type="http://schemas.openxmlformats.org/officeDocument/2006/relationships/image" Target="/ppt/media/image3.jpeg" Id="R92923da7c188455a" /><Relationship Type="http://schemas.openxmlformats.org/officeDocument/2006/relationships/notesSlide" Target="/ppt/notesSlides/notesSlide7.xml" Id="Rb7da6a18ec85409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67b1b10274997" /><Relationship Type="http://schemas.openxmlformats.org/officeDocument/2006/relationships/image" Target="/ppt/media/image4.jpeg" Id="R1923a7b9b1a94e85" /><Relationship Type="http://schemas.openxmlformats.org/officeDocument/2006/relationships/notesSlide" Target="/ppt/notesSlides/notesSlide8.xml" Id="R24fda535e85140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itle-accent-green">
            <a:extLst xmlns:a="http://schemas.openxmlformats.org/drawingml/2006/main">
              <a:ext uri="{FF2B5EF4-FFF2-40B4-BE49-F238E27FC236}">
                <a16:creationId xmlns:a16="http://schemas.microsoft.com/office/drawing/2014/main" id="{AB329501-2C56-4625-8A87-741EB99E8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itle-accent-orange">
            <a:extLst xmlns:a="http://schemas.openxmlformats.org/drawingml/2006/main">
              <a:ext uri="{FF2B5EF4-FFF2-40B4-BE49-F238E27FC236}">
                <a16:creationId xmlns:a16="http://schemas.microsoft.com/office/drawing/2014/main" id="{43FE4264-61EB-453F-80A1-3C115237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"/>
            <a:ext cx="152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itle-kicker">
            <a:extLst xmlns:a="http://schemas.openxmlformats.org/drawingml/2006/main">
              <a:ext uri="{FF2B5EF4-FFF2-40B4-BE49-F238E27FC236}">
                <a16:creationId xmlns:a16="http://schemas.microsoft.com/office/drawing/2014/main" id="{429B0415-7552-4171-8347-B13E5E4E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95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AI AGENT CHALLENGE · WEEKLY DEMO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D6CB8255-EB68-402B-9011-9BE9FC63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62200"/>
            <a:ext cx="85725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오늘의 냉장고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A4F3E0BD-E5BA-461B-9DF4-C1732E18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0"/>
            <a:ext cx="8572500" cy="1257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DB에 저장된 재료가
오늘의 메뉴가 되기까지</a:t>
            </a:r>
          </a:p>
        </p:txBody>
      </p:sp>
      <p:sp>
        <p:nvSpPr>
          <p:cNvPr id="6" name="deck-scope">
            <a:extLst xmlns:a="http://schemas.openxmlformats.org/drawingml/2006/main">
              <a:ext uri="{FF2B5EF4-FFF2-40B4-BE49-F238E27FC236}">
                <a16:creationId xmlns:a16="http://schemas.microsoft.com/office/drawing/2014/main" id="{B0C5F0FB-65E0-451F-BFA1-3EA0DA29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34050"/>
            <a:ext cx="723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Supabase 연동 · 기능 강화 · 추천 구조 고도화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AC5E3C68-6CE2-4607-85AF-F2C4F7952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10300"/>
            <a:ext cx="11277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1C19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913945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2">
            <a:extLst xmlns:a="http://schemas.openxmlformats.org/drawingml/2006/main">
              <a:ext uri="{FF2B5EF4-FFF2-40B4-BE49-F238E27FC236}">
                <a16:creationId xmlns:a16="http://schemas.microsoft.com/office/drawing/2014/main" id="{BC6AF82F-A6A8-49B1-86FF-507ED647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01 · 기획 소개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EEEF1085-3D4C-445B-AA91-B3636983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냉장고 속 재료를 ‘오늘의 결정’으로 바꿉니다</a:t>
            </a:r>
          </a:p>
        </p:txBody>
      </p:sp>
      <p:sp>
        <p:nvSpPr>
          <p:cNvPr id="3" name="problem-label">
            <a:extLst xmlns:a="http://schemas.openxmlformats.org/drawingml/2006/main">
              <a:ext uri="{FF2B5EF4-FFF2-40B4-BE49-F238E27FC236}">
                <a16:creationId xmlns:a16="http://schemas.microsoft.com/office/drawing/2014/main" id="{9CE28A51-2035-4C5D-AF6A-E47342DF2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97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문제</a:t>
            </a:r>
          </a:p>
        </p:txBody>
      </p:sp>
      <p:sp>
        <p:nvSpPr>
          <p:cNvPr id="4" name="problem-copy">
            <a:extLst xmlns:a="http://schemas.openxmlformats.org/drawingml/2006/main">
              <a:ext uri="{FF2B5EF4-FFF2-40B4-BE49-F238E27FC236}">
                <a16:creationId xmlns:a16="http://schemas.microsoft.com/office/drawing/2014/main" id="{FEAE8829-C90D-41E5-BB60-8E1E697D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4762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재료는 있는데,
무엇을 먹을지는 매번 다시 고민합니다.</a:t>
            </a:r>
          </a:p>
        </p:txBody>
      </p:sp>
      <p:sp>
        <p:nvSpPr>
          <p:cNvPr id="5" name="solution-label">
            <a:extLst xmlns:a="http://schemas.openxmlformats.org/drawingml/2006/main">
              <a:ext uri="{FF2B5EF4-FFF2-40B4-BE49-F238E27FC236}">
                <a16:creationId xmlns:a16="http://schemas.microsoft.com/office/drawing/2014/main" id="{BEAF4BCE-E2AD-4A39-9731-76B6C79DE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1333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해결</a:t>
            </a:r>
          </a:p>
        </p:txBody>
      </p:sp>
      <p:sp>
        <p:nvSpPr>
          <p:cNvPr id="6" name="solution-copy">
            <a:extLst xmlns:a="http://schemas.openxmlformats.org/drawingml/2006/main">
              <a:ext uri="{FF2B5EF4-FFF2-40B4-BE49-F238E27FC236}">
                <a16:creationId xmlns:a16="http://schemas.microsoft.com/office/drawing/2014/main" id="{8BE19C1C-1F9D-4305-9AD8-215256F4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4953000" cy="876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보유 재료 · 소비기한 · 오늘의 에너지를 묶어
지금 실행 가능한 메뉴만 제안합니다.</a:t>
            </a:r>
          </a:p>
        </p:txBody>
      </p:sp>
      <p:sp>
        <p:nvSpPr>
          <p:cNvPr id="7" name="planning-outcome">
            <a:extLst xmlns:a="http://schemas.openxmlformats.org/drawingml/2006/main">
              <a:ext uri="{FF2B5EF4-FFF2-40B4-BE49-F238E27FC236}">
                <a16:creationId xmlns:a16="http://schemas.microsoft.com/office/drawing/2014/main" id="{7B6AFB67-5733-4ACD-83ED-6D970695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49530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lanning-outcome-copy">
            <a:extLst xmlns:a="http://schemas.openxmlformats.org/drawingml/2006/main">
              <a:ext uri="{FF2B5EF4-FFF2-40B4-BE49-F238E27FC236}">
                <a16:creationId xmlns:a16="http://schemas.microsoft.com/office/drawing/2014/main" id="{4209E93D-71C9-4EDB-8872-530197971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86400"/>
            <a:ext cx="44577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핵심 가치  |  관리보다 ‘다음 행동’을 쉽게</a:t>
            </a:r>
          </a:p>
        </p:txBody>
      </p:sp>
      <p:sp>
        <p:nvSpPr>
          <p:cNvPr id="9" name="planning-image-frame">
            <a:extLst xmlns:a="http://schemas.openxmlformats.org/drawingml/2006/main">
              <a:ext uri="{FF2B5EF4-FFF2-40B4-BE49-F238E27FC236}">
                <a16:creationId xmlns:a16="http://schemas.microsoft.com/office/drawing/2014/main" id="{FE45C691-7D5B-416B-984B-589C9F547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57350"/>
            <a:ext cx="5810250" cy="4343400"/>
          </a:xfrm>
          <a:prstGeom xmlns:a="http://schemas.openxmlformats.org/drawingml/2006/main" prst="roundRect">
            <a:avLst>
              <a:gd name="adj" fmla="val 17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10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29387B79-33F5-405C-8244-226FE921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11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7DDEE17C-B3C8-48AF-B72B-137C185E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8afb9e760b4692"/>
          <a:srcRect xmlns:a="http://schemas.openxmlformats.org/drawingml/2006/main" l="11440" t="0" r="114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847850"/>
            <a:ext cx="5429250" cy="3962400"/>
          </a:xfrm>
          <a:prstGeom xmlns:a="http://schemas.openxmlformats.org/drawingml/2006/main" prst="roundRect">
            <a:avLst>
              <a:gd name="adj" fmla="val 2885"/>
            </a:avLst>
          </a:prstGeom>
        </p:spPr>
      </p:pic>
    </p:spTree>
    <p:extLst>
      <p:ext uri="{BB962C8B-B14F-4D97-AF65-F5344CB8AC3E}">
        <p14:creationId xmlns:p14="http://schemas.microsoft.com/office/powerpoint/2010/main" val="5352918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3">
            <a:extLst xmlns:a="http://schemas.openxmlformats.org/drawingml/2006/main">
              <a:ext uri="{FF2B5EF4-FFF2-40B4-BE49-F238E27FC236}">
                <a16:creationId xmlns:a16="http://schemas.microsoft.com/office/drawing/2014/main" id="{5F06D73F-EF98-44A1-86FF-CA465073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02 · 진행 상황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7038AF2B-8B44-4938-9AEF-7C7C56CB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저장–추천–검증이 한 흐름으로 연결됐습니다</a:t>
            </a:r>
          </a:p>
        </p:txBody>
      </p:sp>
      <p:sp>
        <p:nvSpPr>
          <p:cNvPr id="3" name="progress-card-0">
            <a:extLst xmlns:a="http://schemas.openxmlformats.org/drawingml/2006/main">
              <a:ext uri="{FF2B5EF4-FFF2-40B4-BE49-F238E27FC236}">
                <a16:creationId xmlns:a16="http://schemas.microsoft.com/office/drawing/2014/main" id="{8DA43638-3351-43D9-9F98-6A1812430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9545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rogress-tag-0">
            <a:extLst xmlns:a="http://schemas.openxmlformats.org/drawingml/2006/main">
              <a:ext uri="{FF2B5EF4-FFF2-40B4-BE49-F238E27FC236}">
                <a16:creationId xmlns:a16="http://schemas.microsoft.com/office/drawing/2014/main" id="{398CE217-4861-4809-B9BC-E90B15A5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DATA</a:t>
            </a:r>
          </a:p>
        </p:txBody>
      </p:sp>
      <p:sp>
        <p:nvSpPr>
          <p:cNvPr id="5" name="progress-stat-0">
            <a:extLst xmlns:a="http://schemas.openxmlformats.org/drawingml/2006/main">
              <a:ext uri="{FF2B5EF4-FFF2-40B4-BE49-F238E27FC236}">
                <a16:creationId xmlns:a16="http://schemas.microsoft.com/office/drawing/2014/main" id="{6B27D17F-603D-4A5D-9778-BECECA9F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CRUD</a:t>
            </a:r>
          </a:p>
        </p:txBody>
      </p:sp>
      <p:sp>
        <p:nvSpPr>
          <p:cNvPr id="6" name="progress-title-0">
            <a:extLst xmlns:a="http://schemas.openxmlformats.org/drawingml/2006/main">
              <a:ext uri="{FF2B5EF4-FFF2-40B4-BE49-F238E27FC236}">
                <a16:creationId xmlns:a16="http://schemas.microsoft.com/office/drawing/2014/main" id="{E9DD4616-ACF8-43ED-BFA2-6BBE649B6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Supabase 영속화</a:t>
            </a:r>
          </a:p>
        </p:txBody>
      </p:sp>
      <p:sp>
        <p:nvSpPr>
          <p:cNvPr id="7" name="progress-body-0">
            <a:extLst xmlns:a="http://schemas.openxmlformats.org/drawingml/2006/main">
              <a:ext uri="{FF2B5EF4-FFF2-40B4-BE49-F238E27FC236}">
                <a16:creationId xmlns:a16="http://schemas.microsoft.com/office/drawing/2014/main" id="{86136242-ED41-43B5-9FA0-A5F4656B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2800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재료 조회·등록·수정·삭제
화면 새로고침 뒤에도 상태 유지</a:t>
            </a:r>
          </a:p>
        </p:txBody>
      </p:sp>
      <p:sp>
        <p:nvSpPr>
          <p:cNvPr id="8" name="progress-dot-0">
            <a:extLst xmlns:a="http://schemas.openxmlformats.org/drawingml/2006/main">
              <a:ext uri="{FF2B5EF4-FFF2-40B4-BE49-F238E27FC236}">
                <a16:creationId xmlns:a16="http://schemas.microsoft.com/office/drawing/2014/main" id="{DE8532E3-582F-424E-982E-1B85A55D5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rogress-card-1">
            <a:extLst xmlns:a="http://schemas.openxmlformats.org/drawingml/2006/main">
              <a:ext uri="{FF2B5EF4-FFF2-40B4-BE49-F238E27FC236}">
                <a16:creationId xmlns:a16="http://schemas.microsoft.com/office/drawing/2014/main" id="{3C26E5C6-1FA9-4D08-BAE1-9700454C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69545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rogress-tag-1">
            <a:extLst xmlns:a="http://schemas.openxmlformats.org/drawingml/2006/main">
              <a:ext uri="{FF2B5EF4-FFF2-40B4-BE49-F238E27FC236}">
                <a16:creationId xmlns:a16="http://schemas.microsoft.com/office/drawing/2014/main" id="{1A95BC12-07A9-4DD9-A1FB-92B4C72D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9621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AI</a:t>
            </a:r>
          </a:p>
        </p:txBody>
      </p:sp>
      <p:sp>
        <p:nvSpPr>
          <p:cNvPr id="11" name="progress-stat-1">
            <a:extLst xmlns:a="http://schemas.openxmlformats.org/drawingml/2006/main">
              <a:ext uri="{FF2B5EF4-FFF2-40B4-BE49-F238E27FC236}">
                <a16:creationId xmlns:a16="http://schemas.microsoft.com/office/drawing/2014/main" id="{D1B65ADC-F76A-447C-8899-FAEC5523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812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3 / 15</a:t>
            </a:r>
          </a:p>
        </p:txBody>
      </p:sp>
      <p:sp>
        <p:nvSpPr>
          <p:cNvPr id="12" name="progress-title-1">
            <a:extLst xmlns:a="http://schemas.openxmlformats.org/drawingml/2006/main">
              <a:ext uri="{FF2B5EF4-FFF2-40B4-BE49-F238E27FC236}">
                <a16:creationId xmlns:a16="http://schemas.microsoft.com/office/drawing/2014/main" id="{12998E2B-03D7-4AEE-896F-5C01B4E7A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Gemini 추천 연결</a:t>
            </a:r>
          </a:p>
        </p:txBody>
      </p:sp>
      <p:sp>
        <p:nvSpPr>
          <p:cNvPr id="13" name="progress-body-1">
            <a:extLst xmlns:a="http://schemas.openxmlformats.org/drawingml/2006/main">
              <a:ext uri="{FF2B5EF4-FFF2-40B4-BE49-F238E27FC236}">
                <a16:creationId xmlns:a16="http://schemas.microsoft.com/office/drawing/2014/main" id="{7EFDA13C-8A18-4E21-96CD-A31DC2F05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676650"/>
            <a:ext cx="2800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보유 재료 기반 3개 추천
상세 레시피·대체 재료까지 연결</a:t>
            </a:r>
          </a:p>
        </p:txBody>
      </p:sp>
      <p:sp>
        <p:nvSpPr>
          <p:cNvPr id="14" name="progress-dot-1">
            <a:extLst xmlns:a="http://schemas.openxmlformats.org/drawingml/2006/main">
              <a:ext uri="{FF2B5EF4-FFF2-40B4-BE49-F238E27FC236}">
                <a16:creationId xmlns:a16="http://schemas.microsoft.com/office/drawing/2014/main" id="{BD246D18-7675-4645-9271-F7371714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gress-card-2">
            <a:extLst xmlns:a="http://schemas.openxmlformats.org/drawingml/2006/main">
              <a:ext uri="{FF2B5EF4-FFF2-40B4-BE49-F238E27FC236}">
                <a16:creationId xmlns:a16="http://schemas.microsoft.com/office/drawing/2014/main" id="{EF001026-179B-4C31-BBFD-86514B13E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95450"/>
            <a:ext cx="3333750" cy="3200400"/>
          </a:xfrm>
          <a:prstGeom xmlns:a="http://schemas.openxmlformats.org/drawingml/2006/main" prst="roundRect">
            <a:avLst>
              <a:gd name="adj" fmla="val 2381"/>
            </a:avLst>
          </a:prstGeom>
          <a:solidFill xmlns:a="http://schemas.openxmlformats.org/drawingml/2006/main">
            <a:srgbClr val="F3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rogress-tag-2">
            <a:extLst xmlns:a="http://schemas.openxmlformats.org/drawingml/2006/main">
              <a:ext uri="{FF2B5EF4-FFF2-40B4-BE49-F238E27FC236}">
                <a16:creationId xmlns:a16="http://schemas.microsoft.com/office/drawing/2014/main" id="{9362EF65-B903-4662-B75C-7A10D2EFD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6215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QUALITY</a:t>
            </a:r>
          </a:p>
        </p:txBody>
      </p:sp>
      <p:sp>
        <p:nvSpPr>
          <p:cNvPr id="17" name="progress-stat-2">
            <a:extLst xmlns:a="http://schemas.openxmlformats.org/drawingml/2006/main">
              <a:ext uri="{FF2B5EF4-FFF2-40B4-BE49-F238E27FC236}">
                <a16:creationId xmlns:a16="http://schemas.microsoft.com/office/drawing/2014/main" id="{447F1033-C040-43BD-992D-DFD50BD0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276225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72 / 77</a:t>
            </a:r>
          </a:p>
        </p:txBody>
      </p:sp>
      <p:sp>
        <p:nvSpPr>
          <p:cNvPr id="18" name="progress-title-2">
            <a:extLst xmlns:a="http://schemas.openxmlformats.org/drawingml/2006/main">
              <a:ext uri="{FF2B5EF4-FFF2-40B4-BE49-F238E27FC236}">
                <a16:creationId xmlns:a16="http://schemas.microsoft.com/office/drawing/2014/main" id="{E6726421-2452-47CB-A6A9-35CD0447B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622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자동 검증 확대</a:t>
            </a:r>
          </a:p>
        </p:txBody>
      </p:sp>
      <p:sp>
        <p:nvSpPr>
          <p:cNvPr id="19" name="progress-body-2">
            <a:extLst xmlns:a="http://schemas.openxmlformats.org/drawingml/2006/main">
              <a:ext uri="{FF2B5EF4-FFF2-40B4-BE49-F238E27FC236}">
                <a16:creationId xmlns:a16="http://schemas.microsoft.com/office/drawing/2014/main" id="{9EE3CD65-915D-4610-B1C5-4B9779E2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76650"/>
            <a:ext cx="280035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정적 분석·프로덕션 빌드 통과
테스트 77개 중 72개 통과</a:t>
            </a:r>
          </a:p>
        </p:txBody>
      </p:sp>
      <p:sp>
        <p:nvSpPr>
          <p:cNvPr id="20" name="progress-dot-2">
            <a:extLst xmlns:a="http://schemas.openxmlformats.org/drawingml/2006/main">
              <a:ext uri="{FF2B5EF4-FFF2-40B4-BE49-F238E27FC236}">
                <a16:creationId xmlns:a16="http://schemas.microsoft.com/office/drawing/2014/main" id="{AA7A31FE-BC22-4E97-A28E-2FC6BD2D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5105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next-label">
            <a:extLst xmlns:a="http://schemas.openxmlformats.org/drawingml/2006/main">
              <a:ext uri="{FF2B5EF4-FFF2-40B4-BE49-F238E27FC236}">
                <a16:creationId xmlns:a16="http://schemas.microsoft.com/office/drawing/2014/main" id="{B71D8B96-8DCE-454A-9ECF-27BDC4D48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38800"/>
            <a:ext cx="1333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다음 보완</a:t>
            </a:r>
          </a:p>
        </p:txBody>
      </p:sp>
      <p:sp>
        <p:nvSpPr>
          <p:cNvPr id="22" name="next-copy">
            <a:extLst xmlns:a="http://schemas.openxmlformats.org/drawingml/2006/main">
              <a:ext uri="{FF2B5EF4-FFF2-40B4-BE49-F238E27FC236}">
                <a16:creationId xmlns:a16="http://schemas.microsoft.com/office/drawing/2014/main" id="{994DF847-8A9E-411E-9729-AA67C2DB9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7239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비정상 수량 입력 5건 보완 · GitHub Actions CI 연결</a:t>
            </a:r>
          </a:p>
        </p:txBody>
      </p:sp>
      <p:sp>
        <p:nvSpPr>
          <p:cNvPr id="23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7B157DBF-8AE7-4751-B9A8-2C40294B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24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C6AAA0AD-A91A-45D8-9893-EC3ED3FA4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4870435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4">
            <a:extLst xmlns:a="http://schemas.openxmlformats.org/drawingml/2006/main">
              <a:ext uri="{FF2B5EF4-FFF2-40B4-BE49-F238E27FC236}">
                <a16:creationId xmlns:a16="http://schemas.microsoft.com/office/drawing/2014/main" id="{FBF586D7-1864-4DE3-866B-38144320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이번 주 핵심 진행 내용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4DA86BF2-1FB0-4D9F-8C88-041D7D5E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기능 목록보다 사용자 체감 변화를 완성했습니다</a:t>
            </a:r>
          </a:p>
        </p:txBody>
      </p:sp>
      <p:sp>
        <p:nvSpPr>
          <p:cNvPr id="3" name="week-goal-label">
            <a:extLst xmlns:a="http://schemas.openxmlformats.org/drawingml/2006/main">
              <a:ext uri="{FF2B5EF4-FFF2-40B4-BE49-F238E27FC236}">
                <a16:creationId xmlns:a16="http://schemas.microsoft.com/office/drawing/2014/main" id="{BA472A0B-E86C-4E2D-AAAC-3D2D9544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1524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이번 주 목표</a:t>
            </a:r>
          </a:p>
        </p:txBody>
      </p:sp>
      <p:sp>
        <p:nvSpPr>
          <p:cNvPr id="4" name="week-goal-copy">
            <a:extLst xmlns:a="http://schemas.openxmlformats.org/drawingml/2006/main">
              <a:ext uri="{FF2B5EF4-FFF2-40B4-BE49-F238E27FC236}">
                <a16:creationId xmlns:a16="http://schemas.microsoft.com/office/drawing/2014/main" id="{BE3DA1F2-4398-45B8-83C4-B04F0F146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83820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DB 연동 + 기능 강화 + 구조 시각화 + TDD</a:t>
            </a:r>
          </a:p>
        </p:txBody>
      </p:sp>
      <p:sp>
        <p:nvSpPr>
          <p:cNvPr id="5" name="week-col-0">
            <a:extLst xmlns:a="http://schemas.openxmlformats.org/drawingml/2006/main">
              <a:ext uri="{FF2B5EF4-FFF2-40B4-BE49-F238E27FC236}">
                <a16:creationId xmlns:a16="http://schemas.microsoft.com/office/drawing/2014/main" id="{355CDAEC-36D1-4A1A-A39F-DBBD5DC29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eek-num-0">
            <a:extLst xmlns:a="http://schemas.openxmlformats.org/drawingml/2006/main">
              <a:ext uri="{FF2B5EF4-FFF2-40B4-BE49-F238E27FC236}">
                <a16:creationId xmlns:a16="http://schemas.microsoft.com/office/drawing/2014/main" id="{2F59FC91-1E7F-4240-BC8A-56A86428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01</a:t>
            </a:r>
          </a:p>
        </p:txBody>
      </p:sp>
      <p:sp>
        <p:nvSpPr>
          <p:cNvPr id="7" name="week-title-0">
            <a:extLst xmlns:a="http://schemas.openxmlformats.org/drawingml/2006/main">
              <a:ext uri="{FF2B5EF4-FFF2-40B4-BE49-F238E27FC236}">
                <a16:creationId xmlns:a16="http://schemas.microsoft.com/office/drawing/2014/main" id="{D6D806E6-BE70-499C-B27C-3C0035EC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기억하는 냉장고</a:t>
            </a:r>
          </a:p>
        </p:txBody>
      </p:sp>
      <p:sp>
        <p:nvSpPr>
          <p:cNvPr id="8" name="week-body-0">
            <a:extLst xmlns:a="http://schemas.openxmlformats.org/drawingml/2006/main">
              <a:ext uri="{FF2B5EF4-FFF2-40B4-BE49-F238E27FC236}">
                <a16:creationId xmlns:a16="http://schemas.microsoft.com/office/drawing/2014/main" id="{9A0C6242-B62A-4FDC-83DB-BCC4DF3B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2781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Supabase CRUD 연동
중복 재료 병합
변경 즉시 목록 갱신</a:t>
            </a:r>
          </a:p>
        </p:txBody>
      </p:sp>
      <p:sp>
        <p:nvSpPr>
          <p:cNvPr id="9" name="week-outcome-0">
            <a:extLst xmlns:a="http://schemas.openxmlformats.org/drawingml/2006/main">
              <a:ext uri="{FF2B5EF4-FFF2-40B4-BE49-F238E27FC236}">
                <a16:creationId xmlns:a16="http://schemas.microsoft.com/office/drawing/2014/main" id="{DE838B61-A77A-404A-8794-1A923082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816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데이터 신뢰</a:t>
            </a:r>
          </a:p>
        </p:txBody>
      </p:sp>
      <p:sp>
        <p:nvSpPr>
          <p:cNvPr id="10" name="week-col-1">
            <a:extLst xmlns:a="http://schemas.openxmlformats.org/drawingml/2006/main">
              <a:ext uri="{FF2B5EF4-FFF2-40B4-BE49-F238E27FC236}">
                <a16:creationId xmlns:a16="http://schemas.microsoft.com/office/drawing/2014/main" id="{29A29EAA-A6A8-4CD2-9BDF-7557528C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64795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week-num-1">
            <a:extLst xmlns:a="http://schemas.openxmlformats.org/drawingml/2006/main">
              <a:ext uri="{FF2B5EF4-FFF2-40B4-BE49-F238E27FC236}">
                <a16:creationId xmlns:a16="http://schemas.microsoft.com/office/drawing/2014/main" id="{679514A9-255E-4441-B1CC-2EB8AA374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765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02</a:t>
            </a:r>
          </a:p>
        </p:txBody>
      </p:sp>
      <p:sp>
        <p:nvSpPr>
          <p:cNvPr id="12" name="week-title-1">
            <a:extLst xmlns:a="http://schemas.openxmlformats.org/drawingml/2006/main">
              <a:ext uri="{FF2B5EF4-FFF2-40B4-BE49-F238E27FC236}">
                <a16:creationId xmlns:a16="http://schemas.microsoft.com/office/drawing/2014/main" id="{53F101CD-1AA3-4840-8E2F-BFF5B904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956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먼저 먹을 이유</a:t>
            </a:r>
          </a:p>
        </p:txBody>
      </p:sp>
      <p:sp>
        <p:nvSpPr>
          <p:cNvPr id="13" name="week-body-1">
            <a:extLst xmlns:a="http://schemas.openxmlformats.org/drawingml/2006/main">
              <a:ext uri="{FF2B5EF4-FFF2-40B4-BE49-F238E27FC236}">
                <a16:creationId xmlns:a16="http://schemas.microsoft.com/office/drawing/2014/main" id="{B8A51530-6D6D-49FC-BEF4-536562AB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2781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D-day 우선순위
보관 방식별 소비기한
임박 재료 CTA</a:t>
            </a:r>
          </a:p>
        </p:txBody>
      </p:sp>
      <p:sp>
        <p:nvSpPr>
          <p:cNvPr id="14" name="week-outcome-1">
            <a:extLst xmlns:a="http://schemas.openxmlformats.org/drawingml/2006/main">
              <a:ext uri="{FF2B5EF4-FFF2-40B4-BE49-F238E27FC236}">
                <a16:creationId xmlns:a16="http://schemas.microsoft.com/office/drawing/2014/main" id="{F1F2D1F8-5E00-4906-8AED-7D97BE05F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1816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행동 우선순위</a:t>
            </a:r>
          </a:p>
        </p:txBody>
      </p:sp>
      <p:sp>
        <p:nvSpPr>
          <p:cNvPr id="15" name="week-col-2">
            <a:extLst xmlns:a="http://schemas.openxmlformats.org/drawingml/2006/main">
              <a:ext uri="{FF2B5EF4-FFF2-40B4-BE49-F238E27FC236}">
                <a16:creationId xmlns:a16="http://schemas.microsoft.com/office/drawing/2014/main" id="{AF740F77-C488-4980-B9D2-C5569E400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47950"/>
            <a:ext cx="32766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eek-num-2">
            <a:extLst xmlns:a="http://schemas.openxmlformats.org/drawingml/2006/main">
              <a:ext uri="{FF2B5EF4-FFF2-40B4-BE49-F238E27FC236}">
                <a16:creationId xmlns:a16="http://schemas.microsoft.com/office/drawing/2014/main" id="{B14F5AC1-9FEB-4B0F-ACF8-7234F968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76550"/>
            <a:ext cx="571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</a:t>
            </a:r>
          </a:p>
        </p:txBody>
      </p:sp>
      <p:sp>
        <p:nvSpPr>
          <p:cNvPr id="17" name="week-title-2">
            <a:extLst xmlns:a="http://schemas.openxmlformats.org/drawingml/2006/main">
              <a:ext uri="{FF2B5EF4-FFF2-40B4-BE49-F238E27FC236}">
                <a16:creationId xmlns:a16="http://schemas.microsoft.com/office/drawing/2014/main" id="{71464B04-8821-4B27-97C1-75D330964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95650"/>
            <a:ext cx="2781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실행 가능한 메뉴</a:t>
            </a:r>
          </a:p>
        </p:txBody>
      </p:sp>
      <p:sp>
        <p:nvSpPr>
          <p:cNvPr id="18" name="week-body-2">
            <a:extLst xmlns:a="http://schemas.openxmlformats.org/drawingml/2006/main">
              <a:ext uri="{FF2B5EF4-FFF2-40B4-BE49-F238E27FC236}">
                <a16:creationId xmlns:a16="http://schemas.microsoft.com/office/drawing/2014/main" id="{B5C4104B-EC59-4F3D-837B-070DF205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86200"/>
            <a:ext cx="2781300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현재 재료 기반 생성
부족 재료 최대 1개
상세·저장·구매 연결</a:t>
            </a:r>
          </a:p>
        </p:txBody>
      </p:sp>
      <p:sp>
        <p:nvSpPr>
          <p:cNvPr id="19" name="week-outcome-2">
            <a:extLst xmlns:a="http://schemas.openxmlformats.org/drawingml/2006/main">
              <a:ext uri="{FF2B5EF4-FFF2-40B4-BE49-F238E27FC236}">
                <a16:creationId xmlns:a16="http://schemas.microsoft.com/office/drawing/2014/main" id="{A641691B-9CF6-4504-A00B-6670CA73E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181600"/>
            <a:ext cx="2781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결정의 마무리</a:t>
            </a:r>
          </a:p>
        </p:txBody>
      </p:sp>
      <p:sp>
        <p:nvSpPr>
          <p:cNvPr id="20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C5BB06ED-2CFA-4EC1-8182-683FACF89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21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665CD3CC-CC18-4611-BA9C-9F9ECBD7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4691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5">
            <a:extLst xmlns:a="http://schemas.openxmlformats.org/drawingml/2006/main">
              <a:ext uri="{FF2B5EF4-FFF2-40B4-BE49-F238E27FC236}">
                <a16:creationId xmlns:a16="http://schemas.microsoft.com/office/drawing/2014/main" id="{ECC9D3A9-34CF-4C9D-8548-CFF1340E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03 · 이번 주 핵심 진행 내용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F1AD8FE4-ACA6-4940-9B66-195ACD17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추천 품질은 ‘생성 이후’의 검증에서 결정됩니다</a:t>
            </a:r>
          </a:p>
        </p:txBody>
      </p:sp>
      <p:sp>
        <p:nvSpPr>
          <p:cNvPr id="3" name="pipeline-subtitle">
            <a:extLst xmlns:a="http://schemas.openxmlformats.org/drawingml/2006/main">
              <a:ext uri="{FF2B5EF4-FFF2-40B4-BE49-F238E27FC236}">
                <a16:creationId xmlns:a16="http://schemas.microsoft.com/office/drawing/2014/main" id="{7D6296EC-99B2-46A6-B6FE-E907B7DC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85900"/>
            <a:ext cx="8572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한 번의 추천 요청이 안전한 UI 결과가 되기까지</a:t>
            </a:r>
          </a:p>
        </p:txBody>
      </p:sp>
      <p:sp>
        <p:nvSpPr>
          <p:cNvPr id="4" name="stage-0">
            <a:extLst xmlns:a="http://schemas.openxmlformats.org/drawingml/2006/main">
              <a:ext uri="{FF2B5EF4-FFF2-40B4-BE49-F238E27FC236}">
                <a16:creationId xmlns:a16="http://schemas.microsoft.com/office/drawing/2014/main" id="{5864FA41-5615-43ED-9C2B-A91E91E51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stage-k-0">
            <a:extLst xmlns:a="http://schemas.openxmlformats.org/drawingml/2006/main">
              <a:ext uri="{FF2B5EF4-FFF2-40B4-BE49-F238E27FC236}">
                <a16:creationId xmlns:a16="http://schemas.microsoft.com/office/drawing/2014/main" id="{DE30B567-D739-4852-AFD1-87FAAE738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INPUT</a:t>
            </a:r>
          </a:p>
        </p:txBody>
      </p:sp>
      <p:sp>
        <p:nvSpPr>
          <p:cNvPr id="6" name="stage-title-0">
            <a:extLst xmlns:a="http://schemas.openxmlformats.org/drawingml/2006/main">
              <a:ext uri="{FF2B5EF4-FFF2-40B4-BE49-F238E27FC236}">
                <a16:creationId xmlns:a16="http://schemas.microsoft.com/office/drawing/2014/main" id="{286C87B2-F0C2-45D1-BD62-9E0BCAB0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재료 맥락</a:t>
            </a:r>
          </a:p>
        </p:txBody>
      </p:sp>
      <p:sp>
        <p:nvSpPr>
          <p:cNvPr id="7" name="stage-body-0">
            <a:extLst xmlns:a="http://schemas.openxmlformats.org/drawingml/2006/main">
              <a:ext uri="{FF2B5EF4-FFF2-40B4-BE49-F238E27FC236}">
                <a16:creationId xmlns:a16="http://schemas.microsoft.com/office/drawing/2014/main" id="{4DB8CF2D-7D9B-495B-BC6D-98646FF3C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보유량 · 보관 방식
소비기한 · 조리 여력</a:t>
            </a:r>
          </a:p>
        </p:txBody>
      </p:sp>
      <p:sp>
        <p:nvSpPr>
          <p:cNvPr id="8" name="stage-num-0">
            <a:extLst xmlns:a="http://schemas.openxmlformats.org/drawingml/2006/main">
              <a:ext uri="{FF2B5EF4-FFF2-40B4-BE49-F238E27FC236}">
                <a16:creationId xmlns:a16="http://schemas.microsoft.com/office/drawing/2014/main" id="{46D0D46C-FE5C-447F-B912-7298D6E7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tage-num-text-0">
            <a:extLst xmlns:a="http://schemas.openxmlformats.org/drawingml/2006/main">
              <a:ext uri="{FF2B5EF4-FFF2-40B4-BE49-F238E27FC236}">
                <a16:creationId xmlns:a16="http://schemas.microsoft.com/office/drawing/2014/main" id="{CC10192B-577B-4B56-AE98-F7A3867D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10" name="stage-1">
            <a:extLst xmlns:a="http://schemas.openxmlformats.org/drawingml/2006/main">
              <a:ext uri="{FF2B5EF4-FFF2-40B4-BE49-F238E27FC236}">
                <a16:creationId xmlns:a16="http://schemas.microsoft.com/office/drawing/2014/main" id="{382EBB9A-33CE-456E-95FE-A7AB6859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ge-k-1">
            <a:extLst xmlns:a="http://schemas.openxmlformats.org/drawingml/2006/main">
              <a:ext uri="{FF2B5EF4-FFF2-40B4-BE49-F238E27FC236}">
                <a16:creationId xmlns:a16="http://schemas.microsoft.com/office/drawing/2014/main" id="{213CB95D-316C-4F2D-86C2-32058929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GENERATE</a:t>
            </a:r>
          </a:p>
        </p:txBody>
      </p:sp>
      <p:sp>
        <p:nvSpPr>
          <p:cNvPr id="12" name="stage-title-1">
            <a:extLst xmlns:a="http://schemas.openxmlformats.org/drawingml/2006/main">
              <a:ext uri="{FF2B5EF4-FFF2-40B4-BE49-F238E27FC236}">
                <a16:creationId xmlns:a16="http://schemas.microsoft.com/office/drawing/2014/main" id="{40894B8B-673A-4A01-B70C-B50C5F151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Gemini 생성</a:t>
            </a:r>
          </a:p>
        </p:txBody>
      </p:sp>
      <p:sp>
        <p:nvSpPr>
          <p:cNvPr id="13" name="stage-body-1">
            <a:extLst xmlns:a="http://schemas.openxmlformats.org/drawingml/2006/main">
              <a:ext uri="{FF2B5EF4-FFF2-40B4-BE49-F238E27FC236}">
                <a16:creationId xmlns:a16="http://schemas.microsoft.com/office/drawing/2014/main" id="{C1C25F28-CF50-45D1-866E-C856265D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구조화 JSON
한 번에 3개 후보</a:t>
            </a:r>
          </a:p>
        </p:txBody>
      </p:sp>
      <p:sp>
        <p:nvSpPr>
          <p:cNvPr id="14" name="stage-num-1">
            <a:extLst xmlns:a="http://schemas.openxmlformats.org/drawingml/2006/main">
              <a:ext uri="{FF2B5EF4-FFF2-40B4-BE49-F238E27FC236}">
                <a16:creationId xmlns:a16="http://schemas.microsoft.com/office/drawing/2014/main" id="{AB78EBD0-CEAC-442B-816A-3E59CDD0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ge-num-text-1">
            <a:extLst xmlns:a="http://schemas.openxmlformats.org/drawingml/2006/main">
              <a:ext uri="{FF2B5EF4-FFF2-40B4-BE49-F238E27FC236}">
                <a16:creationId xmlns:a16="http://schemas.microsoft.com/office/drawing/2014/main" id="{EBA3EFD0-293F-4B30-B6B4-B8CDD3AE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16" name="stage-2">
            <a:extLst xmlns:a="http://schemas.openxmlformats.org/drawingml/2006/main">
              <a:ext uri="{FF2B5EF4-FFF2-40B4-BE49-F238E27FC236}">
                <a16:creationId xmlns:a16="http://schemas.microsoft.com/office/drawing/2014/main" id="{3C85C807-9577-41CB-B69B-4F56A6380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stage-k-2">
            <a:extLst xmlns:a="http://schemas.openxmlformats.org/drawingml/2006/main">
              <a:ext uri="{FF2B5EF4-FFF2-40B4-BE49-F238E27FC236}">
                <a16:creationId xmlns:a16="http://schemas.microsoft.com/office/drawing/2014/main" id="{8E0F619F-F0A8-445E-8D13-79FF6185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VALIDATE</a:t>
            </a:r>
          </a:p>
        </p:txBody>
      </p:sp>
      <p:sp>
        <p:nvSpPr>
          <p:cNvPr id="18" name="stage-title-2">
            <a:extLst xmlns:a="http://schemas.openxmlformats.org/drawingml/2006/main">
              <a:ext uri="{FF2B5EF4-FFF2-40B4-BE49-F238E27FC236}">
                <a16:creationId xmlns:a16="http://schemas.microsoft.com/office/drawing/2014/main" id="{0139F10A-DC33-46A5-A5C4-2D47B74F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정책 검증</a:t>
            </a:r>
          </a:p>
        </p:txBody>
      </p:sp>
      <p:sp>
        <p:nvSpPr>
          <p:cNvPr id="19" name="stage-body-2">
            <a:extLst xmlns:a="http://schemas.openxmlformats.org/drawingml/2006/main">
              <a:ext uri="{FF2B5EF4-FFF2-40B4-BE49-F238E27FC236}">
                <a16:creationId xmlns:a16="http://schemas.microsoft.com/office/drawing/2014/main" id="{F8E96EE3-9EA3-46D8-9779-2275B113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Zod 스키마
부족 재료 · 중복 제한</a:t>
            </a:r>
          </a:p>
        </p:txBody>
      </p:sp>
      <p:sp>
        <p:nvSpPr>
          <p:cNvPr id="20" name="stage-num-2">
            <a:extLst xmlns:a="http://schemas.openxmlformats.org/drawingml/2006/main">
              <a:ext uri="{FF2B5EF4-FFF2-40B4-BE49-F238E27FC236}">
                <a16:creationId xmlns:a16="http://schemas.microsoft.com/office/drawing/2014/main" id="{6F5B966D-5C44-480E-ABD0-DCF65E04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stage-num-text-2">
            <a:extLst xmlns:a="http://schemas.openxmlformats.org/drawingml/2006/main">
              <a:ext uri="{FF2B5EF4-FFF2-40B4-BE49-F238E27FC236}">
                <a16:creationId xmlns:a16="http://schemas.microsoft.com/office/drawing/2014/main" id="{8F97A7D2-3CD3-4A1E-BBF5-3A994D9E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3</a:t>
            </a:r>
          </a:p>
        </p:txBody>
      </p:sp>
      <p:sp>
        <p:nvSpPr>
          <p:cNvPr id="22" name="stage-3">
            <a:extLst xmlns:a="http://schemas.openxmlformats.org/drawingml/2006/main">
              <a:ext uri="{FF2B5EF4-FFF2-40B4-BE49-F238E27FC236}">
                <a16:creationId xmlns:a16="http://schemas.microsoft.com/office/drawing/2014/main" id="{AFCFC2F6-00CC-48FE-B67D-AEBDAD37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114550"/>
            <a:ext cx="2286000" cy="249555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3F2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tage-k-3">
            <a:extLst xmlns:a="http://schemas.openxmlformats.org/drawingml/2006/main">
              <a:ext uri="{FF2B5EF4-FFF2-40B4-BE49-F238E27FC236}">
                <a16:creationId xmlns:a16="http://schemas.microsoft.com/office/drawing/2014/main" id="{1DD6FD78-F9E9-4B2E-89AF-3458B8D7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43150"/>
            <a:ext cx="1809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DELIVER</a:t>
            </a:r>
          </a:p>
        </p:txBody>
      </p:sp>
      <p:sp>
        <p:nvSpPr>
          <p:cNvPr id="24" name="stage-title-3">
            <a:extLst xmlns:a="http://schemas.openxmlformats.org/drawingml/2006/main">
              <a:ext uri="{FF2B5EF4-FFF2-40B4-BE49-F238E27FC236}">
                <a16:creationId xmlns:a16="http://schemas.microsoft.com/office/drawing/2014/main" id="{98AD8CA2-DF93-4207-8665-5AD98ED42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81300"/>
            <a:ext cx="1866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캐시 + UI</a:t>
            </a:r>
          </a:p>
        </p:txBody>
      </p:sp>
      <p:sp>
        <p:nvSpPr>
          <p:cNvPr id="25" name="stage-body-3">
            <a:extLst xmlns:a="http://schemas.openxmlformats.org/drawingml/2006/main">
              <a:ext uri="{FF2B5EF4-FFF2-40B4-BE49-F238E27FC236}">
                <a16:creationId xmlns:a16="http://schemas.microsoft.com/office/drawing/2014/main" id="{AB170038-A283-4C07-AE5B-B42A81082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33750"/>
            <a:ext cx="1866900" cy="800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동일 조건 재사용
최대 5배치·15개</a:t>
            </a:r>
          </a:p>
        </p:txBody>
      </p:sp>
      <p:sp>
        <p:nvSpPr>
          <p:cNvPr id="26" name="stage-num-3">
            <a:extLst xmlns:a="http://schemas.openxmlformats.org/drawingml/2006/main">
              <a:ext uri="{FF2B5EF4-FFF2-40B4-BE49-F238E27FC236}">
                <a16:creationId xmlns:a16="http://schemas.microsoft.com/office/drawing/2014/main" id="{53FA59B2-D6FD-404D-93CC-74409D7E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196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D3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tage-num-text-3">
            <a:extLst xmlns:a="http://schemas.openxmlformats.org/drawingml/2006/main">
              <a:ext uri="{FF2B5EF4-FFF2-40B4-BE49-F238E27FC236}">
                <a16:creationId xmlns:a16="http://schemas.microsoft.com/office/drawing/2014/main" id="{0B4B132A-A194-4279-940A-8ED13C90B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24425"/>
            <a:ext cx="495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4</a:t>
            </a:r>
          </a:p>
        </p:txBody>
      </p:sp>
      <p:sp>
        <p:nvSpPr>
          <p:cNvPr id="28" name="pipeline-callout">
            <a:extLst xmlns:a="http://schemas.openxmlformats.org/drawingml/2006/main">
              <a:ext uri="{FF2B5EF4-FFF2-40B4-BE49-F238E27FC236}">
                <a16:creationId xmlns:a16="http://schemas.microsoft.com/office/drawing/2014/main" id="{91FFEAA7-FE6C-4976-BD16-A1C16DAC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85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29" name="guard-label">
            <a:extLst xmlns:a="http://schemas.openxmlformats.org/drawingml/2006/main">
              <a:ext uri="{FF2B5EF4-FFF2-40B4-BE49-F238E27FC236}">
                <a16:creationId xmlns:a16="http://schemas.microsoft.com/office/drawing/2014/main" id="{30A06B99-8FA0-4AB8-B5AF-3DC43A73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62625"/>
            <a:ext cx="1428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핵심 방어선</a:t>
            </a:r>
          </a:p>
        </p:txBody>
      </p:sp>
      <p:sp>
        <p:nvSpPr>
          <p:cNvPr id="30" name="guard-copy">
            <a:extLst xmlns:a="http://schemas.openxmlformats.org/drawingml/2006/main">
              <a:ext uri="{FF2B5EF4-FFF2-40B4-BE49-F238E27FC236}">
                <a16:creationId xmlns:a16="http://schemas.microsoft.com/office/drawing/2014/main" id="{80569D97-5AA1-4643-97A0-AA4B5864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734050"/>
            <a:ext cx="89154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만료 재료 제외 · 이름/재료 조합 fingerprint 중복 제거 · 실패 시 마지막 성공 결과 유지</a:t>
            </a:r>
          </a:p>
        </p:txBody>
      </p:sp>
      <p:sp>
        <p:nvSpPr>
          <p:cNvPr id="31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0FF66C1E-DD04-4C4D-A3B4-380FF7BD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32" name="footer-number-5">
            <a:extLst xmlns:a="http://schemas.openxmlformats.org/drawingml/2006/main">
              <a:ext uri="{FF2B5EF4-FFF2-40B4-BE49-F238E27FC236}">
                <a16:creationId xmlns:a16="http://schemas.microsoft.com/office/drawing/2014/main" id="{32675FB5-7C35-4438-94A0-3BCD2E472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8039504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kicker-6">
            <a:extLst xmlns:a="http://schemas.openxmlformats.org/drawingml/2006/main">
              <a:ext uri="{FF2B5EF4-FFF2-40B4-BE49-F238E27FC236}">
                <a16:creationId xmlns:a16="http://schemas.microsoft.com/office/drawing/2014/main" id="{B498182C-F426-4542-AD21-BBA9CE84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04 · 개발 핵심 구조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612F7630-0278-46A3-ADD7-151F337A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프론트는 표현에, 서버는 규칙과 비밀에 집중합니다</a:t>
            </a:r>
          </a:p>
        </p:txBody>
      </p:sp>
      <p:cxnSp>
        <p:nvCxnSpPr>
          <p:cNvPr id="36" name="arch-react-api"/>
          <p:cNvCxnSpPr/>
          <p:nvPr/>
        </p:nvCxnSpPr>
        <p:spPr>
          <a:xfrm xmlns:a="http://schemas.openxmlformats.org/drawingml/2006/main">
            <a:off x="2971800" y="3009900"/>
            <a:ext cx="8953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D36"/>
            </a:solidFill>
            <a:prstDash val="solid"/>
          </a:ln>
        </p:spPr>
      </p:cxnSp>
      <p:cxnSp>
        <p:nvCxnSpPr>
          <p:cNvPr id="37" name="arch-api-service"/>
          <p:cNvCxnSpPr/>
          <p:nvPr/>
        </p:nvCxnSpPr>
        <p:spPr>
          <a:xfrm xmlns:a="http://schemas.openxmlformats.org/drawingml/2006/main">
            <a:off x="6019800" y="3009900"/>
            <a:ext cx="87630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D36"/>
            </a:solidFill>
            <a:prstDash val="solid"/>
          </a:ln>
        </p:spPr>
      </p:cxnSp>
      <p:cxnSp>
        <p:nvCxnSpPr>
          <p:cNvPr id="38" name="arch-service-db"/>
          <p:cNvCxnSpPr/>
          <p:nvPr/>
        </p:nvCxnSpPr>
        <p:spPr>
          <a:xfrm xmlns:a="http://schemas.openxmlformats.org/drawingml/2006/main">
            <a:off x="9067800" y="1943100"/>
            <a:ext cx="857250" cy="685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06D36"/>
            </a:solidFill>
            <a:prstDash val="solid"/>
          </a:ln>
        </p:spPr>
      </p:cxnSp>
      <p:cxnSp>
        <p:nvCxnSpPr>
          <p:cNvPr id="39" name="arch-service-gemini"/>
          <p:cNvCxnSpPr/>
          <p:nvPr/>
        </p:nvCxnSpPr>
        <p:spPr>
          <a:xfrm xmlns:a="http://schemas.openxmlformats.org/drawingml/2006/main">
            <a:off x="9067800" y="3390900"/>
            <a:ext cx="8572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F7E47"/>
            </a:solidFill>
            <a:prstDash val="solid"/>
          </a:ln>
        </p:spPr>
      </p:cxnSp>
      <p:sp>
        <p:nvSpPr>
          <p:cNvPr id="7" name="arch-node-0">
            <a:extLst xmlns:a="http://schemas.openxmlformats.org/drawingml/2006/main">
              <a:ext uri="{FF2B5EF4-FFF2-40B4-BE49-F238E27FC236}">
                <a16:creationId xmlns:a16="http://schemas.microsoft.com/office/drawing/2014/main" id="{87600A40-979B-4862-A671-4C6107C4C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28850"/>
            <a:ext cx="25146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8" name="arch-tag-0">
            <a:extLst xmlns:a="http://schemas.openxmlformats.org/drawingml/2006/main">
              <a:ext uri="{FF2B5EF4-FFF2-40B4-BE49-F238E27FC236}">
                <a16:creationId xmlns:a16="http://schemas.microsoft.com/office/drawing/2014/main" id="{8F072C9B-7595-451A-A7A5-3D239ED97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2095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CLIENT</a:t>
            </a:r>
          </a:p>
        </p:txBody>
      </p:sp>
      <p:sp>
        <p:nvSpPr>
          <p:cNvPr id="9" name="arch-title-0">
            <a:extLst xmlns:a="http://schemas.openxmlformats.org/drawingml/2006/main">
              <a:ext uri="{FF2B5EF4-FFF2-40B4-BE49-F238E27FC236}">
                <a16:creationId xmlns:a16="http://schemas.microsoft.com/office/drawing/2014/main" id="{375D9A28-F3CF-4C25-AF0A-B599AB1D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React + Vite</a:t>
            </a:r>
          </a:p>
        </p:txBody>
      </p:sp>
      <p:sp>
        <p:nvSpPr>
          <p:cNvPr id="10" name="arch-body-0">
            <a:extLst xmlns:a="http://schemas.openxmlformats.org/drawingml/2006/main">
              <a:ext uri="{FF2B5EF4-FFF2-40B4-BE49-F238E27FC236}">
                <a16:creationId xmlns:a16="http://schemas.microsoft.com/office/drawing/2014/main" id="{D67FBAB2-0092-4FC8-8A8F-A12183CE0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57550"/>
            <a:ext cx="2095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냉장고 UI
추천·상세 화면</a:t>
            </a:r>
          </a:p>
        </p:txBody>
      </p:sp>
      <p:sp>
        <p:nvSpPr>
          <p:cNvPr id="11" name="arch-node-1">
            <a:extLst xmlns:a="http://schemas.openxmlformats.org/drawingml/2006/main">
              <a:ext uri="{FF2B5EF4-FFF2-40B4-BE49-F238E27FC236}">
                <a16:creationId xmlns:a16="http://schemas.microsoft.com/office/drawing/2014/main" id="{1872AA8E-311C-4FDA-8F19-F2468B7E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228850"/>
            <a:ext cx="21526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12" name="arch-tag-1">
            <a:extLst xmlns:a="http://schemas.openxmlformats.org/drawingml/2006/main">
              <a:ext uri="{FF2B5EF4-FFF2-40B4-BE49-F238E27FC236}">
                <a16:creationId xmlns:a16="http://schemas.microsoft.com/office/drawing/2014/main" id="{6255240C-1F9E-4D47-AC76-6CA467EB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438400"/>
            <a:ext cx="17335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API</a:t>
            </a:r>
          </a:p>
        </p:txBody>
      </p:sp>
      <p:sp>
        <p:nvSpPr>
          <p:cNvPr id="13" name="arch-title-1">
            <a:extLst xmlns:a="http://schemas.openxmlformats.org/drawingml/2006/main">
              <a:ext uri="{FF2B5EF4-FFF2-40B4-BE49-F238E27FC236}">
                <a16:creationId xmlns:a16="http://schemas.microsoft.com/office/drawing/2014/main" id="{FAB9E173-2501-4029-97A8-59F8E8CC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2781300"/>
            <a:ext cx="1733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Express</a:t>
            </a:r>
          </a:p>
        </p:txBody>
      </p:sp>
      <p:sp>
        <p:nvSpPr>
          <p:cNvPr id="14" name="arch-body-1">
            <a:extLst xmlns:a="http://schemas.openxmlformats.org/drawingml/2006/main">
              <a:ext uri="{FF2B5EF4-FFF2-40B4-BE49-F238E27FC236}">
                <a16:creationId xmlns:a16="http://schemas.microsoft.com/office/drawing/2014/main" id="{95465B08-BB8D-4D73-997B-7E0F4018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257550"/>
            <a:ext cx="17335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REST routes
오류·로그 통일</a:t>
            </a:r>
          </a:p>
        </p:txBody>
      </p:sp>
      <p:sp>
        <p:nvSpPr>
          <p:cNvPr id="15" name="arch-node-2">
            <a:extLst xmlns:a="http://schemas.openxmlformats.org/drawingml/2006/main">
              <a:ext uri="{FF2B5EF4-FFF2-40B4-BE49-F238E27FC236}">
                <a16:creationId xmlns:a16="http://schemas.microsoft.com/office/drawing/2014/main" id="{17FB5502-909B-4C91-82BC-4F014D124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28850"/>
            <a:ext cx="21717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3F2E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16" name="arch-tag-2">
            <a:extLst xmlns:a="http://schemas.openxmlformats.org/drawingml/2006/main">
              <a:ext uri="{FF2B5EF4-FFF2-40B4-BE49-F238E27FC236}">
                <a16:creationId xmlns:a16="http://schemas.microsoft.com/office/drawing/2014/main" id="{F959017C-DCD5-445F-A805-D5D828B0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38400"/>
            <a:ext cx="1752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DOMAIN</a:t>
            </a:r>
          </a:p>
        </p:txBody>
      </p:sp>
      <p:sp>
        <p:nvSpPr>
          <p:cNvPr id="17" name="arch-title-2">
            <a:extLst xmlns:a="http://schemas.openxmlformats.org/drawingml/2006/main">
              <a:ext uri="{FF2B5EF4-FFF2-40B4-BE49-F238E27FC236}">
                <a16:creationId xmlns:a16="http://schemas.microsoft.com/office/drawing/2014/main" id="{5A054583-4B0D-411E-9770-CD5D6D9E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781300"/>
            <a:ext cx="17526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Service layer</a:t>
            </a:r>
          </a:p>
        </p:txBody>
      </p:sp>
      <p:sp>
        <p:nvSpPr>
          <p:cNvPr id="18" name="arch-body-2">
            <a:extLst xmlns:a="http://schemas.openxmlformats.org/drawingml/2006/main">
              <a:ext uri="{FF2B5EF4-FFF2-40B4-BE49-F238E27FC236}">
                <a16:creationId xmlns:a16="http://schemas.microsoft.com/office/drawing/2014/main" id="{F0E8D00F-041A-4496-BDF2-210DF553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257550"/>
            <a:ext cx="17526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추천 정책 · Zod
캐시 · fingerprint</a:t>
            </a:r>
          </a:p>
        </p:txBody>
      </p:sp>
      <p:sp>
        <p:nvSpPr>
          <p:cNvPr id="19" name="arch-node-3">
            <a:extLst xmlns:a="http://schemas.openxmlformats.org/drawingml/2006/main">
              <a:ext uri="{FF2B5EF4-FFF2-40B4-BE49-F238E27FC236}">
                <a16:creationId xmlns:a16="http://schemas.microsoft.com/office/drawing/2014/main" id="{C9B27E49-5147-4B30-8B83-F421A5064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4287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20" name="arch-tag-3">
            <a:extLst xmlns:a="http://schemas.openxmlformats.org/drawingml/2006/main">
              <a:ext uri="{FF2B5EF4-FFF2-40B4-BE49-F238E27FC236}">
                <a16:creationId xmlns:a16="http://schemas.microsoft.com/office/drawing/2014/main" id="{7BB9A1EE-D02B-4F86-9FE2-570A23216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383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DATA</a:t>
            </a:r>
          </a:p>
        </p:txBody>
      </p:sp>
      <p:sp>
        <p:nvSpPr>
          <p:cNvPr id="21" name="arch-title-3">
            <a:extLst xmlns:a="http://schemas.openxmlformats.org/drawingml/2006/main">
              <a:ext uri="{FF2B5EF4-FFF2-40B4-BE49-F238E27FC236}">
                <a16:creationId xmlns:a16="http://schemas.microsoft.com/office/drawing/2014/main" id="{B0A1DDBB-5511-4D14-9DA2-259C178B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98120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Supabase</a:t>
            </a:r>
          </a:p>
        </p:txBody>
      </p:sp>
      <p:sp>
        <p:nvSpPr>
          <p:cNvPr id="22" name="arch-body-3">
            <a:extLst xmlns:a="http://schemas.openxmlformats.org/drawingml/2006/main">
              <a:ext uri="{FF2B5EF4-FFF2-40B4-BE49-F238E27FC236}">
                <a16:creationId xmlns:a16="http://schemas.microsoft.com/office/drawing/2014/main" id="{BD2CD510-4750-48CA-913A-08DE6EC67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574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재료 · 추천 캐시</a:t>
            </a:r>
          </a:p>
        </p:txBody>
      </p:sp>
      <p:sp>
        <p:nvSpPr>
          <p:cNvPr id="23" name="arch-node-4">
            <a:extLst xmlns:a="http://schemas.openxmlformats.org/drawingml/2006/main">
              <a:ext uri="{FF2B5EF4-FFF2-40B4-BE49-F238E27FC236}">
                <a16:creationId xmlns:a16="http://schemas.microsoft.com/office/drawing/2014/main" id="{EF03F45A-04C5-4EF8-9E06-0222D70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62350"/>
            <a:ext cx="1809750" cy="1390650"/>
          </a:xfrm>
          <a:prstGeom xmlns:a="http://schemas.openxmlformats.org/drawingml/2006/main" prst="roundRect">
            <a:avLst>
              <a:gd name="adj" fmla="val 5479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24" name="arch-tag-4">
            <a:extLst xmlns:a="http://schemas.openxmlformats.org/drawingml/2006/main">
              <a:ext uri="{FF2B5EF4-FFF2-40B4-BE49-F238E27FC236}">
                <a16:creationId xmlns:a16="http://schemas.microsoft.com/office/drawing/2014/main" id="{4890BD74-BA5F-4E6E-99EB-D40D105AA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771900"/>
            <a:ext cx="13906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MODEL</a:t>
            </a:r>
          </a:p>
        </p:txBody>
      </p:sp>
      <p:sp>
        <p:nvSpPr>
          <p:cNvPr id="25" name="arch-title-4">
            <a:extLst xmlns:a="http://schemas.openxmlformats.org/drawingml/2006/main">
              <a:ext uri="{FF2B5EF4-FFF2-40B4-BE49-F238E27FC236}">
                <a16:creationId xmlns:a16="http://schemas.microsoft.com/office/drawing/2014/main" id="{D9144F2C-62FC-41D7-AD0D-8DEB073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114800"/>
            <a:ext cx="13906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Gemini</a:t>
            </a:r>
          </a:p>
        </p:txBody>
      </p:sp>
      <p:sp>
        <p:nvSpPr>
          <p:cNvPr id="26" name="arch-body-4">
            <a:extLst xmlns:a="http://schemas.openxmlformats.org/drawingml/2006/main">
              <a:ext uri="{FF2B5EF4-FFF2-40B4-BE49-F238E27FC236}">
                <a16:creationId xmlns:a16="http://schemas.microsoft.com/office/drawing/2014/main" id="{CA0F5D1B-F9FA-4F5F-BD39-A6082D731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591050"/>
            <a:ext cx="13906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레시피 생성</a:t>
            </a:r>
          </a:p>
        </p:txBody>
      </p:sp>
      <p:sp>
        <p:nvSpPr>
          <p:cNvPr id="27" name="arch-principle">
            <a:extLst xmlns:a="http://schemas.openxmlformats.org/drawingml/2006/main">
              <a:ext uri="{FF2B5EF4-FFF2-40B4-BE49-F238E27FC236}">
                <a16:creationId xmlns:a16="http://schemas.microsoft.com/office/drawing/2014/main" id="{9176D2AF-7AFE-4584-BDE3-783AD24F0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19700"/>
            <a:ext cx="11277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브라우저에 Secret key를 두지 않고, 검증되지 않은 AI 응답을 UI에 전달하지 않습니다.</a:t>
            </a:r>
          </a:p>
        </p:txBody>
      </p:sp>
      <p:sp>
        <p:nvSpPr>
          <p:cNvPr id="28" name="quality-rail">
            <a:extLst xmlns:a="http://schemas.openxmlformats.org/drawingml/2006/main">
              <a:ext uri="{FF2B5EF4-FFF2-40B4-BE49-F238E27FC236}">
                <a16:creationId xmlns:a16="http://schemas.microsoft.com/office/drawing/2014/main" id="{D3111044-02DF-4A70-966F-B66EA4F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776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A1C1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ail-test">
            <a:extLst xmlns:a="http://schemas.openxmlformats.org/drawingml/2006/main">
              <a:ext uri="{FF2B5EF4-FFF2-40B4-BE49-F238E27FC236}">
                <a16:creationId xmlns:a16="http://schemas.microsoft.com/office/drawing/2014/main" id="{7E493BC9-9964-4E7C-B000-FCCC0B9EF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67400"/>
            <a:ext cx="2476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Vitest 72 / 77</a:t>
            </a:r>
          </a:p>
        </p:txBody>
      </p:sp>
      <p:sp>
        <p:nvSpPr>
          <p:cNvPr id="30" name="rail-lint">
            <a:extLst xmlns:a="http://schemas.openxmlformats.org/drawingml/2006/main">
              <a:ext uri="{FF2B5EF4-FFF2-40B4-BE49-F238E27FC236}">
                <a16:creationId xmlns:a16="http://schemas.microsoft.com/office/drawing/2014/main" id="{1ED1FDAD-7CD3-48CB-ADA7-C262DDF2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867400"/>
            <a:ext cx="228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oxlint  PASS</a:t>
            </a:r>
          </a:p>
        </p:txBody>
      </p:sp>
      <p:sp>
        <p:nvSpPr>
          <p:cNvPr id="31" name="rail-build">
            <a:extLst xmlns:a="http://schemas.openxmlformats.org/drawingml/2006/main">
              <a:ext uri="{FF2B5EF4-FFF2-40B4-BE49-F238E27FC236}">
                <a16:creationId xmlns:a16="http://schemas.microsoft.com/office/drawing/2014/main" id="{411EDF07-8779-4DA4-A84F-2C011833D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867400"/>
            <a:ext cx="2667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Vite build  PASS</a:t>
            </a:r>
          </a:p>
        </p:txBody>
      </p:sp>
      <p:sp>
        <p:nvSpPr>
          <p:cNvPr id="32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7CC71B4A-DD6F-4E26-BBC7-0417F399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33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C0BAE602-363B-4396-A7E9-DA149473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35802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kicker-7">
            <a:extLst xmlns:a="http://schemas.openxmlformats.org/drawingml/2006/main">
              <a:ext uri="{FF2B5EF4-FFF2-40B4-BE49-F238E27FC236}">
                <a16:creationId xmlns:a16="http://schemas.microsoft.com/office/drawing/2014/main" id="{D942D687-6538-4237-AC23-539441D8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05 · 시연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881415D8-75C7-4D38-BE7C-A5EA93F6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임박 재료에서 메뉴 추천까지, 두 번이면 됩니다</a:t>
            </a:r>
          </a:p>
        </p:txBody>
      </p:sp>
      <p:sp>
        <p:nvSpPr>
          <p:cNvPr id="3" name="demo-frame-left">
            <a:extLst xmlns:a="http://schemas.openxmlformats.org/drawingml/2006/main">
              <a:ext uri="{FF2B5EF4-FFF2-40B4-BE49-F238E27FC236}">
                <a16:creationId xmlns:a16="http://schemas.microsoft.com/office/drawing/2014/main" id="{FBEE4177-2008-4737-99B1-CC6466F5E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383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4" name="demo-frame-right">
            <a:extLst xmlns:a="http://schemas.openxmlformats.org/drawingml/2006/main">
              <a:ext uri="{FF2B5EF4-FFF2-40B4-BE49-F238E27FC236}">
                <a16:creationId xmlns:a16="http://schemas.microsoft.com/office/drawing/2014/main" id="{EB6E21AD-3297-4F32-B83E-AD98AA0E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638300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5" name="demo-step-1">
            <a:extLst xmlns:a="http://schemas.openxmlformats.org/drawingml/2006/main">
              <a:ext uri="{FF2B5EF4-FFF2-40B4-BE49-F238E27FC236}">
                <a16:creationId xmlns:a16="http://schemas.microsoft.com/office/drawing/2014/main" id="{6F75FBDD-DEF0-4EC5-A793-2880FCF0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1E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demo-step-1-text">
            <a:extLst xmlns:a="http://schemas.openxmlformats.org/drawingml/2006/main">
              <a:ext uri="{FF2B5EF4-FFF2-40B4-BE49-F238E27FC236}">
                <a16:creationId xmlns:a16="http://schemas.microsoft.com/office/drawing/2014/main" id="{B84DA2A2-3376-47E2-8DC7-32420BBF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05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1</a:t>
            </a:r>
          </a:p>
        </p:txBody>
      </p:sp>
      <p:sp>
        <p:nvSpPr>
          <p:cNvPr id="7" name="demo-step-2">
            <a:extLst xmlns:a="http://schemas.openxmlformats.org/drawingml/2006/main">
              <a:ext uri="{FF2B5EF4-FFF2-40B4-BE49-F238E27FC236}">
                <a16:creationId xmlns:a16="http://schemas.microsoft.com/office/drawing/2014/main" id="{5CED96FC-9678-4636-93C3-83277082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28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E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mo-step-2-text">
            <a:extLst xmlns:a="http://schemas.openxmlformats.org/drawingml/2006/main">
              <a:ext uri="{FF2B5EF4-FFF2-40B4-BE49-F238E27FC236}">
                <a16:creationId xmlns:a16="http://schemas.microsoft.com/office/drawing/2014/main" id="{0AE84FFE-4D1F-48B8-8E80-26B3D87C8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905000"/>
            <a:ext cx="400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t>2</a:t>
            </a:r>
          </a:p>
        </p:txBody>
      </p:sp>
      <p:sp>
        <p:nvSpPr>
          <p:cNvPr id="9" name="demo-label-1">
            <a:extLst xmlns:a="http://schemas.openxmlformats.org/drawingml/2006/main">
              <a:ext uri="{FF2B5EF4-FFF2-40B4-BE49-F238E27FC236}">
                <a16:creationId xmlns:a16="http://schemas.microsoft.com/office/drawing/2014/main" id="{DA3E8A4D-11AA-4839-A937-2D7B40D5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냉장고 상태 확인</a:t>
            </a:r>
          </a:p>
        </p:txBody>
      </p:sp>
      <p:sp>
        <p:nvSpPr>
          <p:cNvPr id="10" name="demo-desc-1">
            <a:extLst xmlns:a="http://schemas.openxmlformats.org/drawingml/2006/main">
              <a:ext uri="{FF2B5EF4-FFF2-40B4-BE49-F238E27FC236}">
                <a16:creationId xmlns:a16="http://schemas.microsoft.com/office/drawing/2014/main" id="{A3ABAFD7-AD28-435F-AF51-155D396E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05500"/>
            <a:ext cx="504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D-1 삼겹살을 먼저 사용하도록 안내</a:t>
            </a:r>
          </a:p>
        </p:txBody>
      </p:sp>
      <p:sp>
        <p:nvSpPr>
          <p:cNvPr id="11" name="demo-label-2">
            <a:extLst xmlns:a="http://schemas.openxmlformats.org/drawingml/2006/main">
              <a:ext uri="{FF2B5EF4-FFF2-40B4-BE49-F238E27FC236}">
                <a16:creationId xmlns:a16="http://schemas.microsoft.com/office/drawing/2014/main" id="{8BCAA2A9-0387-42FD-A00F-775BF5B93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626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조리 여력 선택</a:t>
            </a:r>
          </a:p>
        </p:txBody>
      </p:sp>
      <p:sp>
        <p:nvSpPr>
          <p:cNvPr id="12" name="demo-desc-2">
            <a:extLst xmlns:a="http://schemas.openxmlformats.org/drawingml/2006/main">
              <a:ext uri="{FF2B5EF4-FFF2-40B4-BE49-F238E27FC236}">
                <a16:creationId xmlns:a16="http://schemas.microsoft.com/office/drawing/2014/main" id="{61DF194A-F563-4ED1-AC64-6FDAD4A9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905500"/>
            <a:ext cx="50482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‘불 없이’ 조건으로 3개 메뉴 추천</a:t>
            </a:r>
          </a:p>
        </p:txBody>
      </p:sp>
      <p:sp>
        <p:nvSpPr>
          <p:cNvPr id="13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946DA8FE-A979-4FD0-9872-9B25CB8A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14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F54A7F49-323D-45E5-8F7D-D0CE37973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07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d3a149f2a4be2"/>
          <a:srcRect xmlns:a="http://schemas.openxmlformats.org/drawingml/2006/main" l="8343" t="0" r="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809750"/>
            <a:ext cx="499110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23da7c188455a"/>
          <a:srcRect xmlns:a="http://schemas.openxmlformats.org/drawingml/2006/main" l="8343" t="0" r="83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2250" y="1809750"/>
            <a:ext cx="4991100" cy="3371850"/>
          </a:xfrm>
          <a:prstGeom xmlns:a="http://schemas.openxmlformats.org/drawingml/2006/main" prst="roundRect">
            <a:avLst>
              <a:gd name="adj" fmla="val 3390"/>
            </a:avLst>
          </a:prstGeom>
        </p:spPr>
      </p:pic>
    </p:spTree>
    <p:extLst>
      <p:ext uri="{BB962C8B-B14F-4D97-AF65-F5344CB8AC3E}">
        <p14:creationId xmlns:p14="http://schemas.microsoft.com/office/powerpoint/2010/main" val="79384047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-8">
            <a:extLst xmlns:a="http://schemas.openxmlformats.org/drawingml/2006/main">
              <a:ext uri="{FF2B5EF4-FFF2-40B4-BE49-F238E27FC236}">
                <a16:creationId xmlns:a16="http://schemas.microsoft.com/office/drawing/2014/main" id="{6D5B7FF6-F894-4082-ABA1-10A34EFF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7E47"/>
                </a:solidFill>
                <a:latin typeface="Malgun Gothic"/>
                <a:ea typeface="Malgun Gothic"/>
                <a:cs typeface="Malgun Gothic"/>
              </a:defRPr>
            </a:pPr>
            <a:r>
              <a:t>05 · 시연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C390E1D-6B0B-4A4A-8F14-8540C4C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66750"/>
            <a:ext cx="112776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추천은 레시피 상세에서 실제 행동으로 닫힙니다</a:t>
            </a:r>
          </a:p>
        </p:txBody>
      </p:sp>
      <p:sp>
        <p:nvSpPr>
          <p:cNvPr id="3" name="detail-frame">
            <a:extLst xmlns:a="http://schemas.openxmlformats.org/drawingml/2006/main">
              <a:ext uri="{FF2B5EF4-FFF2-40B4-BE49-F238E27FC236}">
                <a16:creationId xmlns:a16="http://schemas.microsoft.com/office/drawing/2014/main" id="{3CB96DDB-55DD-4D45-BB7C-004EF2A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81150"/>
            <a:ext cx="6858000" cy="4400550"/>
          </a:xfrm>
          <a:prstGeom xmlns:a="http://schemas.openxmlformats.org/drawingml/2006/main" prst="roundRect">
            <a:avLst>
              <a:gd name="adj" fmla="val 17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DDD6"/>
            </a:solidFill>
            <a:prstDash val="solid"/>
          </a:ln>
        </p:spPr>
      </p:sp>
      <p:sp>
        <p:nvSpPr>
          <p:cNvPr id="4" name="detail-menu-title">
            <a:extLst xmlns:a="http://schemas.openxmlformats.org/drawingml/2006/main">
              <a:ext uri="{FF2B5EF4-FFF2-40B4-BE49-F238E27FC236}">
                <a16:creationId xmlns:a16="http://schemas.microsoft.com/office/drawing/2014/main" id="{B1C5B6E2-B8E4-4DFB-AEC3-5A3076EDD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90700"/>
            <a:ext cx="3619500" cy="742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제육볶음 두부 샐러드</a:t>
            </a:r>
          </a:p>
        </p:txBody>
      </p:sp>
      <p:sp>
        <p:nvSpPr>
          <p:cNvPr id="5" name="detail-meta">
            <a:extLst xmlns:a="http://schemas.openxmlformats.org/drawingml/2006/main">
              <a:ext uri="{FF2B5EF4-FFF2-40B4-BE49-F238E27FC236}">
                <a16:creationId xmlns:a16="http://schemas.microsoft.com/office/drawing/2014/main" id="{0FD5AC59-56F5-473F-B89D-723C0DC4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47950"/>
            <a:ext cx="33337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5분 · 불 없이 · 쉬움</a:t>
            </a:r>
          </a:p>
        </p:txBody>
      </p:sp>
      <p:sp>
        <p:nvSpPr>
          <p:cNvPr id="6" name="detail-check-1">
            <a:extLst xmlns:a="http://schemas.openxmlformats.org/drawingml/2006/main">
              <a:ext uri="{FF2B5EF4-FFF2-40B4-BE49-F238E27FC236}">
                <a16:creationId xmlns:a16="http://schemas.microsoft.com/office/drawing/2014/main" id="{72DD08C7-CA2F-42CA-9268-1BC2D10DB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147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✓  보유/선택 재료 구분</a:t>
            </a:r>
          </a:p>
        </p:txBody>
      </p:sp>
      <p:sp>
        <p:nvSpPr>
          <p:cNvPr id="7" name="detail-check-2">
            <a:extLst xmlns:a="http://schemas.openxmlformats.org/drawingml/2006/main">
              <a:ext uri="{FF2B5EF4-FFF2-40B4-BE49-F238E27FC236}">
                <a16:creationId xmlns:a16="http://schemas.microsoft.com/office/drawing/2014/main" id="{C50B9660-2272-4739-904E-624403D14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719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✓  대체 재료와 조리 순서</a:t>
            </a:r>
          </a:p>
        </p:txBody>
      </p:sp>
      <p:sp>
        <p:nvSpPr>
          <p:cNvPr id="8" name="detail-check-3">
            <a:extLst xmlns:a="http://schemas.openxmlformats.org/drawingml/2006/main">
              <a:ext uri="{FF2B5EF4-FFF2-40B4-BE49-F238E27FC236}">
                <a16:creationId xmlns:a16="http://schemas.microsoft.com/office/drawing/2014/main" id="{AF9E0826-D067-4AA3-AABB-EDDE4643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29100"/>
            <a:ext cx="3429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A1C19"/>
                </a:solidFill>
                <a:latin typeface="Malgun Gothic"/>
                <a:ea typeface="Malgun Gothic"/>
                <a:cs typeface="Malgun Gothic"/>
              </a:defRPr>
            </a:pPr>
            <a:r>
              <a:t>✓  저장·구매 행동 연결</a:t>
            </a:r>
          </a:p>
        </p:txBody>
      </p:sp>
      <p:sp>
        <p:nvSpPr>
          <p:cNvPr id="9" name="known-risk">
            <a:extLst xmlns:a="http://schemas.openxmlformats.org/drawingml/2006/main">
              <a:ext uri="{FF2B5EF4-FFF2-40B4-BE49-F238E27FC236}">
                <a16:creationId xmlns:a16="http://schemas.microsoft.com/office/drawing/2014/main" id="{B14A7648-581D-47D5-B959-C6491EC6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914900"/>
            <a:ext cx="35433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known-risk-label">
            <a:extLst xmlns:a="http://schemas.openxmlformats.org/drawingml/2006/main">
              <a:ext uri="{FF2B5EF4-FFF2-40B4-BE49-F238E27FC236}">
                <a16:creationId xmlns:a16="http://schemas.microsoft.com/office/drawing/2014/main" id="{69449B52-6BEF-4989-B45D-D094D94F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67300"/>
            <a:ext cx="1238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91E4B"/>
                </a:solidFill>
                <a:latin typeface="Malgun Gothic"/>
                <a:ea typeface="Malgun Gothic"/>
                <a:cs typeface="Malgun Gothic"/>
              </a:defRPr>
            </a:pPr>
            <a:r>
              <a:t>남은 리스크</a:t>
            </a:r>
          </a:p>
        </p:txBody>
      </p:sp>
      <p:sp>
        <p:nvSpPr>
          <p:cNvPr id="11" name="known-risk-copy">
            <a:extLst xmlns:a="http://schemas.openxmlformats.org/drawingml/2006/main">
              <a:ext uri="{FF2B5EF4-FFF2-40B4-BE49-F238E27FC236}">
                <a16:creationId xmlns:a16="http://schemas.microsoft.com/office/drawing/2014/main" id="{40DF6421-992C-457C-BB5C-53AEC49A6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334000"/>
            <a:ext cx="308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비정상 수량 입력 5건 + CI 자동화</a:t>
            </a:r>
          </a:p>
        </p:txBody>
      </p:sp>
      <p:sp>
        <p:nvSpPr>
          <p:cNvPr id="12" name="final-next">
            <a:extLst xmlns:a="http://schemas.openxmlformats.org/drawingml/2006/main">
              <a:ext uri="{FF2B5EF4-FFF2-40B4-BE49-F238E27FC236}">
                <a16:creationId xmlns:a16="http://schemas.microsoft.com/office/drawing/2014/main" id="{E941CD02-443F-47DE-8BE2-98A42128E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019800"/>
            <a:ext cx="8572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06D36"/>
                </a:solidFill>
                <a:latin typeface="Malgun Gothic"/>
                <a:ea typeface="Malgun Gothic"/>
                <a:cs typeface="Malgun Gothic"/>
              </a:defRPr>
            </a:pPr>
            <a:r>
              <a:t>다음 단계  |  입력 검증 보완 후 배포 파이프라인 연결</a:t>
            </a:r>
          </a:p>
        </p:txBody>
      </p:sp>
      <p:sp>
        <p:nvSpPr>
          <p:cNvPr id="13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6ED9E1EE-506A-4FC6-B568-E7323320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3429000" cy="171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TODAY'S FRIDGE · DEMO DAY</a:t>
            </a:r>
          </a:p>
        </p:txBody>
      </p:sp>
      <p:sp>
        <p:nvSpPr>
          <p:cNvPr id="14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4766FAA8-BD4E-477D-8511-9B339119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953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96B66"/>
                </a:solidFill>
                <a:latin typeface="Malgun Gothic"/>
                <a:ea typeface="Malgun Gothic"/>
                <a:cs typeface="Malgun Gothic"/>
              </a:defRPr>
            </a:pPr>
            <a:r>
              <a:t>08</a:t>
            </a:r>
          </a:p>
        </p:txBody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3a7b9b1a94e85"/>
          <a:srcRect xmlns:a="http://schemas.openxmlformats.org/drawingml/2006/main" l="4814" t="0" r="481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752600"/>
            <a:ext cx="6515100" cy="405765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</p:spTree>
    <p:extLst>
      <p:ext uri="{BB962C8B-B14F-4D97-AF65-F5344CB8AC3E}">
        <p14:creationId xmlns:p14="http://schemas.microsoft.com/office/powerpoint/2010/main" val="19447802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2026-07-23T13:35:01.0010000Z</dcterms:created>
  <dcterms:modified xsi:type="dcterms:W3CDTF">2026-07-23T13:35:01.0010000Z</dcterms:modified>
</coreProperties>
</file>