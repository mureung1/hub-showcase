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693d98fbfe74153" /><Relationship Type="http://schemas.openxmlformats.org/officeDocument/2006/relationships/extended-properties" Target="/docProps/app.xml" Id="Rd2bdb8beaf904dd1" /><Relationship Type="http://schemas.openxmlformats.org/officeDocument/2006/relationships/officeDocument" Target="/ppt/presentation.xml" Id="R19d15042c0c046f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c1b28ab55844546"/>
  </p:sldMasterIdLst>
  <p:notesMasterIdLst>
    <p:notesMasterId xmlns:r="http://schemas.openxmlformats.org/officeDocument/2006/relationships" r:id="R6b5de7632aac4acd"/>
  </p:notesMasterIdLst>
  <p:sldIdLst>
    <p:sldId xmlns:r="http://schemas.openxmlformats.org/officeDocument/2006/relationships" id="256" r:id="R8dd8f5c66e3b4883"/>
    <p:sldId xmlns:r="http://schemas.openxmlformats.org/officeDocument/2006/relationships" id="257" r:id="R14cf7d0c45324760"/>
    <p:sldId xmlns:r="http://schemas.openxmlformats.org/officeDocument/2006/relationships" id="258" r:id="R5a4adbb3d9d24cee"/>
    <p:sldId xmlns:r="http://schemas.openxmlformats.org/officeDocument/2006/relationships" id="259" r:id="Rf62efc131c5f4836"/>
    <p:sldId xmlns:r="http://schemas.openxmlformats.org/officeDocument/2006/relationships" id="260" r:id="Rbaa2d9fc6a904660"/>
    <p:sldId xmlns:r="http://schemas.openxmlformats.org/officeDocument/2006/relationships" id="261" r:id="Rb2cd529b1f1e454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dd5c1645ed445ca" /><Relationship Type="http://schemas.openxmlformats.org/officeDocument/2006/relationships/slideMaster" Target="/ppt/slideMasters/slideMaster1.xml" Id="Rcc1b28ab55844546" /><Relationship Type="http://schemas.openxmlformats.org/officeDocument/2006/relationships/notesMaster" Target="/ppt/notesMasters/notesMaster1.xml" Id="R6b5de7632aac4acd" /><Relationship Type="http://schemas.openxmlformats.org/officeDocument/2006/relationships/presProps" Target="/ppt/presProps.xml" Id="R8d4760eccac7491e" /><Relationship Type="http://schemas.openxmlformats.org/officeDocument/2006/relationships/tableStyles" Target="/ppt/tableStyles.xml" Id="Rb89b16d74a4646b2" /><Relationship Type="http://schemas.openxmlformats.org/officeDocument/2006/relationships/slide" Target="/ppt/slides/slide1.xml" Id="R8dd8f5c66e3b4883" /><Relationship Type="http://schemas.openxmlformats.org/officeDocument/2006/relationships/slide" Target="/ppt/slides/slide2.xml" Id="R14cf7d0c45324760" /><Relationship Type="http://schemas.openxmlformats.org/officeDocument/2006/relationships/slide" Target="/ppt/slides/slide3.xml" Id="R5a4adbb3d9d24cee" /><Relationship Type="http://schemas.openxmlformats.org/officeDocument/2006/relationships/slide" Target="/ppt/slides/slide4.xml" Id="Rf62efc131c5f4836" /><Relationship Type="http://schemas.openxmlformats.org/officeDocument/2006/relationships/slide" Target="/ppt/slides/slide5.xml" Id="Rbaa2d9fc6a904660" /><Relationship Type="http://schemas.openxmlformats.org/officeDocument/2006/relationships/slide" Target="/ppt/slides/slide6.xml" Id="Rb2cd529b1f1e454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b84b69bfcb43b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f614fef132548ac" /><Relationship Type="http://schemas.openxmlformats.org/officeDocument/2006/relationships/notesMaster" Target="/ppt/notesMasters/notesMaster1.xml" Id="R893f63603adc471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1fbcea147cc47cd" /><Relationship Type="http://schemas.openxmlformats.org/officeDocument/2006/relationships/notesMaster" Target="/ppt/notesMasters/notesMaster1.xml" Id="R4c055a6c0c744b6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e9bdbe7c1b41e8" /><Relationship Type="http://schemas.openxmlformats.org/officeDocument/2006/relationships/notesMaster" Target="/ppt/notesMasters/notesMaster1.xml" Id="Ra8a64ede9fe24c1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56326df60f14cc7" /><Relationship Type="http://schemas.openxmlformats.org/officeDocument/2006/relationships/notesMaster" Target="/ppt/notesMasters/notesMaster1.xml" Id="R858895a05739414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287d52e49b641f5" /><Relationship Type="http://schemas.openxmlformats.org/officeDocument/2006/relationships/notesMaster" Target="/ppt/notesMasters/notesMaster1.xml" Id="R3beb64e6d40949d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1587a37410684274" /><Relationship Type="http://schemas.openxmlformats.org/officeDocument/2006/relationships/notesMaster" Target="/ppt/notesMasters/notesMaster1.xml" Id="R6c2fff14189845e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오프닝: 이 프로젝트는 단순 TODO가 아니라 전자 생물 매니저와 함께 퀘스트를 수행하는 게임형 목표 관리 서비스라고 소개한다.</a:t>
            </a:r>
          </a:p>
          <a:p xmlns:a="http://schemas.openxmlformats.org/drawingml/2006/main">
            <a:r>
              <a:t>근거: docs/status.md, docs/tasks.md, docs/architecture-data-flow.md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슬라이드에서는 화면 flow를 먼저 설명한다.</a:t>
            </a:r>
          </a:p>
          <a:p xmlns:a="http://schemas.openxmlformats.org/drawingml/2006/main">
            <a:r>
              <a:t>데모 전환: 실제 웹 화면에서 첫 접속 또는 다시 시작 후 매니저 선택부터 QuestRunner까지 보여준다.</a:t>
            </a:r>
          </a:p>
          <a:p xmlns:a="http://schemas.openxmlformats.org/drawingml/2006/main">
            <a:r>
              <a:t>근거 코드: src/App.tsx, src/components/*, src/hooks/useQuestFlow.ts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한 바퀴가 이번 주 수직 슬라이스의 핵심이다.</a:t>
            </a:r>
          </a:p>
          <a:p xmlns:a="http://schemas.openxmlformats.org/drawingml/2006/main">
            <a:r>
              <a:t>POST는 완료/실패/복구 이벤트 저장, GET은 기록 노트와 매니저 context 조회다.</a:t>
            </a:r>
          </a:p>
          <a:p xmlns:a="http://schemas.openxmlformats.org/drawingml/2006/main">
            <a:r>
              <a:t>DB가 없을 때도 서버 mock store로 API 경로 자체를 검증할 수 있고, Supabase 설정 후 같은 계약으로 실제 저장을 확인한다.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여기서는 왜 Persona를 animation별로 전부 분기하지 않았는지 설명한다.</a:t>
            </a:r>
          </a:p>
          <a:p xmlns:a="http://schemas.openxmlformats.org/drawingml/2006/main">
            <a:r>
              <a:t>현재 sprite 수가 제한되어 있으므로 Persona는 대사, 피드백 방식, 추천 성향에 강하게 반영하고 animation은 공통 상태 집합을 사용한다.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AI Agent Workflow를 프로젝트의 구현물 중 하나로 소개한다.</a:t>
            </a:r>
          </a:p>
          <a:p xmlns:a="http://schemas.openxmlformats.org/drawingml/2006/main">
            <a:r>
              <a:t>특히 analyze -&gt; plan -&gt; implement -&gt; verify -&gt; document 흐름이 매번 반복됐다는 점을 말한다.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이 슬라이드는 녹화 순서표다.</a:t>
            </a:r>
          </a:p>
          <a:p xmlns:a="http://schemas.openxmlformats.org/drawingml/2006/main">
            <a:r>
              <a:t>5분 제한이 있으므로 기능 전체보다 핵심 흐름 하나와 기술적 특징 하나를 분명하게 보여준다.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89e93b60c74478d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939390cfc564bc3" /><Relationship Type="http://schemas.openxmlformats.org/officeDocument/2006/relationships/slideLayout" Target="/ppt/slideLayouts/slideLayout1.xml" Id="Rd16a02fda78d410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16a02fda78d410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aa8d48fead84532" /><Relationship Type="http://schemas.openxmlformats.org/officeDocument/2006/relationships/notesSlide" Target="/ppt/notesSlides/notesSlide1.xml" Id="R15d5a3639fa54d7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9cec72f0e44cc2" /><Relationship Type="http://schemas.openxmlformats.org/officeDocument/2006/relationships/notesSlide" Target="/ppt/notesSlides/notesSlide2.xml" Id="R1f206bbc08254d3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c2ccf067c8e4148" /><Relationship Type="http://schemas.openxmlformats.org/officeDocument/2006/relationships/notesSlide" Target="/ppt/notesSlides/notesSlide3.xml" Id="R3696f8c3d3634d7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b399cbb5604c80" /><Relationship Type="http://schemas.openxmlformats.org/officeDocument/2006/relationships/notesSlide" Target="/ppt/notesSlides/notesSlide4.xml" Id="R8b19227f6cc74249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a322a734ab4fb2" /><Relationship Type="http://schemas.openxmlformats.org/officeDocument/2006/relationships/notesSlide" Target="/ppt/notesSlides/notesSlide5.xml" Id="Rbf233524dba1445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186ad36d7a4bcb" /><Relationship Type="http://schemas.openxmlformats.org/officeDocument/2006/relationships/notesSlide" Target="/ppt/notesSlides/notesSlide6.xml" Id="R58bfb594b2ec4072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C2F5978-74E2-48E8-AAB0-09C7D58050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5B6472"/>
                </a:solidFill>
              </a:defRPr>
            </a:pPr>
            <a:r>
              <a:rPr sz="975" b="1">
                <a:solidFill>
                  <a:srgbClr val="5B6472"/>
                </a:solidFill>
              </a:rPr>
              <a:t>AIAgentChallenge 26-1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B9F1FFA-743E-4DA4-B1CC-13D5FE04C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0E2841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062B54-1428-4588-BC45-C8B5810FC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7429500" cy="800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600" b="1">
                <a:solidFill>
                  <a:srgbClr val="3357B8"/>
                </a:solidFill>
              </a:defRPr>
            </a:pPr>
            <a:r>
              <a:rPr sz="3600" b="1">
                <a:solidFill>
                  <a:srgbClr val="3357B8"/>
                </a:solidFill>
              </a:rPr>
              <a:t>전자 생물 AI 매니저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4655443-3E6E-416A-8ADF-2C6444541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685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0E2841"/>
                </a:solidFill>
              </a:defRPr>
            </a:pPr>
            <a:r>
              <a:rPr sz="1650" b="0">
                <a:solidFill>
                  <a:srgbClr val="0E2841"/>
                </a:solidFill>
              </a:rPr>
              <a:t>5분 데모 영상용 진행 브리프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16EF02-622A-4C46-AF47-72BF4EFFB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76650"/>
            <a:ext cx="8096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5B6472"/>
                </a:solidFill>
              </a:defRPr>
            </a:pPr>
            <a:r>
              <a:rPr sz="1350" b="0">
                <a:solidFill>
                  <a:srgbClr val="5B6472"/>
                </a:solidFill>
              </a:rPr>
              <a:t>목표 관리 기능을 XP 데스크톱형 게임 서비스로 재구성하고, 퀘스트 이벤트가 React 화면에서 Hono API와 Supabase 흐름까지 이어지도록 만든 MVP입니다.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9B09E47-E527-4738-9F81-4B82296EF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01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5FD1B3-37EF-4973-A525-D6738DE96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0150" y="4162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React MVP flow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75775EE-D96C-4BCF-AF7C-8683D6A69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47CF78-84FF-4B18-9FA6-9F94BD67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67900" y="4162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Hono API slice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FDE187-9DE5-4FD3-AB98-795EE1B71B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3733800"/>
            <a:ext cx="857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3357B8"/>
                </a:solidFill>
              </a:defRPr>
            </a:pPr>
            <a:r>
              <a:rPr sz="2250" b="1">
                <a:solidFill>
                  <a:srgbClr val="3357B8"/>
                </a:solidFill>
              </a:rPr>
              <a:t>03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742319A-0E8E-4E23-9BBE-F1B100482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4162425"/>
            <a:ext cx="857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472"/>
                </a:solidFill>
              </a:defRPr>
            </a:pPr>
            <a:r>
              <a:rPr sz="975" b="0">
                <a:solidFill>
                  <a:srgbClr val="5B6472"/>
                </a:solidFill>
              </a:rPr>
              <a:t>Agent workflow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3C94E09-4EA3-4532-AC85-07019554B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2026.07.29 기준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A9CE02-E04D-4D73-AE8D-2204FFB6D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2D9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973E88-7351-4982-BD78-D382D4EDB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Lumi XP Desktop Pet Manager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DF25FC0-14D2-4BA4-93DD-AF2E2067E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96418310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5053DCC-3609-4B0F-B3F3-DCE5F1A30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57B8"/>
                </a:solidFill>
              </a:defRPr>
            </a:pPr>
            <a:r>
              <a:rPr sz="900" b="1">
                <a:solidFill>
                  <a:srgbClr val="3357B8"/>
                </a:solidFill>
              </a:rPr>
              <a:t>SERVICE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DC367F-7D61-4AA5-BDFA-1AF22A0C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사용자는 할 일을 퀘스트로 받아들이고 다시 회복한다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97F33C4-0B2A-415F-ADDB-DA3B8BC01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프로필 설정부터 기록 노트까지, 시연에서는 한 번의 사용자 여정을 끊기지 않게 보여준다.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69DE265-3C53-41C5-A1F7-C8E18BC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937F149-F13B-4C4E-8C7E-8DD82AE5E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Lumi XP Desktop Pet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70F47-2493-4BD0-887A-F17496643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D101D2-B78C-4756-A637-3722FF64D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524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5F844D9-A8B0-41C0-8470-BA8A936B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7432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매니저 선택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58FE7E5-EB21-445D-B396-5EE20B346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571750"/>
            <a:ext cx="1524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BA1A8A-8D25-4133-9C28-E3EAB662AF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7432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프로필 설정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16E671-412C-4A38-A51E-7AEE42153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800350"/>
            <a:ext cx="3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F0D95-091E-49DE-A110-578B822C2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1524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2E86D9-901D-4640-8873-CBC714CD9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7432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오늘의 퀘스트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51E154A-DFCC-4CC6-A17B-41B46F53E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2800350"/>
            <a:ext cx="3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65CEB4-3D78-4F88-8CAA-70215919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2571750"/>
            <a:ext cx="1524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7FB6C7-CA3F-4768-8F13-BDA18518C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7432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완료 / 실패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2AEB5FF-2F78-45F8-9C1A-0CECCEC0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800350"/>
            <a:ext cx="3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8211B39-E804-44F7-AF21-DE94AF3CD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571750"/>
            <a:ext cx="1524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2B5DC-411D-426F-838D-3DFA3FC52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복구 퀘스트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F13F67C-DF98-45B8-8CD3-07BEC1BFD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2800350"/>
            <a:ext cx="3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EB0BCEC-A347-4A1A-8C56-FD6E85D2A9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571750"/>
            <a:ext cx="1524000" cy="819150"/>
          </a:xfrm>
          <a:prstGeom xmlns:a="http://schemas.openxmlformats.org/drawingml/2006/main" prst="roundRect">
            <a:avLst>
              <a:gd name="adj" fmla="val 1627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370EA0-DB38-4DCA-AFDC-5839C708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743200"/>
            <a:ext cx="1295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기록 노트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8AF3F29-ED90-4247-960A-9589BA541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38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0279ED2-6A89-4B0C-99C2-53B94DAF8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3333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0B42D0C-73E7-4754-BD9E-82D0ECA9A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B681DA9-45DB-4D95-92EE-1ED3128CF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3053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핵심 경험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14AE45-2DA6-452E-B5E1-D5F5EEFCE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8630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실패를 삭제하지 않고 실패 이유와 복구 이벤트로 남긴다. 그래서 다음 퀘스트와 매니저 반응의 재료가 된다.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1389E58-5527-4C61-AB1F-A25E722F5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3333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56F647C-217F-4B04-97A5-2DC313068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0957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0F9E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670BCBD-6E09-4320-9C8C-1CE2B64C6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053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게임 서비스성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AB88D0B-25E0-4102-84A6-3EA13F266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68630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EXP, stage, 기록 chip, sprite animation이 사용자의 작은 행동을 눈에 보이는 성장으로 바꾼다.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81B5E03-ED6E-4CFA-A568-9CE3BE224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3333750" cy="1314450"/>
          </a:xfrm>
          <a:prstGeom xmlns:a="http://schemas.openxmlformats.org/drawingml/2006/main" prst="roundRect">
            <a:avLst>
              <a:gd name="adj" fmla="val 1159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8E8B4D1-D17A-4EE0-B315-3D4A756F2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4095750"/>
            <a:ext cx="76200" cy="1314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BCD6E19-5F7C-4914-9F36-2973603F3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3053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시연 포인트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D199C91-B8FF-4E7A-B2EB-85DDE08C10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686300"/>
            <a:ext cx="28956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QuestRunner.exe의 [RUN] 버튼, 실패 이유 입력, 복구 완료 후 기록 노트 갱신을 순서대로 클릭한다.</a:t>
            </a:r>
          </a:p>
        </p:txBody>
      </p:sp>
    </p:spTree>
    <p:extLst>
      <p:ext uri="{BB962C8B-B14F-4D97-AF65-F5344CB8AC3E}">
        <p14:creationId xmlns:p14="http://schemas.microsoft.com/office/powerpoint/2010/main" val="164792298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17952B1-C094-414A-B778-A64C4B067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57B8"/>
                </a:solidFill>
              </a:defRPr>
            </a:pPr>
            <a:r>
              <a:rPr sz="900" b="1">
                <a:solidFill>
                  <a:srgbClr val="3357B8"/>
                </a:solidFill>
              </a:rPr>
              <a:t>DATA 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AE6CE0-7ECE-404B-A19D-8F0A927CA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화면 요청이 서버 저장과 화면 갱신으로 돌아오는 한 바퀴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6D09895-6A7E-41CA-8076-1EBD25181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Quest Event를 중심으로 React, Hono, Supabase, ManagerContext가 연결된다.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BB99F1-3509-4F26-A027-2CEA4D5D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4FF4ED-F12A-4CE7-8FD0-5FAEFF03C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Lumi XP Desktop Pet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39547C-DC47-4EC6-BC68-DF5253F82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79A78F5-DCA1-43B7-A441-E9A9C6AAB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476500"/>
            <a:ext cx="1581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F046AE-544C-49F4-BCDD-48B4687B3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React handler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7827DB-C319-46A0-BA4A-F503EABC1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2476500"/>
            <a:ext cx="1581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7B9A66B-EAC7-46E1-A837-B5C6970007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6479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API adapter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CC2FDF-29DC-4A06-9573-F56B2730B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7900" y="27051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C72F72-9547-4A60-B821-D285D54F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2476500"/>
            <a:ext cx="1581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CC49803-99C0-4B50-8AE2-323C29C55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6479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Hono route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C68B51-8616-4B65-88D1-1C1384DCD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051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4179D42-D86B-4E45-8452-11220C0D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2476500"/>
            <a:ext cx="1581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DBC4403-94FC-4530-B187-3D273F80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6479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QuestEventStore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0F40D9E-7EC9-4F78-B310-70B6F47D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27051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DF527C-8300-4593-B96E-339D21621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2476500"/>
            <a:ext cx="1581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63D097-B3DF-4C78-9ED3-8466CE37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6479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Supabase / memory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13DAB7F-A059-40E0-9588-B4CB6375E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77150" y="27051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0359B9E-C834-42B1-B60D-A77D493A6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476500"/>
            <a:ext cx="1581150" cy="781050"/>
          </a:xfrm>
          <a:prstGeom xmlns:a="http://schemas.openxmlformats.org/drawingml/2006/main" prst="roundRect">
            <a:avLst>
              <a:gd name="adj" fmla="val 1707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C7E3156-44BC-45CD-99F8-D2B047AFF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647950"/>
            <a:ext cx="13525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React render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E53B27A-89A0-4FD2-AB0B-F955199AF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705100"/>
            <a:ext cx="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3733C6-7B46-4CD9-B984-6752BFD01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143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9451D9D-EB07-4BB0-8F06-4DB39A729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DC8676B-B1D7-47AD-A337-5B64AF0CA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들어오는 데이터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DAECD6D-DA25-450F-B75A-68A386042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사용자 클릭, 현재 quest state, 실패 이유, manager persona, stat metadata 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6D810D2-9938-4E1A-8D59-331CDE7A3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241E132-6A7A-4C1B-B60D-8C0FC1458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0F9ED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F0F72D7-3D25-4DB3-A8BD-4EA2BF3AE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1148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서버 처리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71C6B48-D1E9-4B46-B9EA-4A70366F9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2025" y="44958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contract parser가 JSON body를 검증하고, 저장소가 QuestEventRecord와 ManagerContext를 만든다.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A6C9DCC-A9B7-4436-9888-0E31E4FD2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31432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8E31139-F6A0-4E09-9A04-C73DA57DA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834C5D8-AF30-4C87-A374-F917F2F4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7051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나가는 데이터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6858DCA-28AF-4D16-8D2A-46CC07C5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7051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저장된 event, 최신 managerContext, 기록 목록. React는 이 응답으로 로그와 Lumi 상태를 갱신한다.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7FA4C2A-5CD3-4476-BA07-F0A4CAE88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33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대표 코드: src/layers/storage/questLogApi.ts, server/routes/questEvents.ts, server/lib/questEventStore.ts, server/lib/supabase.ts</a:t>
            </a:r>
          </a:p>
        </p:txBody>
      </p:sp>
    </p:spTree>
    <p:extLst>
      <p:ext uri="{BB962C8B-B14F-4D97-AF65-F5344CB8AC3E}">
        <p14:creationId xmlns:p14="http://schemas.microsoft.com/office/powerpoint/2010/main" val="24788061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2F961B9-6D0E-4462-BD3D-A3D4803F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57B8"/>
                </a:solidFill>
              </a:defRPr>
            </a:pPr>
            <a:r>
              <a:rPr sz="900" b="1">
                <a:solidFill>
                  <a:srgbClr val="3357B8"/>
                </a:solidFill>
              </a:rPr>
              <a:t>MANAGER RUNTIME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F0955-9CCE-453E-8643-66D999440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AI 매니저는 문구와 행동을 분리해서 확장한다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C4CF9F0-1664-41DC-8D23-67FEA0F7F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Persona가 모든 애니메이션을 새로 만드는 대신, 말투와 행동 bias를 조정하고 공통 motion set을 재사용한다.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B42DFA-AC51-427F-95E9-53700766C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737E67-6B86-4FD7-8920-99831C6E8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Lumi XP Desktop Pet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6BF8ED-6738-4D71-9C3B-F86BC96D5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F4AFB58-1FB5-4589-AD0F-49D952A19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3238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CBC05B-2183-498D-AFB4-AB2AA334A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860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94399A-FF7F-4BD5-B403-CFA0E70A0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495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ManagerPersonaPolicy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26F9EA-0E67-4754-8F16-A049277E3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765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사용자가 고른 매니저와 말투 선택을 balanced / adventurous / shy 같은 제한된 style로 정규화한다.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D586D9-15A3-43F2-87C9-A5E57BE6D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3238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5E01FED-69A3-48CA-8A3B-0DBBA049B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860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0F9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C27989-D496-470F-9E5C-CBC65BE86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495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ManagerBehaviorIntent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88FC41-BA93-45B1-A742-DE809CAFC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28765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LLM 또는 rule fallback이 줄 수 있는 행동 의도를 허용 목록으로 제한하고 잘못된 값은 fallback한다.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02D23D-560B-4A73-9C92-A8807D459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3238500" cy="133350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C475761-3057-417E-8802-0F322B683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86000"/>
            <a:ext cx="76200" cy="1333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9067C9-8294-4F90-AD26-B0A5FF648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95550"/>
            <a:ext cx="2800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Animation Runtime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EEED934-6E91-4F46-B44E-6738225B0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76550"/>
            <a:ext cx="28003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idle, walk, run, jump, climbing, hiding 같은 현재 보유 sprite만 사용하고, 없는 motion은 같은 매니저의 idle로 정규화한다.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15E306-8D7B-49B6-803C-1AA85ED0B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6400" y="4267200"/>
            <a:ext cx="1562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BFC5B3E-18C8-4B30-87B4-97547A436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90700" y="44386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ManagerContext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B00AD8-F3C0-4E5F-A950-C23504AAA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4267200"/>
            <a:ext cx="1562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1346F8B-DD31-472A-A38D-73025D85E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4386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Persona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CCB3252-83B8-4CB3-A4B3-AAC349342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49580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71CBFE7-1545-41E6-B931-190778FA7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267200"/>
            <a:ext cx="1562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57E5731-DBBE-4AF3-88ED-299233081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44386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BehaviorIntent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28BA4D-977B-4DC7-9E02-D64CE622B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449580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3D77FC4-3ED0-4558-93B5-A11B74E81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4267200"/>
            <a:ext cx="1562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29D00B3-FCD4-45CB-A095-190715914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62850" y="44386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State machine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0C27022-2B06-486F-BBF7-820F0E8A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449580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CA0465-1AE3-4529-A8CE-E9C67160B2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72600" y="4267200"/>
            <a:ext cx="1562100" cy="704850"/>
          </a:xfrm>
          <a:prstGeom xmlns:a="http://schemas.openxmlformats.org/drawingml/2006/main" prst="roundRect">
            <a:avLst>
              <a:gd name="adj" fmla="val 1891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7C8A6BD-39BE-41D7-837C-08A62A9058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38650"/>
            <a:ext cx="1333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Canvas sprite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C75D9D6-BD6F-4374-B811-7A875CC1E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4495800"/>
            <a:ext cx="133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62A05A-F1A3-408E-BE6A-EA91D3BFB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1009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대표 코드: src/domain/managerBehaviorIntent.ts, src/domain/managerBehaviorAdapter.ts, src/domain/outsidePetRuntime.ts, src/components/CanvasSpriteAnimator.tsx</a:t>
            </a:r>
          </a:p>
        </p:txBody>
      </p:sp>
    </p:spTree>
    <p:extLst>
      <p:ext uri="{BB962C8B-B14F-4D97-AF65-F5344CB8AC3E}">
        <p14:creationId xmlns:p14="http://schemas.microsoft.com/office/powerpoint/2010/main" val="113197551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5EAE1F4-B2C9-4F4B-AEA6-FB94BDF8CB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57B8"/>
                </a:solidFill>
              </a:defRPr>
            </a:pPr>
            <a:r>
              <a:rPr sz="900" b="1">
                <a:solidFill>
                  <a:srgbClr val="3357B8"/>
                </a:solidFill>
              </a:rPr>
              <a:t>AGENT WORKFLOW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F0206E-1477-4EE7-AA38-CB03C8EE0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하네스는 계획-구현-검증-학습을 분리한다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7A3F537-CC37-4596-8297-910804754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사람 개발자와 Agent가 같은 문서와 하네스 기준으로 작업 범위와 완료 조건을 맞춘다.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F6A6C1B-8A73-4BDD-A3EB-3FC411727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23B2F8-FCBC-4905-9D42-466CCD7CC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Lumi XP Desktop Pet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D832D2-7D7A-4E2D-9321-13BCCABCD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51B540-C94C-40D7-8F12-900E50A78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381250"/>
            <a:ext cx="1733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EA3362-1B62-490D-9E66-A7B7DDB3A7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527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</a:defRPr>
            </a:pPr>
            <a:r>
              <a:rPr sz="1125" b="1">
                <a:solidFill>
                  <a:srgbClr val="FFFFFF"/>
                </a:solidFill>
              </a:rPr>
              <a:t>analyze-request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4243E88-AE74-48AE-A675-1FDE3DDC6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381250"/>
            <a:ext cx="1733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5B996D-9620-4C35-8012-A83A7C5E1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25527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create-plan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DE8F264-559D-4D7F-A827-047C265F6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609850"/>
            <a:ext cx="11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68EDA61-EDC9-4322-BA1B-4E3F02C2A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381250"/>
            <a:ext cx="1733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01E946-FEFC-4576-B5D2-EE6284652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5527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implementer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5BEB61-FE1D-4CF6-AFCF-AF6ECA800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609850"/>
            <a:ext cx="11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8CFD275-A59C-461D-B753-62B34EB28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2381250"/>
            <a:ext cx="1733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A00ED4-3D60-4AB6-9BE2-1B9C2CE0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25527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verifier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7EBCDE9-354E-44D3-8A72-C3E04F14D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609850"/>
            <a:ext cx="11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0721F-0F82-43E4-AD5D-425CB4E56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0" y="2381250"/>
            <a:ext cx="1733550" cy="8001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83CD716-15C8-43C3-8282-197FE1604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800" y="2552700"/>
            <a:ext cx="15049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0E2841"/>
                </a:solidFill>
              </a:defRPr>
            </a:pPr>
            <a:r>
              <a:rPr sz="1125" b="1">
                <a:solidFill>
                  <a:srgbClr val="0E2841"/>
                </a:solidFill>
              </a:rPr>
              <a:t>learning / wiki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F091824-2A91-4866-A6AE-E860C9967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05900" y="2609850"/>
            <a:ext cx="114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3357B8"/>
                </a:solidFill>
              </a:defRPr>
            </a:pPr>
            <a:r>
              <a:rPr sz="1800" b="1">
                <a:solidFill>
                  <a:srgbClr val="3357B8"/>
                </a:solidFill>
              </a:rPr>
              <a:t>&gt;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812E4B3-7B1A-4B59-AD0F-64C87B57E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5408827-C0C6-43BB-B3FF-676543058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32058C-03CD-4C3A-96E7-5C26037A7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114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요구사항 분석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C347439-FCC2-405C-AB61-D3CD8CC4B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4958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코드와 docs를 먼저 읽고 Done / Partial / Todo를 나눈 뒤, 중복 구현을 막는다.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0861DF7-F6A5-47F1-B0B0-CE27CA5576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596D93-EEC0-4CF5-AAE9-E546D5AFB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0F9ED5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1698589-5728-457D-BF9E-4CC4C8D09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114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검증 분리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4F687C3-1E94-473C-95EB-9832E2AE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67275" y="44958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구현자가 스스로 완료 판단하지 않도록 typecheck, build, harness, 수동 시나리오를 verifier 관점으로 분리한다.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E2FAB7-5189-421A-87D9-3B9FD7767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2952750" cy="1200150"/>
          </a:xfrm>
          <a:prstGeom xmlns:a="http://schemas.openxmlformats.org/drawingml/2006/main" prst="roundRect">
            <a:avLst>
              <a:gd name="adj" fmla="val 1269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D1E1A3F-7243-4B88-A912-38FC43F727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905250"/>
            <a:ext cx="76200" cy="1200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6ED5172-026F-492C-92B5-5DF085839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114800"/>
            <a:ext cx="2514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지식 축적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4366CB0-8C7E-4436-81A4-55F5DAB90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495800"/>
            <a:ext cx="25146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반복되는 TDD, asset 검수, Wiki 갱신을 Skill로 남겨 다음 세션에서도 같은 기준을 재사용한다.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A50651F-8E75-4956-B510-BE17D17C9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24500"/>
            <a:ext cx="933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5B6472"/>
                </a:solidFill>
              </a:defRPr>
            </a:pPr>
            <a:r>
              <a:rPr sz="900" b="0">
                <a:solidFill>
                  <a:srgbClr val="5B6472"/>
                </a:solidFill>
              </a:rPr>
              <a:t>대표 파일: AGENTS.md, .codex/agents/*, .agents/skills/*, scripts/verify-harness.ps1, docs/learning/README.md</a:t>
            </a:r>
          </a:p>
        </p:txBody>
      </p:sp>
    </p:spTree>
    <p:extLst>
      <p:ext uri="{BB962C8B-B14F-4D97-AF65-F5344CB8AC3E}">
        <p14:creationId xmlns:p14="http://schemas.microsoft.com/office/powerpoint/2010/main" val="21129129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CF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2D91F9-732A-4244-8F0B-ECB160856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3357B8"/>
                </a:solidFill>
              </a:defRPr>
            </a:pPr>
            <a:r>
              <a:rPr sz="900" b="1">
                <a:solidFill>
                  <a:srgbClr val="3357B8"/>
                </a:solidFill>
              </a:rPr>
              <a:t>VIDEO PLAN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B31904-E070-4F55-BCDD-4F207521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8763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00" b="1">
                <a:solidFill>
                  <a:srgbClr val="0E2841"/>
                </a:solidFill>
              </a:defRPr>
            </a:pPr>
            <a:r>
              <a:rPr sz="2700" b="1">
                <a:solidFill>
                  <a:srgbClr val="0E2841"/>
                </a:solidFill>
              </a:rPr>
              <a:t>영상은 기능 데모와 기술 흐름을 짧게 연결한다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DCE43D-7553-4D21-8CF3-3B4D75E7C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4305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5B6472"/>
                </a:solidFill>
              </a:defRPr>
            </a:pPr>
            <a:r>
              <a:rPr sz="1275" b="0">
                <a:solidFill>
                  <a:srgbClr val="5B6472"/>
                </a:solidFill>
              </a:rPr>
              <a:t>PPT는 구조를 설명하고, 실제 웹 화면은 퀘스트 한 사이클과 Pixel TV/Animation 체감을 보여준다.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9C91C8-A553-4A93-A770-D9F768530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912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CFD2D9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7760F30-5B7C-4F1C-8874-121DC0D12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Lumi XP Desktop Pet Manager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4659A52-26D0-4CAA-88BC-D28B716B5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286500"/>
            <a:ext cx="38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B6472"/>
                </a:solidFill>
              </a:defRPr>
            </a:pPr>
            <a:r>
              <a:rPr sz="825" b="0">
                <a:solidFill>
                  <a:srgbClr val="5B6472"/>
                </a:solidFill>
              </a:rPr>
              <a:t>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00633A3-1A8B-4BF9-9D49-05DAD5244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F1B993-0C6D-4779-82B6-D9046E7C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FA894F-CB4E-42A0-94C3-B41A2C4BC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1. 30초 소개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0856B-4379-40E1-9114-77D168E4C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전자 생물 AI 매니저의 문제 정의와 핵심 이점: 작은 퀘스트, 실패 복구, 성장 보상.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7702E43-9E67-47AD-BD2B-3A658F993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F9D76D-73A1-4EB4-9EA9-6C2516CD5D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1526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0F9ED5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8A8913-FF54-43FF-8C81-82317911F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2. 2분 데모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4A46FC7-6C39-4D2E-AE86-81E412720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매니저 선택 -&gt; 프로필 -&gt; 퀘스트 수락 -&gt; 완료/실패 -&gt; 복구 -&gt; 기록 노트 -&gt; Pixel TV.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C2B7A9B-3E70-4590-8340-FFF4F4BC4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70610-F647-4E0A-9808-7B02E7329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21526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9D05B-5EE3-4711-8855-7715D6E4F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622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3. 1분 기술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A7E8DB3-DB52-4D93-9AEB-781DE13EC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432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React state, Hono API, Supabase quest_logs, ManagerContext, LLM fallback 경계를 설명.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00C490-2BFA-4D5D-902A-27A1FD3B8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7FE3F3-E478-4B47-BE98-97D1E39EE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357B8"/>
          </a:solidFill>
          <a:ln xmlns:a="http://schemas.openxmlformats.org/drawingml/2006/main" w="9525">
            <a:solidFill>
              <a:srgbClr val="3357B8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6990DF-6F06-4E23-B633-720D6F7AC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4. 1분 Agent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6A2980-C45A-469D-8F07-4565D6B7D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4958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하네스, TDD workflow, verifier, Wiki/학습 문서 갱신 방식으로 개발을 관리한 점을 보여준다.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33CCF5D-B6C6-4786-80BC-028E63C10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C80B3BF-316D-43EF-8E3B-FFCF87A7A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905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9ED5"/>
          </a:solidFill>
          <a:ln xmlns:a="http://schemas.openxmlformats.org/drawingml/2006/main" w="9525">
            <a:solidFill>
              <a:srgbClr val="0F9ED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48D114-CE0A-4DC9-82C1-E0F40C648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114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5. 30초 다음 단계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08913F1-2901-4435-B02D-A35587940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4958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cyber-purr 사운드, 하루 흐름 theme, Pixel TV photo capture, LLM manager 고도화.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79FDE4D-9D9A-4CBA-9F3C-2AD9DE200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3333750" cy="1143000"/>
          </a:xfrm>
          <a:prstGeom xmlns:a="http://schemas.openxmlformats.org/drawingml/2006/main" prst="roundRect">
            <a:avLst>
              <a:gd name="adj" fmla="val 13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2D9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4BF58C8-D800-4FBC-A19C-C68D7D118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905250"/>
            <a:ext cx="762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96B24"/>
          </a:solidFill>
          <a:ln xmlns:a="http://schemas.openxmlformats.org/drawingml/2006/main" w="9525">
            <a:solidFill>
              <a:srgbClr val="196B2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88B0A4B-A01E-4A30-9DC2-E1CCA367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114800"/>
            <a:ext cx="2895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E2841"/>
                </a:solidFill>
              </a:defRPr>
            </a:pPr>
            <a:r>
              <a:rPr sz="1350" b="1">
                <a:solidFill>
                  <a:srgbClr val="0E2841"/>
                </a:solidFill>
              </a:rPr>
              <a:t>PR 포함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11BF1C5-606D-45ED-BCC7-6BCCCED5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4495800"/>
            <a:ext cx="28956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472"/>
                </a:solidFill>
              </a:defRPr>
            </a:pPr>
            <a:r>
              <a:rPr sz="1050" b="0">
                <a:solidFill>
                  <a:srgbClr val="5B6472"/>
                </a:solidFill>
              </a:rPr>
              <a:t>showcase.json에는 demoVideoUrl을 추가하고, 영상 URL과 핵심 변경 요약을 PR 본문에 넣는다.</a:t>
            </a:r>
          </a:p>
        </p:txBody>
      </p:sp>
    </p:spTree>
    <p:extLst>
      <p:ext uri="{BB962C8B-B14F-4D97-AF65-F5344CB8AC3E}">
        <p14:creationId xmlns:p14="http://schemas.microsoft.com/office/powerpoint/2010/main" val="965605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2026-07-29T12:39:48.7300000Z</dcterms:created>
  <dcterms:modified xsi:type="dcterms:W3CDTF">2026-07-29T12:39:48.7300000Z</dcterms:modified>
</coreProperties>
</file>