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75c20d0a544b5c" /><Relationship Type="http://schemas.openxmlformats.org/officeDocument/2006/relationships/extended-properties" Target="/docProps/app.xml" Id="R93a48eae49734043" /><Relationship Type="http://schemas.openxmlformats.org/officeDocument/2006/relationships/officeDocument" Target="/ppt/presentation.xml" Id="R9d0ef5d646b343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fd0761581f4b89"/>
  </p:sldMasterIdLst>
  <p:notesMasterIdLst>
    <p:notesMasterId xmlns:r="http://schemas.openxmlformats.org/officeDocument/2006/relationships" r:id="Ra20477cd811a4c33"/>
  </p:notesMasterIdLst>
  <p:sldIdLst>
    <p:sldId xmlns:r="http://schemas.openxmlformats.org/officeDocument/2006/relationships" id="256" r:id="R7783cbacdfc44bc8"/>
    <p:sldId xmlns:r="http://schemas.openxmlformats.org/officeDocument/2006/relationships" id="257" r:id="Rf056185221c54c7d"/>
  </p:sldIdLst>
  <p:sldSz cx="10696575" cy="1511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3ed2b20974825" /><Relationship Type="http://schemas.openxmlformats.org/officeDocument/2006/relationships/slideMaster" Target="/ppt/slideMasters/slideMaster1.xml" Id="R0cfd0761581f4b89" /><Relationship Type="http://schemas.openxmlformats.org/officeDocument/2006/relationships/notesMaster" Target="/ppt/notesMasters/notesMaster1.xml" Id="Ra20477cd811a4c33" /><Relationship Type="http://schemas.openxmlformats.org/officeDocument/2006/relationships/presProps" Target="/ppt/presProps.xml" Id="Rbce6d9de4d724585" /><Relationship Type="http://schemas.openxmlformats.org/officeDocument/2006/relationships/viewProps" Target="/ppt/viewProps.xml" Id="R86d06440a3194271" /><Relationship Type="http://schemas.openxmlformats.org/officeDocument/2006/relationships/tableStyles" Target="/ppt/tableStyles.xml" Id="R37ad1f8c8a9f4b55" /><Relationship Type="http://schemas.openxmlformats.org/officeDocument/2006/relationships/slide" Target="/ppt/slides/slide1.xml" Id="R7783cbacdfc44bc8" /><Relationship Type="http://schemas.openxmlformats.org/officeDocument/2006/relationships/slide" Target="/ppt/slides/slide2.xml" Id="Rf056185221c54c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e9842876254b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baff75bbfd4171" /><Relationship Type="http://schemas.openxmlformats.org/officeDocument/2006/relationships/notesMaster" Target="/ppt/notesMasters/notesMaster1.xml" Id="Rb1f07e43a22241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3cc22735c849f8" /><Relationship Type="http://schemas.openxmlformats.org/officeDocument/2006/relationships/notesMaster" Target="/ppt/notesMasters/notesMaster1.xml" Id="R3f5e394bcf4040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https://github.com/pkchanghyun-pixel/hub/wiki/프로젝트-기획서-[자취생-요리-추천-웹페이지-서비스]</a:t>
            </a:r>
          </a:p>
          <a:p xmlns:a="http://schemas.openxmlformats.org/drawingml/2006/main">
            <a:r>
              <a:t>- https://github.com/pkchanghyun-pixel/hub/blob/N091_박창현/README.md</a:t>
            </a:r>
          </a:p>
          <a:p xmlns:a="http://schemas.openxmlformats.org/drawingml/2006/main">
            <a:r>
              <a:t>- https://github.com/pkchanghyun-pixel/hub/blob/N091_박창현/docs/DEMO_DAY_CORE_FLOW.md</a:t>
            </a:r>
          </a:p>
          <a:p xmlns:a="http://schemas.openxmlformats.org/drawingml/2006/main">
            <a:r>
              <a:t>- C:/Users/pkcha/OneDrive/문서/AI agent challenge/hub-upload-worktree/backend/routes/ingredients.js</a:t>
            </a:r>
          </a:p>
          <a:p xmlns:a="http://schemas.openxmlformats.org/drawingml/2006/main">
            <a:r>
              <a:t>- C:/Users/pkcha/OneDrive/문서/AI agent challenge/hub-upload-worktree/backend/routes/recommendations.js</a:t>
            </a:r>
          </a:p>
          <a:p xmlns:a="http://schemas.openxmlformats.org/drawingml/2006/main">
            <a:r>
              <a:t>- C:/Users/pkcha/OneDrive/문서/AI agent challenge/hub-upload-worktree/backend/services/geminiRecommendations.js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https://github.com/pkchanghyun-pixel/hub/wiki/프로젝트-기획서-[자취생-요리-추천-웹페이지-서비스]</a:t>
            </a:r>
          </a:p>
          <a:p xmlns:a="http://schemas.openxmlformats.org/drawingml/2006/main">
            <a:r>
              <a:t>- https://github.com/pkchanghyun-pixel/hub/blob/N091_박창현/README.md</a:t>
            </a:r>
          </a:p>
          <a:p xmlns:a="http://schemas.openxmlformats.org/drawingml/2006/main">
            <a:r>
              <a:t>- https://github.com/pkchanghyun-pixel/hub/blob/N091_박창현/docs/DEMO_DAY_CORE_FLOW.md</a:t>
            </a:r>
          </a:p>
          <a:p xmlns:a="http://schemas.openxmlformats.org/drawingml/2006/main">
            <a:r>
              <a:t>- C:/Users/pkcha/OneDrive/문서/AI agent challenge/hub-upload-worktree/backend/routes/ingredients.js</a:t>
            </a:r>
          </a:p>
          <a:p xmlns:a="http://schemas.openxmlformats.org/drawingml/2006/main">
            <a:r>
              <a:t>- C:/Users/pkcha/OneDrive/문서/AI agent challenge/hub-upload-worktree/backend/routes/recommendations.js</a:t>
            </a:r>
          </a:p>
          <a:p xmlns:a="http://schemas.openxmlformats.org/drawingml/2006/main">
            <a:r>
              <a:t>- C:/Users/pkcha/OneDrive/문서/AI agent challenge/hub-upload-worktree/backend/services/geminiRecommendations.js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f161f0a0a4b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4ded7f2d1f46b8" /><Relationship Type="http://schemas.openxmlformats.org/officeDocument/2006/relationships/slideLayout" Target="/ppt/slideLayouts/slideLayout1.xml" Id="Rdffd6139057c4b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fd6139057c4b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d9786ce06406b" /><Relationship Type="http://schemas.openxmlformats.org/officeDocument/2006/relationships/image" Target="/ppt/media/image.png" Id="R0e243f4d91474259" /><Relationship Type="http://schemas.openxmlformats.org/officeDocument/2006/relationships/image" Target="/ppt/media/image2.png" Id="R6a0562ce24ed4df1" /><Relationship Type="http://schemas.openxmlformats.org/officeDocument/2006/relationships/notesSlide" Target="/ppt/notesSlides/notesSlide1.xml" Id="Raa48a997948e47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1316412c54cc8" /><Relationship Type="http://schemas.openxmlformats.org/officeDocument/2006/relationships/image" Target="/ppt/media/image.png" Id="R30c196e157a14f94" /><Relationship Type="http://schemas.openxmlformats.org/officeDocument/2006/relationships/image" Target="/ppt/media/image2.png" Id="Rbbe9e1ff0b7742da" /><Relationship Type="http://schemas.openxmlformats.org/officeDocument/2006/relationships/notesSlide" Target="/ppt/notesSlides/notesSlide2.xml" Id="R59184c560a7e4e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6D0FAF3F-B25F-A3A2-9907-AA7E0CCC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65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4FBD5E2-5619-75EB-8302-C2BFA996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8"/>
            <a:ext cx="552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233E39D-9F18-0B87-7661-D193C1F2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8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E7DC"/>
                </a:solidFill>
              </a:defRPr>
            </a:pPr>
            <a:r>
              <a:rPr sz="2025" b="1">
                <a:solidFill>
                  <a:srgbClr val="FFE7DC"/>
                </a:solidFill>
              </a:rPr>
              <a:t>자취생을 위한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8991A68-9177-080F-1051-245EB6F0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3913"/>
            <a:ext cx="671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있는대로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9471859D-876A-FCC4-8D76-A0246431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9738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냉장고 속 재료로 지금 만들 수 있는 한 끼를 추천하는 웹 서비스</a:t>
            </a:r>
          </a:p>
        </p:txBody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AF12BAB8-A800-D6AB-5BA3-8DFA5E3E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14264"/>
            <a:ext cx="9477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0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414B23F5-93D3-610C-2DA8-51FFA0BF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38089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6D36"/>
                </a:solidFill>
              </a:defRPr>
            </a:pPr>
            <a:r>
              <a:rPr sz="1350" b="1">
                <a:solidFill>
                  <a:srgbClr val="006D36"/>
                </a:solidFill>
              </a:rPr>
              <a:t>냉장고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데이터가</a:t>
            </a:r>
            <a:r>
              <a:rPr sz="1350" b="1">
                <a:solidFill>
                  <a:srgbClr val="006D36"/>
                </a:solidFill>
              </a:rPr>
              <a:t> AI </a:t>
            </a:r>
            <a:r>
              <a:rPr sz="1350" b="1">
                <a:solidFill>
                  <a:srgbClr val="006D36"/>
                </a:solidFill>
              </a:rPr>
              <a:t>추천을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거쳐</a:t>
            </a:r>
            <a:r>
              <a:rPr sz="1350" b="1">
                <a:solidFill>
                  <a:srgbClr val="006D36"/>
                </a:solidFill>
              </a:rPr>
              <a:t> 한 </a:t>
            </a:r>
            <a:r>
              <a:rPr sz="1350" b="1">
                <a:solidFill>
                  <a:srgbClr val="006D36"/>
                </a:solidFill>
              </a:rPr>
              <a:t>끼가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되고</a:t>
            </a:r>
            <a:r>
              <a:rPr sz="1350" b="1">
                <a:solidFill>
                  <a:srgbClr val="006D36"/>
                </a:solidFill>
              </a:rPr>
              <a:t>, </a:t>
            </a:r>
            <a:r>
              <a:rPr sz="1350" b="1">
                <a:solidFill>
                  <a:srgbClr val="006D36"/>
                </a:solidFill>
              </a:rPr>
              <a:t>요리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결과가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다시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냉장고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데이터로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돌아옵니다</a:t>
            </a:r>
            <a:r>
              <a:rPr sz="1350" b="1">
                <a:solidFill>
                  <a:srgbClr val="006D36"/>
                </a:solidFill>
              </a:rPr>
              <a:t>.</a:t>
            </a:r>
          </a:p>
        </p:txBody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B9A196CF-A91B-8CC4-F775-0A2AC8C6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01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D6A66"/>
                </a:solidFill>
              </a:defRPr>
            </a:pPr>
            <a:r>
              <a:rPr sz="975" b="1">
                <a:solidFill>
                  <a:srgbClr val="6D6A66"/>
                </a:solidFill>
              </a:rPr>
              <a:t>N091_박창현</a:t>
            </a:r>
          </a:p>
        </p:txBody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B3C62EEC-511C-77DA-58A2-A796A94B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801850"/>
            <a:ext cx="737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D6A66"/>
                </a:solidFill>
              </a:defRPr>
            </a:pPr>
            <a:r>
              <a:rPr sz="1050" b="1">
                <a:solidFill>
                  <a:srgbClr val="6D6A66"/>
                </a:solidFill>
              </a:rPr>
              <a:t>Frontend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React·Vite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Backend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Node.js·Express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Data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Supabase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AI</a:t>
            </a:r>
            <a:r>
              <a:rPr sz="1050" b="0">
                <a:solidFill>
                  <a:srgbClr val="6D6A66"/>
                </a:solidFill>
              </a:rPr>
              <a:t>  Gemini   |   </a:t>
            </a:r>
            <a:r>
              <a:rPr sz="1050" b="1">
                <a:solidFill>
                  <a:srgbClr val="6D6A66"/>
                </a:solidFill>
              </a:rPr>
              <a:t>Deploy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Vercel·Render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62075DCC-2E84-4C9A-901D-E2E2BF1F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8412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A1C19"/>
                </a:solidFill>
              </a:defRPr>
            </a:pPr>
            <a:r>
              <a:rPr sz="2550" b="1">
                <a:solidFill>
                  <a:srgbClr val="1A1C19"/>
                </a:solidFill>
              </a:rPr>
              <a:t>문제정의</a:t>
            </a:r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4B6E77CB-6822-41A1-AC48-4736D775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9911"/>
            <a:ext cx="6667500" cy="1104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D6A66"/>
                </a:solidFill>
              </a:defRPr>
            </a:pPr>
            <a:r>
              <a:rPr sz="1350">
                <a:solidFill>
                  <a:srgbClr val="6D6A66"/>
                </a:solidFill>
              </a:rPr>
              <a:t>서비스 소개</a:t>
            </a:r>
          </a:p>
        </p:txBody>
      </p:sp>
      <p:sp>
        <p:nvSpPr>
          <p:cNvPr id="101" name="사각형: 둥근 모서리 100">
            <a:extLst xmlns:a="http://schemas.openxmlformats.org/drawingml/2006/main">
              <a:ext uri="{FF2B5EF4-FFF2-40B4-BE49-F238E27FC236}">
                <a16:creationId xmlns:a16="http://schemas.microsoft.com/office/drawing/2014/main" id="{954B2143-3D68-4504-A184-B7B1DEAA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7589"/>
            <a:ext cx="1724025" cy="161806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E9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5F3A161A-1517-44C9-8553-411FC3FC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7213"/>
            <a:ext cx="947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FFC5F6D2-3B31-4832-A261-DFF9DB62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65627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5" name="flow-arrow-right">
            <a:extLst xmlns:a="http://schemas.openxmlformats.org/drawingml/2006/main">
              <a:ext uri="{FF2B5EF4-FFF2-40B4-BE49-F238E27FC236}">
                <a16:creationId xmlns:a16="http://schemas.microsoft.com/office/drawing/2014/main" id="{3377F657-EB1D-460A-A206-03300646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477000"/>
            <a:ext cx="16192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9CCFF54D-3121-48AC-9230-3BC0B8CA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900112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" name="flow-arrow-down">
            <a:extLst xmlns:a="http://schemas.openxmlformats.org/drawingml/2006/main">
              <a:ext uri="{FF2B5EF4-FFF2-40B4-BE49-F238E27FC236}">
                <a16:creationId xmlns:a16="http://schemas.microsoft.com/office/drawing/2014/main" id="{891EAAB7-0564-47BA-963C-30B207E8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9344025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ACEE256C-D052-4A28-9411-3C870A19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15443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9" name="flow-arrow-left">
            <a:extLst xmlns:a="http://schemas.openxmlformats.org/drawingml/2006/main">
              <a:ext uri="{FF2B5EF4-FFF2-40B4-BE49-F238E27FC236}">
                <a16:creationId xmlns:a16="http://schemas.microsoft.com/office/drawing/2014/main" id="{222B5ECF-EE93-47A2-8481-43026A22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9" y="11477625"/>
            <a:ext cx="16192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79BEA8F5-DFAD-469B-AE23-D5844DA3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900112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" name="flow-arrow-up">
            <a:extLst xmlns:a="http://schemas.openxmlformats.org/drawingml/2006/main">
              <a:ext uri="{FF2B5EF4-FFF2-40B4-BE49-F238E27FC236}">
                <a16:creationId xmlns:a16="http://schemas.microsoft.com/office/drawing/2014/main" id="{2AFE6CAE-6D9F-4714-AD1B-93008811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8" y="9001125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2" name="사각형: 둥근 모서리 111">
            <a:extLst xmlns:a="http://schemas.openxmlformats.org/drawingml/2006/main">
              <a:ext uri="{FF2B5EF4-FFF2-40B4-BE49-F238E27FC236}">
                <a16:creationId xmlns:a16="http://schemas.microsoft.com/office/drawing/2014/main" id="{87A2B8CF-9EB9-4EE0-9755-1739E70E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3" name="직사각형 112">
            <a:extLst xmlns:a="http://schemas.openxmlformats.org/drawingml/2006/main">
              <a:ext uri="{FF2B5EF4-FFF2-40B4-BE49-F238E27FC236}">
                <a16:creationId xmlns:a16="http://schemas.microsoft.com/office/drawing/2014/main" id="{9352214E-6990-4A6F-8685-EC88BE8A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사각형: 둥근 모서리 113">
            <a:extLst xmlns:a="http://schemas.openxmlformats.org/drawingml/2006/main">
              <a:ext uri="{FF2B5EF4-FFF2-40B4-BE49-F238E27FC236}">
                <a16:creationId xmlns:a16="http://schemas.microsoft.com/office/drawing/2014/main" id="{64254CF6-EDB1-4BEC-8488-3E6B321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7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66751311-D113-4916-A6BE-FD27A50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7E47"/>
                </a:solidFill>
              </a:defRPr>
            </a:pPr>
            <a:r>
              <a:rPr sz="1650" b="1">
                <a:solidFill>
                  <a:srgbClr val="FF7E47"/>
                </a:solidFill>
              </a:rPr>
              <a:t>01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67FD730E-8835-4678-B0EE-B6B52EC0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냉장고 확인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EB84CD2E-3838-481F-B1D2-F2948708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25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보유 재료·수량·소비기한을 한눈에 확인</a:t>
            </a:r>
          </a:p>
        </p:txBody>
      </p:sp>
      <p:sp>
        <p:nvSpPr>
          <p:cNvPr id="123" name="직사각형 122">
            <a:extLst xmlns:a="http://schemas.openxmlformats.org/drawingml/2006/main">
              <a:ext uri="{FF2B5EF4-FFF2-40B4-BE49-F238E27FC236}">
                <a16:creationId xmlns:a16="http://schemas.microsoft.com/office/drawing/2014/main" id="{45B88F52-B773-4C9E-A62B-A6B9FFF0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022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E47"/>
                </a:solidFill>
              </a:defRPr>
            </a:pPr>
            <a:r>
              <a:rPr sz="1050" b="1">
                <a:solidFill>
                  <a:srgbClr val="FF7E47"/>
                </a:solidFill>
              </a:rPr>
              <a:t>화면 → 서버 → DB</a:t>
            </a:r>
          </a:p>
        </p:txBody>
      </p:sp>
      <p:sp>
        <p:nvSpPr>
          <p:cNvPr id="124" name="직사각형 123">
            <a:extLst xmlns:a="http://schemas.openxmlformats.org/drawingml/2006/main">
              <a:ext uri="{FF2B5EF4-FFF2-40B4-BE49-F238E27FC236}">
                <a16:creationId xmlns:a16="http://schemas.microsoft.com/office/drawing/2014/main" id="{D8DAC673-C123-4A77-B387-DBAEFF86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403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재료 입력</a:t>
            </a:r>
            <a:r>
              <a:rPr sz="1050">
                <a:solidFill>
                  <a:srgbClr val="1A1C19"/>
                </a:solidFill>
              </a:rPr>
              <a:t> </a:t>
            </a:r>
            <a:r>
              <a:rPr sz="1050">
                <a:solidFill>
                  <a:srgbClr val="1A1C19"/>
                </a:solidFill>
              </a:rPr>
              <a:t>: </a:t>
            </a:r>
            <a:r>
              <a:rPr sz="1050">
                <a:solidFill>
                  <a:srgbClr val="1A1C19"/>
                </a:solidFill>
              </a:rPr>
              <a:t>재료 카테고리에 따라 소비기한 및 추천 태그 선정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추가한 재료 </a:t>
            </a:r>
            <a:r>
              <a:rPr sz="1050" b="0">
                <a:solidFill>
                  <a:srgbClr val="1A1C19"/>
                </a:solidFill>
              </a:rPr>
              <a:t>Supabase</a:t>
            </a:r>
            <a:r>
              <a:rPr sz="1050" b="0">
                <a:solidFill>
                  <a:srgbClr val="1A1C19"/>
                </a:solidFill>
              </a:rPr>
              <a:t> DB</a:t>
            </a:r>
            <a:r>
              <a:rPr sz="1050" b="0">
                <a:solidFill>
                  <a:srgbClr val="1A1C19"/>
                </a:solidFill>
              </a:rPr>
              <a:t>에 반영이 됨</a:t>
            </a:r>
            <a:r>
              <a:rPr sz="1050" b="0">
                <a:solidFill>
                  <a:srgbClr val="1A1C19"/>
                </a:solidFill>
              </a:rPr>
              <a:t>.</a:t>
            </a:r>
          </a:p>
        </p:txBody>
      </p:sp>
      <p:sp>
        <p:nvSpPr>
          <p:cNvPr id="125" name="사각형: 둥근 모서리 124">
            <a:extLst xmlns:a="http://schemas.openxmlformats.org/drawingml/2006/main">
              <a:ext uri="{FF2B5EF4-FFF2-40B4-BE49-F238E27FC236}">
                <a16:creationId xmlns:a16="http://schemas.microsoft.com/office/drawing/2014/main" id="{4DC07BC9-A623-4A6B-A1FA-93EA618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5910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6" name="직사각형 125">
            <a:extLst xmlns:a="http://schemas.openxmlformats.org/drawingml/2006/main">
              <a:ext uri="{FF2B5EF4-FFF2-40B4-BE49-F238E27FC236}">
                <a16:creationId xmlns:a16="http://schemas.microsoft.com/office/drawing/2014/main" id="{B9A1B8AE-3D5F-4899-9E67-2C6E33D7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5910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7" name="사각형: 둥근 모서리 126">
            <a:extLst xmlns:a="http://schemas.openxmlformats.org/drawingml/2006/main">
              <a:ext uri="{FF2B5EF4-FFF2-40B4-BE49-F238E27FC236}">
                <a16:creationId xmlns:a16="http://schemas.microsoft.com/office/drawing/2014/main" id="{EF4CFF9D-1156-43DC-B8B4-048BC01E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8196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" name="직사각형 127">
            <a:extLst xmlns:a="http://schemas.openxmlformats.org/drawingml/2006/main">
              <a:ext uri="{FF2B5EF4-FFF2-40B4-BE49-F238E27FC236}">
                <a16:creationId xmlns:a16="http://schemas.microsoft.com/office/drawing/2014/main" id="{48CB017D-1B32-42FB-A684-715739C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905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6D36"/>
                </a:solidFill>
              </a:defRPr>
            </a:pPr>
            <a:r>
              <a:rPr sz="1650" b="1">
                <a:solidFill>
                  <a:srgbClr val="006D36"/>
                </a:solidFill>
              </a:rPr>
              <a:t>02</a:t>
            </a:r>
          </a:p>
        </p:txBody>
      </p:sp>
      <p:sp>
        <p:nvSpPr>
          <p:cNvPr id="129" name="직사각형 128">
            <a:extLst xmlns:a="http://schemas.openxmlformats.org/drawingml/2006/main">
              <a:ext uri="{FF2B5EF4-FFF2-40B4-BE49-F238E27FC236}">
                <a16:creationId xmlns:a16="http://schemas.microsoft.com/office/drawing/2014/main" id="{A2050C93-F87F-4EBB-AF0E-28D59A64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8291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AI 메뉴 추천</a:t>
            </a:r>
          </a:p>
        </p:txBody>
      </p:sp>
      <p:sp>
        <p:nvSpPr>
          <p:cNvPr id="130" name="직사각형 129">
            <a:extLst xmlns:a="http://schemas.openxmlformats.org/drawingml/2006/main">
              <a:ext uri="{FF2B5EF4-FFF2-40B4-BE49-F238E27FC236}">
                <a16:creationId xmlns:a16="http://schemas.microsoft.com/office/drawing/2014/main" id="{653CA373-C5C9-489A-B4F5-5EADAFE4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1625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사용자 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상황을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반영해</a:t>
            </a:r>
            <a:r>
              <a:rPr sz="1125" b="0">
                <a:solidFill>
                  <a:srgbClr val="6D6A66"/>
                </a:solidFill>
              </a:rPr>
              <a:t> 1인분 </a:t>
            </a:r>
            <a:r>
              <a:rPr sz="1125" b="0">
                <a:solidFill>
                  <a:srgbClr val="6D6A66"/>
                </a:solidFill>
              </a:rPr>
              <a:t>메뉴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추천</a:t>
            </a:r>
          </a:p>
        </p:txBody>
      </p:sp>
      <p:sp>
        <p:nvSpPr>
          <p:cNvPr id="136" name="직사각형 135">
            <a:extLst xmlns:a="http://schemas.openxmlformats.org/drawingml/2006/main">
              <a:ext uri="{FF2B5EF4-FFF2-40B4-BE49-F238E27FC236}">
                <a16:creationId xmlns:a16="http://schemas.microsoft.com/office/drawing/2014/main" id="{34C2462A-B333-4A0E-A6B6-65704276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81022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6D36"/>
                </a:solidFill>
              </a:defRPr>
            </a:pPr>
            <a:r>
              <a:rPr sz="1050" b="1">
                <a:solidFill>
                  <a:srgbClr val="006D36"/>
                </a:solidFill>
              </a:rPr>
              <a:t>화면 → 서버 → DB·AI</a:t>
            </a:r>
          </a:p>
        </p:txBody>
      </p:sp>
      <p:sp>
        <p:nvSpPr>
          <p:cNvPr id="137" name="직사각형 136">
            <a:extLst xmlns:a="http://schemas.openxmlformats.org/drawingml/2006/main">
              <a:ext uri="{FF2B5EF4-FFF2-40B4-BE49-F238E27FC236}">
                <a16:creationId xmlns:a16="http://schemas.microsoft.com/office/drawing/2014/main" id="{934DB4DF-05C3-4AE0-9560-8BB417FD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83403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화면   POST /api/recommendations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서버   우선순위·캐시·응답 검증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DB·AI  재료 조회 → Gemini JSON 생성</a:t>
            </a:r>
          </a:p>
        </p:txBody>
      </p:sp>
      <p:sp>
        <p:nvSpPr>
          <p:cNvPr id="138" name="사각형: 둥근 모서리 137">
            <a:extLst xmlns:a="http://schemas.openxmlformats.org/drawingml/2006/main">
              <a:ext uri="{FF2B5EF4-FFF2-40B4-BE49-F238E27FC236}">
                <a16:creationId xmlns:a16="http://schemas.microsoft.com/office/drawing/2014/main" id="{5417ECF8-9343-40B4-B3BD-1FF0DB62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535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9" name="직사각형 138">
            <a:extLst xmlns:a="http://schemas.openxmlformats.org/drawingml/2006/main">
              <a:ext uri="{FF2B5EF4-FFF2-40B4-BE49-F238E27FC236}">
                <a16:creationId xmlns:a16="http://schemas.microsoft.com/office/drawing/2014/main" id="{8EF57020-3428-41B3-A18F-E0834B51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535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0" name="사각형: 둥근 모서리 139">
            <a:extLst xmlns:a="http://schemas.openxmlformats.org/drawingml/2006/main">
              <a:ext uri="{FF2B5EF4-FFF2-40B4-BE49-F238E27FC236}">
                <a16:creationId xmlns:a16="http://schemas.microsoft.com/office/drawing/2014/main" id="{E0726466-317F-46F2-B50A-D606DE0B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" name="직사각형 140">
            <a:extLst xmlns:a="http://schemas.openxmlformats.org/drawingml/2006/main">
              <a:ext uri="{FF2B5EF4-FFF2-40B4-BE49-F238E27FC236}">
                <a16:creationId xmlns:a16="http://schemas.microsoft.com/office/drawing/2014/main" id="{3F4B5DD4-0555-4663-B304-5CB39C5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67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6D36"/>
                </a:solidFill>
              </a:defRPr>
            </a:pPr>
            <a:r>
              <a:rPr sz="1650" b="1">
                <a:solidFill>
                  <a:srgbClr val="006D36"/>
                </a:solidFill>
              </a:rPr>
              <a:t>04</a:t>
            </a:r>
          </a:p>
        </p:txBody>
      </p:sp>
      <p:sp>
        <p:nvSpPr>
          <p:cNvPr id="142" name="직사각형 141">
            <a:extLst xmlns:a="http://schemas.openxmlformats.org/drawingml/2006/main">
              <a:ext uri="{FF2B5EF4-FFF2-40B4-BE49-F238E27FC236}">
                <a16:creationId xmlns:a16="http://schemas.microsoft.com/office/drawing/2014/main" id="{B6551BE2-4BB8-4574-A4E7-A26DEC3D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5916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요리 완료·재료 반영</a:t>
            </a:r>
          </a:p>
        </p:txBody>
      </p:sp>
      <p:sp>
        <p:nvSpPr>
          <p:cNvPr id="143" name="직사각형 142">
            <a:extLst xmlns:a="http://schemas.openxmlformats.org/drawingml/2006/main">
              <a:ext uri="{FF2B5EF4-FFF2-40B4-BE49-F238E27FC236}">
                <a16:creationId xmlns:a16="http://schemas.microsoft.com/office/drawing/2014/main" id="{E47F1AF5-3917-4CB9-A980-0F1B5CA6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9250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사용한 재료를 차감해 다음 추천에 반영</a:t>
            </a:r>
          </a:p>
        </p:txBody>
      </p:sp>
      <p:sp>
        <p:nvSpPr>
          <p:cNvPr id="144" name="screenshot-placeholder-04">
            <a:extLst xmlns:a="http://schemas.openxmlformats.org/drawingml/2006/main">
              <a:ext uri="{FF2B5EF4-FFF2-40B4-BE49-F238E27FC236}">
                <a16:creationId xmlns:a16="http://schemas.microsoft.com/office/drawing/2014/main" id="{D3CB36BE-33A2-46F3-BFD4-3C9EEAED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20350"/>
            <a:ext cx="4057650" cy="2282428"/>
          </a:xfrm>
          <a:prstGeom xmlns:a="http://schemas.openxmlformats.org/drawingml/2006/main" prst="roundRect">
            <a:avLst>
              <a:gd name="adj" fmla="val 5008"/>
            </a:avLst>
          </a:prstGeom>
          <a:solidFill xmlns:a="http://schemas.openxmlformats.org/drawingml/2006/main">
            <a:srgbClr val="FBF8F4"/>
          </a:solidFill>
          <a:ln xmlns:a="http://schemas.openxmlformats.org/drawingml/2006/main" w="14288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" name="사각형: 둥근 모서리 144">
            <a:extLst xmlns:a="http://schemas.openxmlformats.org/drawingml/2006/main">
              <a:ext uri="{FF2B5EF4-FFF2-40B4-BE49-F238E27FC236}">
                <a16:creationId xmlns:a16="http://schemas.microsoft.com/office/drawing/2014/main" id="{008531B1-249E-480D-B971-96C828AB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54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6" name="screenshot-label-04">
            <a:extLst xmlns:a="http://schemas.openxmlformats.org/drawingml/2006/main">
              <a:ext uri="{FF2B5EF4-FFF2-40B4-BE49-F238E27FC236}">
                <a16:creationId xmlns:a16="http://schemas.microsoft.com/office/drawing/2014/main" id="{4254DB53-2D4E-4949-AFA7-4772F52C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496550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6D36"/>
                </a:solidFill>
              </a:defRPr>
            </a:pPr>
            <a:r>
              <a:rPr sz="975" b="1">
                <a:solidFill>
                  <a:srgbClr val="006D36"/>
                </a:solidFill>
              </a:rPr>
              <a:t>SCREEN 04  ·  16:9</a:t>
            </a:r>
          </a:p>
        </p:txBody>
      </p:sp>
      <p:sp>
        <p:nvSpPr>
          <p:cNvPr id="147" name="직사각형 146">
            <a:extLst xmlns:a="http://schemas.openxmlformats.org/drawingml/2006/main">
              <a:ext uri="{FF2B5EF4-FFF2-40B4-BE49-F238E27FC236}">
                <a16:creationId xmlns:a16="http://schemas.microsoft.com/office/drawing/2014/main" id="{76E58595-B505-421D-AB13-8631B66C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418689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AEA6"/>
                </a:solidFill>
              </a:defRPr>
            </a:pPr>
            <a:r>
              <a:rPr sz="1350" b="1">
                <a:solidFill>
                  <a:srgbClr val="B7AEA6"/>
                </a:solidFill>
              </a:rPr>
              <a:t>화면 캡처 영역</a:t>
            </a:r>
          </a:p>
        </p:txBody>
      </p:sp>
      <p:sp>
        <p:nvSpPr>
          <p:cNvPr id="148" name="직사각형 147">
            <a:extLst xmlns:a="http://schemas.openxmlformats.org/drawingml/2006/main">
              <a:ext uri="{FF2B5EF4-FFF2-40B4-BE49-F238E27FC236}">
                <a16:creationId xmlns:a16="http://schemas.microsoft.com/office/drawing/2014/main" id="{A16BB16B-D9BC-4D29-AAE3-8D4AA5B9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78928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79E96"/>
                </a:solidFill>
              </a:defRPr>
            </a:pPr>
            <a:r>
              <a:rPr sz="900" b="0">
                <a:solidFill>
                  <a:srgbClr val="A79E96"/>
                </a:solidFill>
              </a:rPr>
              <a:t>완성 후 이 도형을 실제 화면 이미지로 교체</a:t>
            </a:r>
          </a:p>
        </p:txBody>
      </p:sp>
      <p:sp>
        <p:nvSpPr>
          <p:cNvPr id="149" name="직사각형 148">
            <a:extLst xmlns:a="http://schemas.openxmlformats.org/drawingml/2006/main">
              <a:ext uri="{FF2B5EF4-FFF2-40B4-BE49-F238E27FC236}">
                <a16:creationId xmlns:a16="http://schemas.microsoft.com/office/drawing/2014/main" id="{DC3F62A5-3F51-4E3E-8238-34DBAAF0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647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6D36"/>
                </a:solidFill>
              </a:defRPr>
            </a:pPr>
            <a:r>
              <a:rPr sz="1050" b="1">
                <a:solidFill>
                  <a:srgbClr val="006D36"/>
                </a:solidFill>
              </a:rPr>
              <a:t>화면 → 서버 → DB</a:t>
            </a:r>
          </a:p>
        </p:txBody>
      </p:sp>
      <p:sp>
        <p:nvSpPr>
          <p:cNvPr id="150" name="직사각형 149">
            <a:extLst xmlns:a="http://schemas.openxmlformats.org/drawingml/2006/main">
              <a:ext uri="{FF2B5EF4-FFF2-40B4-BE49-F238E27FC236}">
                <a16:creationId xmlns:a16="http://schemas.microsoft.com/office/drawing/2014/main" id="{DAC493ED-A318-4393-93F5-B77D2BA5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028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화면   POST /api/ingredients/consume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서버   단위·수량·차감량 검증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DB      UPDATE 또는 DELETE ingredients</a:t>
            </a:r>
          </a:p>
        </p:txBody>
      </p:sp>
      <p:sp>
        <p:nvSpPr>
          <p:cNvPr id="151" name="사각형: 둥근 모서리 150">
            <a:extLst xmlns:a="http://schemas.openxmlformats.org/drawingml/2006/main">
              <a:ext uri="{FF2B5EF4-FFF2-40B4-BE49-F238E27FC236}">
                <a16:creationId xmlns:a16="http://schemas.microsoft.com/office/drawing/2014/main" id="{AEA05487-EC4E-432A-BD8C-76B2FCD0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3535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2" name="직사각형 151">
            <a:extLst xmlns:a="http://schemas.openxmlformats.org/drawingml/2006/main">
              <a:ext uri="{FF2B5EF4-FFF2-40B4-BE49-F238E27FC236}">
                <a16:creationId xmlns:a16="http://schemas.microsoft.com/office/drawing/2014/main" id="{7BB6305B-CA0A-4FFF-9D45-08FA6FCF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3535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3" name="사각형: 둥근 모서리 152">
            <a:extLst xmlns:a="http://schemas.openxmlformats.org/drawingml/2006/main">
              <a:ext uri="{FF2B5EF4-FFF2-40B4-BE49-F238E27FC236}">
                <a16:creationId xmlns:a16="http://schemas.microsoft.com/office/drawing/2014/main" id="{BE390897-F46D-4465-BF4C-E6FCFB64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95821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7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" name="직사각형 153">
            <a:extLst xmlns:a="http://schemas.openxmlformats.org/drawingml/2006/main">
              <a:ext uri="{FF2B5EF4-FFF2-40B4-BE49-F238E27FC236}">
                <a16:creationId xmlns:a16="http://schemas.microsoft.com/office/drawing/2014/main" id="{F5210E80-EF94-4C7E-8D3D-00D8356B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9667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7E47"/>
                </a:solidFill>
              </a:defRPr>
            </a:pPr>
            <a:r>
              <a:rPr sz="1650" b="1">
                <a:solidFill>
                  <a:srgbClr val="FF7E47"/>
                </a:solidFill>
              </a:rPr>
              <a:t>03</a:t>
            </a:r>
          </a:p>
        </p:txBody>
      </p:sp>
      <p:sp>
        <p:nvSpPr>
          <p:cNvPr id="155" name="직사각형 154">
            <a:extLst xmlns:a="http://schemas.openxmlformats.org/drawingml/2006/main">
              <a:ext uri="{FF2B5EF4-FFF2-40B4-BE49-F238E27FC236}">
                <a16:creationId xmlns:a16="http://schemas.microsoft.com/office/drawing/2014/main" id="{B8B75F3C-D082-42D9-8A29-090409B2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95916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레시피 상세</a:t>
            </a:r>
          </a:p>
        </p:txBody>
      </p:sp>
      <p:sp>
        <p:nvSpPr>
          <p:cNvPr id="156" name="직사각형 155">
            <a:extLst xmlns:a="http://schemas.openxmlformats.org/drawingml/2006/main">
              <a:ext uri="{FF2B5EF4-FFF2-40B4-BE49-F238E27FC236}">
                <a16:creationId xmlns:a16="http://schemas.microsoft.com/office/drawing/2014/main" id="{3A33E926-7A47-49B2-8DFE-5AFB48DE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99250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재료·수량·대체안·조리 순서를 확인</a:t>
            </a:r>
          </a:p>
        </p:txBody>
      </p:sp>
      <p:sp>
        <p:nvSpPr>
          <p:cNvPr id="157" name="screenshot-placeholder-03">
            <a:extLst xmlns:a="http://schemas.openxmlformats.org/drawingml/2006/main">
              <a:ext uri="{FF2B5EF4-FFF2-40B4-BE49-F238E27FC236}">
                <a16:creationId xmlns:a16="http://schemas.microsoft.com/office/drawing/2014/main" id="{F4220C0D-B417-42C8-8076-2252EE4A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0420350"/>
            <a:ext cx="4057650" cy="2282428"/>
          </a:xfrm>
          <a:prstGeom xmlns:a="http://schemas.openxmlformats.org/drawingml/2006/main" prst="roundRect">
            <a:avLst>
              <a:gd name="adj" fmla="val 5008"/>
            </a:avLst>
          </a:prstGeom>
          <a:solidFill xmlns:a="http://schemas.openxmlformats.org/drawingml/2006/main">
            <a:srgbClr val="FBF8F4"/>
          </a:solidFill>
          <a:ln xmlns:a="http://schemas.openxmlformats.org/drawingml/2006/main" w="14288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8" name="사각형: 둥근 모서리 157">
            <a:extLst xmlns:a="http://schemas.openxmlformats.org/drawingml/2006/main">
              <a:ext uri="{FF2B5EF4-FFF2-40B4-BE49-F238E27FC236}">
                <a16:creationId xmlns:a16="http://schemas.microsoft.com/office/drawing/2014/main" id="{6D363ABD-B691-42DB-B698-A78BD008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54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9" name="screenshot-label-03">
            <a:extLst xmlns:a="http://schemas.openxmlformats.org/drawingml/2006/main">
              <a:ext uri="{FF2B5EF4-FFF2-40B4-BE49-F238E27FC236}">
                <a16:creationId xmlns:a16="http://schemas.microsoft.com/office/drawing/2014/main" id="{8625B01A-48C5-4010-B702-CEDA3521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0496550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E47"/>
                </a:solidFill>
              </a:defRPr>
            </a:pPr>
            <a:r>
              <a:rPr sz="975" b="1">
                <a:solidFill>
                  <a:srgbClr val="FF7E47"/>
                </a:solidFill>
              </a:rPr>
              <a:t>SCREEN 03  ·  16:9</a:t>
            </a:r>
          </a:p>
        </p:txBody>
      </p:sp>
      <p:sp>
        <p:nvSpPr>
          <p:cNvPr id="160" name="직사각형 159">
            <a:extLst xmlns:a="http://schemas.openxmlformats.org/drawingml/2006/main">
              <a:ext uri="{FF2B5EF4-FFF2-40B4-BE49-F238E27FC236}">
                <a16:creationId xmlns:a16="http://schemas.microsoft.com/office/drawing/2014/main" id="{902E7DEC-684D-4C2F-AD49-DFF18184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1418689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AEA6"/>
                </a:solidFill>
              </a:defRPr>
            </a:pPr>
            <a:r>
              <a:rPr sz="1350" b="1">
                <a:solidFill>
                  <a:srgbClr val="B7AEA6"/>
                </a:solidFill>
              </a:rPr>
              <a:t>화면 캡처 영역</a:t>
            </a:r>
          </a:p>
        </p:txBody>
      </p:sp>
      <p:sp>
        <p:nvSpPr>
          <p:cNvPr id="161" name="직사각형 160">
            <a:extLst xmlns:a="http://schemas.openxmlformats.org/drawingml/2006/main">
              <a:ext uri="{FF2B5EF4-FFF2-40B4-BE49-F238E27FC236}">
                <a16:creationId xmlns:a16="http://schemas.microsoft.com/office/drawing/2014/main" id="{23836877-17D0-480B-AD9C-79DFFF55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2378928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79E96"/>
                </a:solidFill>
              </a:defRPr>
            </a:pPr>
            <a:r>
              <a:rPr sz="900" b="0">
                <a:solidFill>
                  <a:srgbClr val="A79E96"/>
                </a:solidFill>
              </a:rPr>
              <a:t>완성 후 이 도형을 실제 화면 이미지로 교체</a:t>
            </a:r>
          </a:p>
        </p:txBody>
      </p:sp>
      <p:sp>
        <p:nvSpPr>
          <p:cNvPr id="162" name="직사각형 161">
            <a:extLst xmlns:a="http://schemas.openxmlformats.org/drawingml/2006/main">
              <a:ext uri="{FF2B5EF4-FFF2-40B4-BE49-F238E27FC236}">
                <a16:creationId xmlns:a16="http://schemas.microsoft.com/office/drawing/2014/main" id="{6267BAF5-1FF9-425E-A2C4-5F0DF8F9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28647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E47"/>
                </a:solidFill>
              </a:defRPr>
            </a:pPr>
            <a:r>
              <a:rPr sz="1050" b="1">
                <a:solidFill>
                  <a:srgbClr val="FF7E47"/>
                </a:solidFill>
              </a:rPr>
              <a:t>추천 화면 → 상세 화면</a:t>
            </a:r>
          </a:p>
        </p:txBody>
      </p:sp>
      <p:sp>
        <p:nvSpPr>
          <p:cNvPr id="163" name="직사각형 162">
            <a:extLst xmlns:a="http://schemas.openxmlformats.org/drawingml/2006/main">
              <a:ext uri="{FF2B5EF4-FFF2-40B4-BE49-F238E27FC236}">
                <a16:creationId xmlns:a16="http://schemas.microsoft.com/office/drawing/2014/main" id="{1CB73BFC-E6B8-480C-9D01-B7A839A3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31028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추천 화면   선택한 recipe 객체 전달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상세 화면   조리 정보 표시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추가 API 호출 없이 즉시 전환</a:t>
            </a:r>
          </a:p>
        </p:txBody>
      </p:sp>
      <p:pic>
        <p:nvPicPr>
          <p:cNvPr id="229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43f4d914742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5534025"/>
            <a:ext cx="4248150" cy="2389584"/>
          </a:xfrm>
          <a:prstGeom xmlns:a="http://schemas.openxmlformats.org/drawingml/2006/main" prst="roundRect">
            <a:avLst>
              <a:gd name="adj" fmla="val 3189"/>
            </a:avLst>
          </a:prstGeom>
        </p:spPr>
      </p:pic>
      <p:pic>
        <p:nvPicPr>
          <p:cNvPr id="230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562ce24ed4d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4050" y="5534025"/>
            <a:ext cx="4248150" cy="2389584"/>
          </a:xfrm>
          <a:prstGeom xmlns:a="http://schemas.openxmlformats.org/drawingml/2006/main" prst="roundRect">
            <a:avLst>
              <a:gd name="adj" fmla="val 3189"/>
            </a:avLst>
          </a:prstGeom>
        </p:spPr>
      </p:pic>
    </p:spTree>
    <p:extLst>
      <p:ext uri="{BB962C8B-B14F-4D97-AF65-F5344CB8AC3E}">
        <p14:creationId xmlns:p14="http://schemas.microsoft.com/office/powerpoint/2010/main" val="730242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EF35889A-C173-836E-97AD-2D48363F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65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31589774-0C33-1D26-B268-F4A330A5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8"/>
            <a:ext cx="552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D40DD24-B144-1BF8-CD94-3EC8692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8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E7DC"/>
                </a:solidFill>
              </a:defRPr>
            </a:pPr>
            <a:r>
              <a:rPr sz="2025" b="1">
                <a:solidFill>
                  <a:srgbClr val="FFE7DC"/>
                </a:solidFill>
              </a:rPr>
              <a:t>자취생을 위한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BBEFCFF0-BB3E-FF62-E97F-E4AE5538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3913"/>
            <a:ext cx="671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있는대로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A26AAEF-F95C-1085-D27B-F99E3B42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9738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냉장고 속 재료로 지금 만들 수 있는 한 끼를 추천하는 웹 서비스</a:t>
            </a:r>
          </a:p>
        </p:txBody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96ADF8C6-91BB-BF8E-BFB9-044F1A32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14264"/>
            <a:ext cx="9477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0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9733924F-554A-5045-0714-27D92904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38089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6D36"/>
                </a:solidFill>
              </a:defRPr>
            </a:pPr>
            <a:r>
              <a:rPr sz="1350" b="1">
                <a:solidFill>
                  <a:srgbClr val="006D36"/>
                </a:solidFill>
              </a:rPr>
              <a:t>냉장고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데이터가</a:t>
            </a:r>
            <a:r>
              <a:rPr sz="1350" b="1">
                <a:solidFill>
                  <a:srgbClr val="006D36"/>
                </a:solidFill>
              </a:rPr>
              <a:t> AI </a:t>
            </a:r>
            <a:r>
              <a:rPr sz="1350" b="1">
                <a:solidFill>
                  <a:srgbClr val="006D36"/>
                </a:solidFill>
              </a:rPr>
              <a:t>추천을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거쳐</a:t>
            </a:r>
            <a:r>
              <a:rPr sz="1350" b="1">
                <a:solidFill>
                  <a:srgbClr val="006D36"/>
                </a:solidFill>
              </a:rPr>
              <a:t> 한 </a:t>
            </a:r>
            <a:r>
              <a:rPr sz="1350" b="1">
                <a:solidFill>
                  <a:srgbClr val="006D36"/>
                </a:solidFill>
              </a:rPr>
              <a:t>끼가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되고</a:t>
            </a:r>
            <a:r>
              <a:rPr sz="1350" b="1">
                <a:solidFill>
                  <a:srgbClr val="006D36"/>
                </a:solidFill>
              </a:rPr>
              <a:t>, </a:t>
            </a:r>
            <a:r>
              <a:rPr sz="1350" b="1">
                <a:solidFill>
                  <a:srgbClr val="006D36"/>
                </a:solidFill>
              </a:rPr>
              <a:t>요리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결과가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다시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냉장고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데이터로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돌아옵니다</a:t>
            </a:r>
            <a:r>
              <a:rPr sz="1350" b="1">
                <a:solidFill>
                  <a:srgbClr val="006D36"/>
                </a:solidFill>
              </a:rPr>
              <a:t>.</a:t>
            </a:r>
          </a:p>
        </p:txBody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29E405C8-728F-259A-3215-EAF385D2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01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D6A66"/>
                </a:solidFill>
              </a:defRPr>
            </a:pPr>
            <a:r>
              <a:rPr sz="975" b="1">
                <a:solidFill>
                  <a:srgbClr val="6D6A66"/>
                </a:solidFill>
              </a:rPr>
              <a:t>N091_박창현</a:t>
            </a:r>
          </a:p>
        </p:txBody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5971EF4C-772D-A69B-585D-491AA06F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801850"/>
            <a:ext cx="737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D6A66"/>
                </a:solidFill>
              </a:defRPr>
            </a:pPr>
            <a:r>
              <a:rPr sz="1050" b="1">
                <a:solidFill>
                  <a:srgbClr val="6D6A66"/>
                </a:solidFill>
              </a:rPr>
              <a:t>Frontend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React·Vite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Backend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Node.js·Express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Data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Supabase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AI</a:t>
            </a:r>
            <a:r>
              <a:rPr sz="1050" b="0">
                <a:solidFill>
                  <a:srgbClr val="6D6A66"/>
                </a:solidFill>
              </a:rPr>
              <a:t>  Gemini   |   </a:t>
            </a:r>
            <a:r>
              <a:rPr sz="1050" b="1">
                <a:solidFill>
                  <a:srgbClr val="6D6A66"/>
                </a:solidFill>
              </a:rPr>
              <a:t>Deploy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Vercel·Render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EAD58FDA-F763-D601-816E-8AB99529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8412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A1C19"/>
                </a:solidFill>
              </a:defRPr>
            </a:pPr>
            <a:r>
              <a:rPr sz="2550" b="1">
                <a:solidFill>
                  <a:srgbClr val="1A1C19"/>
                </a:solidFill>
              </a:rPr>
              <a:t>문제정의</a:t>
            </a:r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B6F7AD4C-16D6-1FC2-2BB1-4A426D42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9911"/>
            <a:ext cx="6667500" cy="1104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D6A66"/>
                </a:solidFill>
              </a:defRPr>
            </a:pPr>
            <a:r>
              <a:rPr sz="1350">
                <a:solidFill>
                  <a:srgbClr val="6D6A66"/>
                </a:solidFill>
              </a:rPr>
              <a:t>서비스 소개</a:t>
            </a:r>
          </a:p>
        </p:txBody>
      </p:sp>
      <p:sp>
        <p:nvSpPr>
          <p:cNvPr id="101" name="사각형: 둥근 모서리 100">
            <a:extLst xmlns:a="http://schemas.openxmlformats.org/drawingml/2006/main">
              <a:ext uri="{FF2B5EF4-FFF2-40B4-BE49-F238E27FC236}">
                <a16:creationId xmlns:a16="http://schemas.microsoft.com/office/drawing/2014/main" id="{19D38989-2EAF-17BE-A027-9C219E6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7589"/>
            <a:ext cx="1724025" cy="161806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E9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1D007E0D-F074-6C2E-14BC-8AE12D71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7213"/>
            <a:ext cx="947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F2189076-74CD-DFE1-9F81-C24EFDD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65627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5" name="flow-arrow-right">
            <a:extLst xmlns:a="http://schemas.openxmlformats.org/drawingml/2006/main">
              <a:ext uri="{FF2B5EF4-FFF2-40B4-BE49-F238E27FC236}">
                <a16:creationId xmlns:a16="http://schemas.microsoft.com/office/drawing/2014/main" id="{3F14BF7A-6533-1C30-17A7-60F547DA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477000"/>
            <a:ext cx="16192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7A7F90A0-9EA2-1496-A529-2F5B124C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900112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" name="flow-arrow-down">
            <a:extLst xmlns:a="http://schemas.openxmlformats.org/drawingml/2006/main">
              <a:ext uri="{FF2B5EF4-FFF2-40B4-BE49-F238E27FC236}">
                <a16:creationId xmlns:a16="http://schemas.microsoft.com/office/drawing/2014/main" id="{21FEE395-2CFE-5C89-53FF-F60A3361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9344025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E33C9677-492B-D2AF-C9FE-61A2EBC5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15443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9" name="flow-arrow-left">
            <a:extLst xmlns:a="http://schemas.openxmlformats.org/drawingml/2006/main">
              <a:ext uri="{FF2B5EF4-FFF2-40B4-BE49-F238E27FC236}">
                <a16:creationId xmlns:a16="http://schemas.microsoft.com/office/drawing/2014/main" id="{3BCE8B7D-B67A-B736-071B-9D7C3798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9" y="11477625"/>
            <a:ext cx="16192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D4D1B532-7612-494F-2E5E-7896E027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900112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" name="flow-arrow-up">
            <a:extLst xmlns:a="http://schemas.openxmlformats.org/drawingml/2006/main">
              <a:ext uri="{FF2B5EF4-FFF2-40B4-BE49-F238E27FC236}">
                <a16:creationId xmlns:a16="http://schemas.microsoft.com/office/drawing/2014/main" id="{B36DB0C4-9040-D5BB-5816-A5C48F59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8" y="9001125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D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2" name="사각형: 둥근 모서리 111">
            <a:extLst xmlns:a="http://schemas.openxmlformats.org/drawingml/2006/main">
              <a:ext uri="{FF2B5EF4-FFF2-40B4-BE49-F238E27FC236}">
                <a16:creationId xmlns:a16="http://schemas.microsoft.com/office/drawing/2014/main" id="{7C2CAFC9-F930-BFC8-774B-C10B8F3D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3" name="직사각형 112">
            <a:extLst xmlns:a="http://schemas.openxmlformats.org/drawingml/2006/main">
              <a:ext uri="{FF2B5EF4-FFF2-40B4-BE49-F238E27FC236}">
                <a16:creationId xmlns:a16="http://schemas.microsoft.com/office/drawing/2014/main" id="{65E4058A-B5A1-1DE1-ECFC-95338B39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사각형: 둥근 모서리 113">
            <a:extLst xmlns:a="http://schemas.openxmlformats.org/drawingml/2006/main">
              <a:ext uri="{FF2B5EF4-FFF2-40B4-BE49-F238E27FC236}">
                <a16:creationId xmlns:a16="http://schemas.microsoft.com/office/drawing/2014/main" id="{0E8266FF-5A2D-9EEB-FC3E-EB1D72DD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7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DA75AE45-D21C-C17B-5E7C-0F18D082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7E47"/>
                </a:solidFill>
              </a:defRPr>
            </a:pPr>
            <a:r>
              <a:rPr sz="1650" b="1">
                <a:solidFill>
                  <a:srgbClr val="FF7E47"/>
                </a:solidFill>
              </a:rPr>
              <a:t>01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3C9B3028-2645-504E-C430-98DC3C80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냉장고 확인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1E938633-066B-E84D-7F0F-98CFDC8C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25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보유 재료·수량·소비기한을 한눈에 확인</a:t>
            </a:r>
          </a:p>
        </p:txBody>
      </p:sp>
      <p:sp>
        <p:nvSpPr>
          <p:cNvPr id="123" name="직사각형 122">
            <a:extLst xmlns:a="http://schemas.openxmlformats.org/drawingml/2006/main">
              <a:ext uri="{FF2B5EF4-FFF2-40B4-BE49-F238E27FC236}">
                <a16:creationId xmlns:a16="http://schemas.microsoft.com/office/drawing/2014/main" id="{9D4618C2-8FC8-A88A-B7AF-F7E23DD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022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E47"/>
                </a:solidFill>
              </a:defRPr>
            </a:pPr>
            <a:r>
              <a:rPr sz="1050" b="1">
                <a:solidFill>
                  <a:srgbClr val="FF7E47"/>
                </a:solidFill>
              </a:rPr>
              <a:t>화면 → 서버 → DB</a:t>
            </a:r>
          </a:p>
        </p:txBody>
      </p:sp>
      <p:sp>
        <p:nvSpPr>
          <p:cNvPr id="124" name="직사각형 123">
            <a:extLst xmlns:a="http://schemas.openxmlformats.org/drawingml/2006/main">
              <a:ext uri="{FF2B5EF4-FFF2-40B4-BE49-F238E27FC236}">
                <a16:creationId xmlns:a16="http://schemas.microsoft.com/office/drawing/2014/main" id="{2789946E-7507-1D9B-B1C9-CB348F2F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403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재료 입력</a:t>
            </a:r>
            <a:r>
              <a:rPr sz="1050">
                <a:solidFill>
                  <a:srgbClr val="1A1C19"/>
                </a:solidFill>
              </a:rPr>
              <a:t> </a:t>
            </a:r>
            <a:r>
              <a:rPr sz="1050">
                <a:solidFill>
                  <a:srgbClr val="1A1C19"/>
                </a:solidFill>
              </a:rPr>
              <a:t>: </a:t>
            </a:r>
            <a:r>
              <a:rPr sz="1050">
                <a:solidFill>
                  <a:srgbClr val="1A1C19"/>
                </a:solidFill>
              </a:rPr>
              <a:t>재료 카테고리에 따라 소비기한 및 추천 태그 선정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추가한 재료 </a:t>
            </a:r>
            <a:r>
              <a:rPr sz="1050" b="0">
                <a:solidFill>
                  <a:srgbClr val="1A1C19"/>
                </a:solidFill>
              </a:rPr>
              <a:t>Supabase</a:t>
            </a:r>
            <a:r>
              <a:rPr sz="1050" b="0">
                <a:solidFill>
                  <a:srgbClr val="1A1C19"/>
                </a:solidFill>
              </a:rPr>
              <a:t> DB</a:t>
            </a:r>
            <a:r>
              <a:rPr sz="1050" b="0">
                <a:solidFill>
                  <a:srgbClr val="1A1C19"/>
                </a:solidFill>
              </a:rPr>
              <a:t>에 반영이 됨</a:t>
            </a:r>
            <a:r>
              <a:rPr sz="1050" b="0">
                <a:solidFill>
                  <a:srgbClr val="1A1C19"/>
                </a:solidFill>
              </a:rPr>
              <a:t>.</a:t>
            </a:r>
          </a:p>
        </p:txBody>
      </p:sp>
      <p:sp>
        <p:nvSpPr>
          <p:cNvPr id="125" name="사각형: 둥근 모서리 124">
            <a:extLst xmlns:a="http://schemas.openxmlformats.org/drawingml/2006/main">
              <a:ext uri="{FF2B5EF4-FFF2-40B4-BE49-F238E27FC236}">
                <a16:creationId xmlns:a16="http://schemas.microsoft.com/office/drawing/2014/main" id="{3E1025EB-B3A0-FC2D-6085-6725B240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5910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6" name="직사각형 125">
            <a:extLst xmlns:a="http://schemas.openxmlformats.org/drawingml/2006/main">
              <a:ext uri="{FF2B5EF4-FFF2-40B4-BE49-F238E27FC236}">
                <a16:creationId xmlns:a16="http://schemas.microsoft.com/office/drawing/2014/main" id="{A6C7B73C-B753-3A92-9B4A-C7336B4C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5910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7" name="사각형: 둥근 모서리 126">
            <a:extLst xmlns:a="http://schemas.openxmlformats.org/drawingml/2006/main">
              <a:ext uri="{FF2B5EF4-FFF2-40B4-BE49-F238E27FC236}">
                <a16:creationId xmlns:a16="http://schemas.microsoft.com/office/drawing/2014/main" id="{1753D275-78ED-23CC-4A17-F395852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8196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" name="직사각형 127">
            <a:extLst xmlns:a="http://schemas.openxmlformats.org/drawingml/2006/main">
              <a:ext uri="{FF2B5EF4-FFF2-40B4-BE49-F238E27FC236}">
                <a16:creationId xmlns:a16="http://schemas.microsoft.com/office/drawing/2014/main" id="{416AD831-6EE1-FD3B-F018-49C40FCF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905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6D36"/>
                </a:solidFill>
              </a:defRPr>
            </a:pPr>
            <a:r>
              <a:rPr sz="1650" b="1">
                <a:solidFill>
                  <a:srgbClr val="006D36"/>
                </a:solidFill>
              </a:rPr>
              <a:t>02</a:t>
            </a:r>
          </a:p>
        </p:txBody>
      </p:sp>
      <p:sp>
        <p:nvSpPr>
          <p:cNvPr id="129" name="직사각형 128">
            <a:extLst xmlns:a="http://schemas.openxmlformats.org/drawingml/2006/main">
              <a:ext uri="{FF2B5EF4-FFF2-40B4-BE49-F238E27FC236}">
                <a16:creationId xmlns:a16="http://schemas.microsoft.com/office/drawing/2014/main" id="{0A73E5BA-6B38-DC98-B82E-A8A06AAF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8291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AI 메뉴 추천</a:t>
            </a:r>
          </a:p>
        </p:txBody>
      </p:sp>
      <p:sp>
        <p:nvSpPr>
          <p:cNvPr id="130" name="직사각형 129">
            <a:extLst xmlns:a="http://schemas.openxmlformats.org/drawingml/2006/main">
              <a:ext uri="{FF2B5EF4-FFF2-40B4-BE49-F238E27FC236}">
                <a16:creationId xmlns:a16="http://schemas.microsoft.com/office/drawing/2014/main" id="{313E5ADC-33D9-E876-60EF-585CAE61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1625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사용자 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상황을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반영해</a:t>
            </a:r>
            <a:r>
              <a:rPr sz="1125" b="0">
                <a:solidFill>
                  <a:srgbClr val="6D6A66"/>
                </a:solidFill>
              </a:rPr>
              <a:t> 1인분 </a:t>
            </a:r>
            <a:r>
              <a:rPr sz="1125" b="0">
                <a:solidFill>
                  <a:srgbClr val="6D6A66"/>
                </a:solidFill>
              </a:rPr>
              <a:t>메뉴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추천</a:t>
            </a:r>
          </a:p>
        </p:txBody>
      </p:sp>
      <p:sp>
        <p:nvSpPr>
          <p:cNvPr id="136" name="직사각형 135">
            <a:extLst xmlns:a="http://schemas.openxmlformats.org/drawingml/2006/main">
              <a:ext uri="{FF2B5EF4-FFF2-40B4-BE49-F238E27FC236}">
                <a16:creationId xmlns:a16="http://schemas.microsoft.com/office/drawing/2014/main" id="{057E2EA8-5341-2041-79D2-47EEBB5B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81022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6D36"/>
                </a:solidFill>
              </a:defRPr>
            </a:pPr>
            <a:r>
              <a:rPr sz="1050" b="1">
                <a:solidFill>
                  <a:srgbClr val="006D36"/>
                </a:solidFill>
              </a:rPr>
              <a:t>화면 → 서버 → DB·AI</a:t>
            </a:r>
          </a:p>
        </p:txBody>
      </p:sp>
      <p:sp>
        <p:nvSpPr>
          <p:cNvPr id="137" name="직사각형 136">
            <a:extLst xmlns:a="http://schemas.openxmlformats.org/drawingml/2006/main">
              <a:ext uri="{FF2B5EF4-FFF2-40B4-BE49-F238E27FC236}">
                <a16:creationId xmlns:a16="http://schemas.microsoft.com/office/drawing/2014/main" id="{01212287-78CE-2605-9DAB-BD2E6C51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83403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화면   POST /api/recommendations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서버   우선순위·캐시·응답 검증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DB·AI  재료 조회 → Gemini JSON 생성</a:t>
            </a:r>
          </a:p>
        </p:txBody>
      </p:sp>
      <p:sp>
        <p:nvSpPr>
          <p:cNvPr id="138" name="사각형: 둥근 모서리 137">
            <a:extLst xmlns:a="http://schemas.openxmlformats.org/drawingml/2006/main">
              <a:ext uri="{FF2B5EF4-FFF2-40B4-BE49-F238E27FC236}">
                <a16:creationId xmlns:a16="http://schemas.microsoft.com/office/drawing/2014/main" id="{DE3AC57C-3456-EDBC-FF78-F55ECE12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535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9" name="직사각형 138">
            <a:extLst xmlns:a="http://schemas.openxmlformats.org/drawingml/2006/main">
              <a:ext uri="{FF2B5EF4-FFF2-40B4-BE49-F238E27FC236}">
                <a16:creationId xmlns:a16="http://schemas.microsoft.com/office/drawing/2014/main" id="{32F91F75-D76C-F96B-5ECF-0363B437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535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0" name="사각형: 둥근 모서리 139">
            <a:extLst xmlns:a="http://schemas.openxmlformats.org/drawingml/2006/main">
              <a:ext uri="{FF2B5EF4-FFF2-40B4-BE49-F238E27FC236}">
                <a16:creationId xmlns:a16="http://schemas.microsoft.com/office/drawing/2014/main" id="{13CB2986-A02D-9631-AE91-E97A5DBC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" name="직사각형 140">
            <a:extLst xmlns:a="http://schemas.openxmlformats.org/drawingml/2006/main">
              <a:ext uri="{FF2B5EF4-FFF2-40B4-BE49-F238E27FC236}">
                <a16:creationId xmlns:a16="http://schemas.microsoft.com/office/drawing/2014/main" id="{FDD7455B-7BA3-8D26-7391-1D21FD2A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67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6D36"/>
                </a:solidFill>
              </a:defRPr>
            </a:pPr>
            <a:r>
              <a:rPr sz="1650" b="1">
                <a:solidFill>
                  <a:srgbClr val="006D36"/>
                </a:solidFill>
              </a:rPr>
              <a:t>04</a:t>
            </a:r>
          </a:p>
        </p:txBody>
      </p:sp>
      <p:sp>
        <p:nvSpPr>
          <p:cNvPr id="142" name="직사각형 141">
            <a:extLst xmlns:a="http://schemas.openxmlformats.org/drawingml/2006/main">
              <a:ext uri="{FF2B5EF4-FFF2-40B4-BE49-F238E27FC236}">
                <a16:creationId xmlns:a16="http://schemas.microsoft.com/office/drawing/2014/main" id="{AA896565-E03D-BA13-0043-EA190F35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5916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요리 완료·재료 반영</a:t>
            </a:r>
          </a:p>
        </p:txBody>
      </p:sp>
      <p:sp>
        <p:nvSpPr>
          <p:cNvPr id="143" name="직사각형 142">
            <a:extLst xmlns:a="http://schemas.openxmlformats.org/drawingml/2006/main">
              <a:ext uri="{FF2B5EF4-FFF2-40B4-BE49-F238E27FC236}">
                <a16:creationId xmlns:a16="http://schemas.microsoft.com/office/drawing/2014/main" id="{339E817D-A707-E58F-2A53-FE71AB3D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9250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사용한 재료를 차감해 다음 추천에 반영</a:t>
            </a:r>
          </a:p>
        </p:txBody>
      </p:sp>
      <p:sp>
        <p:nvSpPr>
          <p:cNvPr id="144" name="screenshot-placeholder-04">
            <a:extLst xmlns:a="http://schemas.openxmlformats.org/drawingml/2006/main">
              <a:ext uri="{FF2B5EF4-FFF2-40B4-BE49-F238E27FC236}">
                <a16:creationId xmlns:a16="http://schemas.microsoft.com/office/drawing/2014/main" id="{22BA84CD-CDA4-2799-910D-81B98953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20350"/>
            <a:ext cx="4057650" cy="2282428"/>
          </a:xfrm>
          <a:prstGeom xmlns:a="http://schemas.openxmlformats.org/drawingml/2006/main" prst="roundRect">
            <a:avLst>
              <a:gd name="adj" fmla="val 5008"/>
            </a:avLst>
          </a:prstGeom>
          <a:solidFill xmlns:a="http://schemas.openxmlformats.org/drawingml/2006/main">
            <a:srgbClr val="FBF8F4"/>
          </a:solidFill>
          <a:ln xmlns:a="http://schemas.openxmlformats.org/drawingml/2006/main" w="14288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" name="사각형: 둥근 모서리 144">
            <a:extLst xmlns:a="http://schemas.openxmlformats.org/drawingml/2006/main">
              <a:ext uri="{FF2B5EF4-FFF2-40B4-BE49-F238E27FC236}">
                <a16:creationId xmlns:a16="http://schemas.microsoft.com/office/drawing/2014/main" id="{C47E4602-F656-C89F-4559-C0578584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54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6" name="screenshot-label-04">
            <a:extLst xmlns:a="http://schemas.openxmlformats.org/drawingml/2006/main">
              <a:ext uri="{FF2B5EF4-FFF2-40B4-BE49-F238E27FC236}">
                <a16:creationId xmlns:a16="http://schemas.microsoft.com/office/drawing/2014/main" id="{C64A8A1E-C304-24FC-68FB-6B2999E1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496550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6D36"/>
                </a:solidFill>
              </a:defRPr>
            </a:pPr>
            <a:r>
              <a:rPr sz="975" b="1">
                <a:solidFill>
                  <a:srgbClr val="006D36"/>
                </a:solidFill>
              </a:rPr>
              <a:t>SCREEN 04  ·  16:9</a:t>
            </a:r>
          </a:p>
        </p:txBody>
      </p:sp>
      <p:sp>
        <p:nvSpPr>
          <p:cNvPr id="147" name="직사각형 146">
            <a:extLst xmlns:a="http://schemas.openxmlformats.org/drawingml/2006/main">
              <a:ext uri="{FF2B5EF4-FFF2-40B4-BE49-F238E27FC236}">
                <a16:creationId xmlns:a16="http://schemas.microsoft.com/office/drawing/2014/main" id="{9456AEC5-0600-73C0-5B3E-D6AA317D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418689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AEA6"/>
                </a:solidFill>
              </a:defRPr>
            </a:pPr>
            <a:r>
              <a:rPr sz="1350" b="1">
                <a:solidFill>
                  <a:srgbClr val="B7AEA6"/>
                </a:solidFill>
              </a:rPr>
              <a:t>화면 캡처 영역</a:t>
            </a:r>
          </a:p>
        </p:txBody>
      </p:sp>
      <p:sp>
        <p:nvSpPr>
          <p:cNvPr id="148" name="직사각형 147">
            <a:extLst xmlns:a="http://schemas.openxmlformats.org/drawingml/2006/main">
              <a:ext uri="{FF2B5EF4-FFF2-40B4-BE49-F238E27FC236}">
                <a16:creationId xmlns:a16="http://schemas.microsoft.com/office/drawing/2014/main" id="{E8AE0BE3-E505-66DA-4EAD-861F8C1D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78928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79E96"/>
                </a:solidFill>
              </a:defRPr>
            </a:pPr>
            <a:r>
              <a:rPr sz="900" b="0">
                <a:solidFill>
                  <a:srgbClr val="A79E96"/>
                </a:solidFill>
              </a:rPr>
              <a:t>완성 후 이 도형을 실제 화면 이미지로 교체</a:t>
            </a:r>
          </a:p>
        </p:txBody>
      </p:sp>
      <p:sp>
        <p:nvSpPr>
          <p:cNvPr id="149" name="직사각형 148">
            <a:extLst xmlns:a="http://schemas.openxmlformats.org/drawingml/2006/main">
              <a:ext uri="{FF2B5EF4-FFF2-40B4-BE49-F238E27FC236}">
                <a16:creationId xmlns:a16="http://schemas.microsoft.com/office/drawing/2014/main" id="{94A96BE8-7088-86FE-BD72-BCB6231A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647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6D36"/>
                </a:solidFill>
              </a:defRPr>
            </a:pPr>
            <a:r>
              <a:rPr sz="1050" b="1">
                <a:solidFill>
                  <a:srgbClr val="006D36"/>
                </a:solidFill>
              </a:rPr>
              <a:t>화면 → 서버 → DB</a:t>
            </a:r>
          </a:p>
        </p:txBody>
      </p:sp>
      <p:sp>
        <p:nvSpPr>
          <p:cNvPr id="150" name="직사각형 149">
            <a:extLst xmlns:a="http://schemas.openxmlformats.org/drawingml/2006/main">
              <a:ext uri="{FF2B5EF4-FFF2-40B4-BE49-F238E27FC236}">
                <a16:creationId xmlns:a16="http://schemas.microsoft.com/office/drawing/2014/main" id="{6B3E9C3F-AE1A-BA01-FD02-716F644C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028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화면   POST /api/ingredients/consume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서버   단위·수량·차감량 검증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DB      UPDATE 또는 DELETE ingredients</a:t>
            </a:r>
          </a:p>
        </p:txBody>
      </p:sp>
      <p:sp>
        <p:nvSpPr>
          <p:cNvPr id="151" name="사각형: 둥근 모서리 150">
            <a:extLst xmlns:a="http://schemas.openxmlformats.org/drawingml/2006/main">
              <a:ext uri="{FF2B5EF4-FFF2-40B4-BE49-F238E27FC236}">
                <a16:creationId xmlns:a16="http://schemas.microsoft.com/office/drawing/2014/main" id="{D542167C-4BDF-0A4B-6E19-A5370BF8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3535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2" name="직사각형 151">
            <a:extLst xmlns:a="http://schemas.openxmlformats.org/drawingml/2006/main">
              <a:ext uri="{FF2B5EF4-FFF2-40B4-BE49-F238E27FC236}">
                <a16:creationId xmlns:a16="http://schemas.microsoft.com/office/drawing/2014/main" id="{BCDE8816-908D-2E96-5E99-86AAD20C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3535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3" name="사각형: 둥근 모서리 152">
            <a:extLst xmlns:a="http://schemas.openxmlformats.org/drawingml/2006/main">
              <a:ext uri="{FF2B5EF4-FFF2-40B4-BE49-F238E27FC236}">
                <a16:creationId xmlns:a16="http://schemas.microsoft.com/office/drawing/2014/main" id="{A43142EF-406B-3BC8-CD31-DB5DB653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95821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7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" name="직사각형 153">
            <a:extLst xmlns:a="http://schemas.openxmlformats.org/drawingml/2006/main">
              <a:ext uri="{FF2B5EF4-FFF2-40B4-BE49-F238E27FC236}">
                <a16:creationId xmlns:a16="http://schemas.microsoft.com/office/drawing/2014/main" id="{BBF254D5-AE3C-CA8A-EC10-191F8C6E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9667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7E47"/>
                </a:solidFill>
              </a:defRPr>
            </a:pPr>
            <a:r>
              <a:rPr sz="1650" b="1">
                <a:solidFill>
                  <a:srgbClr val="FF7E47"/>
                </a:solidFill>
              </a:rPr>
              <a:t>03</a:t>
            </a:r>
          </a:p>
        </p:txBody>
      </p:sp>
      <p:sp>
        <p:nvSpPr>
          <p:cNvPr id="155" name="직사각형 154">
            <a:extLst xmlns:a="http://schemas.openxmlformats.org/drawingml/2006/main">
              <a:ext uri="{FF2B5EF4-FFF2-40B4-BE49-F238E27FC236}">
                <a16:creationId xmlns:a16="http://schemas.microsoft.com/office/drawing/2014/main" id="{9D808C54-B1A4-A23E-D98D-9414DB66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95916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레시피 상세</a:t>
            </a:r>
          </a:p>
        </p:txBody>
      </p:sp>
      <p:sp>
        <p:nvSpPr>
          <p:cNvPr id="156" name="직사각형 155">
            <a:extLst xmlns:a="http://schemas.openxmlformats.org/drawingml/2006/main">
              <a:ext uri="{FF2B5EF4-FFF2-40B4-BE49-F238E27FC236}">
                <a16:creationId xmlns:a16="http://schemas.microsoft.com/office/drawing/2014/main" id="{AA12B943-CCF9-86C8-4ED7-29C761A9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99250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재료·수량·대체안·조리 순서를 확인</a:t>
            </a:r>
          </a:p>
        </p:txBody>
      </p:sp>
      <p:sp>
        <p:nvSpPr>
          <p:cNvPr id="157" name="screenshot-placeholder-03">
            <a:extLst xmlns:a="http://schemas.openxmlformats.org/drawingml/2006/main">
              <a:ext uri="{FF2B5EF4-FFF2-40B4-BE49-F238E27FC236}">
                <a16:creationId xmlns:a16="http://schemas.microsoft.com/office/drawing/2014/main" id="{78E38822-2AD4-3E7C-3CDC-48673F2C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0420350"/>
            <a:ext cx="4057650" cy="2282428"/>
          </a:xfrm>
          <a:prstGeom xmlns:a="http://schemas.openxmlformats.org/drawingml/2006/main" prst="roundRect">
            <a:avLst>
              <a:gd name="adj" fmla="val 5008"/>
            </a:avLst>
          </a:prstGeom>
          <a:solidFill xmlns:a="http://schemas.openxmlformats.org/drawingml/2006/main">
            <a:srgbClr val="FBF8F4"/>
          </a:solidFill>
          <a:ln xmlns:a="http://schemas.openxmlformats.org/drawingml/2006/main" w="14288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8" name="사각형: 둥근 모서리 157">
            <a:extLst xmlns:a="http://schemas.openxmlformats.org/drawingml/2006/main">
              <a:ext uri="{FF2B5EF4-FFF2-40B4-BE49-F238E27FC236}">
                <a16:creationId xmlns:a16="http://schemas.microsoft.com/office/drawing/2014/main" id="{E2E69D5F-B8E5-75C8-72B3-522A79EC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54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9" name="screenshot-label-03">
            <a:extLst xmlns:a="http://schemas.openxmlformats.org/drawingml/2006/main">
              <a:ext uri="{FF2B5EF4-FFF2-40B4-BE49-F238E27FC236}">
                <a16:creationId xmlns:a16="http://schemas.microsoft.com/office/drawing/2014/main" id="{F1399B8E-4282-8CCF-AE69-B303BC8A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0496550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E47"/>
                </a:solidFill>
              </a:defRPr>
            </a:pPr>
            <a:r>
              <a:rPr sz="975" b="1">
                <a:solidFill>
                  <a:srgbClr val="FF7E47"/>
                </a:solidFill>
              </a:rPr>
              <a:t>SCREEN 03  ·  16:9</a:t>
            </a:r>
          </a:p>
        </p:txBody>
      </p:sp>
      <p:sp>
        <p:nvSpPr>
          <p:cNvPr id="160" name="직사각형 159">
            <a:extLst xmlns:a="http://schemas.openxmlformats.org/drawingml/2006/main">
              <a:ext uri="{FF2B5EF4-FFF2-40B4-BE49-F238E27FC236}">
                <a16:creationId xmlns:a16="http://schemas.microsoft.com/office/drawing/2014/main" id="{96E5E8DE-3CC8-F7EC-4EE6-587D90E7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1418689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AEA6"/>
                </a:solidFill>
              </a:defRPr>
            </a:pPr>
            <a:r>
              <a:rPr sz="1350" b="1">
                <a:solidFill>
                  <a:srgbClr val="B7AEA6"/>
                </a:solidFill>
              </a:rPr>
              <a:t>화면 캡처 영역</a:t>
            </a:r>
          </a:p>
        </p:txBody>
      </p:sp>
      <p:sp>
        <p:nvSpPr>
          <p:cNvPr id="161" name="직사각형 160">
            <a:extLst xmlns:a="http://schemas.openxmlformats.org/drawingml/2006/main">
              <a:ext uri="{FF2B5EF4-FFF2-40B4-BE49-F238E27FC236}">
                <a16:creationId xmlns:a16="http://schemas.microsoft.com/office/drawing/2014/main" id="{00149A1E-EAF9-DF86-B7B7-39D423B8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2378928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79E96"/>
                </a:solidFill>
              </a:defRPr>
            </a:pPr>
            <a:r>
              <a:rPr sz="900" b="0">
                <a:solidFill>
                  <a:srgbClr val="A79E96"/>
                </a:solidFill>
              </a:rPr>
              <a:t>완성 후 이 도형을 실제 화면 이미지로 교체</a:t>
            </a:r>
          </a:p>
        </p:txBody>
      </p:sp>
      <p:sp>
        <p:nvSpPr>
          <p:cNvPr id="162" name="직사각형 161">
            <a:extLst xmlns:a="http://schemas.openxmlformats.org/drawingml/2006/main">
              <a:ext uri="{FF2B5EF4-FFF2-40B4-BE49-F238E27FC236}">
                <a16:creationId xmlns:a16="http://schemas.microsoft.com/office/drawing/2014/main" id="{39F7290C-BEA4-8FAA-5F42-42B15BBA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28647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E47"/>
                </a:solidFill>
              </a:defRPr>
            </a:pPr>
            <a:r>
              <a:rPr sz="1050" b="1">
                <a:solidFill>
                  <a:srgbClr val="FF7E47"/>
                </a:solidFill>
              </a:rPr>
              <a:t>추천 화면 → 상세 화면</a:t>
            </a:r>
          </a:p>
        </p:txBody>
      </p:sp>
      <p:sp>
        <p:nvSpPr>
          <p:cNvPr id="163" name="직사각형 162">
            <a:extLst xmlns:a="http://schemas.openxmlformats.org/drawingml/2006/main">
              <a:ext uri="{FF2B5EF4-FFF2-40B4-BE49-F238E27FC236}">
                <a16:creationId xmlns:a16="http://schemas.microsoft.com/office/drawing/2014/main" id="{22F75489-877D-3EA9-83BF-76552EC8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31028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추천 화면   선택한 recipe 객체 전달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상세 화면   조리 정보 표시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추가 API 호출 없이 즉시 전환</a:t>
            </a:r>
          </a:p>
        </p:txBody>
      </p:sp>
      <p:pic>
        <p:nvPicPr>
          <p:cNvPr id="229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196e157a14f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5534025"/>
            <a:ext cx="4248150" cy="2389584"/>
          </a:xfrm>
          <a:prstGeom xmlns:a="http://schemas.openxmlformats.org/drawingml/2006/main" prst="roundRect">
            <a:avLst>
              <a:gd name="adj" fmla="val 3189"/>
            </a:avLst>
          </a:prstGeom>
        </p:spPr>
      </p:pic>
      <p:pic>
        <p:nvPicPr>
          <p:cNvPr id="230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9e1ff0b7742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4050" y="5534025"/>
            <a:ext cx="4248150" cy="2389584"/>
          </a:xfrm>
          <a:prstGeom xmlns:a="http://schemas.openxmlformats.org/drawingml/2006/main" prst="roundRect">
            <a:avLst>
              <a:gd name="adj" fmla="val 3189"/>
            </a:avLst>
          </a:prstGeom>
        </p:spPr>
      </p:pic>
    </p:spTree>
    <p:extLst>
      <p:ext uri="{BB962C8B-B14F-4D97-AF65-F5344CB8AC3E}">
        <p14:creationId xmlns:p14="http://schemas.microsoft.com/office/powerpoint/2010/main" val="723359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2026-07-28T09:09:34.8800000Z</dcterms:created>
  <dcterms:modified xsi:type="dcterms:W3CDTF">2026-07-28T09:09:34.8800000Z</dcterms:modified>
</coreProperties>
</file>