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5fd641025a84f54" /><Relationship Type="http://schemas.openxmlformats.org/officeDocument/2006/relationships/extended-properties" Target="/docProps/app.xml" Id="R27b88751e5b945c1" /><Relationship Type="http://schemas.openxmlformats.org/officeDocument/2006/relationships/officeDocument" Target="/ppt/presentation.xml" Id="Ra1654719f6fd40f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23e787ec3a248ce"/>
  </p:sldMasterIdLst>
  <p:notesMasterIdLst>
    <p:notesMasterId xmlns:r="http://schemas.openxmlformats.org/officeDocument/2006/relationships" r:id="R79b1a70f880e43ea"/>
  </p:notesMasterIdLst>
  <p:sldIdLst>
    <p:sldId xmlns:r="http://schemas.openxmlformats.org/officeDocument/2006/relationships" id="256" r:id="Ra6b411d601b149cd"/>
    <p:sldId xmlns:r="http://schemas.openxmlformats.org/officeDocument/2006/relationships" id="257" r:id="R52221bb7487a45b3"/>
    <p:sldId xmlns:r="http://schemas.openxmlformats.org/officeDocument/2006/relationships" id="258" r:id="R90e89038bd6b4594"/>
    <p:sldId xmlns:r="http://schemas.openxmlformats.org/officeDocument/2006/relationships" id="259" r:id="R9b499891de3d4f6c"/>
    <p:sldId xmlns:r="http://schemas.openxmlformats.org/officeDocument/2006/relationships" id="260" r:id="R6557cd86041d4c1a"/>
    <p:sldId xmlns:r="http://schemas.openxmlformats.org/officeDocument/2006/relationships" id="261" r:id="R846a04e1a1de4682"/>
    <p:sldId xmlns:r="http://schemas.openxmlformats.org/officeDocument/2006/relationships" id="262" r:id="R6ac01aba82c44f6c"/>
    <p:sldId xmlns:r="http://schemas.openxmlformats.org/officeDocument/2006/relationships" id="263" r:id="Ree1a9eea2f534b6a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82b62675e8f4f44" /><Relationship Type="http://schemas.openxmlformats.org/officeDocument/2006/relationships/slideMaster" Target="/ppt/slideMasters/slideMaster1.xml" Id="R723e787ec3a248ce" /><Relationship Type="http://schemas.openxmlformats.org/officeDocument/2006/relationships/notesMaster" Target="/ppt/notesMasters/notesMaster1.xml" Id="R79b1a70f880e43ea" /><Relationship Type="http://schemas.openxmlformats.org/officeDocument/2006/relationships/presProps" Target="/ppt/presProps.xml" Id="R993b757d14b54380" /><Relationship Type="http://schemas.openxmlformats.org/officeDocument/2006/relationships/tableStyles" Target="/ppt/tableStyles.xml" Id="Rd19405331bac4d88" /><Relationship Type="http://schemas.openxmlformats.org/officeDocument/2006/relationships/slide" Target="/ppt/slides/slide1.xml" Id="Ra6b411d601b149cd" /><Relationship Type="http://schemas.openxmlformats.org/officeDocument/2006/relationships/slide" Target="/ppt/slides/slide2.xml" Id="R52221bb7487a45b3" /><Relationship Type="http://schemas.openxmlformats.org/officeDocument/2006/relationships/slide" Target="/ppt/slides/slide3.xml" Id="R90e89038bd6b4594" /><Relationship Type="http://schemas.openxmlformats.org/officeDocument/2006/relationships/slide" Target="/ppt/slides/slide4.xml" Id="R9b499891de3d4f6c" /><Relationship Type="http://schemas.openxmlformats.org/officeDocument/2006/relationships/slide" Target="/ppt/slides/slide5.xml" Id="R6557cd86041d4c1a" /><Relationship Type="http://schemas.openxmlformats.org/officeDocument/2006/relationships/slide" Target="/ppt/slides/slide6.xml" Id="R846a04e1a1de4682" /><Relationship Type="http://schemas.openxmlformats.org/officeDocument/2006/relationships/slide" Target="/ppt/slides/slide7.xml" Id="R6ac01aba82c44f6c" /><Relationship Type="http://schemas.openxmlformats.org/officeDocument/2006/relationships/slide" Target="/ppt/slides/slide8.xml" Id="Ree1a9eea2f534b6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41657d112e2464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ece48e254bb4edb" /><Relationship Type="http://schemas.openxmlformats.org/officeDocument/2006/relationships/notesMaster" Target="/ppt/notesMasters/notesMaster1.xml" Id="Rcb5a766c0d55474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a07eacd75c7484e" /><Relationship Type="http://schemas.openxmlformats.org/officeDocument/2006/relationships/notesMaster" Target="/ppt/notesMasters/notesMaster1.xml" Id="R5400971b29b3403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2ed47f89be940d2" /><Relationship Type="http://schemas.openxmlformats.org/officeDocument/2006/relationships/notesMaster" Target="/ppt/notesMasters/notesMaster1.xml" Id="R4305687a388540f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5e89b8262ef4173" /><Relationship Type="http://schemas.openxmlformats.org/officeDocument/2006/relationships/notesMaster" Target="/ppt/notesMasters/notesMaster1.xml" Id="R4a090ddcd94146f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cdc671a09e54e18" /><Relationship Type="http://schemas.openxmlformats.org/officeDocument/2006/relationships/notesMaster" Target="/ppt/notesMasters/notesMaster1.xml" Id="R542b42e0b4f84ef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8bcfc05064c4544" /><Relationship Type="http://schemas.openxmlformats.org/officeDocument/2006/relationships/notesMaster" Target="/ppt/notesMasters/notesMaster1.xml" Id="Rfbce44cd4574435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7d45e4d581a420c" /><Relationship Type="http://schemas.openxmlformats.org/officeDocument/2006/relationships/notesMaster" Target="/ppt/notesMasters/notesMaster1.xml" Id="Ra7787867dfba4da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23b8326c2504c24" /><Relationship Type="http://schemas.openxmlformats.org/officeDocument/2006/relationships/notesMaster" Target="/ppt/notesMasters/notesMaster1.xml" Id="R2ceb18a5232a4b6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0:00–0:45</a:t>
            </a:r>
          </a:p>
          <a:p xmlns:a="http://schemas.openxmlformats.org/drawingml/2006/main">
            <a:r>
              <a:t>안녕하세요. 이번 주에는 오늘의 냉장고를 단순 UI 프로토타입에서 실제 데이터와 AI 추천이 연결되는 서비스로 한 단계 끌어올렸습니다.</a:t>
            </a:r>
          </a:p>
          <a:p xmlns:a="http://schemas.openxmlformats.org/drawingml/2006/main">
            <a:r>
              <a:t>오늘은 기획 의도, 진행 상황, 이번 주 핵심 구현, 개발 구조를 짚고 마지막에 실제 사용자 흐름을 시연하겠습니다.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0:45–2:00</a:t>
            </a:r>
          </a:p>
          <a:p xmlns:a="http://schemas.openxmlformats.org/drawingml/2006/main">
            <a:r>
              <a:t>기획의 출발점은 재료 관리 자체가 아닙니다. 자취생 입장에서는 냉장고에 무엇이 있는지 알아도 오늘 무엇을 먹을지 결정하기가 어렵습니다.</a:t>
            </a:r>
          </a:p>
          <a:p xmlns:a="http://schemas.openxmlformats.org/drawingml/2006/main">
            <a:r>
              <a:t>그래서 서비스의 핵심 질문을 ‘무엇을 보관하고 있나’에서 ‘지금 무엇을 만들 수 있나’로 바꿨습니다.</a:t>
            </a:r>
          </a:p>
          <a:p xmlns:a="http://schemas.openxmlformats.org/drawingml/2006/main">
            <a:r>
              <a:t>소비기한이 가까운 재료를 먼저 보여주고, 사용자의 조리 여력까지 받아 메뉴 선택지를 줄이는 것이 핵심입니다.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2:00–3:15</a:t>
            </a:r>
          </a:p>
          <a:p xmlns:a="http://schemas.openxmlformats.org/drawingml/2006/main">
            <a:r>
              <a:t>현재는 재료 데이터가 Supabase에 저장되고, 그 데이터를 Express API가 읽어 Gemini 추천으로 연결합니다.</a:t>
            </a:r>
          </a:p>
          <a:p xmlns:a="http://schemas.openxmlformats.org/drawingml/2006/main">
            <a:r>
              <a:t>추천 결과는 한 번에 세 개씩 제공하고 최대 열다섯 개까지 확장할 수 있습니다.</a:t>
            </a:r>
          </a:p>
          <a:p xmlns:a="http://schemas.openxmlformats.org/drawingml/2006/main">
            <a:r>
              <a:t>품질 측면에서는 oxlint와 프로덕션 빌드가 통과했고, 자동 테스트 77개 중 72개가 통과했습니다.</a:t>
            </a:r>
          </a:p>
          <a:p xmlns:a="http://schemas.openxmlformats.org/drawingml/2006/main">
            <a:r>
              <a:t>남은 다섯 건은 1/0, 0/0 같은 비정상 수량 형식입니다. 핵심 흐름과 분리된 입력 검증 엣지 케이스이며 다음 보완 항목으로 관리하고 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3:15–4:35</a:t>
            </a:r>
          </a:p>
          <a:p xmlns:a="http://schemas.openxmlformats.org/drawingml/2006/main">
            <a:r>
              <a:t>이번 주 핵심은 세 가지 사용자 체감 변화입니다.</a:t>
            </a:r>
          </a:p>
          <a:p xmlns:a="http://schemas.openxmlformats.org/drawingml/2006/main">
            <a:r>
              <a:t>첫째, 재료가 실제 DB에 저장되고 중복 입력은 병합되기 때문에 냉장고 상태를 신뢰할 수 있게 됐습니다.</a:t>
            </a:r>
          </a:p>
          <a:p xmlns:a="http://schemas.openxmlformats.org/drawingml/2006/main">
            <a:r>
              <a:t>둘째, 단순 날짜 표시가 아니라 보관 방식과 D-day를 이용해 무엇부터 먹어야 하는지 우선순위를 줍니다.</a:t>
            </a:r>
          </a:p>
          <a:p xmlns:a="http://schemas.openxmlformats.org/drawingml/2006/main">
            <a:r>
              <a:t>셋째, 추천을 카드에서 끝내지 않고 상세 레시피, 저장, 부족 재료 확인과 구매 행동까지 이어지게 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4:35–6:05</a:t>
            </a:r>
          </a:p>
          <a:p xmlns:a="http://schemas.openxmlformats.org/drawingml/2006/main">
            <a:r>
              <a:t>추천의 핵심은 Gemini를 호출하는 것보다 생성 이후를 통제하는 데 있습니다.</a:t>
            </a:r>
          </a:p>
          <a:p xmlns:a="http://schemas.openxmlformats.org/drawingml/2006/main">
            <a:r>
              <a:t>서버가 Supabase에서 현재 재료를 직접 읽고, 필요한 필드만 모델에 전달합니다.</a:t>
            </a:r>
          </a:p>
          <a:p xmlns:a="http://schemas.openxmlformats.org/drawingml/2006/main">
            <a:r>
              <a:t>응답은 구조화 JSON으로 받고 Zod 스키마와 서버 정책으로 다시 검증합니다.</a:t>
            </a:r>
          </a:p>
          <a:p xmlns:a="http://schemas.openxmlformats.org/drawingml/2006/main">
            <a:r>
              <a:t>만료 재료는 제외하고, 부족 재료 수를 제한하며, 메뉴 이름과 핵심 재료 조합으로 중복을 막습니다.</a:t>
            </a:r>
          </a:p>
          <a:p xmlns:a="http://schemas.openxmlformats.org/drawingml/2006/main">
            <a:r>
              <a:t>동일 조건은 Supabase 캐시를 재사용하고, 외부 API가 실패해도 마지막 성공 결과가 있으면 화면을 유지합니다.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6:05–7:45</a:t>
            </a:r>
          </a:p>
          <a:p xmlns:a="http://schemas.openxmlformats.org/drawingml/2006/main">
            <a:r>
              <a:t>구조의 핵심 원칙은 역할 분리입니다.</a:t>
            </a:r>
          </a:p>
          <a:p xmlns:a="http://schemas.openxmlformats.org/drawingml/2006/main">
            <a:r>
              <a:t>React는 화면과 사용자 상태를 담당하고, Express는 API 경계와 공통 오류 형식을 담당합니다.</a:t>
            </a:r>
          </a:p>
          <a:p xmlns:a="http://schemas.openxmlformats.org/drawingml/2006/main">
            <a:r>
              <a:t>실제 추천 정책과 Zod 검증, 캐시와 중복 제거는 서비스 레이어에 모았습니다.</a:t>
            </a:r>
          </a:p>
          <a:p xmlns:a="http://schemas.openxmlformats.org/drawingml/2006/main">
            <a:r>
              <a:t>Supabase Secret key와 Gemini API key는 서버 환경변수에만 있고 브라우저에는 노출하지 않습니다.</a:t>
            </a:r>
          </a:p>
          <a:p xmlns:a="http://schemas.openxmlformats.org/drawingml/2006/main">
            <a:r>
              <a:t>이 구조 덕분에 AI 모델을 바꾸거나 정책을 보강해도 프론트 화면의 변경을 최소화할 수 있습니다.</a:t>
            </a:r>
          </a:p>
          <a:p xmlns:a="http://schemas.openxmlformats.org/drawingml/2006/main">
            <a:r>
              <a:t>아래 품질 레일은 현재 검증 상태입니다. 테스트 다섯 건은 솔직하게 남은 과제로 표시했습니다.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7:45–9:15</a:t>
            </a:r>
          </a:p>
          <a:p xmlns:a="http://schemas.openxmlformats.org/drawingml/2006/main">
            <a:r>
              <a:t>이제 실제 흐름을 보겠습니다.</a:t>
            </a:r>
          </a:p>
          <a:p xmlns:a="http://schemas.openxmlformats.org/drawingml/2006/main">
            <a:r>
              <a:t>첫 화면에서 Supabase의 재료 11개를 읽고, 가장 임박한 삼겹살 D-1을 상단에 강조합니다.</a:t>
            </a:r>
          </a:p>
          <a:p xmlns:a="http://schemas.openxmlformats.org/drawingml/2006/main">
            <a:r>
              <a:t>사용자는 오늘 메뉴 추천을 누르고, 불 없이·15분·균형식 중 현재 가능한 조리 여력을 선택합니다.</a:t>
            </a:r>
          </a:p>
          <a:p xmlns:a="http://schemas.openxmlformats.org/drawingml/2006/main">
            <a:r>
              <a:t>여기서는 ‘불도 켜기 싫어요’를 선택했고, 현재 재료로 가능한 메뉴 세 개가 나옵니다.</a:t>
            </a:r>
          </a:p>
          <a:p xmlns:a="http://schemas.openxmlformats.org/drawingml/2006/main">
            <a:r>
              <a:t>부족 재료 한 개까지 허용할지 선택할 수 있고, 다른 추천 보기를 누르면 기존 fingerprint를 제외한 다음 세 개를 요청합니다.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9:15–10:00</a:t>
            </a:r>
          </a:p>
          <a:p xmlns:a="http://schemas.openxmlformats.org/drawingml/2006/main">
            <a:r>
              <a:t>추천 카드를 선택하면 레시피 상세로 이동합니다.</a:t>
            </a:r>
          </a:p>
          <a:p xmlns:a="http://schemas.openxmlformats.org/drawingml/2006/main">
            <a:r>
              <a:t>보유 재료와 선택 재료를 구분하고, 대체 재료, 조리 순서, 영양 안내와 주의사항까지 제공합니다.</a:t>
            </a:r>
          </a:p>
          <a:p xmlns:a="http://schemas.openxmlformats.org/drawingml/2006/main">
            <a:r>
              <a:t>정리하면 이번 주에는 DB에 저장된 냉장고 상태가 실제 저녁 메뉴 결정으로 이어지는 한 사이클을 완성했습니다.</a:t>
            </a:r>
          </a:p>
          <a:p xmlns:a="http://schemas.openxmlformats.org/drawingml/2006/main">
            <a:r>
              <a:t>다음은 비정상 수량 입력 다섯 건을 보완하고 GitHub Actions로 테스트·lint·build를 자동화한 뒤 배포로 연결하겠습니다.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f7dbb28a66140c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355c5b6f79c4aca" /><Relationship Type="http://schemas.openxmlformats.org/officeDocument/2006/relationships/slideLayout" Target="/ppt/slideLayouts/slideLayout1.xml" Id="Rf1823dd2d80e469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1823dd2d80e469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e38cf8213f465d" /><Relationship Type="http://schemas.openxmlformats.org/officeDocument/2006/relationships/notesSlide" Target="/ppt/notesSlides/notesSlide1.xml" Id="Rc1355ce79b5a4ee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1e3f7fdf214533" /><Relationship Type="http://schemas.openxmlformats.org/officeDocument/2006/relationships/image" Target="/ppt/media/image.jpeg" Id="R05775b32e2034d64" /><Relationship Type="http://schemas.openxmlformats.org/officeDocument/2006/relationships/notesSlide" Target="/ppt/notesSlides/notesSlide2.xml" Id="Rcba41fd51be0436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08e06592de4709" /><Relationship Type="http://schemas.openxmlformats.org/officeDocument/2006/relationships/notesSlide" Target="/ppt/notesSlides/notesSlide3.xml" Id="R5ae46951f8cd4ae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945e937fd64805" /><Relationship Type="http://schemas.openxmlformats.org/officeDocument/2006/relationships/notesSlide" Target="/ppt/notesSlides/notesSlide4.xml" Id="Reb22497ab577410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e90f855e2240e0" /><Relationship Type="http://schemas.openxmlformats.org/officeDocument/2006/relationships/notesSlide" Target="/ppt/notesSlides/notesSlide5.xml" Id="R1cb044c4cf6f4aa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2be72ace9445ff" /><Relationship Type="http://schemas.openxmlformats.org/officeDocument/2006/relationships/notesSlide" Target="/ppt/notesSlides/notesSlide6.xml" Id="R7eef5dd1bc18445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e867e3260a46b1" /><Relationship Type="http://schemas.openxmlformats.org/officeDocument/2006/relationships/image" Target="/ppt/media/image2.jpeg" Id="Rb8508292e1df4bac" /><Relationship Type="http://schemas.openxmlformats.org/officeDocument/2006/relationships/image" Target="/ppt/media/image3.jpeg" Id="R891f4c9ff60444d6" /><Relationship Type="http://schemas.openxmlformats.org/officeDocument/2006/relationships/notesSlide" Target="/ppt/notesSlides/notesSlide7.xml" Id="R8a9a1246fe0547c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34b9c07feb46fb" /><Relationship Type="http://schemas.openxmlformats.org/officeDocument/2006/relationships/image" Target="/ppt/media/image4.jpeg" Id="R01e4b28c91ef4539" /><Relationship Type="http://schemas.openxmlformats.org/officeDocument/2006/relationships/notesSlide" Target="/ppt/notesSlides/notesSlide8.xml" Id="R44063cd726c7434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C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-accent-green">
            <a:extLst xmlns:a="http://schemas.openxmlformats.org/drawingml/2006/main">
              <a:ext uri="{FF2B5EF4-FFF2-40B4-BE49-F238E27FC236}">
                <a16:creationId xmlns:a16="http://schemas.microsoft.com/office/drawing/2014/main" id="{41EDC33E-B914-4134-BD67-EC617F255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81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D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itle-accent-orange">
            <a:extLst xmlns:a="http://schemas.openxmlformats.org/drawingml/2006/main">
              <a:ext uri="{FF2B5EF4-FFF2-40B4-BE49-F238E27FC236}">
                <a16:creationId xmlns:a16="http://schemas.microsoft.com/office/drawing/2014/main" id="{909C6357-445B-47F5-A250-1408FFE06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81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E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itle-kicker">
            <a:extLst xmlns:a="http://schemas.openxmlformats.org/drawingml/2006/main">
              <a:ext uri="{FF2B5EF4-FFF2-40B4-BE49-F238E27FC236}">
                <a16:creationId xmlns:a16="http://schemas.microsoft.com/office/drawing/2014/main" id="{D4B72713-A43F-4249-A75B-AEB7E562A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0050"/>
            <a:ext cx="4953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96B66"/>
                </a:solidFill>
                <a:latin typeface="Malgun Gothic"/>
                <a:ea typeface="Malgun Gothic"/>
                <a:cs typeface="Malgun Gothic"/>
              </a:defRPr>
            </a:pPr>
            <a:r>
              <a:t>AI AGENT CHALLENGE · WEEKLY DEMO</a:t>
            </a:r>
          </a:p>
        </p:txBody>
      </p:sp>
      <p:sp>
        <p:nvSpPr>
          <p:cNvPr id="4" name="deck-title">
            <a:extLst xmlns:a="http://schemas.openxmlformats.org/drawingml/2006/main">
              <a:ext uri="{FF2B5EF4-FFF2-40B4-BE49-F238E27FC236}">
                <a16:creationId xmlns:a16="http://schemas.microsoft.com/office/drawing/2014/main" id="{C3CB518C-4AC9-4571-8683-4EA6413FD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62200"/>
            <a:ext cx="857250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1A1C19"/>
                </a:solidFill>
                <a:latin typeface="Malgun Gothic"/>
                <a:ea typeface="Malgun Gothic"/>
                <a:cs typeface="Malgun Gothic"/>
              </a:defRPr>
            </a:pPr>
            <a:r>
              <a:t>오늘의 냉장고</a:t>
            </a:r>
          </a:p>
        </p:txBody>
      </p:sp>
      <p:sp>
        <p:nvSpPr>
          <p:cNvPr id="5" name="deck-subtitle">
            <a:extLst xmlns:a="http://schemas.openxmlformats.org/drawingml/2006/main">
              <a:ext uri="{FF2B5EF4-FFF2-40B4-BE49-F238E27FC236}">
                <a16:creationId xmlns:a16="http://schemas.microsoft.com/office/drawing/2014/main" id="{872A998D-8626-4B12-8A04-B07699075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0"/>
            <a:ext cx="8572500" cy="1257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06D36"/>
                </a:solidFill>
                <a:latin typeface="Malgun Gothic"/>
                <a:ea typeface="Malgun Gothic"/>
                <a:cs typeface="Malgun Gothic"/>
              </a:defRPr>
            </a:pPr>
            <a:r>
              <a:t>DB에 저장된 재료가
오늘의 메뉴가 되기까지</a:t>
            </a:r>
          </a:p>
        </p:txBody>
      </p:sp>
      <p:sp>
        <p:nvSpPr>
          <p:cNvPr id="6" name="deck-scope">
            <a:extLst xmlns:a="http://schemas.openxmlformats.org/drawingml/2006/main">
              <a:ext uri="{FF2B5EF4-FFF2-40B4-BE49-F238E27FC236}">
                <a16:creationId xmlns:a16="http://schemas.microsoft.com/office/drawing/2014/main" id="{70E8882A-A998-4935-82B7-03A78BDCF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34050"/>
            <a:ext cx="7239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96B66"/>
                </a:solidFill>
                <a:latin typeface="Malgun Gothic"/>
                <a:ea typeface="Malgun Gothic"/>
                <a:cs typeface="Malgun Gothic"/>
              </a:defRPr>
            </a:pPr>
            <a:r>
              <a:t>Supabase 연동 · 기능 강화 · 추천 구조 고도화</a:t>
            </a:r>
          </a:p>
        </p:txBody>
      </p:sp>
      <p:sp>
        <p:nvSpPr>
          <p:cNvPr id="7" name="title-rule">
            <a:extLst xmlns:a="http://schemas.openxmlformats.org/drawingml/2006/main">
              <a:ext uri="{FF2B5EF4-FFF2-40B4-BE49-F238E27FC236}">
                <a16:creationId xmlns:a16="http://schemas.microsoft.com/office/drawing/2014/main" id="{26506258-4064-4046-BBA3-A2CE8CE23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10300"/>
            <a:ext cx="11277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C19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73552712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C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kicker-2">
            <a:extLst xmlns:a="http://schemas.openxmlformats.org/drawingml/2006/main">
              <a:ext uri="{FF2B5EF4-FFF2-40B4-BE49-F238E27FC236}">
                <a16:creationId xmlns:a16="http://schemas.microsoft.com/office/drawing/2014/main" id="{72FF9897-0124-413D-81C4-54376B23D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3333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7E47"/>
                </a:solidFill>
                <a:latin typeface="Malgun Gothic"/>
                <a:ea typeface="Malgun Gothic"/>
                <a:cs typeface="Malgun Gothic"/>
              </a:defRPr>
            </a:pPr>
            <a:r>
              <a:t>01 · 기획 소개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D23D7E77-E8C6-4458-B2AC-B3913C902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1127760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A1C19"/>
                </a:solidFill>
                <a:latin typeface="Malgun Gothic"/>
                <a:ea typeface="Malgun Gothic"/>
                <a:cs typeface="Malgun Gothic"/>
              </a:defRPr>
            </a:pPr>
            <a:r>
              <a:t>냉장고 속 재료를 오늘의 메뉴로</a:t>
            </a:r>
          </a:p>
        </p:txBody>
      </p:sp>
      <p:sp>
        <p:nvSpPr>
          <p:cNvPr id="3" name="problem-label">
            <a:extLst xmlns:a="http://schemas.openxmlformats.org/drawingml/2006/main">
              <a:ext uri="{FF2B5EF4-FFF2-40B4-BE49-F238E27FC236}">
                <a16:creationId xmlns:a16="http://schemas.microsoft.com/office/drawing/2014/main" id="{5D5611F3-126C-4E9F-ABD6-6F5994B21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0"/>
            <a:ext cx="1333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91E4B"/>
                </a:solidFill>
                <a:latin typeface="Malgun Gothic"/>
                <a:ea typeface="Malgun Gothic"/>
                <a:cs typeface="Malgun Gothic"/>
              </a:defRPr>
            </a:pPr>
            <a:r>
              <a:t>문제</a:t>
            </a:r>
          </a:p>
        </p:txBody>
      </p:sp>
      <p:sp>
        <p:nvSpPr>
          <p:cNvPr id="4" name="problem-copy">
            <a:extLst xmlns:a="http://schemas.openxmlformats.org/drawingml/2006/main">
              <a:ext uri="{FF2B5EF4-FFF2-40B4-BE49-F238E27FC236}">
                <a16:creationId xmlns:a16="http://schemas.microsoft.com/office/drawing/2014/main" id="{65F7AD80-1933-471B-B1BA-1A4DEE075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52650"/>
            <a:ext cx="476250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A1C19"/>
                </a:solidFill>
                <a:latin typeface="Malgun Gothic"/>
                <a:ea typeface="Malgun Gothic"/>
                <a:cs typeface="Malgun Gothic"/>
              </a:defRPr>
            </a:pPr>
            <a:r>
              <a:t>재료는 있지만,
메뉴 결정은 매번 처음부터</a:t>
            </a:r>
          </a:p>
        </p:txBody>
      </p:sp>
      <p:sp>
        <p:nvSpPr>
          <p:cNvPr id="5" name="solution-label">
            <a:extLst xmlns:a="http://schemas.openxmlformats.org/drawingml/2006/main">
              <a:ext uri="{FF2B5EF4-FFF2-40B4-BE49-F238E27FC236}">
                <a16:creationId xmlns:a16="http://schemas.microsoft.com/office/drawing/2014/main" id="{7051A546-78AD-4190-B5D4-9BC3686CD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14750"/>
            <a:ext cx="1333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6D36"/>
                </a:solidFill>
                <a:latin typeface="Malgun Gothic"/>
                <a:ea typeface="Malgun Gothic"/>
                <a:cs typeface="Malgun Gothic"/>
              </a:defRPr>
            </a:pPr>
            <a:r>
              <a:t>해결</a:t>
            </a:r>
          </a:p>
        </p:txBody>
      </p:sp>
      <p:sp>
        <p:nvSpPr>
          <p:cNvPr id="6" name="solution-copy">
            <a:extLst xmlns:a="http://schemas.openxmlformats.org/drawingml/2006/main">
              <a:ext uri="{FF2B5EF4-FFF2-40B4-BE49-F238E27FC236}">
                <a16:creationId xmlns:a16="http://schemas.microsoft.com/office/drawing/2014/main" id="{5B8BC623-089D-4D44-8702-E0AFCEDAC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57650"/>
            <a:ext cx="495300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96B66"/>
                </a:solidFill>
                <a:latin typeface="Malgun Gothic"/>
                <a:ea typeface="Malgun Gothic"/>
                <a:cs typeface="Malgun Gothic"/>
              </a:defRPr>
            </a:pPr>
            <a:r>
              <a:t>보유 재료 · 소비기한 · 조리 여력으로
실행 가능한 메뉴만 제안</a:t>
            </a:r>
          </a:p>
        </p:txBody>
      </p:sp>
      <p:sp>
        <p:nvSpPr>
          <p:cNvPr id="7" name="planning-outcome">
            <a:extLst xmlns:a="http://schemas.openxmlformats.org/drawingml/2006/main">
              <a:ext uri="{FF2B5EF4-FFF2-40B4-BE49-F238E27FC236}">
                <a16:creationId xmlns:a16="http://schemas.microsoft.com/office/drawing/2014/main" id="{3B8400A3-3806-4A62-8F71-77D03ABEE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76850"/>
            <a:ext cx="49530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EAF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planning-outcome-copy">
            <a:extLst xmlns:a="http://schemas.openxmlformats.org/drawingml/2006/main">
              <a:ext uri="{FF2B5EF4-FFF2-40B4-BE49-F238E27FC236}">
                <a16:creationId xmlns:a16="http://schemas.microsoft.com/office/drawing/2014/main" id="{6D1B3A2F-0EC8-4836-9884-AEC9AC297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486400"/>
            <a:ext cx="44577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6D36"/>
                </a:solidFill>
                <a:latin typeface="Malgun Gothic"/>
                <a:ea typeface="Malgun Gothic"/>
                <a:cs typeface="Malgun Gothic"/>
              </a:defRPr>
            </a:pPr>
            <a:r>
              <a:t>핵심 가치  |  관리보다 다음 행동을 쉽게</a:t>
            </a:r>
          </a:p>
        </p:txBody>
      </p:sp>
      <p:sp>
        <p:nvSpPr>
          <p:cNvPr id="9" name="planning-image-frame">
            <a:extLst xmlns:a="http://schemas.openxmlformats.org/drawingml/2006/main">
              <a:ext uri="{FF2B5EF4-FFF2-40B4-BE49-F238E27FC236}">
                <a16:creationId xmlns:a16="http://schemas.microsoft.com/office/drawing/2014/main" id="{05BD35AE-2C0C-4E51-92E1-DD64DFAD5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657350"/>
            <a:ext cx="5810250" cy="4343400"/>
          </a:xfrm>
          <a:prstGeom xmlns:a="http://schemas.openxmlformats.org/drawingml/2006/main" prst="roundRect">
            <a:avLst>
              <a:gd name="adj" fmla="val 17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DDD6"/>
            </a:solidFill>
            <a:prstDash val="solid"/>
          </a:ln>
        </p:spPr>
      </p:sp>
      <p:sp>
        <p:nvSpPr>
          <p:cNvPr id="10" name="footer-label-2">
            <a:extLst xmlns:a="http://schemas.openxmlformats.org/drawingml/2006/main">
              <a:ext uri="{FF2B5EF4-FFF2-40B4-BE49-F238E27FC236}">
                <a16:creationId xmlns:a16="http://schemas.microsoft.com/office/drawing/2014/main" id="{5DF46207-6399-40EF-803F-268FD4DD3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3429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96B66"/>
                </a:solidFill>
                <a:latin typeface="Malgun Gothic"/>
                <a:ea typeface="Malgun Gothic"/>
                <a:cs typeface="Malgun Gothic"/>
              </a:defRPr>
            </a:pPr>
            <a:r>
              <a:t>TODAY'S FRIDGE · DEMO DAY</a:t>
            </a:r>
          </a:p>
        </p:txBody>
      </p:sp>
      <p:sp>
        <p:nvSpPr>
          <p:cNvPr id="11" name="footer-number-2">
            <a:extLst xmlns:a="http://schemas.openxmlformats.org/drawingml/2006/main">
              <a:ext uri="{FF2B5EF4-FFF2-40B4-BE49-F238E27FC236}">
                <a16:creationId xmlns:a16="http://schemas.microsoft.com/office/drawing/2014/main" id="{E0D72431-9BE4-4216-AB9F-1B1E65271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953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96B66"/>
                </a:solidFill>
                <a:latin typeface="Malgun Gothic"/>
                <a:ea typeface="Malgun Gothic"/>
                <a:cs typeface="Malgun Gothic"/>
              </a:defRPr>
            </a:pPr>
            <a:r>
              <a:t>02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775b32e2034d64"/>
          <a:srcRect xmlns:a="http://schemas.openxmlformats.org/drawingml/2006/main" l="11440" t="0" r="1144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15050" y="1847850"/>
            <a:ext cx="5429250" cy="3962400"/>
          </a:xfrm>
          <a:prstGeom xmlns:a="http://schemas.openxmlformats.org/drawingml/2006/main" prst="roundRect">
            <a:avLst>
              <a:gd name="adj" fmla="val 2885"/>
            </a:avLst>
          </a:prstGeom>
        </p:spPr>
      </p:pic>
    </p:spTree>
    <p:extLst>
      <p:ext uri="{BB962C8B-B14F-4D97-AF65-F5344CB8AC3E}">
        <p14:creationId xmlns:p14="http://schemas.microsoft.com/office/powerpoint/2010/main" val="110172797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C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kicker-3">
            <a:extLst xmlns:a="http://schemas.openxmlformats.org/drawingml/2006/main">
              <a:ext uri="{FF2B5EF4-FFF2-40B4-BE49-F238E27FC236}">
                <a16:creationId xmlns:a16="http://schemas.microsoft.com/office/drawing/2014/main" id="{BB0B4113-11FC-49A0-9935-CD9208DAA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3333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7E47"/>
                </a:solidFill>
                <a:latin typeface="Malgun Gothic"/>
                <a:ea typeface="Malgun Gothic"/>
                <a:cs typeface="Malgun Gothic"/>
              </a:defRPr>
            </a:pPr>
            <a:r>
              <a:t>02 · 진행 상황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01A97CE3-60A8-443A-80FC-50D56851C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1127760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A1C19"/>
                </a:solidFill>
                <a:latin typeface="Malgun Gothic"/>
                <a:ea typeface="Malgun Gothic"/>
                <a:cs typeface="Malgun Gothic"/>
              </a:defRPr>
            </a:pPr>
            <a:r>
              <a:t>저장–추천–검증, 하나의 흐름으로 연결</a:t>
            </a:r>
          </a:p>
        </p:txBody>
      </p:sp>
      <p:sp>
        <p:nvSpPr>
          <p:cNvPr id="3" name="progress-card-0">
            <a:extLst xmlns:a="http://schemas.openxmlformats.org/drawingml/2006/main">
              <a:ext uri="{FF2B5EF4-FFF2-40B4-BE49-F238E27FC236}">
                <a16:creationId xmlns:a16="http://schemas.microsoft.com/office/drawing/2014/main" id="{14E1F26E-CF5E-4ABC-8EAC-F01D72D3E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95450"/>
            <a:ext cx="3333750" cy="3200400"/>
          </a:xfrm>
          <a:prstGeom xmlns:a="http://schemas.openxmlformats.org/drawingml/2006/main" prst="roundRect">
            <a:avLst>
              <a:gd name="adj" fmla="val 2381"/>
            </a:avLst>
          </a:prstGeom>
          <a:solidFill xmlns:a="http://schemas.openxmlformats.org/drawingml/2006/main">
            <a:srgbClr val="EAF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rogress-tag-0">
            <a:extLst xmlns:a="http://schemas.openxmlformats.org/drawingml/2006/main">
              <a:ext uri="{FF2B5EF4-FFF2-40B4-BE49-F238E27FC236}">
                <a16:creationId xmlns:a16="http://schemas.microsoft.com/office/drawing/2014/main" id="{794751D8-06D8-4D1D-8CDC-D22D5FDFB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62150"/>
            <a:ext cx="1524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D36"/>
                </a:solidFill>
                <a:latin typeface="Malgun Gothic"/>
                <a:ea typeface="Malgun Gothic"/>
                <a:cs typeface="Malgun Gothic"/>
              </a:defRPr>
            </a:pPr>
            <a:r>
              <a:t>DATA</a:t>
            </a:r>
          </a:p>
        </p:txBody>
      </p:sp>
      <p:sp>
        <p:nvSpPr>
          <p:cNvPr id="5" name="progress-stat-0">
            <a:extLst xmlns:a="http://schemas.openxmlformats.org/drawingml/2006/main">
              <a:ext uri="{FF2B5EF4-FFF2-40B4-BE49-F238E27FC236}">
                <a16:creationId xmlns:a16="http://schemas.microsoft.com/office/drawing/2014/main" id="{C53CEC5D-097D-480B-8E85-A2E3F05A5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81250"/>
            <a:ext cx="27622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A1C19"/>
                </a:solidFill>
                <a:latin typeface="Malgun Gothic"/>
                <a:ea typeface="Malgun Gothic"/>
                <a:cs typeface="Malgun Gothic"/>
              </a:defRPr>
            </a:pPr>
            <a:r>
              <a:t>CRUD</a:t>
            </a:r>
          </a:p>
        </p:txBody>
      </p:sp>
      <p:sp>
        <p:nvSpPr>
          <p:cNvPr id="6" name="progress-title-0">
            <a:extLst xmlns:a="http://schemas.openxmlformats.org/drawingml/2006/main">
              <a:ext uri="{FF2B5EF4-FFF2-40B4-BE49-F238E27FC236}">
                <a16:creationId xmlns:a16="http://schemas.microsoft.com/office/drawing/2014/main" id="{399ABF50-403F-4C8D-86E3-E04497F91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43250"/>
            <a:ext cx="27622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A1C19"/>
                </a:solidFill>
                <a:latin typeface="Malgun Gothic"/>
                <a:ea typeface="Malgun Gothic"/>
                <a:cs typeface="Malgun Gothic"/>
              </a:defRPr>
            </a:pPr>
            <a:r>
              <a:t>Supabase 영속화</a:t>
            </a:r>
          </a:p>
        </p:txBody>
      </p:sp>
      <p:sp>
        <p:nvSpPr>
          <p:cNvPr id="7" name="progress-body-0">
            <a:extLst xmlns:a="http://schemas.openxmlformats.org/drawingml/2006/main">
              <a:ext uri="{FF2B5EF4-FFF2-40B4-BE49-F238E27FC236}">
                <a16:creationId xmlns:a16="http://schemas.microsoft.com/office/drawing/2014/main" id="{F0403F27-3FAF-4008-A809-75FCF18FF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76650"/>
            <a:ext cx="28003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96B66"/>
                </a:solidFill>
                <a:latin typeface="Malgun Gothic"/>
                <a:ea typeface="Malgun Gothic"/>
                <a:cs typeface="Malgun Gothic"/>
              </a:defRPr>
            </a:pPr>
            <a:r>
              <a:t>재료 CRUD
새로고침 후에도 상태 유지</a:t>
            </a:r>
          </a:p>
        </p:txBody>
      </p:sp>
      <p:sp>
        <p:nvSpPr>
          <p:cNvPr id="8" name="progress-dot-0">
            <a:extLst xmlns:a="http://schemas.openxmlformats.org/drawingml/2006/main">
              <a:ext uri="{FF2B5EF4-FFF2-40B4-BE49-F238E27FC236}">
                <a16:creationId xmlns:a16="http://schemas.microsoft.com/office/drawing/2014/main" id="{838467E3-B9F7-4C8E-8ADA-0FC47580F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51054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D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progress-card-1">
            <a:extLst xmlns:a="http://schemas.openxmlformats.org/drawingml/2006/main">
              <a:ext uri="{FF2B5EF4-FFF2-40B4-BE49-F238E27FC236}">
                <a16:creationId xmlns:a16="http://schemas.microsoft.com/office/drawing/2014/main" id="{0774B829-A64E-48F5-BF58-2385411FD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695450"/>
            <a:ext cx="3333750" cy="3200400"/>
          </a:xfrm>
          <a:prstGeom xmlns:a="http://schemas.openxmlformats.org/drawingml/2006/main" prst="roundRect">
            <a:avLst>
              <a:gd name="adj" fmla="val 2381"/>
            </a:avLst>
          </a:prstGeom>
          <a:solidFill xmlns:a="http://schemas.openxmlformats.org/drawingml/2006/main">
            <a:srgbClr val="FFF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rogress-tag-1">
            <a:extLst xmlns:a="http://schemas.openxmlformats.org/drawingml/2006/main">
              <a:ext uri="{FF2B5EF4-FFF2-40B4-BE49-F238E27FC236}">
                <a16:creationId xmlns:a16="http://schemas.microsoft.com/office/drawing/2014/main" id="{D8C5296F-3C8D-4E9E-B62D-8D3269ACC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962150"/>
            <a:ext cx="1524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7E47"/>
                </a:solidFill>
                <a:latin typeface="Malgun Gothic"/>
                <a:ea typeface="Malgun Gothic"/>
                <a:cs typeface="Malgun Gothic"/>
              </a:defRPr>
            </a:pPr>
            <a:r>
              <a:t>AI</a:t>
            </a:r>
          </a:p>
        </p:txBody>
      </p:sp>
      <p:sp>
        <p:nvSpPr>
          <p:cNvPr id="11" name="progress-stat-1">
            <a:extLst xmlns:a="http://schemas.openxmlformats.org/drawingml/2006/main">
              <a:ext uri="{FF2B5EF4-FFF2-40B4-BE49-F238E27FC236}">
                <a16:creationId xmlns:a16="http://schemas.microsoft.com/office/drawing/2014/main" id="{BB93B3D4-1E37-48CA-9B07-80F168C21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381250"/>
            <a:ext cx="27622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A1C19"/>
                </a:solidFill>
                <a:latin typeface="Malgun Gothic"/>
                <a:ea typeface="Malgun Gothic"/>
                <a:cs typeface="Malgun Gothic"/>
              </a:defRPr>
            </a:pPr>
            <a:r>
              <a:t>3 / 15</a:t>
            </a:r>
          </a:p>
        </p:txBody>
      </p:sp>
      <p:sp>
        <p:nvSpPr>
          <p:cNvPr id="12" name="progress-title-1">
            <a:extLst xmlns:a="http://schemas.openxmlformats.org/drawingml/2006/main">
              <a:ext uri="{FF2B5EF4-FFF2-40B4-BE49-F238E27FC236}">
                <a16:creationId xmlns:a16="http://schemas.microsoft.com/office/drawing/2014/main" id="{59E03BE4-E296-4F69-81CD-C5B0FB747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143250"/>
            <a:ext cx="27622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A1C19"/>
                </a:solidFill>
                <a:latin typeface="Malgun Gothic"/>
                <a:ea typeface="Malgun Gothic"/>
                <a:cs typeface="Malgun Gothic"/>
              </a:defRPr>
            </a:pPr>
            <a:r>
              <a:t>Gemini 추천 연결</a:t>
            </a:r>
          </a:p>
        </p:txBody>
      </p:sp>
      <p:sp>
        <p:nvSpPr>
          <p:cNvPr id="13" name="progress-body-1">
            <a:extLst xmlns:a="http://schemas.openxmlformats.org/drawingml/2006/main">
              <a:ext uri="{FF2B5EF4-FFF2-40B4-BE49-F238E27FC236}">
                <a16:creationId xmlns:a16="http://schemas.microsoft.com/office/drawing/2014/main" id="{BB253DDD-E463-4AC4-893B-38246C2E0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676650"/>
            <a:ext cx="28003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96B66"/>
                </a:solidFill>
                <a:latin typeface="Malgun Gothic"/>
                <a:ea typeface="Malgun Gothic"/>
                <a:cs typeface="Malgun Gothic"/>
              </a:defRPr>
            </a:pPr>
            <a:r>
              <a:t>보유 재료로 3개 추천
상세·대체 재료 연결</a:t>
            </a:r>
          </a:p>
        </p:txBody>
      </p:sp>
      <p:sp>
        <p:nvSpPr>
          <p:cNvPr id="14" name="progress-dot-1">
            <a:extLst xmlns:a="http://schemas.openxmlformats.org/drawingml/2006/main">
              <a:ext uri="{FF2B5EF4-FFF2-40B4-BE49-F238E27FC236}">
                <a16:creationId xmlns:a16="http://schemas.microsoft.com/office/drawing/2014/main" id="{49ED26C4-3CD3-4E85-8435-DAE84636E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51054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D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progress-card-2">
            <a:extLst xmlns:a="http://schemas.openxmlformats.org/drawingml/2006/main">
              <a:ext uri="{FF2B5EF4-FFF2-40B4-BE49-F238E27FC236}">
                <a16:creationId xmlns:a16="http://schemas.microsoft.com/office/drawing/2014/main" id="{3BC1D41D-B575-4D8B-B186-45DA21465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695450"/>
            <a:ext cx="3333750" cy="3200400"/>
          </a:xfrm>
          <a:prstGeom xmlns:a="http://schemas.openxmlformats.org/drawingml/2006/main" prst="roundRect">
            <a:avLst>
              <a:gd name="adj" fmla="val 2381"/>
            </a:avLst>
          </a:prstGeom>
          <a:solidFill xmlns:a="http://schemas.openxmlformats.org/drawingml/2006/main">
            <a:srgbClr val="F3F2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progress-tag-2">
            <a:extLst xmlns:a="http://schemas.openxmlformats.org/drawingml/2006/main">
              <a:ext uri="{FF2B5EF4-FFF2-40B4-BE49-F238E27FC236}">
                <a16:creationId xmlns:a16="http://schemas.microsoft.com/office/drawing/2014/main" id="{BE68548E-9C74-4E53-917B-D365BA3BB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962150"/>
            <a:ext cx="1524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D36"/>
                </a:solidFill>
                <a:latin typeface="Malgun Gothic"/>
                <a:ea typeface="Malgun Gothic"/>
                <a:cs typeface="Malgun Gothic"/>
              </a:defRPr>
            </a:pPr>
            <a:r>
              <a:t>QUALITY</a:t>
            </a:r>
          </a:p>
        </p:txBody>
      </p:sp>
      <p:sp>
        <p:nvSpPr>
          <p:cNvPr id="17" name="progress-stat-2">
            <a:extLst xmlns:a="http://schemas.openxmlformats.org/drawingml/2006/main">
              <a:ext uri="{FF2B5EF4-FFF2-40B4-BE49-F238E27FC236}">
                <a16:creationId xmlns:a16="http://schemas.microsoft.com/office/drawing/2014/main" id="{BE93DE70-C944-4CE8-92CA-56B3ADF40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81250"/>
            <a:ext cx="27622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A1C19"/>
                </a:solidFill>
                <a:latin typeface="Malgun Gothic"/>
                <a:ea typeface="Malgun Gothic"/>
                <a:cs typeface="Malgun Gothic"/>
              </a:defRPr>
            </a:pPr>
            <a:r>
              <a:t>72 / 77</a:t>
            </a:r>
          </a:p>
        </p:txBody>
      </p:sp>
      <p:sp>
        <p:nvSpPr>
          <p:cNvPr id="18" name="progress-title-2">
            <a:extLst xmlns:a="http://schemas.openxmlformats.org/drawingml/2006/main">
              <a:ext uri="{FF2B5EF4-FFF2-40B4-BE49-F238E27FC236}">
                <a16:creationId xmlns:a16="http://schemas.microsoft.com/office/drawing/2014/main" id="{8AA4689C-5784-4B2F-B45A-DFA001D80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143250"/>
            <a:ext cx="27622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A1C19"/>
                </a:solidFill>
                <a:latin typeface="Malgun Gothic"/>
                <a:ea typeface="Malgun Gothic"/>
                <a:cs typeface="Malgun Gothic"/>
              </a:defRPr>
            </a:pPr>
            <a:r>
              <a:t>자동 검증 확대</a:t>
            </a:r>
          </a:p>
        </p:txBody>
      </p:sp>
      <p:sp>
        <p:nvSpPr>
          <p:cNvPr id="19" name="progress-body-2">
            <a:extLst xmlns:a="http://schemas.openxmlformats.org/drawingml/2006/main">
              <a:ext uri="{FF2B5EF4-FFF2-40B4-BE49-F238E27FC236}">
                <a16:creationId xmlns:a16="http://schemas.microsoft.com/office/drawing/2014/main" id="{71864F29-3DDD-4BC1-BA89-B8AD20E69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676650"/>
            <a:ext cx="28003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96B66"/>
                </a:solidFill>
                <a:latin typeface="Malgun Gothic"/>
                <a:ea typeface="Malgun Gothic"/>
                <a:cs typeface="Malgun Gothic"/>
              </a:defRPr>
            </a:pPr>
            <a:r>
              <a:t>lint · build 통과
테스트 72 / 77</a:t>
            </a:r>
          </a:p>
        </p:txBody>
      </p:sp>
      <p:sp>
        <p:nvSpPr>
          <p:cNvPr id="20" name="progress-dot-2">
            <a:extLst xmlns:a="http://schemas.openxmlformats.org/drawingml/2006/main">
              <a:ext uri="{FF2B5EF4-FFF2-40B4-BE49-F238E27FC236}">
                <a16:creationId xmlns:a16="http://schemas.microsoft.com/office/drawing/2014/main" id="{96C38CE2-2CD5-4EDC-A3D2-72EFE2884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51054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E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next-label">
            <a:extLst xmlns:a="http://schemas.openxmlformats.org/drawingml/2006/main">
              <a:ext uri="{FF2B5EF4-FFF2-40B4-BE49-F238E27FC236}">
                <a16:creationId xmlns:a16="http://schemas.microsoft.com/office/drawing/2014/main" id="{E4FA9893-6766-4F05-8670-EFB43C024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38800"/>
            <a:ext cx="1333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91E4B"/>
                </a:solidFill>
                <a:latin typeface="Malgun Gothic"/>
                <a:ea typeface="Malgun Gothic"/>
                <a:cs typeface="Malgun Gothic"/>
              </a:defRPr>
            </a:pPr>
            <a:r>
              <a:t>다음 보완</a:t>
            </a:r>
          </a:p>
        </p:txBody>
      </p:sp>
      <p:sp>
        <p:nvSpPr>
          <p:cNvPr id="22" name="next-copy">
            <a:extLst xmlns:a="http://schemas.openxmlformats.org/drawingml/2006/main">
              <a:ext uri="{FF2B5EF4-FFF2-40B4-BE49-F238E27FC236}">
                <a16:creationId xmlns:a16="http://schemas.microsoft.com/office/drawing/2014/main" id="{CCDD31A5-36A3-44DD-81F5-A866C067E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600700"/>
            <a:ext cx="7239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96B66"/>
                </a:solidFill>
                <a:latin typeface="Malgun Gothic"/>
                <a:ea typeface="Malgun Gothic"/>
                <a:cs typeface="Malgun Gothic"/>
              </a:defRPr>
            </a:pPr>
            <a:r>
              <a:t>비정상 수량 입력 5건 보완 · GitHub Actions CI 연결</a:t>
            </a:r>
          </a:p>
        </p:txBody>
      </p:sp>
      <p:sp>
        <p:nvSpPr>
          <p:cNvPr id="23" name="footer-label-3">
            <a:extLst xmlns:a="http://schemas.openxmlformats.org/drawingml/2006/main">
              <a:ext uri="{FF2B5EF4-FFF2-40B4-BE49-F238E27FC236}">
                <a16:creationId xmlns:a16="http://schemas.microsoft.com/office/drawing/2014/main" id="{982853B0-F3F1-46A5-9590-4EBC1B6D2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3429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96B66"/>
                </a:solidFill>
                <a:latin typeface="Malgun Gothic"/>
                <a:ea typeface="Malgun Gothic"/>
                <a:cs typeface="Malgun Gothic"/>
              </a:defRPr>
            </a:pPr>
            <a:r>
              <a:t>TODAY'S FRIDGE · DEMO DAY</a:t>
            </a:r>
          </a:p>
        </p:txBody>
      </p:sp>
      <p:sp>
        <p:nvSpPr>
          <p:cNvPr id="24" name="footer-number-3">
            <a:extLst xmlns:a="http://schemas.openxmlformats.org/drawingml/2006/main">
              <a:ext uri="{FF2B5EF4-FFF2-40B4-BE49-F238E27FC236}">
                <a16:creationId xmlns:a16="http://schemas.microsoft.com/office/drawing/2014/main" id="{DCF8F152-EBF8-4DE5-8F1C-600D10231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953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96B66"/>
                </a:solidFill>
                <a:latin typeface="Malgun Gothic"/>
                <a:ea typeface="Malgun Gothic"/>
                <a:cs typeface="Malgun Gothic"/>
              </a:defRPr>
            </a:pPr>
            <a: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78521844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C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kicker-4">
            <a:extLst xmlns:a="http://schemas.openxmlformats.org/drawingml/2006/main">
              <a:ext uri="{FF2B5EF4-FFF2-40B4-BE49-F238E27FC236}">
                <a16:creationId xmlns:a16="http://schemas.microsoft.com/office/drawing/2014/main" id="{2ED6D39A-0EEC-415F-8525-5ABB0FCA4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3333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7E47"/>
                </a:solidFill>
                <a:latin typeface="Malgun Gothic"/>
                <a:ea typeface="Malgun Gothic"/>
                <a:cs typeface="Malgun Gothic"/>
              </a:defRPr>
            </a:pPr>
            <a:r>
              <a:t>03 · 이번 주 핵심 진행 내용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1A7C846F-D99B-41D9-A7CF-666027ED6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1127760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A1C19"/>
                </a:solidFill>
                <a:latin typeface="Malgun Gothic"/>
                <a:ea typeface="Malgun Gothic"/>
                <a:cs typeface="Malgun Gothic"/>
              </a:defRPr>
            </a:pPr>
            <a:r>
              <a:t>이번 주의 변화: 저장·우선순위·실행</a:t>
            </a:r>
          </a:p>
        </p:txBody>
      </p:sp>
      <p:sp>
        <p:nvSpPr>
          <p:cNvPr id="3" name="week-goal-label">
            <a:extLst xmlns:a="http://schemas.openxmlformats.org/drawingml/2006/main">
              <a:ext uri="{FF2B5EF4-FFF2-40B4-BE49-F238E27FC236}">
                <a16:creationId xmlns:a16="http://schemas.microsoft.com/office/drawing/2014/main" id="{4441D23E-F94F-4D54-804A-392C49A4D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62100"/>
            <a:ext cx="1524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96B66"/>
                </a:solidFill>
                <a:latin typeface="Malgun Gothic"/>
                <a:ea typeface="Malgun Gothic"/>
                <a:cs typeface="Malgun Gothic"/>
              </a:defRPr>
            </a:pPr>
            <a:r>
              <a:t>이번 주 목표</a:t>
            </a:r>
          </a:p>
        </p:txBody>
      </p:sp>
      <p:sp>
        <p:nvSpPr>
          <p:cNvPr id="4" name="week-goal-copy">
            <a:extLst xmlns:a="http://schemas.openxmlformats.org/drawingml/2006/main">
              <a:ext uri="{FF2B5EF4-FFF2-40B4-BE49-F238E27FC236}">
                <a16:creationId xmlns:a16="http://schemas.microsoft.com/office/drawing/2014/main" id="{0EE6FEE3-0375-40AB-93A3-A493F0483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47850"/>
            <a:ext cx="8382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A1C19"/>
                </a:solidFill>
                <a:latin typeface="Malgun Gothic"/>
                <a:ea typeface="Malgun Gothic"/>
                <a:cs typeface="Malgun Gothic"/>
              </a:defRPr>
            </a:pPr>
            <a:r>
              <a:t>DB 연동 + 기능 강화 + 구조 시각화 + TDD</a:t>
            </a:r>
          </a:p>
        </p:txBody>
      </p:sp>
      <p:sp>
        <p:nvSpPr>
          <p:cNvPr id="5" name="week-col-0">
            <a:extLst xmlns:a="http://schemas.openxmlformats.org/drawingml/2006/main">
              <a:ext uri="{FF2B5EF4-FFF2-40B4-BE49-F238E27FC236}">
                <a16:creationId xmlns:a16="http://schemas.microsoft.com/office/drawing/2014/main" id="{B5CF563B-D8AF-4083-B819-A49FAEC17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47950"/>
            <a:ext cx="3276600" cy="3048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EAF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week-num-0">
            <a:extLst xmlns:a="http://schemas.openxmlformats.org/drawingml/2006/main">
              <a:ext uri="{FF2B5EF4-FFF2-40B4-BE49-F238E27FC236}">
                <a16:creationId xmlns:a16="http://schemas.microsoft.com/office/drawing/2014/main" id="{55BD7168-F4DE-41A1-BAE3-DE1AB65C3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76550"/>
            <a:ext cx="571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6D36"/>
                </a:solidFill>
                <a:latin typeface="Malgun Gothic"/>
                <a:ea typeface="Malgun Gothic"/>
                <a:cs typeface="Malgun Gothic"/>
              </a:defRPr>
            </a:pPr>
            <a:r>
              <a:t>01</a:t>
            </a:r>
          </a:p>
        </p:txBody>
      </p:sp>
      <p:sp>
        <p:nvSpPr>
          <p:cNvPr id="7" name="week-title-0">
            <a:extLst xmlns:a="http://schemas.openxmlformats.org/drawingml/2006/main">
              <a:ext uri="{FF2B5EF4-FFF2-40B4-BE49-F238E27FC236}">
                <a16:creationId xmlns:a16="http://schemas.microsoft.com/office/drawing/2014/main" id="{CC189499-499D-47A5-96CF-3D3DA9DEC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95650"/>
            <a:ext cx="27813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A1C19"/>
                </a:solidFill>
                <a:latin typeface="Malgun Gothic"/>
                <a:ea typeface="Malgun Gothic"/>
                <a:cs typeface="Malgun Gothic"/>
              </a:defRPr>
            </a:pPr>
            <a:r>
              <a:t>기억하는 냉장고</a:t>
            </a:r>
          </a:p>
        </p:txBody>
      </p:sp>
      <p:sp>
        <p:nvSpPr>
          <p:cNvPr id="8" name="week-body-0">
            <a:extLst xmlns:a="http://schemas.openxmlformats.org/drawingml/2006/main">
              <a:ext uri="{FF2B5EF4-FFF2-40B4-BE49-F238E27FC236}">
                <a16:creationId xmlns:a16="http://schemas.microsoft.com/office/drawing/2014/main" id="{DB148834-D411-4595-AFA7-997D54958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86200"/>
            <a:ext cx="2781300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96B66"/>
                </a:solidFill>
                <a:latin typeface="Malgun Gothic"/>
                <a:ea typeface="Malgun Gothic"/>
                <a:cs typeface="Malgun Gothic"/>
              </a:defRPr>
            </a:pPr>
            <a:r>
              <a:t>Supabase CRUD
중복 재료 병합
즉시 목록 갱신</a:t>
            </a:r>
          </a:p>
        </p:txBody>
      </p:sp>
      <p:sp>
        <p:nvSpPr>
          <p:cNvPr id="9" name="week-outcome-0">
            <a:extLst xmlns:a="http://schemas.openxmlformats.org/drawingml/2006/main">
              <a:ext uri="{FF2B5EF4-FFF2-40B4-BE49-F238E27FC236}">
                <a16:creationId xmlns:a16="http://schemas.microsoft.com/office/drawing/2014/main" id="{707F8ABA-E3A2-4AB2-AEF3-422327570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81600"/>
            <a:ext cx="27813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6D36"/>
                </a:solidFill>
                <a:latin typeface="Malgun Gothic"/>
                <a:ea typeface="Malgun Gothic"/>
                <a:cs typeface="Malgun Gothic"/>
              </a:defRPr>
            </a:pPr>
            <a:r>
              <a:t>데이터 신뢰</a:t>
            </a:r>
          </a:p>
        </p:txBody>
      </p:sp>
      <p:sp>
        <p:nvSpPr>
          <p:cNvPr id="10" name="week-col-1">
            <a:extLst xmlns:a="http://schemas.openxmlformats.org/drawingml/2006/main">
              <a:ext uri="{FF2B5EF4-FFF2-40B4-BE49-F238E27FC236}">
                <a16:creationId xmlns:a16="http://schemas.microsoft.com/office/drawing/2014/main" id="{141BA453-6105-4A45-A221-E4392DB6D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647950"/>
            <a:ext cx="3276600" cy="3048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FFF0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week-num-1">
            <a:extLst xmlns:a="http://schemas.openxmlformats.org/drawingml/2006/main">
              <a:ext uri="{FF2B5EF4-FFF2-40B4-BE49-F238E27FC236}">
                <a16:creationId xmlns:a16="http://schemas.microsoft.com/office/drawing/2014/main" id="{5820FB11-8BE4-4EF2-BF08-85473DD57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876550"/>
            <a:ext cx="571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91E4B"/>
                </a:solidFill>
                <a:latin typeface="Malgun Gothic"/>
                <a:ea typeface="Malgun Gothic"/>
                <a:cs typeface="Malgun Gothic"/>
              </a:defRPr>
            </a:pPr>
            <a:r>
              <a:t>02</a:t>
            </a:r>
          </a:p>
        </p:txBody>
      </p:sp>
      <p:sp>
        <p:nvSpPr>
          <p:cNvPr id="12" name="week-title-1">
            <a:extLst xmlns:a="http://schemas.openxmlformats.org/drawingml/2006/main">
              <a:ext uri="{FF2B5EF4-FFF2-40B4-BE49-F238E27FC236}">
                <a16:creationId xmlns:a16="http://schemas.microsoft.com/office/drawing/2014/main" id="{56DD0E84-B944-4188-B38A-61358108A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295650"/>
            <a:ext cx="27813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A1C19"/>
                </a:solidFill>
                <a:latin typeface="Malgun Gothic"/>
                <a:ea typeface="Malgun Gothic"/>
                <a:cs typeface="Malgun Gothic"/>
              </a:defRPr>
            </a:pPr>
            <a:r>
              <a:t>먼저 먹을 이유</a:t>
            </a:r>
          </a:p>
        </p:txBody>
      </p:sp>
      <p:sp>
        <p:nvSpPr>
          <p:cNvPr id="13" name="week-body-1">
            <a:extLst xmlns:a="http://schemas.openxmlformats.org/drawingml/2006/main">
              <a:ext uri="{FF2B5EF4-FFF2-40B4-BE49-F238E27FC236}">
                <a16:creationId xmlns:a16="http://schemas.microsoft.com/office/drawing/2014/main" id="{419F58E4-B367-41D6-970A-B3B4C201B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886200"/>
            <a:ext cx="2781300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96B66"/>
                </a:solidFill>
                <a:latin typeface="Malgun Gothic"/>
                <a:ea typeface="Malgun Gothic"/>
                <a:cs typeface="Malgun Gothic"/>
              </a:defRPr>
            </a:pPr>
            <a:r>
              <a:t>D-day 우선순위
보관 방식별 소비기한
임박 재료 CTA</a:t>
            </a:r>
          </a:p>
        </p:txBody>
      </p:sp>
      <p:sp>
        <p:nvSpPr>
          <p:cNvPr id="14" name="week-outcome-1">
            <a:extLst xmlns:a="http://schemas.openxmlformats.org/drawingml/2006/main">
              <a:ext uri="{FF2B5EF4-FFF2-40B4-BE49-F238E27FC236}">
                <a16:creationId xmlns:a16="http://schemas.microsoft.com/office/drawing/2014/main" id="{46D38483-E02E-4CE7-B972-616BAF30F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181600"/>
            <a:ext cx="27813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91E4B"/>
                </a:solidFill>
                <a:latin typeface="Malgun Gothic"/>
                <a:ea typeface="Malgun Gothic"/>
                <a:cs typeface="Malgun Gothic"/>
              </a:defRPr>
            </a:pPr>
            <a:r>
              <a:t>행동 우선순위</a:t>
            </a:r>
          </a:p>
        </p:txBody>
      </p:sp>
      <p:sp>
        <p:nvSpPr>
          <p:cNvPr id="15" name="week-col-2">
            <a:extLst xmlns:a="http://schemas.openxmlformats.org/drawingml/2006/main">
              <a:ext uri="{FF2B5EF4-FFF2-40B4-BE49-F238E27FC236}">
                <a16:creationId xmlns:a16="http://schemas.microsoft.com/office/drawing/2014/main" id="{56C482C0-0AE5-42CC-AF28-5C054202C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647950"/>
            <a:ext cx="3276600" cy="3048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FFF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week-num-2">
            <a:extLst xmlns:a="http://schemas.openxmlformats.org/drawingml/2006/main">
              <a:ext uri="{FF2B5EF4-FFF2-40B4-BE49-F238E27FC236}">
                <a16:creationId xmlns:a16="http://schemas.microsoft.com/office/drawing/2014/main" id="{246E3DDB-D4D4-44C5-A4B7-536257609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876550"/>
            <a:ext cx="571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7E47"/>
                </a:solidFill>
                <a:latin typeface="Malgun Gothic"/>
                <a:ea typeface="Malgun Gothic"/>
                <a:cs typeface="Malgun Gothic"/>
              </a:defRPr>
            </a:pPr>
            <a:r>
              <a:t>03</a:t>
            </a:r>
          </a:p>
        </p:txBody>
      </p:sp>
      <p:sp>
        <p:nvSpPr>
          <p:cNvPr id="17" name="week-title-2">
            <a:extLst xmlns:a="http://schemas.openxmlformats.org/drawingml/2006/main">
              <a:ext uri="{FF2B5EF4-FFF2-40B4-BE49-F238E27FC236}">
                <a16:creationId xmlns:a16="http://schemas.microsoft.com/office/drawing/2014/main" id="{87D8F495-27C1-44D6-B0B1-DA433F4C9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295650"/>
            <a:ext cx="27813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A1C19"/>
                </a:solidFill>
                <a:latin typeface="Malgun Gothic"/>
                <a:ea typeface="Malgun Gothic"/>
                <a:cs typeface="Malgun Gothic"/>
              </a:defRPr>
            </a:pPr>
            <a:r>
              <a:t>실행 가능한 메뉴</a:t>
            </a:r>
          </a:p>
        </p:txBody>
      </p:sp>
      <p:sp>
        <p:nvSpPr>
          <p:cNvPr id="18" name="week-body-2">
            <a:extLst xmlns:a="http://schemas.openxmlformats.org/drawingml/2006/main">
              <a:ext uri="{FF2B5EF4-FFF2-40B4-BE49-F238E27FC236}">
                <a16:creationId xmlns:a16="http://schemas.microsoft.com/office/drawing/2014/main" id="{7D302A48-4CAD-44BE-8550-ADCC67FD5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886200"/>
            <a:ext cx="2781300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96B66"/>
                </a:solidFill>
                <a:latin typeface="Malgun Gothic"/>
                <a:ea typeface="Malgun Gothic"/>
                <a:cs typeface="Malgun Gothic"/>
              </a:defRPr>
            </a:pPr>
            <a:r>
              <a:t>현재 재료 기반 생성
부족 재료 최대 1개
상세·저장·구매</a:t>
            </a:r>
          </a:p>
        </p:txBody>
      </p:sp>
      <p:sp>
        <p:nvSpPr>
          <p:cNvPr id="19" name="week-outcome-2">
            <a:extLst xmlns:a="http://schemas.openxmlformats.org/drawingml/2006/main">
              <a:ext uri="{FF2B5EF4-FFF2-40B4-BE49-F238E27FC236}">
                <a16:creationId xmlns:a16="http://schemas.microsoft.com/office/drawing/2014/main" id="{56941EBE-F853-44A4-AD9A-08EED0EA4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181600"/>
            <a:ext cx="27813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7E47"/>
                </a:solidFill>
                <a:latin typeface="Malgun Gothic"/>
                <a:ea typeface="Malgun Gothic"/>
                <a:cs typeface="Malgun Gothic"/>
              </a:defRPr>
            </a:pPr>
            <a:r>
              <a:t>결정의 마무리</a:t>
            </a:r>
          </a:p>
        </p:txBody>
      </p:sp>
      <p:sp>
        <p:nvSpPr>
          <p:cNvPr id="20" name="footer-label-4">
            <a:extLst xmlns:a="http://schemas.openxmlformats.org/drawingml/2006/main">
              <a:ext uri="{FF2B5EF4-FFF2-40B4-BE49-F238E27FC236}">
                <a16:creationId xmlns:a16="http://schemas.microsoft.com/office/drawing/2014/main" id="{246CF7E2-38C4-4282-9EFB-F313D5DA5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3429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96B66"/>
                </a:solidFill>
                <a:latin typeface="Malgun Gothic"/>
                <a:ea typeface="Malgun Gothic"/>
                <a:cs typeface="Malgun Gothic"/>
              </a:defRPr>
            </a:pPr>
            <a:r>
              <a:t>TODAY'S FRIDGE · DEMO DAY</a:t>
            </a:r>
          </a:p>
        </p:txBody>
      </p:sp>
      <p:sp>
        <p:nvSpPr>
          <p:cNvPr id="21" name="footer-number-4">
            <a:extLst xmlns:a="http://schemas.openxmlformats.org/drawingml/2006/main">
              <a:ext uri="{FF2B5EF4-FFF2-40B4-BE49-F238E27FC236}">
                <a16:creationId xmlns:a16="http://schemas.microsoft.com/office/drawing/2014/main" id="{433F74BB-6F50-4E2E-AB0E-0575B424D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953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96B66"/>
                </a:solidFill>
                <a:latin typeface="Malgun Gothic"/>
                <a:ea typeface="Malgun Gothic"/>
                <a:cs typeface="Malgun Gothic"/>
              </a:defRPr>
            </a:pPr>
            <a: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63272027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C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kicker-5">
            <a:extLst xmlns:a="http://schemas.openxmlformats.org/drawingml/2006/main">
              <a:ext uri="{FF2B5EF4-FFF2-40B4-BE49-F238E27FC236}">
                <a16:creationId xmlns:a16="http://schemas.microsoft.com/office/drawing/2014/main" id="{5FB38831-5611-42A9-B981-28CE8FAC8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3333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7E47"/>
                </a:solidFill>
                <a:latin typeface="Malgun Gothic"/>
                <a:ea typeface="Malgun Gothic"/>
                <a:cs typeface="Malgun Gothic"/>
              </a:defRPr>
            </a:pPr>
            <a:r>
              <a:t>03 · 이번 주 핵심 진행 내용</a:t>
            </a:r>
          </a:p>
        </p:txBody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C8704B4C-9711-4F87-84E3-330E5DFE2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1127760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A1C19"/>
                </a:solidFill>
                <a:latin typeface="Malgun Gothic"/>
                <a:ea typeface="Malgun Gothic"/>
                <a:cs typeface="Malgun Gothic"/>
              </a:defRPr>
            </a:pPr>
            <a:r>
              <a:t>추천 품질을 지키는 4단계 검증</a:t>
            </a:r>
          </a:p>
        </p:txBody>
      </p:sp>
      <p:sp>
        <p:nvSpPr>
          <p:cNvPr id="3" name="pipeline-subtitle">
            <a:extLst xmlns:a="http://schemas.openxmlformats.org/drawingml/2006/main">
              <a:ext uri="{FF2B5EF4-FFF2-40B4-BE49-F238E27FC236}">
                <a16:creationId xmlns:a16="http://schemas.microsoft.com/office/drawing/2014/main" id="{399FFCB6-85B6-4173-A3DD-6E3569E68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85900"/>
            <a:ext cx="8572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96B66"/>
                </a:solidFill>
                <a:latin typeface="Malgun Gothic"/>
                <a:ea typeface="Malgun Gothic"/>
                <a:cs typeface="Malgun Gothic"/>
              </a:defRPr>
            </a:pPr>
            <a:r>
              <a:t>재료 입력 → 생성 → 정책 검증 → 캐시·UI</a:t>
            </a:r>
          </a:p>
        </p:txBody>
      </p:sp>
      <p:sp>
        <p:nvSpPr>
          <p:cNvPr id="4" name="stage-0">
            <a:extLst xmlns:a="http://schemas.openxmlformats.org/drawingml/2006/main">
              <a:ext uri="{FF2B5EF4-FFF2-40B4-BE49-F238E27FC236}">
                <a16:creationId xmlns:a16="http://schemas.microsoft.com/office/drawing/2014/main" id="{D053AB1F-FB9C-438F-AFD6-A412E26D7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14550"/>
            <a:ext cx="2286000" cy="249555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EAF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tage-k-0">
            <a:extLst xmlns:a="http://schemas.openxmlformats.org/drawingml/2006/main">
              <a:ext uri="{FF2B5EF4-FFF2-40B4-BE49-F238E27FC236}">
                <a16:creationId xmlns:a16="http://schemas.microsoft.com/office/drawing/2014/main" id="{63FDF451-4774-4ED7-B200-9DCE8175B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43150"/>
            <a:ext cx="1809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D36"/>
                </a:solidFill>
                <a:latin typeface="Malgun Gothic"/>
                <a:ea typeface="Malgun Gothic"/>
                <a:cs typeface="Malgun Gothic"/>
              </a:defRPr>
            </a:pPr>
            <a:r>
              <a:t>INPUT</a:t>
            </a:r>
          </a:p>
        </p:txBody>
      </p:sp>
      <p:sp>
        <p:nvSpPr>
          <p:cNvPr id="6" name="stage-title-0">
            <a:extLst xmlns:a="http://schemas.openxmlformats.org/drawingml/2006/main">
              <a:ext uri="{FF2B5EF4-FFF2-40B4-BE49-F238E27FC236}">
                <a16:creationId xmlns:a16="http://schemas.microsoft.com/office/drawing/2014/main" id="{045DAE7D-987A-46A7-B386-22E5BDF84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81300"/>
            <a:ext cx="18669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A1C19"/>
                </a:solidFill>
                <a:latin typeface="Malgun Gothic"/>
                <a:ea typeface="Malgun Gothic"/>
                <a:cs typeface="Malgun Gothic"/>
              </a:defRPr>
            </a:pPr>
            <a:r>
              <a:t>재료 맥락</a:t>
            </a:r>
          </a:p>
        </p:txBody>
      </p:sp>
      <p:sp>
        <p:nvSpPr>
          <p:cNvPr id="7" name="stage-body-0">
            <a:extLst xmlns:a="http://schemas.openxmlformats.org/drawingml/2006/main">
              <a:ext uri="{FF2B5EF4-FFF2-40B4-BE49-F238E27FC236}">
                <a16:creationId xmlns:a16="http://schemas.microsoft.com/office/drawing/2014/main" id="{AC2742B9-3139-40D8-A90A-EA00D9F5B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33750"/>
            <a:ext cx="186690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96B66"/>
                </a:solidFill>
                <a:latin typeface="Malgun Gothic"/>
                <a:ea typeface="Malgun Gothic"/>
                <a:cs typeface="Malgun Gothic"/>
              </a:defRPr>
            </a:pPr>
            <a:r>
              <a:t>보유량 · 보관 방식
소비기한 · 조리 여력</a:t>
            </a:r>
          </a:p>
        </p:txBody>
      </p:sp>
      <p:sp>
        <p:nvSpPr>
          <p:cNvPr id="8" name="stage-num-0">
            <a:extLst xmlns:a="http://schemas.openxmlformats.org/drawingml/2006/main">
              <a:ext uri="{FF2B5EF4-FFF2-40B4-BE49-F238E27FC236}">
                <a16:creationId xmlns:a16="http://schemas.microsoft.com/office/drawing/2014/main" id="{B0C15FC2-A40F-4B44-A08E-566F08CB8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8196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D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tage-num-text-0">
            <a:extLst xmlns:a="http://schemas.openxmlformats.org/drawingml/2006/main">
              <a:ext uri="{FF2B5EF4-FFF2-40B4-BE49-F238E27FC236}">
                <a16:creationId xmlns:a16="http://schemas.microsoft.com/office/drawing/2014/main" id="{94DA8A4D-EE2A-40C6-BF0B-0A7222A99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924425"/>
            <a:ext cx="4953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t>1</a:t>
            </a:r>
          </a:p>
        </p:txBody>
      </p:sp>
      <p:sp>
        <p:nvSpPr>
          <p:cNvPr id="10" name="stage-1">
            <a:extLst xmlns:a="http://schemas.openxmlformats.org/drawingml/2006/main">
              <a:ext uri="{FF2B5EF4-FFF2-40B4-BE49-F238E27FC236}">
                <a16:creationId xmlns:a16="http://schemas.microsoft.com/office/drawing/2014/main" id="{8A60B407-4628-4955-8C4C-6D0E5EAB1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114550"/>
            <a:ext cx="2286000" cy="249555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tage-k-1">
            <a:extLst xmlns:a="http://schemas.openxmlformats.org/drawingml/2006/main">
              <a:ext uri="{FF2B5EF4-FFF2-40B4-BE49-F238E27FC236}">
                <a16:creationId xmlns:a16="http://schemas.microsoft.com/office/drawing/2014/main" id="{C948DCB0-767D-444B-A33D-76A21A6BE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343150"/>
            <a:ext cx="1809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7E47"/>
                </a:solidFill>
                <a:latin typeface="Malgun Gothic"/>
                <a:ea typeface="Malgun Gothic"/>
                <a:cs typeface="Malgun Gothic"/>
              </a:defRPr>
            </a:pPr>
            <a:r>
              <a:t>GENERATE</a:t>
            </a:r>
          </a:p>
        </p:txBody>
      </p:sp>
      <p:sp>
        <p:nvSpPr>
          <p:cNvPr id="12" name="stage-title-1">
            <a:extLst xmlns:a="http://schemas.openxmlformats.org/drawingml/2006/main">
              <a:ext uri="{FF2B5EF4-FFF2-40B4-BE49-F238E27FC236}">
                <a16:creationId xmlns:a16="http://schemas.microsoft.com/office/drawing/2014/main" id="{5EBC7A97-BFB3-43D4-B163-BC03E1042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781300"/>
            <a:ext cx="18669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A1C19"/>
                </a:solidFill>
                <a:latin typeface="Malgun Gothic"/>
                <a:ea typeface="Malgun Gothic"/>
                <a:cs typeface="Malgun Gothic"/>
              </a:defRPr>
            </a:pPr>
            <a:r>
              <a:t>Gemini 생성</a:t>
            </a:r>
          </a:p>
        </p:txBody>
      </p:sp>
      <p:sp>
        <p:nvSpPr>
          <p:cNvPr id="13" name="stage-body-1">
            <a:extLst xmlns:a="http://schemas.openxmlformats.org/drawingml/2006/main">
              <a:ext uri="{FF2B5EF4-FFF2-40B4-BE49-F238E27FC236}">
                <a16:creationId xmlns:a16="http://schemas.microsoft.com/office/drawing/2014/main" id="{C435F7AC-C5B2-418F-AC81-D96408D06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333750"/>
            <a:ext cx="186690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96B66"/>
                </a:solidFill>
                <a:latin typeface="Malgun Gothic"/>
                <a:ea typeface="Malgun Gothic"/>
                <a:cs typeface="Malgun Gothic"/>
              </a:defRPr>
            </a:pPr>
            <a:r>
              <a:t>구조화 JSON
3개 후보</a:t>
            </a:r>
          </a:p>
        </p:txBody>
      </p:sp>
      <p:sp>
        <p:nvSpPr>
          <p:cNvPr id="14" name="stage-num-1">
            <a:extLst xmlns:a="http://schemas.openxmlformats.org/drawingml/2006/main">
              <a:ext uri="{FF2B5EF4-FFF2-40B4-BE49-F238E27FC236}">
                <a16:creationId xmlns:a16="http://schemas.microsoft.com/office/drawing/2014/main" id="{5EECED36-7BE8-44B0-BAC6-B1AB598B4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8196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E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stage-num-text-1">
            <a:extLst xmlns:a="http://schemas.openxmlformats.org/drawingml/2006/main">
              <a:ext uri="{FF2B5EF4-FFF2-40B4-BE49-F238E27FC236}">
                <a16:creationId xmlns:a16="http://schemas.microsoft.com/office/drawing/2014/main" id="{BF61EDC6-82ED-4752-AB95-2D41FD5E1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924425"/>
            <a:ext cx="4953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t>2</a:t>
            </a:r>
          </a:p>
        </p:txBody>
      </p:sp>
      <p:sp>
        <p:nvSpPr>
          <p:cNvPr id="16" name="stage-2">
            <a:extLst xmlns:a="http://schemas.openxmlformats.org/drawingml/2006/main">
              <a:ext uri="{FF2B5EF4-FFF2-40B4-BE49-F238E27FC236}">
                <a16:creationId xmlns:a16="http://schemas.microsoft.com/office/drawing/2014/main" id="{EFA1BFAE-6C31-4C83-8964-9992B32E2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114550"/>
            <a:ext cx="2286000" cy="249555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0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tage-k-2">
            <a:extLst xmlns:a="http://schemas.openxmlformats.org/drawingml/2006/main">
              <a:ext uri="{FF2B5EF4-FFF2-40B4-BE49-F238E27FC236}">
                <a16:creationId xmlns:a16="http://schemas.microsoft.com/office/drawing/2014/main" id="{76AD4168-0B02-4EEC-860C-6148AB62E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343150"/>
            <a:ext cx="1809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91E4B"/>
                </a:solidFill>
                <a:latin typeface="Malgun Gothic"/>
                <a:ea typeface="Malgun Gothic"/>
                <a:cs typeface="Malgun Gothic"/>
              </a:defRPr>
            </a:pPr>
            <a:r>
              <a:t>VALIDATE</a:t>
            </a:r>
          </a:p>
        </p:txBody>
      </p:sp>
      <p:sp>
        <p:nvSpPr>
          <p:cNvPr id="18" name="stage-title-2">
            <a:extLst xmlns:a="http://schemas.openxmlformats.org/drawingml/2006/main">
              <a:ext uri="{FF2B5EF4-FFF2-40B4-BE49-F238E27FC236}">
                <a16:creationId xmlns:a16="http://schemas.microsoft.com/office/drawing/2014/main" id="{86694026-87B3-4910-B7FE-BA4D6AFFD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781300"/>
            <a:ext cx="18669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A1C19"/>
                </a:solidFill>
                <a:latin typeface="Malgun Gothic"/>
                <a:ea typeface="Malgun Gothic"/>
                <a:cs typeface="Malgun Gothic"/>
              </a:defRPr>
            </a:pPr>
            <a:r>
              <a:t>정책 검증</a:t>
            </a:r>
          </a:p>
        </p:txBody>
      </p:sp>
      <p:sp>
        <p:nvSpPr>
          <p:cNvPr id="19" name="stage-body-2">
            <a:extLst xmlns:a="http://schemas.openxmlformats.org/drawingml/2006/main">
              <a:ext uri="{FF2B5EF4-FFF2-40B4-BE49-F238E27FC236}">
                <a16:creationId xmlns:a16="http://schemas.microsoft.com/office/drawing/2014/main" id="{0BC97A06-A631-4549-980E-86703307A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333750"/>
            <a:ext cx="186690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96B66"/>
                </a:solidFill>
                <a:latin typeface="Malgun Gothic"/>
                <a:ea typeface="Malgun Gothic"/>
                <a:cs typeface="Malgun Gothic"/>
              </a:defRPr>
            </a:pPr>
            <a:r>
              <a:t>Zod 스키마
부족·중복 제한</a:t>
            </a:r>
          </a:p>
        </p:txBody>
      </p:sp>
      <p:sp>
        <p:nvSpPr>
          <p:cNvPr id="20" name="stage-num-2">
            <a:extLst xmlns:a="http://schemas.openxmlformats.org/drawingml/2006/main">
              <a:ext uri="{FF2B5EF4-FFF2-40B4-BE49-F238E27FC236}">
                <a16:creationId xmlns:a16="http://schemas.microsoft.com/office/drawing/2014/main" id="{900A8FE9-2D69-42DA-8EF3-1BF7922BD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8196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1E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stage-num-text-2">
            <a:extLst xmlns:a="http://schemas.openxmlformats.org/drawingml/2006/main">
              <a:ext uri="{FF2B5EF4-FFF2-40B4-BE49-F238E27FC236}">
                <a16:creationId xmlns:a16="http://schemas.microsoft.com/office/drawing/2014/main" id="{40411F37-DA67-4BA3-B6B7-4F9196D44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924425"/>
            <a:ext cx="4953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t>3</a:t>
            </a:r>
          </a:p>
        </p:txBody>
      </p:sp>
      <p:sp>
        <p:nvSpPr>
          <p:cNvPr id="22" name="stage-3">
            <a:extLst xmlns:a="http://schemas.openxmlformats.org/drawingml/2006/main">
              <a:ext uri="{FF2B5EF4-FFF2-40B4-BE49-F238E27FC236}">
                <a16:creationId xmlns:a16="http://schemas.microsoft.com/office/drawing/2014/main" id="{ED81425C-AAA7-466D-A418-02D667188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114550"/>
            <a:ext cx="2286000" cy="249555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3F2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stage-k-3">
            <a:extLst xmlns:a="http://schemas.openxmlformats.org/drawingml/2006/main">
              <a:ext uri="{FF2B5EF4-FFF2-40B4-BE49-F238E27FC236}">
                <a16:creationId xmlns:a16="http://schemas.microsoft.com/office/drawing/2014/main" id="{6AA20107-0469-4C64-BB39-7CF73D37F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343150"/>
            <a:ext cx="1809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D36"/>
                </a:solidFill>
                <a:latin typeface="Malgun Gothic"/>
                <a:ea typeface="Malgun Gothic"/>
                <a:cs typeface="Malgun Gothic"/>
              </a:defRPr>
            </a:pPr>
            <a:r>
              <a:t>DELIVER</a:t>
            </a:r>
          </a:p>
        </p:txBody>
      </p:sp>
      <p:sp>
        <p:nvSpPr>
          <p:cNvPr id="24" name="stage-title-3">
            <a:extLst xmlns:a="http://schemas.openxmlformats.org/drawingml/2006/main">
              <a:ext uri="{FF2B5EF4-FFF2-40B4-BE49-F238E27FC236}">
                <a16:creationId xmlns:a16="http://schemas.microsoft.com/office/drawing/2014/main" id="{9805FFA6-5672-44D2-973A-2A103A6F2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81300"/>
            <a:ext cx="18669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A1C19"/>
                </a:solidFill>
                <a:latin typeface="Malgun Gothic"/>
                <a:ea typeface="Malgun Gothic"/>
                <a:cs typeface="Malgun Gothic"/>
              </a:defRPr>
            </a:pPr>
            <a:r>
              <a:t>캐시 + UI</a:t>
            </a:r>
          </a:p>
        </p:txBody>
      </p:sp>
      <p:sp>
        <p:nvSpPr>
          <p:cNvPr id="25" name="stage-body-3">
            <a:extLst xmlns:a="http://schemas.openxmlformats.org/drawingml/2006/main">
              <a:ext uri="{FF2B5EF4-FFF2-40B4-BE49-F238E27FC236}">
                <a16:creationId xmlns:a16="http://schemas.microsoft.com/office/drawing/2014/main" id="{6AE2570E-C7A9-4333-8819-17CF70C06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333750"/>
            <a:ext cx="186690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96B66"/>
                </a:solidFill>
                <a:latin typeface="Malgun Gothic"/>
                <a:ea typeface="Malgun Gothic"/>
                <a:cs typeface="Malgun Gothic"/>
              </a:defRPr>
            </a:pPr>
            <a:r>
              <a:t>동일 조건 재사용
최대 15개</a:t>
            </a:r>
          </a:p>
        </p:txBody>
      </p:sp>
      <p:sp>
        <p:nvSpPr>
          <p:cNvPr id="26" name="stage-num-3">
            <a:extLst xmlns:a="http://schemas.openxmlformats.org/drawingml/2006/main">
              <a:ext uri="{FF2B5EF4-FFF2-40B4-BE49-F238E27FC236}">
                <a16:creationId xmlns:a16="http://schemas.microsoft.com/office/drawing/2014/main" id="{A6166ACA-D012-4F1A-A9AA-5FBEA634E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48196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D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stage-num-text-3">
            <a:extLst xmlns:a="http://schemas.openxmlformats.org/drawingml/2006/main">
              <a:ext uri="{FF2B5EF4-FFF2-40B4-BE49-F238E27FC236}">
                <a16:creationId xmlns:a16="http://schemas.microsoft.com/office/drawing/2014/main" id="{EA9E0085-9993-4C48-93FD-ADE9FFA4D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4924425"/>
            <a:ext cx="4953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t>4</a:t>
            </a:r>
          </a:p>
        </p:txBody>
      </p:sp>
      <p:sp>
        <p:nvSpPr>
          <p:cNvPr id="28" name="pipeline-callout">
            <a:extLst xmlns:a="http://schemas.openxmlformats.org/drawingml/2006/main">
              <a:ext uri="{FF2B5EF4-FFF2-40B4-BE49-F238E27FC236}">
                <a16:creationId xmlns:a16="http://schemas.microsoft.com/office/drawing/2014/main" id="{5DD8CE67-8677-44AB-9F69-32885EB38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19750"/>
            <a:ext cx="10858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DDD6"/>
            </a:solidFill>
            <a:prstDash val="solid"/>
          </a:ln>
        </p:spPr>
      </p:sp>
      <p:sp>
        <p:nvSpPr>
          <p:cNvPr id="29" name="guard-label">
            <a:extLst xmlns:a="http://schemas.openxmlformats.org/drawingml/2006/main">
              <a:ext uri="{FF2B5EF4-FFF2-40B4-BE49-F238E27FC236}">
                <a16:creationId xmlns:a16="http://schemas.microsoft.com/office/drawing/2014/main" id="{8508E057-6163-4BDC-921F-DBF2408E3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62625"/>
            <a:ext cx="1428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91E4B"/>
                </a:solidFill>
                <a:latin typeface="Malgun Gothic"/>
                <a:ea typeface="Malgun Gothic"/>
                <a:cs typeface="Malgun Gothic"/>
              </a:defRPr>
            </a:pPr>
            <a:r>
              <a:t>핵심 방어선</a:t>
            </a:r>
          </a:p>
        </p:txBody>
      </p:sp>
      <p:sp>
        <p:nvSpPr>
          <p:cNvPr id="30" name="guard-copy">
            <a:extLst xmlns:a="http://schemas.openxmlformats.org/drawingml/2006/main">
              <a:ext uri="{FF2B5EF4-FFF2-40B4-BE49-F238E27FC236}">
                <a16:creationId xmlns:a16="http://schemas.microsoft.com/office/drawing/2014/main" id="{8579D831-F211-4156-9A42-CA829DC82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734050"/>
            <a:ext cx="89154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96B66"/>
                </a:solidFill>
                <a:latin typeface="Malgun Gothic"/>
                <a:ea typeface="Malgun Gothic"/>
                <a:cs typeface="Malgun Gothic"/>
              </a:defRPr>
            </a:pPr>
            <a:r>
              <a:t>만료 제외 · fingerprint 중복 제거 · 실패 시 마지막 성공 결과 유지</a:t>
            </a:r>
          </a:p>
        </p:txBody>
      </p:sp>
      <p:sp>
        <p:nvSpPr>
          <p:cNvPr id="31" name="footer-label-5">
            <a:extLst xmlns:a="http://schemas.openxmlformats.org/drawingml/2006/main">
              <a:ext uri="{FF2B5EF4-FFF2-40B4-BE49-F238E27FC236}">
                <a16:creationId xmlns:a16="http://schemas.microsoft.com/office/drawing/2014/main" id="{EF41DCFE-BFEB-471B-ADDE-D0D7C5518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3429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96B66"/>
                </a:solidFill>
                <a:latin typeface="Malgun Gothic"/>
                <a:ea typeface="Malgun Gothic"/>
                <a:cs typeface="Malgun Gothic"/>
              </a:defRPr>
            </a:pPr>
            <a:r>
              <a:t>TODAY'S FRIDGE · DEMO DAY</a:t>
            </a:r>
          </a:p>
        </p:txBody>
      </p:sp>
      <p:sp>
        <p:nvSpPr>
          <p:cNvPr id="32" name="footer-number-5">
            <a:extLst xmlns:a="http://schemas.openxmlformats.org/drawingml/2006/main">
              <a:ext uri="{FF2B5EF4-FFF2-40B4-BE49-F238E27FC236}">
                <a16:creationId xmlns:a16="http://schemas.microsoft.com/office/drawing/2014/main" id="{7CCB12E6-353A-4A37-AB6E-3BD3E7A6C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953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96B66"/>
                </a:solidFill>
                <a:latin typeface="Malgun Gothic"/>
                <a:ea typeface="Malgun Gothic"/>
                <a:cs typeface="Malgun Gothic"/>
              </a:defRPr>
            </a:pPr>
            <a: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1513218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C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kicker-6">
            <a:extLst xmlns:a="http://schemas.openxmlformats.org/drawingml/2006/main">
              <a:ext uri="{FF2B5EF4-FFF2-40B4-BE49-F238E27FC236}">
                <a16:creationId xmlns:a16="http://schemas.microsoft.com/office/drawing/2014/main" id="{23EFFA1B-92F2-4C2F-8020-FBFC590F1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3333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7E47"/>
                </a:solidFill>
                <a:latin typeface="Malgun Gothic"/>
                <a:ea typeface="Malgun Gothic"/>
                <a:cs typeface="Malgun Gothic"/>
              </a:defRPr>
            </a:pPr>
            <a:r>
              <a:t>04 · 개발 핵심 구조</a:t>
            </a:r>
          </a:p>
        </p:txBody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21C48E93-40C1-437F-B0DC-49FE34A07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1127760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A1C19"/>
                </a:solidFill>
                <a:latin typeface="Malgun Gothic"/>
                <a:ea typeface="Malgun Gothic"/>
                <a:cs typeface="Malgun Gothic"/>
              </a:defRPr>
            </a:pPr>
            <a:r>
              <a:t>프론트는 화면, 서버는 규칙과 비밀</a:t>
            </a:r>
          </a:p>
        </p:txBody>
      </p:sp>
      <p:cxnSp>
        <p:nvCxnSpPr>
          <p:cNvPr id="36" name="arch-react-api"/>
          <p:cNvCxnSpPr/>
          <p:nvPr/>
        </p:nvCxnSpPr>
        <p:spPr>
          <a:xfrm xmlns:a="http://schemas.openxmlformats.org/drawingml/2006/main">
            <a:off x="2971800" y="3009900"/>
            <a:ext cx="895350" cy="286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06D36"/>
            </a:solidFill>
            <a:prstDash val="solid"/>
          </a:ln>
        </p:spPr>
      </p:cxnSp>
      <p:cxnSp>
        <p:nvCxnSpPr>
          <p:cNvPr id="37" name="arch-api-service"/>
          <p:cNvCxnSpPr/>
          <p:nvPr/>
        </p:nvCxnSpPr>
        <p:spPr>
          <a:xfrm xmlns:a="http://schemas.openxmlformats.org/drawingml/2006/main">
            <a:off x="6019800" y="3009900"/>
            <a:ext cx="876300" cy="286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06D36"/>
            </a:solidFill>
            <a:prstDash val="solid"/>
          </a:ln>
        </p:spPr>
      </p:cxnSp>
      <p:cxnSp>
        <p:nvCxnSpPr>
          <p:cNvPr id="38" name="arch-service-db"/>
          <p:cNvCxnSpPr/>
          <p:nvPr/>
        </p:nvCxnSpPr>
        <p:spPr>
          <a:xfrm xmlns:a="http://schemas.openxmlformats.org/drawingml/2006/main">
            <a:off x="9067800" y="1943100"/>
            <a:ext cx="857250" cy="68580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06D36"/>
            </a:solidFill>
            <a:prstDash val="solid"/>
          </a:ln>
        </p:spPr>
      </p:cxnSp>
      <p:cxnSp>
        <p:nvCxnSpPr>
          <p:cNvPr id="39" name="arch-service-gemini"/>
          <p:cNvCxnSpPr/>
          <p:nvPr/>
        </p:nvCxnSpPr>
        <p:spPr>
          <a:xfrm xmlns:a="http://schemas.openxmlformats.org/drawingml/2006/main">
            <a:off x="9067800" y="3390900"/>
            <a:ext cx="857250" cy="7429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FF7E47"/>
            </a:solidFill>
            <a:prstDash val="solid"/>
          </a:ln>
        </p:spPr>
      </p:cxnSp>
      <p:sp>
        <p:nvSpPr>
          <p:cNvPr id="7" name="arch-node-0">
            <a:extLst xmlns:a="http://schemas.openxmlformats.org/drawingml/2006/main">
              <a:ext uri="{FF2B5EF4-FFF2-40B4-BE49-F238E27FC236}">
                <a16:creationId xmlns:a16="http://schemas.microsoft.com/office/drawing/2014/main" id="{682191DA-D4B8-4581-8B67-481F66CB3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28850"/>
            <a:ext cx="25146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EAF3EC"/>
          </a:solidFill>
          <a:ln xmlns:a="http://schemas.openxmlformats.org/drawingml/2006/main" w="9525">
            <a:solidFill>
              <a:srgbClr val="E2DDD6"/>
            </a:solidFill>
            <a:prstDash val="solid"/>
          </a:ln>
        </p:spPr>
      </p:sp>
      <p:sp>
        <p:nvSpPr>
          <p:cNvPr id="8" name="arch-tag-0">
            <a:extLst xmlns:a="http://schemas.openxmlformats.org/drawingml/2006/main">
              <a:ext uri="{FF2B5EF4-FFF2-40B4-BE49-F238E27FC236}">
                <a16:creationId xmlns:a16="http://schemas.microsoft.com/office/drawing/2014/main" id="{358139A0-933D-4CE4-AA5E-72D456B87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38400"/>
            <a:ext cx="2095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D36"/>
                </a:solidFill>
                <a:latin typeface="Malgun Gothic"/>
                <a:ea typeface="Malgun Gothic"/>
                <a:cs typeface="Malgun Gothic"/>
              </a:defRPr>
            </a:pPr>
            <a:r>
              <a:t>CLIENT</a:t>
            </a:r>
          </a:p>
        </p:txBody>
      </p:sp>
      <p:sp>
        <p:nvSpPr>
          <p:cNvPr id="9" name="arch-title-0">
            <a:extLst xmlns:a="http://schemas.openxmlformats.org/drawingml/2006/main">
              <a:ext uri="{FF2B5EF4-FFF2-40B4-BE49-F238E27FC236}">
                <a16:creationId xmlns:a16="http://schemas.microsoft.com/office/drawing/2014/main" id="{B3DF22D1-9617-4E08-8B6E-44154B5C0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81300"/>
            <a:ext cx="2095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A1C19"/>
                </a:solidFill>
                <a:latin typeface="Malgun Gothic"/>
                <a:ea typeface="Malgun Gothic"/>
                <a:cs typeface="Malgun Gothic"/>
              </a:defRPr>
            </a:pPr>
            <a:r>
              <a:t>React + Vite</a:t>
            </a:r>
          </a:p>
        </p:txBody>
      </p:sp>
      <p:sp>
        <p:nvSpPr>
          <p:cNvPr id="10" name="arch-body-0">
            <a:extLst xmlns:a="http://schemas.openxmlformats.org/drawingml/2006/main">
              <a:ext uri="{FF2B5EF4-FFF2-40B4-BE49-F238E27FC236}">
                <a16:creationId xmlns:a16="http://schemas.microsoft.com/office/drawing/2014/main" id="{36A2E35E-3009-478A-89A2-F53155684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57550"/>
            <a:ext cx="20955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96B66"/>
                </a:solidFill>
                <a:latin typeface="Malgun Gothic"/>
                <a:ea typeface="Malgun Gothic"/>
                <a:cs typeface="Malgun Gothic"/>
              </a:defRPr>
            </a:pPr>
            <a:r>
              <a:t>냉장고 UI
추천·상세 화면</a:t>
            </a:r>
          </a:p>
        </p:txBody>
      </p:sp>
      <p:sp>
        <p:nvSpPr>
          <p:cNvPr id="11" name="arch-node-1">
            <a:extLst xmlns:a="http://schemas.openxmlformats.org/drawingml/2006/main">
              <a:ext uri="{FF2B5EF4-FFF2-40B4-BE49-F238E27FC236}">
                <a16:creationId xmlns:a16="http://schemas.microsoft.com/office/drawing/2014/main" id="{AC71DA81-B010-4775-9D1D-601911A62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228850"/>
            <a:ext cx="21526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DDD6"/>
            </a:solidFill>
            <a:prstDash val="solid"/>
          </a:ln>
        </p:spPr>
      </p:sp>
      <p:sp>
        <p:nvSpPr>
          <p:cNvPr id="12" name="arch-tag-1">
            <a:extLst xmlns:a="http://schemas.openxmlformats.org/drawingml/2006/main">
              <a:ext uri="{FF2B5EF4-FFF2-40B4-BE49-F238E27FC236}">
                <a16:creationId xmlns:a16="http://schemas.microsoft.com/office/drawing/2014/main" id="{2B779004-0B95-4951-883F-FCE54CDBD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438400"/>
            <a:ext cx="1733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D36"/>
                </a:solidFill>
                <a:latin typeface="Malgun Gothic"/>
                <a:ea typeface="Malgun Gothic"/>
                <a:cs typeface="Malgun Gothic"/>
              </a:defRPr>
            </a:pPr>
            <a:r>
              <a:t>API</a:t>
            </a:r>
          </a:p>
        </p:txBody>
      </p:sp>
      <p:sp>
        <p:nvSpPr>
          <p:cNvPr id="13" name="arch-title-1">
            <a:extLst xmlns:a="http://schemas.openxmlformats.org/drawingml/2006/main">
              <a:ext uri="{FF2B5EF4-FFF2-40B4-BE49-F238E27FC236}">
                <a16:creationId xmlns:a16="http://schemas.microsoft.com/office/drawing/2014/main" id="{C0BA1562-E541-4600-93A8-184123110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781300"/>
            <a:ext cx="17335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A1C19"/>
                </a:solidFill>
                <a:latin typeface="Malgun Gothic"/>
                <a:ea typeface="Malgun Gothic"/>
                <a:cs typeface="Malgun Gothic"/>
              </a:defRPr>
            </a:pPr>
            <a:r>
              <a:t>Express</a:t>
            </a:r>
          </a:p>
        </p:txBody>
      </p:sp>
      <p:sp>
        <p:nvSpPr>
          <p:cNvPr id="14" name="arch-body-1">
            <a:extLst xmlns:a="http://schemas.openxmlformats.org/drawingml/2006/main">
              <a:ext uri="{FF2B5EF4-FFF2-40B4-BE49-F238E27FC236}">
                <a16:creationId xmlns:a16="http://schemas.microsoft.com/office/drawing/2014/main" id="{8CD77925-DA31-437E-AF3B-43E09A296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257550"/>
            <a:ext cx="17335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96B66"/>
                </a:solidFill>
                <a:latin typeface="Malgun Gothic"/>
                <a:ea typeface="Malgun Gothic"/>
                <a:cs typeface="Malgun Gothic"/>
              </a:defRPr>
            </a:pPr>
            <a:r>
              <a:t>REST routes
오류·로그 통일</a:t>
            </a:r>
          </a:p>
        </p:txBody>
      </p:sp>
      <p:sp>
        <p:nvSpPr>
          <p:cNvPr id="15" name="arch-node-2">
            <a:extLst xmlns:a="http://schemas.openxmlformats.org/drawingml/2006/main">
              <a:ext uri="{FF2B5EF4-FFF2-40B4-BE49-F238E27FC236}">
                <a16:creationId xmlns:a16="http://schemas.microsoft.com/office/drawing/2014/main" id="{6A47AFBF-5B8F-4F0E-957C-DB2F6A1A1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228850"/>
            <a:ext cx="21717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3F2EF"/>
          </a:solidFill>
          <a:ln xmlns:a="http://schemas.openxmlformats.org/drawingml/2006/main" w="9525">
            <a:solidFill>
              <a:srgbClr val="E2DDD6"/>
            </a:solidFill>
            <a:prstDash val="solid"/>
          </a:ln>
        </p:spPr>
      </p:sp>
      <p:sp>
        <p:nvSpPr>
          <p:cNvPr id="16" name="arch-tag-2">
            <a:extLst xmlns:a="http://schemas.openxmlformats.org/drawingml/2006/main">
              <a:ext uri="{FF2B5EF4-FFF2-40B4-BE49-F238E27FC236}">
                <a16:creationId xmlns:a16="http://schemas.microsoft.com/office/drawing/2014/main" id="{DA6B992D-ADF4-46ED-9F57-3CB51F337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438400"/>
            <a:ext cx="17526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D36"/>
                </a:solidFill>
                <a:latin typeface="Malgun Gothic"/>
                <a:ea typeface="Malgun Gothic"/>
                <a:cs typeface="Malgun Gothic"/>
              </a:defRPr>
            </a:pPr>
            <a:r>
              <a:t>DOMAIN</a:t>
            </a:r>
          </a:p>
        </p:txBody>
      </p:sp>
      <p:sp>
        <p:nvSpPr>
          <p:cNvPr id="17" name="arch-title-2">
            <a:extLst xmlns:a="http://schemas.openxmlformats.org/drawingml/2006/main">
              <a:ext uri="{FF2B5EF4-FFF2-40B4-BE49-F238E27FC236}">
                <a16:creationId xmlns:a16="http://schemas.microsoft.com/office/drawing/2014/main" id="{09F9BAC3-77DB-4164-B9B1-0D5C5B645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781300"/>
            <a:ext cx="17526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A1C19"/>
                </a:solidFill>
                <a:latin typeface="Malgun Gothic"/>
                <a:ea typeface="Malgun Gothic"/>
                <a:cs typeface="Malgun Gothic"/>
              </a:defRPr>
            </a:pPr>
            <a:r>
              <a:t>Service layer</a:t>
            </a:r>
          </a:p>
        </p:txBody>
      </p:sp>
      <p:sp>
        <p:nvSpPr>
          <p:cNvPr id="18" name="arch-body-2">
            <a:extLst xmlns:a="http://schemas.openxmlformats.org/drawingml/2006/main">
              <a:ext uri="{FF2B5EF4-FFF2-40B4-BE49-F238E27FC236}">
                <a16:creationId xmlns:a16="http://schemas.microsoft.com/office/drawing/2014/main" id="{992C922F-72C1-49D4-94CB-7B1E35B5A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257550"/>
            <a:ext cx="17526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96B66"/>
                </a:solidFill>
                <a:latin typeface="Malgun Gothic"/>
                <a:ea typeface="Malgun Gothic"/>
                <a:cs typeface="Malgun Gothic"/>
              </a:defRPr>
            </a:pPr>
            <a:r>
              <a:t>추천 정책 · Zod
캐시 · fingerprint</a:t>
            </a:r>
          </a:p>
        </p:txBody>
      </p:sp>
      <p:sp>
        <p:nvSpPr>
          <p:cNvPr id="19" name="arch-node-3">
            <a:extLst xmlns:a="http://schemas.openxmlformats.org/drawingml/2006/main">
              <a:ext uri="{FF2B5EF4-FFF2-40B4-BE49-F238E27FC236}">
                <a16:creationId xmlns:a16="http://schemas.microsoft.com/office/drawing/2014/main" id="{504F8A63-51B3-45AB-90FD-2932ADD4C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1428750"/>
            <a:ext cx="1809750" cy="139065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EAF3EC"/>
          </a:solidFill>
          <a:ln xmlns:a="http://schemas.openxmlformats.org/drawingml/2006/main" w="9525">
            <a:solidFill>
              <a:srgbClr val="E2DDD6"/>
            </a:solidFill>
            <a:prstDash val="solid"/>
          </a:ln>
        </p:spPr>
      </p:sp>
      <p:sp>
        <p:nvSpPr>
          <p:cNvPr id="20" name="arch-tag-3">
            <a:extLst xmlns:a="http://schemas.openxmlformats.org/drawingml/2006/main">
              <a:ext uri="{FF2B5EF4-FFF2-40B4-BE49-F238E27FC236}">
                <a16:creationId xmlns:a16="http://schemas.microsoft.com/office/drawing/2014/main" id="{1C88FFEC-9093-49C8-8171-356A2D1B5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1638300"/>
            <a:ext cx="13906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D36"/>
                </a:solidFill>
                <a:latin typeface="Malgun Gothic"/>
                <a:ea typeface="Malgun Gothic"/>
                <a:cs typeface="Malgun Gothic"/>
              </a:defRPr>
            </a:pPr>
            <a:r>
              <a:t>DATA</a:t>
            </a:r>
          </a:p>
        </p:txBody>
      </p:sp>
      <p:sp>
        <p:nvSpPr>
          <p:cNvPr id="21" name="arch-title-3">
            <a:extLst xmlns:a="http://schemas.openxmlformats.org/drawingml/2006/main">
              <a:ext uri="{FF2B5EF4-FFF2-40B4-BE49-F238E27FC236}">
                <a16:creationId xmlns:a16="http://schemas.microsoft.com/office/drawing/2014/main" id="{B7A72B92-0820-4766-A207-190EFDC36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1981200"/>
            <a:ext cx="13906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A1C19"/>
                </a:solidFill>
                <a:latin typeface="Malgun Gothic"/>
                <a:ea typeface="Malgun Gothic"/>
                <a:cs typeface="Malgun Gothic"/>
              </a:defRPr>
            </a:pPr>
            <a:r>
              <a:t>Supabase</a:t>
            </a:r>
          </a:p>
        </p:txBody>
      </p:sp>
      <p:sp>
        <p:nvSpPr>
          <p:cNvPr id="22" name="arch-body-3">
            <a:extLst xmlns:a="http://schemas.openxmlformats.org/drawingml/2006/main">
              <a:ext uri="{FF2B5EF4-FFF2-40B4-BE49-F238E27FC236}">
                <a16:creationId xmlns:a16="http://schemas.microsoft.com/office/drawing/2014/main" id="{5B6AA80F-D578-438D-8744-16672E1CB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2457450"/>
            <a:ext cx="13906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96B66"/>
                </a:solidFill>
                <a:latin typeface="Malgun Gothic"/>
                <a:ea typeface="Malgun Gothic"/>
                <a:cs typeface="Malgun Gothic"/>
              </a:defRPr>
            </a:pPr>
            <a:r>
              <a:t>재료 · 추천 캐시</a:t>
            </a:r>
          </a:p>
        </p:txBody>
      </p:sp>
      <p:sp>
        <p:nvSpPr>
          <p:cNvPr id="23" name="arch-node-4">
            <a:extLst xmlns:a="http://schemas.openxmlformats.org/drawingml/2006/main">
              <a:ext uri="{FF2B5EF4-FFF2-40B4-BE49-F238E27FC236}">
                <a16:creationId xmlns:a16="http://schemas.microsoft.com/office/drawing/2014/main" id="{224034B1-85E8-4333-8705-468C07BA7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562350"/>
            <a:ext cx="1809750" cy="139065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FFF0E8"/>
          </a:solidFill>
          <a:ln xmlns:a="http://schemas.openxmlformats.org/drawingml/2006/main" w="9525">
            <a:solidFill>
              <a:srgbClr val="E2DDD6"/>
            </a:solidFill>
            <a:prstDash val="solid"/>
          </a:ln>
        </p:spPr>
      </p:sp>
      <p:sp>
        <p:nvSpPr>
          <p:cNvPr id="24" name="arch-tag-4">
            <a:extLst xmlns:a="http://schemas.openxmlformats.org/drawingml/2006/main">
              <a:ext uri="{FF2B5EF4-FFF2-40B4-BE49-F238E27FC236}">
                <a16:creationId xmlns:a16="http://schemas.microsoft.com/office/drawing/2014/main" id="{2546B76A-A16C-40F5-8B9A-71138DCC9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3771900"/>
            <a:ext cx="13906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7E47"/>
                </a:solidFill>
                <a:latin typeface="Malgun Gothic"/>
                <a:ea typeface="Malgun Gothic"/>
                <a:cs typeface="Malgun Gothic"/>
              </a:defRPr>
            </a:pPr>
            <a:r>
              <a:t>MODEL</a:t>
            </a:r>
          </a:p>
        </p:txBody>
      </p:sp>
      <p:sp>
        <p:nvSpPr>
          <p:cNvPr id="25" name="arch-title-4">
            <a:extLst xmlns:a="http://schemas.openxmlformats.org/drawingml/2006/main">
              <a:ext uri="{FF2B5EF4-FFF2-40B4-BE49-F238E27FC236}">
                <a16:creationId xmlns:a16="http://schemas.microsoft.com/office/drawing/2014/main" id="{7E0FD0DC-EF34-45F4-8349-700364D1D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4114800"/>
            <a:ext cx="13906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A1C19"/>
                </a:solidFill>
                <a:latin typeface="Malgun Gothic"/>
                <a:ea typeface="Malgun Gothic"/>
                <a:cs typeface="Malgun Gothic"/>
              </a:defRPr>
            </a:pPr>
            <a:r>
              <a:t>Gemini</a:t>
            </a:r>
          </a:p>
        </p:txBody>
      </p:sp>
      <p:sp>
        <p:nvSpPr>
          <p:cNvPr id="26" name="arch-body-4">
            <a:extLst xmlns:a="http://schemas.openxmlformats.org/drawingml/2006/main">
              <a:ext uri="{FF2B5EF4-FFF2-40B4-BE49-F238E27FC236}">
                <a16:creationId xmlns:a16="http://schemas.microsoft.com/office/drawing/2014/main" id="{0A8BE217-ADDF-4239-B36E-C94002A69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4591050"/>
            <a:ext cx="13906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96B66"/>
                </a:solidFill>
                <a:latin typeface="Malgun Gothic"/>
                <a:ea typeface="Malgun Gothic"/>
                <a:cs typeface="Malgun Gothic"/>
              </a:defRPr>
            </a:pPr>
            <a:r>
              <a:t>레시피 생성</a:t>
            </a:r>
          </a:p>
        </p:txBody>
      </p:sp>
      <p:sp>
        <p:nvSpPr>
          <p:cNvPr id="27" name="arch-principle">
            <a:extLst xmlns:a="http://schemas.openxmlformats.org/drawingml/2006/main">
              <a:ext uri="{FF2B5EF4-FFF2-40B4-BE49-F238E27FC236}">
                <a16:creationId xmlns:a16="http://schemas.microsoft.com/office/drawing/2014/main" id="{E2987393-A66C-45A1-B469-D47AC4349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19700"/>
            <a:ext cx="112776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A1C19"/>
                </a:solidFill>
                <a:latin typeface="Malgun Gothic"/>
                <a:ea typeface="Malgun Gothic"/>
                <a:cs typeface="Malgun Gothic"/>
              </a:defRPr>
            </a:pPr>
            <a:r>
              <a:t>브라우저 Secret key 없음  ·  검증된 AI 응답만 UI 전달</a:t>
            </a:r>
          </a:p>
        </p:txBody>
      </p:sp>
      <p:sp>
        <p:nvSpPr>
          <p:cNvPr id="28" name="quality-rail">
            <a:extLst xmlns:a="http://schemas.openxmlformats.org/drawingml/2006/main">
              <a:ext uri="{FF2B5EF4-FFF2-40B4-BE49-F238E27FC236}">
                <a16:creationId xmlns:a16="http://schemas.microsoft.com/office/drawing/2014/main" id="{5674D59A-334E-44DA-8D7D-417A9B7AE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72150"/>
            <a:ext cx="112776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A1C1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rail-test">
            <a:extLst xmlns:a="http://schemas.openxmlformats.org/drawingml/2006/main">
              <a:ext uri="{FF2B5EF4-FFF2-40B4-BE49-F238E27FC236}">
                <a16:creationId xmlns:a16="http://schemas.microsoft.com/office/drawing/2014/main" id="{1AC86ACE-8A58-4D98-A1A7-73A1E3C9F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67400"/>
            <a:ext cx="2476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t>Vitest 72 / 77</a:t>
            </a:r>
          </a:p>
        </p:txBody>
      </p:sp>
      <p:sp>
        <p:nvSpPr>
          <p:cNvPr id="30" name="rail-lint">
            <a:extLst xmlns:a="http://schemas.openxmlformats.org/drawingml/2006/main">
              <a:ext uri="{FF2B5EF4-FFF2-40B4-BE49-F238E27FC236}">
                <a16:creationId xmlns:a16="http://schemas.microsoft.com/office/drawing/2014/main" id="{0EF44AD7-3380-4E62-8958-BB36081EC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5867400"/>
            <a:ext cx="2286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t>oxlint  PASS</a:t>
            </a:r>
          </a:p>
        </p:txBody>
      </p:sp>
      <p:sp>
        <p:nvSpPr>
          <p:cNvPr id="31" name="rail-build">
            <a:extLst xmlns:a="http://schemas.openxmlformats.org/drawingml/2006/main">
              <a:ext uri="{FF2B5EF4-FFF2-40B4-BE49-F238E27FC236}">
                <a16:creationId xmlns:a16="http://schemas.microsoft.com/office/drawing/2014/main" id="{807AA398-8F99-4832-9D9A-476E6BB64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5867400"/>
            <a:ext cx="2667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t>Vite build  PASS</a:t>
            </a:r>
          </a:p>
        </p:txBody>
      </p:sp>
      <p:sp>
        <p:nvSpPr>
          <p:cNvPr id="32" name="footer-label-6">
            <a:extLst xmlns:a="http://schemas.openxmlformats.org/drawingml/2006/main">
              <a:ext uri="{FF2B5EF4-FFF2-40B4-BE49-F238E27FC236}">
                <a16:creationId xmlns:a16="http://schemas.microsoft.com/office/drawing/2014/main" id="{BB985A74-F52A-4FBA-A66D-34522F2F4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3429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96B66"/>
                </a:solidFill>
                <a:latin typeface="Malgun Gothic"/>
                <a:ea typeface="Malgun Gothic"/>
                <a:cs typeface="Malgun Gothic"/>
              </a:defRPr>
            </a:pPr>
            <a:r>
              <a:t>TODAY'S FRIDGE · DEMO DAY</a:t>
            </a:r>
          </a:p>
        </p:txBody>
      </p:sp>
      <p:sp>
        <p:nvSpPr>
          <p:cNvPr id="33" name="footer-number-6">
            <a:extLst xmlns:a="http://schemas.openxmlformats.org/drawingml/2006/main">
              <a:ext uri="{FF2B5EF4-FFF2-40B4-BE49-F238E27FC236}">
                <a16:creationId xmlns:a16="http://schemas.microsoft.com/office/drawing/2014/main" id="{59E8081A-C001-4198-90FD-952072AE1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953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96B66"/>
                </a:solidFill>
                <a:latin typeface="Malgun Gothic"/>
                <a:ea typeface="Malgun Gothic"/>
                <a:cs typeface="Malgun Gothic"/>
              </a:defRPr>
            </a:pPr>
            <a: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07965969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C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kicker-7">
            <a:extLst xmlns:a="http://schemas.openxmlformats.org/drawingml/2006/main">
              <a:ext uri="{FF2B5EF4-FFF2-40B4-BE49-F238E27FC236}">
                <a16:creationId xmlns:a16="http://schemas.microsoft.com/office/drawing/2014/main" id="{8032342F-066A-4D0C-81F1-3D2238CD3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3333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7E47"/>
                </a:solidFill>
                <a:latin typeface="Malgun Gothic"/>
                <a:ea typeface="Malgun Gothic"/>
                <a:cs typeface="Malgun Gothic"/>
              </a:defRPr>
            </a:pPr>
            <a:r>
              <a:t>05 · 시연</a:t>
            </a:r>
          </a:p>
        </p:txBody>
      </p:sp>
      <p:sp>
        <p:nvSpPr>
          <p:cNvPr id="2" name="title-7">
            <a:extLst xmlns:a="http://schemas.openxmlformats.org/drawingml/2006/main">
              <a:ext uri="{FF2B5EF4-FFF2-40B4-BE49-F238E27FC236}">
                <a16:creationId xmlns:a16="http://schemas.microsoft.com/office/drawing/2014/main" id="{CAEAEB82-1327-4034-B87A-738D22BD7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1127760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A1C19"/>
                </a:solidFill>
                <a:latin typeface="Malgun Gothic"/>
                <a:ea typeface="Malgun Gothic"/>
                <a:cs typeface="Malgun Gothic"/>
              </a:defRPr>
            </a:pPr>
            <a:r>
              <a:t>임박 재료 → 조리 여력 → 메뉴 추천</a:t>
            </a:r>
          </a:p>
        </p:txBody>
      </p:sp>
      <p:sp>
        <p:nvSpPr>
          <p:cNvPr id="3" name="demo-frame-left">
            <a:extLst xmlns:a="http://schemas.openxmlformats.org/drawingml/2006/main">
              <a:ext uri="{FF2B5EF4-FFF2-40B4-BE49-F238E27FC236}">
                <a16:creationId xmlns:a16="http://schemas.microsoft.com/office/drawing/2014/main" id="{47101D1C-F8D8-4BA6-8354-AF903D242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38300"/>
            <a:ext cx="533400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DDD6"/>
            </a:solidFill>
            <a:prstDash val="solid"/>
          </a:ln>
        </p:spPr>
      </p:sp>
      <p:sp>
        <p:nvSpPr>
          <p:cNvPr id="4" name="demo-frame-right">
            <a:extLst xmlns:a="http://schemas.openxmlformats.org/drawingml/2006/main">
              <a:ext uri="{FF2B5EF4-FFF2-40B4-BE49-F238E27FC236}">
                <a16:creationId xmlns:a16="http://schemas.microsoft.com/office/drawing/2014/main" id="{858A0C0A-4ADA-4167-9486-F10AF308E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638300"/>
            <a:ext cx="533400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DDD6"/>
            </a:solidFill>
            <a:prstDash val="solid"/>
          </a:ln>
        </p:spPr>
      </p:sp>
      <p:sp>
        <p:nvSpPr>
          <p:cNvPr id="5" name="demo-step-1">
            <a:extLst xmlns:a="http://schemas.openxmlformats.org/drawingml/2006/main">
              <a:ext uri="{FF2B5EF4-FFF2-40B4-BE49-F238E27FC236}">
                <a16:creationId xmlns:a16="http://schemas.microsoft.com/office/drawing/2014/main" id="{52FA258B-5857-4FA7-8332-0EA0AB2E8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28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1E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demo-step-1-text">
            <a:extLst xmlns:a="http://schemas.openxmlformats.org/drawingml/2006/main">
              <a:ext uri="{FF2B5EF4-FFF2-40B4-BE49-F238E27FC236}">
                <a16:creationId xmlns:a16="http://schemas.microsoft.com/office/drawing/2014/main" id="{85CC31B0-8DF4-4358-BB21-1CE37D222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05000"/>
            <a:ext cx="4000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t>1</a:t>
            </a:r>
          </a:p>
        </p:txBody>
      </p:sp>
      <p:sp>
        <p:nvSpPr>
          <p:cNvPr id="7" name="demo-step-2">
            <a:extLst xmlns:a="http://schemas.openxmlformats.org/drawingml/2006/main">
              <a:ext uri="{FF2B5EF4-FFF2-40B4-BE49-F238E27FC236}">
                <a16:creationId xmlns:a16="http://schemas.microsoft.com/office/drawing/2014/main" id="{76B8A13A-FD71-48A8-89F5-8DE4449CA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828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E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demo-step-2-text">
            <a:extLst xmlns:a="http://schemas.openxmlformats.org/drawingml/2006/main">
              <a:ext uri="{FF2B5EF4-FFF2-40B4-BE49-F238E27FC236}">
                <a16:creationId xmlns:a16="http://schemas.microsoft.com/office/drawing/2014/main" id="{241AEF59-B461-49FB-AA06-355861506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905000"/>
            <a:ext cx="4000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t>2</a:t>
            </a:r>
          </a:p>
        </p:txBody>
      </p:sp>
      <p:sp>
        <p:nvSpPr>
          <p:cNvPr id="9" name="demo-label-1">
            <a:extLst xmlns:a="http://schemas.openxmlformats.org/drawingml/2006/main">
              <a:ext uri="{FF2B5EF4-FFF2-40B4-BE49-F238E27FC236}">
                <a16:creationId xmlns:a16="http://schemas.microsoft.com/office/drawing/2014/main" id="{7DB98414-E44C-445B-A23C-6ADA0AA2B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62600"/>
            <a:ext cx="2571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A1C19"/>
                </a:solidFill>
                <a:latin typeface="Malgun Gothic"/>
                <a:ea typeface="Malgun Gothic"/>
                <a:cs typeface="Malgun Gothic"/>
              </a:defRPr>
            </a:pPr>
            <a:r>
              <a:t>냉장고 상태 확인</a:t>
            </a:r>
          </a:p>
        </p:txBody>
      </p:sp>
      <p:sp>
        <p:nvSpPr>
          <p:cNvPr id="10" name="demo-desc-1">
            <a:extLst xmlns:a="http://schemas.openxmlformats.org/drawingml/2006/main">
              <a:ext uri="{FF2B5EF4-FFF2-40B4-BE49-F238E27FC236}">
                <a16:creationId xmlns:a16="http://schemas.microsoft.com/office/drawing/2014/main" id="{E268E13F-643C-4F76-8430-261EE1897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0"/>
            <a:ext cx="5048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96B66"/>
                </a:solidFill>
                <a:latin typeface="Malgun Gothic"/>
                <a:ea typeface="Malgun Gothic"/>
                <a:cs typeface="Malgun Gothic"/>
              </a:defRPr>
            </a:pPr>
            <a:r>
              <a:t>D-1 삼겹살을 먼저 사용하도록 안내</a:t>
            </a:r>
          </a:p>
        </p:txBody>
      </p:sp>
      <p:sp>
        <p:nvSpPr>
          <p:cNvPr id="11" name="demo-label-2">
            <a:extLst xmlns:a="http://schemas.openxmlformats.org/drawingml/2006/main">
              <a:ext uri="{FF2B5EF4-FFF2-40B4-BE49-F238E27FC236}">
                <a16:creationId xmlns:a16="http://schemas.microsoft.com/office/drawing/2014/main" id="{E3CB9AA6-A244-4778-9B97-0F9769052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562600"/>
            <a:ext cx="2571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A1C19"/>
                </a:solidFill>
                <a:latin typeface="Malgun Gothic"/>
                <a:ea typeface="Malgun Gothic"/>
                <a:cs typeface="Malgun Gothic"/>
              </a:defRPr>
            </a:pPr>
            <a:r>
              <a:t>조리 여력 선택</a:t>
            </a:r>
          </a:p>
        </p:txBody>
      </p:sp>
      <p:sp>
        <p:nvSpPr>
          <p:cNvPr id="12" name="demo-desc-2">
            <a:extLst xmlns:a="http://schemas.openxmlformats.org/drawingml/2006/main">
              <a:ext uri="{FF2B5EF4-FFF2-40B4-BE49-F238E27FC236}">
                <a16:creationId xmlns:a16="http://schemas.microsoft.com/office/drawing/2014/main" id="{FA944B4E-C05D-42C7-887F-4DDF16F7E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905500"/>
            <a:ext cx="5048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96B66"/>
                </a:solidFill>
                <a:latin typeface="Malgun Gothic"/>
                <a:ea typeface="Malgun Gothic"/>
                <a:cs typeface="Malgun Gothic"/>
              </a:defRPr>
            </a:pPr>
            <a:r>
              <a:t>‘불 없이’ 조건으로 3개 메뉴 추천</a:t>
            </a:r>
          </a:p>
        </p:txBody>
      </p:sp>
      <p:sp>
        <p:nvSpPr>
          <p:cNvPr id="13" name="footer-label-7">
            <a:extLst xmlns:a="http://schemas.openxmlformats.org/drawingml/2006/main">
              <a:ext uri="{FF2B5EF4-FFF2-40B4-BE49-F238E27FC236}">
                <a16:creationId xmlns:a16="http://schemas.microsoft.com/office/drawing/2014/main" id="{5A4314AD-E8A9-4DBF-BEDA-88E637DB1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3429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96B66"/>
                </a:solidFill>
                <a:latin typeface="Malgun Gothic"/>
                <a:ea typeface="Malgun Gothic"/>
                <a:cs typeface="Malgun Gothic"/>
              </a:defRPr>
            </a:pPr>
            <a:r>
              <a:t>TODAY'S FRIDGE · DEMO DAY</a:t>
            </a:r>
          </a:p>
        </p:txBody>
      </p:sp>
      <p:sp>
        <p:nvSpPr>
          <p:cNvPr id="14" name="footer-number-7">
            <a:extLst xmlns:a="http://schemas.openxmlformats.org/drawingml/2006/main">
              <a:ext uri="{FF2B5EF4-FFF2-40B4-BE49-F238E27FC236}">
                <a16:creationId xmlns:a16="http://schemas.microsoft.com/office/drawing/2014/main" id="{9ACFA700-7C3F-4E3A-8207-3F526D552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953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96B66"/>
                </a:solidFill>
                <a:latin typeface="Malgun Gothic"/>
                <a:ea typeface="Malgun Gothic"/>
                <a:cs typeface="Malgun Gothic"/>
              </a:defRPr>
            </a:pPr>
            <a:r>
              <a:t>07</a:t>
            </a:r>
          </a:p>
        </p:txBody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508292e1df4bac"/>
          <a:srcRect xmlns:a="http://schemas.openxmlformats.org/drawingml/2006/main" l="8343" t="0" r="834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8650" y="1809750"/>
            <a:ext cx="4991100" cy="3371850"/>
          </a:xfrm>
          <a:prstGeom xmlns:a="http://schemas.openxmlformats.org/drawingml/2006/main" prst="roundRect">
            <a:avLst>
              <a:gd name="adj" fmla="val 3390"/>
            </a:avLst>
          </a:prstGeom>
        </p:spPr>
      </p:pic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1f4c9ff60444d6"/>
          <a:srcRect xmlns:a="http://schemas.openxmlformats.org/drawingml/2006/main" l="8343" t="0" r="834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72250" y="1809750"/>
            <a:ext cx="4991100" cy="3371850"/>
          </a:xfrm>
          <a:prstGeom xmlns:a="http://schemas.openxmlformats.org/drawingml/2006/main" prst="roundRect">
            <a:avLst>
              <a:gd name="adj" fmla="val 3390"/>
            </a:avLst>
          </a:prstGeom>
        </p:spPr>
      </p:pic>
    </p:spTree>
    <p:extLst>
      <p:ext uri="{BB962C8B-B14F-4D97-AF65-F5344CB8AC3E}">
        <p14:creationId xmlns:p14="http://schemas.microsoft.com/office/powerpoint/2010/main" val="35932488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C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kicker-8">
            <a:extLst xmlns:a="http://schemas.openxmlformats.org/drawingml/2006/main">
              <a:ext uri="{FF2B5EF4-FFF2-40B4-BE49-F238E27FC236}">
                <a16:creationId xmlns:a16="http://schemas.microsoft.com/office/drawing/2014/main" id="{E57963BC-AC5D-4AE6-93B7-27E5BDBB0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3333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7E47"/>
                </a:solidFill>
                <a:latin typeface="Malgun Gothic"/>
                <a:ea typeface="Malgun Gothic"/>
                <a:cs typeface="Malgun Gothic"/>
              </a:defRPr>
            </a:pPr>
            <a:r>
              <a:t>05 · 시연</a:t>
            </a:r>
          </a:p>
        </p:txBody>
      </p:sp>
      <p:sp>
        <p:nvSpPr>
          <p:cNvPr id="2" name="title-8">
            <a:extLst xmlns:a="http://schemas.openxmlformats.org/drawingml/2006/main">
              <a:ext uri="{FF2B5EF4-FFF2-40B4-BE49-F238E27FC236}">
                <a16:creationId xmlns:a16="http://schemas.microsoft.com/office/drawing/2014/main" id="{46F6A46D-C6E4-4B14-9F33-DA7F2FB39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1127760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A1C19"/>
                </a:solidFill>
                <a:latin typeface="Malgun Gothic"/>
                <a:ea typeface="Malgun Gothic"/>
                <a:cs typeface="Malgun Gothic"/>
              </a:defRPr>
            </a:pPr>
            <a:r>
              <a:t>추천에서 실제 조리 행동까지</a:t>
            </a:r>
          </a:p>
        </p:txBody>
      </p:sp>
      <p:sp>
        <p:nvSpPr>
          <p:cNvPr id="3" name="detail-frame">
            <a:extLst xmlns:a="http://schemas.openxmlformats.org/drawingml/2006/main">
              <a:ext uri="{FF2B5EF4-FFF2-40B4-BE49-F238E27FC236}">
                <a16:creationId xmlns:a16="http://schemas.microsoft.com/office/drawing/2014/main" id="{EC0E691E-60B9-4B19-9131-20B72E26E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81150"/>
            <a:ext cx="6858000" cy="4400550"/>
          </a:xfrm>
          <a:prstGeom xmlns:a="http://schemas.openxmlformats.org/drawingml/2006/main" prst="roundRect">
            <a:avLst>
              <a:gd name="adj" fmla="val 173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DDD6"/>
            </a:solidFill>
            <a:prstDash val="solid"/>
          </a:ln>
        </p:spPr>
      </p:sp>
      <p:sp>
        <p:nvSpPr>
          <p:cNvPr id="4" name="detail-menu-title">
            <a:extLst xmlns:a="http://schemas.openxmlformats.org/drawingml/2006/main">
              <a:ext uri="{FF2B5EF4-FFF2-40B4-BE49-F238E27FC236}">
                <a16:creationId xmlns:a16="http://schemas.microsoft.com/office/drawing/2014/main" id="{54925F3E-C57F-4E9C-BFD0-5CE3BEB09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790700"/>
            <a:ext cx="361950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A1C19"/>
                </a:solidFill>
                <a:latin typeface="Malgun Gothic"/>
                <a:ea typeface="Malgun Gothic"/>
                <a:cs typeface="Malgun Gothic"/>
              </a:defRPr>
            </a:pPr>
            <a:r>
              <a:t>제육볶음 두부 샐러드</a:t>
            </a:r>
          </a:p>
        </p:txBody>
      </p:sp>
      <p:sp>
        <p:nvSpPr>
          <p:cNvPr id="5" name="detail-meta">
            <a:extLst xmlns:a="http://schemas.openxmlformats.org/drawingml/2006/main">
              <a:ext uri="{FF2B5EF4-FFF2-40B4-BE49-F238E27FC236}">
                <a16:creationId xmlns:a16="http://schemas.microsoft.com/office/drawing/2014/main" id="{154D3AB6-5ADA-43DF-9724-47EFDE8D2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647950"/>
            <a:ext cx="3333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6D36"/>
                </a:solidFill>
                <a:latin typeface="Malgun Gothic"/>
                <a:ea typeface="Malgun Gothic"/>
                <a:cs typeface="Malgun Gothic"/>
              </a:defRPr>
            </a:pPr>
            <a:r>
              <a:t>5분 · 불 없이 · 쉬움</a:t>
            </a:r>
          </a:p>
        </p:txBody>
      </p:sp>
      <p:sp>
        <p:nvSpPr>
          <p:cNvPr id="6" name="detail-check-1">
            <a:extLst xmlns:a="http://schemas.openxmlformats.org/drawingml/2006/main">
              <a:ext uri="{FF2B5EF4-FFF2-40B4-BE49-F238E27FC236}">
                <a16:creationId xmlns:a16="http://schemas.microsoft.com/office/drawing/2014/main" id="{97650C68-73C7-428D-AE4F-44F6E5AC2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314700"/>
            <a:ext cx="3429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A1C19"/>
                </a:solidFill>
                <a:latin typeface="Malgun Gothic"/>
                <a:ea typeface="Malgun Gothic"/>
                <a:cs typeface="Malgun Gothic"/>
              </a:defRPr>
            </a:pPr>
            <a:r>
              <a:t>✓  보유/선택 재료 구분</a:t>
            </a:r>
          </a:p>
        </p:txBody>
      </p:sp>
      <p:sp>
        <p:nvSpPr>
          <p:cNvPr id="7" name="detail-check-2">
            <a:extLst xmlns:a="http://schemas.openxmlformats.org/drawingml/2006/main">
              <a:ext uri="{FF2B5EF4-FFF2-40B4-BE49-F238E27FC236}">
                <a16:creationId xmlns:a16="http://schemas.microsoft.com/office/drawing/2014/main" id="{D1E1E910-F342-4115-AEDD-377D09D14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771900"/>
            <a:ext cx="3429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A1C19"/>
                </a:solidFill>
                <a:latin typeface="Malgun Gothic"/>
                <a:ea typeface="Malgun Gothic"/>
                <a:cs typeface="Malgun Gothic"/>
              </a:defRPr>
            </a:pPr>
            <a:r>
              <a:t>✓  대체 재료와 조리 순서</a:t>
            </a:r>
          </a:p>
        </p:txBody>
      </p:sp>
      <p:sp>
        <p:nvSpPr>
          <p:cNvPr id="8" name="detail-check-3">
            <a:extLst xmlns:a="http://schemas.openxmlformats.org/drawingml/2006/main">
              <a:ext uri="{FF2B5EF4-FFF2-40B4-BE49-F238E27FC236}">
                <a16:creationId xmlns:a16="http://schemas.microsoft.com/office/drawing/2014/main" id="{5ECE18DA-FA43-4218-B4FF-463360747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229100"/>
            <a:ext cx="3429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A1C19"/>
                </a:solidFill>
                <a:latin typeface="Malgun Gothic"/>
                <a:ea typeface="Malgun Gothic"/>
                <a:cs typeface="Malgun Gothic"/>
              </a:defRPr>
            </a:pPr>
            <a:r>
              <a:t>✓  저장·구매 행동 연결</a:t>
            </a:r>
          </a:p>
        </p:txBody>
      </p:sp>
      <p:sp>
        <p:nvSpPr>
          <p:cNvPr id="9" name="known-risk">
            <a:extLst xmlns:a="http://schemas.openxmlformats.org/drawingml/2006/main">
              <a:ext uri="{FF2B5EF4-FFF2-40B4-BE49-F238E27FC236}">
                <a16:creationId xmlns:a16="http://schemas.microsoft.com/office/drawing/2014/main" id="{36ADCB8D-9E12-40BD-B03A-BD0614A46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914900"/>
            <a:ext cx="35433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0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known-risk-label">
            <a:extLst xmlns:a="http://schemas.openxmlformats.org/drawingml/2006/main">
              <a:ext uri="{FF2B5EF4-FFF2-40B4-BE49-F238E27FC236}">
                <a16:creationId xmlns:a16="http://schemas.microsoft.com/office/drawing/2014/main" id="{DB3A6D4A-4167-4DE0-A7FE-19F7F379C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5067300"/>
            <a:ext cx="1238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91E4B"/>
                </a:solidFill>
                <a:latin typeface="Malgun Gothic"/>
                <a:ea typeface="Malgun Gothic"/>
                <a:cs typeface="Malgun Gothic"/>
              </a:defRPr>
            </a:pPr>
            <a:r>
              <a:t>남은 리스크</a:t>
            </a:r>
          </a:p>
        </p:txBody>
      </p:sp>
      <p:sp>
        <p:nvSpPr>
          <p:cNvPr id="11" name="known-risk-copy">
            <a:extLst xmlns:a="http://schemas.openxmlformats.org/drawingml/2006/main">
              <a:ext uri="{FF2B5EF4-FFF2-40B4-BE49-F238E27FC236}">
                <a16:creationId xmlns:a16="http://schemas.microsoft.com/office/drawing/2014/main" id="{9766AEA3-4C28-4C26-BB80-EACB32544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5334000"/>
            <a:ext cx="3086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96B66"/>
                </a:solidFill>
                <a:latin typeface="Malgun Gothic"/>
                <a:ea typeface="Malgun Gothic"/>
                <a:cs typeface="Malgun Gothic"/>
              </a:defRPr>
            </a:pPr>
            <a:r>
              <a:t>비정상 수량 입력 5건 + CI 자동화</a:t>
            </a:r>
          </a:p>
        </p:txBody>
      </p:sp>
      <p:sp>
        <p:nvSpPr>
          <p:cNvPr id="12" name="final-next">
            <a:extLst xmlns:a="http://schemas.openxmlformats.org/drawingml/2006/main">
              <a:ext uri="{FF2B5EF4-FFF2-40B4-BE49-F238E27FC236}">
                <a16:creationId xmlns:a16="http://schemas.microsoft.com/office/drawing/2014/main" id="{1DA6F6B1-49A1-422C-9283-BD56EFFC4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19800"/>
            <a:ext cx="8572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6D36"/>
                </a:solidFill>
                <a:latin typeface="Malgun Gothic"/>
                <a:ea typeface="Malgun Gothic"/>
                <a:cs typeface="Malgun Gothic"/>
              </a:defRPr>
            </a:pPr>
            <a:r>
              <a:t>다음 단계  |  입력 검증 보완 후 배포 파이프라인 연결</a:t>
            </a:r>
          </a:p>
        </p:txBody>
      </p:sp>
      <p:sp>
        <p:nvSpPr>
          <p:cNvPr id="13" name="footer-label-8">
            <a:extLst xmlns:a="http://schemas.openxmlformats.org/drawingml/2006/main">
              <a:ext uri="{FF2B5EF4-FFF2-40B4-BE49-F238E27FC236}">
                <a16:creationId xmlns:a16="http://schemas.microsoft.com/office/drawing/2014/main" id="{F14CBD17-83FC-429C-96ED-58D104D96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3429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96B66"/>
                </a:solidFill>
                <a:latin typeface="Malgun Gothic"/>
                <a:ea typeface="Malgun Gothic"/>
                <a:cs typeface="Malgun Gothic"/>
              </a:defRPr>
            </a:pPr>
            <a:r>
              <a:t>TODAY'S FRIDGE · DEMO DAY</a:t>
            </a:r>
          </a:p>
        </p:txBody>
      </p:sp>
      <p:sp>
        <p:nvSpPr>
          <p:cNvPr id="14" name="footer-number-8">
            <a:extLst xmlns:a="http://schemas.openxmlformats.org/drawingml/2006/main">
              <a:ext uri="{FF2B5EF4-FFF2-40B4-BE49-F238E27FC236}">
                <a16:creationId xmlns:a16="http://schemas.microsoft.com/office/drawing/2014/main" id="{EA86362E-FABD-441C-A8AF-DD26F22EC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953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96B66"/>
                </a:solidFill>
                <a:latin typeface="Malgun Gothic"/>
                <a:ea typeface="Malgun Gothic"/>
                <a:cs typeface="Malgun Gothic"/>
              </a:defRPr>
            </a:pPr>
            <a:r>
              <a:t>08</a:t>
            </a:r>
          </a:p>
        </p:txBody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e4b28c91ef4539"/>
          <a:srcRect xmlns:a="http://schemas.openxmlformats.org/drawingml/2006/main" l="4814" t="0" r="481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8650" y="1752600"/>
            <a:ext cx="6515100" cy="4057650"/>
          </a:xfrm>
          <a:prstGeom xmlns:a="http://schemas.openxmlformats.org/drawingml/2006/main" prst="roundRect">
            <a:avLst>
              <a:gd name="adj" fmla="val 2817"/>
            </a:avLst>
          </a:prstGeom>
        </p:spPr>
      </p:pic>
    </p:spTree>
    <p:extLst>
      <p:ext uri="{BB962C8B-B14F-4D97-AF65-F5344CB8AC3E}">
        <p14:creationId xmlns:p14="http://schemas.microsoft.com/office/powerpoint/2010/main" val="175072564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2026-07-23T13:51:49.6590000Z</dcterms:created>
  <dcterms:modified xsi:type="dcterms:W3CDTF">2026-07-23T13:51:49.6590000Z</dcterms:modified>
</coreProperties>
</file>