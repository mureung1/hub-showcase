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6" r:id="rId8"/>
    <p:sldId id="268" r:id="rId9"/>
    <p:sldId id="267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38" y="5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670179"/>
            <a:ext cx="2123440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🐹 끼니픽 · 위클리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1031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dirty="0" err="1">
                <a:solidFill>
                  <a:srgbClr val="17182B"/>
                </a:solidFill>
                <a:latin typeface="맑은 고딕"/>
              </a:rPr>
              <a:t>지금</a:t>
            </a:r>
            <a:r>
              <a:rPr sz="36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7182B"/>
                </a:solidFill>
                <a:latin typeface="맑은 고딕"/>
              </a:rPr>
              <a:t>바로</a:t>
            </a:r>
            <a:r>
              <a:rPr sz="36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7182B"/>
                </a:solidFill>
                <a:latin typeface="맑은 고딕"/>
              </a:rPr>
              <a:t>되는</a:t>
            </a:r>
            <a:r>
              <a:rPr sz="36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7182B"/>
                </a:solidFill>
                <a:latin typeface="맑은 고딕"/>
              </a:rPr>
              <a:t>요리인지</a:t>
            </a:r>
            <a:endParaRPr sz="3600" b="1" dirty="0">
              <a:solidFill>
                <a:srgbClr val="17182B"/>
              </a:solidFill>
              <a:latin typeface="맑은 고딕"/>
            </a:endParaRPr>
          </a:p>
          <a:p>
            <a:pPr algn="l">
              <a:lnSpc>
                <a:spcPct val="110000"/>
              </a:lnSpc>
            </a:pPr>
            <a:r>
              <a:rPr sz="3600" b="1" dirty="0">
                <a:solidFill>
                  <a:srgbClr val="17182B"/>
                </a:solidFill>
                <a:latin typeface="맑은 고딕"/>
              </a:rPr>
              <a:t>장 </a:t>
            </a:r>
            <a:r>
              <a:rPr sz="3600" b="1" dirty="0" err="1">
                <a:solidFill>
                  <a:srgbClr val="17182B"/>
                </a:solidFill>
                <a:latin typeface="맑은 고딕"/>
              </a:rPr>
              <a:t>봐야</a:t>
            </a:r>
            <a:r>
              <a:rPr sz="36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7182B"/>
                </a:solidFill>
                <a:latin typeface="맑은 고딕"/>
              </a:rPr>
              <a:t>하는</a:t>
            </a:r>
            <a:r>
              <a:rPr sz="36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7182B"/>
                </a:solidFill>
                <a:latin typeface="맑은 고딕"/>
              </a:rPr>
              <a:t>요리인지</a:t>
            </a:r>
            <a:r>
              <a:rPr sz="3600" b="1" dirty="0">
                <a:solidFill>
                  <a:srgbClr val="17182B"/>
                </a:solidFill>
                <a:latin typeface="맑은 고딕"/>
              </a:rPr>
              <a:t>, </a:t>
            </a:r>
            <a:r>
              <a:rPr sz="3600" b="1" dirty="0" err="1">
                <a:solidFill>
                  <a:srgbClr val="17182B"/>
                </a:solidFill>
                <a:latin typeface="맑은 고딕"/>
              </a:rPr>
              <a:t>구분해서</a:t>
            </a:r>
            <a:r>
              <a:rPr sz="36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7182B"/>
                </a:solidFill>
                <a:latin typeface="맑은 고딕"/>
              </a:rPr>
              <a:t>추천합니다</a:t>
            </a:r>
            <a:endParaRPr sz="360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7086"/>
                </a:solidFill>
                <a:latin typeface="맑은 고딕"/>
              </a:rPr>
              <a:t>이번 주 진행한 기획 재정의, 시스템 구조, 디자인, 그리고 에이전트와 함께 일한 워크플로우를 공유합니다.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7086"/>
                </a:solidFill>
                <a:latin typeface="맑은 고딕"/>
              </a:rPr>
              <a:t>서비스 · 끼니픽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7086"/>
                </a:solidFill>
                <a:latin typeface="맑은 고딕"/>
              </a:rPr>
              <a:t>표정한 (N179)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7086"/>
                </a:solidFill>
                <a:latin typeface="맑은 고딕"/>
              </a:rPr>
              <a:t>스택 · React · Express · Supabase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맑은 고딕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095248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7182B"/>
                </a:solidFill>
                <a:latin typeface="맑은 고딕"/>
              </a:rPr>
              <a:t>오늘 발표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5A08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2402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82B"/>
                </a:solidFill>
                <a:latin typeface="맑은 고딕"/>
              </a:rPr>
              <a:t>서비스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240280"/>
            <a:ext cx="6629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086"/>
                </a:solidFill>
                <a:latin typeface="맑은 고딕"/>
              </a:rPr>
              <a:t>끼니픽이 어떤 문제를 풉니다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5A08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974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82B"/>
                </a:solidFill>
                <a:latin typeface="맑은 고딕"/>
              </a:rPr>
              <a:t>기획 재정의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97480"/>
            <a:ext cx="6629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086"/>
                </a:solidFill>
                <a:latin typeface="맑은 고딕"/>
              </a:rPr>
              <a:t>"지금 바로" vs "장 봐야" 두 트랙으로 나눈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5A08"/>
                </a:solidFill>
                <a:latin typeface="Segoe U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546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82B"/>
                </a:solidFill>
                <a:latin typeface="맑은 고딕"/>
              </a:rPr>
              <a:t>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154680"/>
            <a:ext cx="6629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086"/>
                </a:solidFill>
                <a:latin typeface="맑은 고딕"/>
              </a:rPr>
              <a:t>화면 · 서버 · 데이터베이스가 주고받는 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5A08"/>
                </a:solidFill>
                <a:latin typeface="Segoe U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6118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82B"/>
                </a:solidFill>
                <a:latin typeface="맑은 고딕"/>
              </a:rPr>
              <a:t>실제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11880"/>
            <a:ext cx="6629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086"/>
                </a:solidFill>
                <a:latin typeface="맑은 고딕"/>
              </a:rPr>
              <a:t>이번 주 작업한 화면 3개 캡처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5A08"/>
                </a:solidFill>
                <a:latin typeface="Segoe UI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690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82B"/>
                </a:solidFill>
                <a:latin typeface="맑은 고딕"/>
              </a:rPr>
              <a:t>LLM Wiki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69080"/>
            <a:ext cx="6629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086"/>
                </a:solidFill>
                <a:latin typeface="맑은 고딕"/>
              </a:rPr>
              <a:t>끼니픽과 별개로 쌓고 있는 개인 지식 관리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5A08"/>
                </a:solidFill>
                <a:latin typeface="Segoe UI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5262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82B"/>
                </a:solidFill>
                <a:latin typeface="맑은 고딕"/>
              </a:rPr>
              <a:t>활용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526280"/>
            <a:ext cx="6629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086"/>
                </a:solidFill>
                <a:latin typeface="맑은 고딕"/>
              </a:rPr>
              <a:t>Zotero → Obsidian → NotebookLM 순환 파이프라인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83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5A08"/>
                </a:solidFill>
                <a:latin typeface="Segoe UI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9834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82B"/>
                </a:solidFill>
                <a:latin typeface="맑은 고딕"/>
              </a:rPr>
              <a:t>PPT 스킬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983480"/>
            <a:ext cx="6629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086"/>
                </a:solidFill>
                <a:latin typeface="맑은 고딕"/>
              </a:rPr>
              <a:t>이 자료를 만들며 오늘 새로 만든 Claude 스킬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4406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A5A08"/>
                </a:solidFill>
                <a:latin typeface="Segoe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4406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82B"/>
                </a:solidFill>
                <a:latin typeface="맑은 고딕"/>
              </a:rPr>
              <a:t>마무리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958593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WHAT WE'RE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182B"/>
                </a:solidFill>
                <a:latin typeface="맑은 고딕"/>
              </a:rPr>
              <a:t>냉장고 앞에서 바로 답을 주는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086"/>
                </a:solidFill>
                <a:latin typeface="맑은 고딕"/>
              </a:rPr>
              <a:t>자취생·1인 가구가 "뭐 해먹지"를 고민할 때, 가진 재료로 만들 수 있는 가성비 요리를 추천하고 부족한 재료는 구매 링크로 바로 연결합니다.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t"/>
          <a:lstStyle/>
          <a:p>
            <a:pPr algn="ctr"/>
            <a:r>
              <a:rPr sz="1050" b="1" dirty="0">
                <a:solidFill>
                  <a:srgbClr val="8A5A08"/>
                </a:solidFill>
                <a:latin typeface="맑은 고딕"/>
              </a:rPr>
              <a:t>Step 1</a:t>
            </a:r>
            <a:endParaRPr lang="en-US" sz="1050" b="1" dirty="0">
              <a:solidFill>
                <a:srgbClr val="8A5A08"/>
              </a:solidFill>
              <a:latin typeface="맑은 고딕"/>
            </a:endParaRPr>
          </a:p>
          <a:p>
            <a:pPr algn="ctr"/>
            <a:endParaRPr sz="1050" b="1" dirty="0">
              <a:solidFill>
                <a:srgbClr val="8A5A08"/>
              </a:solidFill>
              <a:latin typeface="맑은 고딕"/>
            </a:endParaRPr>
          </a:p>
          <a:p>
            <a:pPr algn="ctr"/>
            <a:r>
              <a:rPr sz="1500" b="1" dirty="0" err="1">
                <a:solidFill>
                  <a:srgbClr val="17182B"/>
                </a:solidFill>
                <a:latin typeface="맑은 고딕"/>
              </a:rPr>
              <a:t>냉장고</a:t>
            </a:r>
            <a:r>
              <a:rPr sz="1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182B"/>
                </a:solidFill>
                <a:latin typeface="맑은 고딕"/>
              </a:rPr>
              <a:t>재료</a:t>
            </a:r>
            <a:r>
              <a:rPr sz="1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182B"/>
                </a:solidFill>
                <a:latin typeface="맑은 고딕"/>
              </a:rPr>
              <a:t>선택</a:t>
            </a:r>
            <a:endParaRPr sz="150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14750" y="29718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dirty="0">
                <a:solidFill>
                  <a:srgbClr val="6E7086"/>
                </a:solidFill>
                <a:latin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540" y="265176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t"/>
          <a:lstStyle/>
          <a:p>
            <a:pPr algn="ctr"/>
            <a:r>
              <a:rPr sz="1050" b="1" dirty="0">
                <a:solidFill>
                  <a:srgbClr val="8A5A08"/>
                </a:solidFill>
                <a:latin typeface="맑은 고딕"/>
              </a:rPr>
              <a:t>Step 2</a:t>
            </a:r>
            <a:endParaRPr lang="en-US" sz="1050" b="1" dirty="0">
              <a:solidFill>
                <a:srgbClr val="8A5A08"/>
              </a:solidFill>
              <a:latin typeface="맑은 고딕"/>
            </a:endParaRPr>
          </a:p>
          <a:p>
            <a:pPr algn="ctr"/>
            <a:endParaRPr sz="1050" b="1" dirty="0">
              <a:solidFill>
                <a:srgbClr val="8A5A08"/>
              </a:solidFill>
              <a:latin typeface="맑은 고딕"/>
            </a:endParaRPr>
          </a:p>
          <a:p>
            <a:pPr algn="ctr"/>
            <a:r>
              <a:rPr sz="1500" b="1" dirty="0" err="1">
                <a:solidFill>
                  <a:srgbClr val="17182B"/>
                </a:solidFill>
                <a:latin typeface="맑은 고딕"/>
              </a:rPr>
              <a:t>레시피</a:t>
            </a:r>
            <a:r>
              <a:rPr sz="1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182B"/>
                </a:solidFill>
                <a:latin typeface="맑은 고딕"/>
              </a:rPr>
              <a:t>추천</a:t>
            </a:r>
            <a:endParaRPr sz="150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12330" y="292608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dirty="0">
                <a:solidFill>
                  <a:srgbClr val="6E7086"/>
                </a:solidFill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62890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t"/>
          <a:lstStyle/>
          <a:p>
            <a:pPr algn="ctr"/>
            <a:r>
              <a:rPr sz="1050" b="1" dirty="0">
                <a:solidFill>
                  <a:srgbClr val="8A5A08"/>
                </a:solidFill>
                <a:latin typeface="맑은 고딕"/>
              </a:rPr>
              <a:t>Step 3</a:t>
            </a:r>
            <a:endParaRPr lang="en-US" sz="1050" b="1" dirty="0">
              <a:solidFill>
                <a:srgbClr val="8A5A08"/>
              </a:solidFill>
              <a:latin typeface="맑은 고딕"/>
            </a:endParaRPr>
          </a:p>
          <a:p>
            <a:pPr algn="ctr"/>
            <a:endParaRPr sz="1050" b="1" dirty="0">
              <a:solidFill>
                <a:srgbClr val="8A5A08"/>
              </a:solidFill>
              <a:latin typeface="맑은 고딕"/>
            </a:endParaRPr>
          </a:p>
          <a:p>
            <a:pPr algn="ctr"/>
            <a:r>
              <a:rPr sz="1500" b="1" dirty="0" err="1">
                <a:solidFill>
                  <a:srgbClr val="17182B"/>
                </a:solidFill>
                <a:latin typeface="맑은 고딕"/>
              </a:rPr>
              <a:t>레시피</a:t>
            </a:r>
            <a:r>
              <a:rPr sz="1500" b="1" dirty="0">
                <a:solidFill>
                  <a:srgbClr val="17182B"/>
                </a:solidFill>
                <a:latin typeface="맑은 고딕"/>
              </a:rPr>
              <a:t> 및 </a:t>
            </a:r>
            <a:r>
              <a:rPr sz="1500" b="1" dirty="0" err="1">
                <a:solidFill>
                  <a:srgbClr val="17182B"/>
                </a:solidFill>
                <a:latin typeface="맑은 고딕"/>
              </a:rPr>
              <a:t>재료</a:t>
            </a:r>
            <a:r>
              <a:rPr sz="1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182B"/>
                </a:solidFill>
                <a:latin typeface="맑은 고딕"/>
              </a:rPr>
              <a:t>구매</a:t>
            </a:r>
            <a:r>
              <a:rPr sz="1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182B"/>
                </a:solidFill>
                <a:latin typeface="맑은 고딕"/>
              </a:rPr>
              <a:t>링크</a:t>
            </a:r>
            <a:endParaRPr sz="150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4206240"/>
            <a:ext cx="9784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01168" rIns="274320" rtlCol="0" anchor="t"/>
          <a:lstStyle/>
          <a:p>
            <a:pPr algn="ctr">
              <a:lnSpc>
                <a:spcPct val="130000"/>
              </a:lnSpc>
            </a:pPr>
            <a:endParaRPr lang="en-US" sz="1350" b="1" dirty="0">
              <a:solidFill>
                <a:srgbClr val="17182B"/>
              </a:solidFill>
              <a:latin typeface="맑은 고딕"/>
            </a:endParaRPr>
          </a:p>
          <a:p>
            <a:pPr algn="ctr">
              <a:lnSpc>
                <a:spcPct val="130000"/>
              </a:lnSpc>
            </a:pPr>
            <a:r>
              <a:rPr sz="1350" b="1" dirty="0" err="1">
                <a:solidFill>
                  <a:srgbClr val="17182B"/>
                </a:solidFill>
                <a:latin typeface="맑은 고딕"/>
              </a:rPr>
              <a:t>핵심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서비스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-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냉장고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재료를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소진하는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요리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추천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+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부족한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재료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구매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링크로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연결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+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요리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단위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총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재료비</a:t>
            </a:r>
            <a:r>
              <a:rPr sz="13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17182B"/>
                </a:solidFill>
                <a:latin typeface="맑은 고딕"/>
              </a:rPr>
              <a:t>계산</a:t>
            </a:r>
            <a:endParaRPr sz="135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맑은 고딕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2041017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PLANNING — 문제 재정의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24784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17182B"/>
                </a:solidFill>
                <a:latin typeface="맑은 고딕"/>
              </a:rPr>
              <a:t>"장 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보면</a:t>
            </a:r>
            <a:r>
              <a:rPr sz="24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만들</a:t>
            </a:r>
            <a:r>
              <a:rPr sz="2400" b="1" dirty="0">
                <a:solidFill>
                  <a:srgbClr val="17182B"/>
                </a:solidFill>
                <a:latin typeface="맑은 고딕"/>
              </a:rPr>
              <a:t> 수 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있는</a:t>
            </a:r>
            <a:r>
              <a:rPr sz="24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요리"는</a:t>
            </a:r>
            <a:endParaRPr sz="2400" b="1" dirty="0">
              <a:solidFill>
                <a:srgbClr val="17182B"/>
              </a:solidFill>
              <a:latin typeface="맑은 고딕"/>
            </a:endParaRPr>
          </a:p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17182B"/>
                </a:solidFill>
                <a:latin typeface="맑은 고딕"/>
              </a:rPr>
              <a:t>"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지금</a:t>
            </a:r>
            <a:r>
              <a:rPr sz="24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만들</a:t>
            </a:r>
            <a:r>
              <a:rPr sz="2400" b="1" dirty="0">
                <a:solidFill>
                  <a:srgbClr val="17182B"/>
                </a:solidFill>
                <a:latin typeface="맑은 고딕"/>
              </a:rPr>
              <a:t> 수 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있는</a:t>
            </a:r>
            <a:r>
              <a:rPr sz="24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요리"가</a:t>
            </a:r>
            <a:r>
              <a:rPr sz="24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아니었다</a:t>
            </a:r>
            <a:endParaRPr sz="240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404032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 err="1">
                <a:solidFill>
                  <a:srgbClr val="6E7086"/>
                </a:solidFill>
                <a:latin typeface="맑은 고딕"/>
              </a:rPr>
              <a:t>피드백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—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부족한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재료를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구매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링크로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연결하면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,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결국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배송이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와야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먹을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수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있는데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"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지금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바로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만들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수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있다"고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착각하게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E7086"/>
                </a:solidFill>
                <a:latin typeface="맑은 고딕"/>
              </a:rPr>
              <a:t>만든다</a:t>
            </a:r>
            <a:r>
              <a:rPr sz="1300" b="0" dirty="0">
                <a:solidFill>
                  <a:srgbClr val="6E7086"/>
                </a:solidFill>
                <a:latin typeface="맑은 고딕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470916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56032" rtlCol="0" anchor="t"/>
          <a:lstStyle/>
          <a:p>
            <a:pPr algn="ctr"/>
            <a:r>
              <a:rPr sz="1100" b="1">
                <a:solidFill>
                  <a:srgbClr val="6E7086"/>
                </a:solidFill>
                <a:latin typeface="맑은 고딕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1">
                <a:solidFill>
                  <a:srgbClr val="17182B"/>
                </a:solidFill>
                <a:latin typeface="맑은 고딕"/>
              </a:rPr>
              <a:t>재료가 하나라도 겹치면</a:t>
            </a:r>
          </a:p>
          <a:p>
            <a:pPr algn="ctr">
              <a:lnSpc>
                <a:spcPct val="130000"/>
              </a:lnSpc>
            </a:pPr>
            <a:r>
              <a:rPr sz="2600" b="1">
                <a:solidFill>
                  <a:srgbClr val="17182B"/>
                </a:solidFill>
                <a:latin typeface="맑은 고딕"/>
              </a:rPr>
              <a:t>추천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2880360"/>
            <a:ext cx="470916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F9B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56032" rtlCol="0" anchor="t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AFTER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>
                <a:solidFill>
                  <a:srgbClr val="17182B"/>
                </a:solidFill>
                <a:latin typeface="맑은 고딕"/>
              </a:rPr>
              <a:t>부족한 재료 개수로 분리하고, 조미료는 체크 여부와 무관하게 계산에서 제외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20624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8A5A08"/>
                </a:solidFill>
                <a:latin typeface="맑은 고딕"/>
              </a:rPr>
              <a:t>부족 0개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42519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7182B"/>
                </a:solidFill>
                <a:latin typeface="맑은 고딕"/>
              </a:rPr>
              <a:t>지금 바로 만들 수 있어요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75488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8A5A08"/>
                </a:solidFill>
                <a:latin typeface="맑은 고딕"/>
              </a:rPr>
              <a:t>부족 1~2개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4800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dirty="0" err="1">
                <a:solidFill>
                  <a:srgbClr val="17182B"/>
                </a:solidFill>
                <a:latin typeface="맑은 고딕"/>
              </a:rPr>
              <a:t>재료</a:t>
            </a:r>
            <a:r>
              <a:rPr sz="12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7182B"/>
                </a:solidFill>
                <a:latin typeface="맑은 고딕"/>
              </a:rPr>
              <a:t>조금만</a:t>
            </a:r>
            <a:r>
              <a:rPr sz="12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7182B"/>
                </a:solidFill>
                <a:latin typeface="맑은 고딕"/>
              </a:rPr>
              <a:t>사면</a:t>
            </a:r>
            <a:r>
              <a:rPr sz="12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7182B"/>
                </a:solidFill>
                <a:latin typeface="맑은 고딕"/>
              </a:rPr>
              <a:t>돼요</a:t>
            </a:r>
            <a:endParaRPr sz="125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530352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8A5A08"/>
                </a:solidFill>
                <a:latin typeface="맑은 고딕"/>
              </a:rPr>
              <a:t>부족 3개+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537592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dirty="0" err="1">
                <a:solidFill>
                  <a:srgbClr val="17182B"/>
                </a:solidFill>
                <a:latin typeface="맑은 고딕"/>
              </a:rPr>
              <a:t>추천</a:t>
            </a:r>
            <a:r>
              <a:rPr sz="12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7182B"/>
                </a:solidFill>
                <a:latin typeface="맑은 고딕"/>
              </a:rPr>
              <a:t>후보에서</a:t>
            </a:r>
            <a:r>
              <a:rPr sz="12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7182B"/>
                </a:solidFill>
                <a:latin typeface="맑은 고딕"/>
              </a:rPr>
              <a:t>제외</a:t>
            </a:r>
            <a:endParaRPr sz="125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맑은 고딕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1014984"/>
            <a:ext cx="1352296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 dirty="0">
                <a:solidFill>
                  <a:srgbClr val="8A5A08"/>
                </a:solidFill>
                <a:latin typeface="맑은 고딕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850" y="1499616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dirty="0" err="1">
                <a:solidFill>
                  <a:srgbClr val="17182B"/>
                </a:solidFill>
                <a:latin typeface="맑은 고딕"/>
              </a:rPr>
              <a:t>재료</a:t>
            </a:r>
            <a:r>
              <a:rPr sz="2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17182B"/>
                </a:solidFill>
                <a:latin typeface="맑은 고딕"/>
              </a:rPr>
              <a:t>선택</a:t>
            </a:r>
            <a:r>
              <a:rPr sz="2500" b="1" dirty="0">
                <a:solidFill>
                  <a:srgbClr val="17182B"/>
                </a:solidFill>
                <a:latin typeface="맑은 고딕"/>
              </a:rPr>
              <a:t> 한 </a:t>
            </a:r>
            <a:r>
              <a:rPr sz="2500" b="1" dirty="0" err="1">
                <a:solidFill>
                  <a:srgbClr val="17182B"/>
                </a:solidFill>
                <a:latin typeface="맑은 고딕"/>
              </a:rPr>
              <a:t>번이</a:t>
            </a:r>
            <a:r>
              <a:rPr sz="2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17182B"/>
                </a:solidFill>
                <a:latin typeface="맑은 고딕"/>
              </a:rPr>
              <a:t>화면</a:t>
            </a:r>
            <a:r>
              <a:rPr sz="2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17182B"/>
                </a:solidFill>
                <a:latin typeface="맑은 고딕"/>
              </a:rPr>
              <a:t>뒤에서</a:t>
            </a:r>
            <a:r>
              <a:rPr sz="2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17182B"/>
                </a:solidFill>
                <a:latin typeface="맑은 고딕"/>
              </a:rPr>
              <a:t>이렇게</a:t>
            </a:r>
            <a:r>
              <a:rPr sz="2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17182B"/>
                </a:solidFill>
                <a:latin typeface="맑은 고딕"/>
              </a:rPr>
              <a:t>움직입니다</a:t>
            </a:r>
            <a:endParaRPr sz="250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2082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E7086"/>
                </a:solidFill>
                <a:latin typeface="맑은 고딕"/>
              </a:rPr>
              <a:t>화면·서버·데이터베이스 세 부분이 역할을 나눠 맡고, 순서대로 주고받습니다.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88036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64592" rtlCol="0" anchor="t"/>
          <a:lstStyle/>
          <a:p>
            <a:r>
              <a:rPr sz="1000" b="1" dirty="0" err="1">
                <a:solidFill>
                  <a:srgbClr val="8A5A08"/>
                </a:solidFill>
                <a:latin typeface="맑은 고딕"/>
              </a:rPr>
              <a:t>화면</a:t>
            </a:r>
            <a:endParaRPr sz="1000" b="1" dirty="0">
              <a:solidFill>
                <a:srgbClr val="8A5A08"/>
              </a:solidFill>
              <a:latin typeface="맑은 고딕"/>
            </a:endParaRPr>
          </a:p>
          <a:p>
            <a:r>
              <a:rPr sz="1600" b="1" dirty="0">
                <a:solidFill>
                  <a:srgbClr val="17182B"/>
                </a:solidFill>
                <a:latin typeface="맑은 고딕"/>
              </a:rPr>
              <a:t>React + Vite</a:t>
            </a:r>
          </a:p>
          <a:p>
            <a:pPr>
              <a:spcAft>
                <a:spcPts val="800"/>
              </a:spcAft>
            </a:pPr>
            <a:r>
              <a:rPr sz="1000" dirty="0" err="1">
                <a:solidFill>
                  <a:srgbClr val="6E7086"/>
                </a:solidFill>
                <a:latin typeface="맑은 고딕"/>
              </a:rPr>
              <a:t>사용자가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보는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화면</a:t>
            </a:r>
            <a:endParaRPr sz="1000" dirty="0">
              <a:solidFill>
                <a:srgbClr val="6E7086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87552" y="3429000"/>
            <a:ext cx="2551176" cy="566928"/>
          </a:xfrm>
          <a:prstGeom prst="roundRect">
            <a:avLst>
              <a:gd name="adj" fmla="val 15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rtlCol="0" anchor="ctr"/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17182B"/>
                </a:solidFill>
                <a:latin typeface="맑은 고딕"/>
              </a:rPr>
              <a:t>재료를 고르면 서버에 물어봐요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03320" y="3246120"/>
            <a:ext cx="777240" cy="0"/>
          </a:xfrm>
          <a:prstGeom prst="line">
            <a:avLst/>
          </a:prstGeom>
          <a:ln w="22225">
            <a:solidFill>
              <a:srgbClr val="6E708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74720" y="3355848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6E7086"/>
                </a:solidFill>
                <a:latin typeface="맑은 고딕"/>
              </a:rPr>
              <a:t>재료 목록을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6E7086"/>
                </a:solidFill>
                <a:latin typeface="맑은 고딕"/>
              </a:rPr>
              <a:t>보내요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377440"/>
            <a:ext cx="288036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64592" rtlCol="0" anchor="t"/>
          <a:lstStyle/>
          <a:p>
            <a:r>
              <a:rPr sz="1000" b="1" dirty="0" err="1">
                <a:solidFill>
                  <a:srgbClr val="8A5A08"/>
                </a:solidFill>
                <a:latin typeface="맑은 고딕"/>
              </a:rPr>
              <a:t>서버</a:t>
            </a:r>
            <a:endParaRPr sz="1000" b="1" dirty="0">
              <a:solidFill>
                <a:srgbClr val="8A5A08"/>
              </a:solidFill>
              <a:latin typeface="맑은 고딕"/>
            </a:endParaRPr>
          </a:p>
          <a:p>
            <a:r>
              <a:rPr sz="1600" b="1" dirty="0">
                <a:solidFill>
                  <a:srgbClr val="17182B"/>
                </a:solidFill>
                <a:latin typeface="맑은 고딕"/>
              </a:rPr>
              <a:t>Express</a:t>
            </a:r>
          </a:p>
          <a:p>
            <a:pPr>
              <a:spcAft>
                <a:spcPts val="800"/>
              </a:spcAft>
            </a:pPr>
            <a:r>
              <a:rPr sz="1000" dirty="0" err="1">
                <a:solidFill>
                  <a:srgbClr val="6E7086"/>
                </a:solidFill>
                <a:latin typeface="맑은 고딕"/>
              </a:rPr>
              <a:t>요청을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처리하는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부분</a:t>
            </a:r>
            <a:endParaRPr sz="1000" dirty="0">
              <a:solidFill>
                <a:srgbClr val="6E7086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45152" y="3429000"/>
            <a:ext cx="2551176" cy="566928"/>
          </a:xfrm>
          <a:prstGeom prst="roundRect">
            <a:avLst>
              <a:gd name="adj" fmla="val 15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rtlCol="0" anchor="ctr"/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17182B"/>
                </a:solidFill>
                <a:latin typeface="맑은 고딕"/>
              </a:rPr>
              <a:t>재료를 보고 어떤 레시피가 되는지 계산해요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60920" y="3246120"/>
            <a:ext cx="777240" cy="0"/>
          </a:xfrm>
          <a:prstGeom prst="line">
            <a:avLst/>
          </a:prstGeom>
          <a:ln w="22225">
            <a:solidFill>
              <a:srgbClr val="6E708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0" y="3355848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6E7086"/>
                </a:solidFill>
                <a:latin typeface="맑은 고딕"/>
              </a:rPr>
              <a:t>레시피를 찾아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6E7086"/>
                </a:solidFill>
                <a:latin typeface="맑은 고딕"/>
              </a:rPr>
              <a:t>달라고 해요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77440"/>
            <a:ext cx="288036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64592" rtlCol="0" anchor="t"/>
          <a:lstStyle/>
          <a:p>
            <a:r>
              <a:rPr sz="1000" b="1" dirty="0" err="1">
                <a:solidFill>
                  <a:srgbClr val="8A5A08"/>
                </a:solidFill>
                <a:latin typeface="맑은 고딕"/>
              </a:rPr>
              <a:t>데이터베이스</a:t>
            </a:r>
            <a:endParaRPr sz="1000" b="1" dirty="0">
              <a:solidFill>
                <a:srgbClr val="8A5A08"/>
              </a:solidFill>
              <a:latin typeface="맑은 고딕"/>
            </a:endParaRPr>
          </a:p>
          <a:p>
            <a:r>
              <a:rPr sz="1600" b="1" dirty="0" err="1">
                <a:solidFill>
                  <a:srgbClr val="17182B"/>
                </a:solidFill>
                <a:latin typeface="맑은 고딕"/>
              </a:rPr>
              <a:t>Supabase</a:t>
            </a:r>
            <a:endParaRPr sz="1600" b="1" dirty="0">
              <a:solidFill>
                <a:srgbClr val="17182B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000" dirty="0" err="1">
                <a:solidFill>
                  <a:srgbClr val="6E7086"/>
                </a:solidFill>
                <a:latin typeface="맑은 고딕"/>
              </a:rPr>
              <a:t>정보가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저장된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3429000"/>
            <a:ext cx="2551176" cy="566928"/>
          </a:xfrm>
          <a:prstGeom prst="roundRect">
            <a:avLst>
              <a:gd name="adj" fmla="val 15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rtlCol="0" anchor="ctr"/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17182B"/>
                </a:solidFill>
                <a:latin typeface="맑은 고딕"/>
              </a:rPr>
              <a:t>레시피 정보를 갖고 있어요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26280"/>
            <a:ext cx="199339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12064" rIns="109728" rtlCol="0" anchor="t"/>
          <a:lstStyle/>
          <a:p>
            <a:pPr algn="ctr">
              <a:lnSpc>
                <a:spcPct val="120000"/>
              </a:lnSpc>
            </a:pPr>
            <a:r>
              <a:rPr sz="1000">
                <a:solidFill>
                  <a:srgbClr val="17182B"/>
                </a:solidFill>
                <a:latin typeface="맑은 고딕"/>
              </a:rPr>
              <a:t>냉장고 화면에서 재료 선택 → 저장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645152"/>
            <a:ext cx="292608" cy="292608"/>
          </a:xfrm>
          <a:prstGeom prst="ellipse">
            <a:avLst/>
          </a:prstGeom>
          <a:solidFill>
            <a:srgbClr val="F9B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7182B"/>
                </a:solidFill>
                <a:latin typeface="맑은 고딕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4526280"/>
            <a:ext cx="199339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12064" rIns="109728" rtlCol="0" anchor="t"/>
          <a:lstStyle/>
          <a:p>
            <a:pPr algn="ctr">
              <a:lnSpc>
                <a:spcPct val="120000"/>
              </a:lnSpc>
            </a:pPr>
            <a:r>
              <a:rPr sz="1000">
                <a:solidFill>
                  <a:srgbClr val="17182B"/>
                </a:solidFill>
                <a:latin typeface="맑은 고딕"/>
              </a:rPr>
              <a:t>홈 화면이 가진 재료 목록을 서버에 보내요</a:t>
            </a:r>
          </a:p>
        </p:txBody>
      </p:sp>
      <p:sp>
        <p:nvSpPr>
          <p:cNvPr id="18" name="Oval 17"/>
          <p:cNvSpPr/>
          <p:nvPr/>
        </p:nvSpPr>
        <p:spPr>
          <a:xfrm>
            <a:off x="3072384" y="4645152"/>
            <a:ext cx="292608" cy="292608"/>
          </a:xfrm>
          <a:prstGeom prst="ellipse">
            <a:avLst/>
          </a:prstGeom>
          <a:solidFill>
            <a:srgbClr val="F9B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7182B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4526280"/>
            <a:ext cx="199339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12064" rIns="109728" rtlCol="0" anchor="t"/>
          <a:lstStyle/>
          <a:p>
            <a:pPr algn="ctr">
              <a:lnSpc>
                <a:spcPct val="120000"/>
              </a:lnSpc>
            </a:pPr>
            <a:r>
              <a:rPr sz="1000">
                <a:solidFill>
                  <a:srgbClr val="17182B"/>
                </a:solidFill>
                <a:latin typeface="맑은 고딕"/>
              </a:rPr>
              <a:t>서버가 데이터베이스에서 전체 레시피를 가져와요</a:t>
            </a:r>
          </a:p>
        </p:txBody>
      </p:sp>
      <p:sp>
        <p:nvSpPr>
          <p:cNvPr id="20" name="Oval 19"/>
          <p:cNvSpPr/>
          <p:nvPr/>
        </p:nvSpPr>
        <p:spPr>
          <a:xfrm>
            <a:off x="5184648" y="4645152"/>
            <a:ext cx="292608" cy="292608"/>
          </a:xfrm>
          <a:prstGeom prst="ellipse">
            <a:avLst/>
          </a:prstGeom>
          <a:solidFill>
            <a:srgbClr val="F9B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7182B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9752" y="4526280"/>
            <a:ext cx="199339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12064" rIns="109728" rtlCol="0" anchor="t"/>
          <a:lstStyle/>
          <a:p>
            <a:pPr algn="ctr">
              <a:lnSpc>
                <a:spcPct val="120000"/>
              </a:lnSpc>
            </a:pPr>
            <a:r>
              <a:rPr sz="1000">
                <a:solidFill>
                  <a:srgbClr val="17182B"/>
                </a:solidFill>
                <a:latin typeface="맑은 고딕"/>
              </a:rPr>
              <a:t>서버가 가진 재료 기준으로 후보를 추리고, 부족한 재료 개수를 계산해요</a:t>
            </a:r>
          </a:p>
        </p:txBody>
      </p:sp>
      <p:sp>
        <p:nvSpPr>
          <p:cNvPr id="22" name="Oval 21"/>
          <p:cNvSpPr/>
          <p:nvPr/>
        </p:nvSpPr>
        <p:spPr>
          <a:xfrm>
            <a:off x="7296912" y="4645152"/>
            <a:ext cx="292608" cy="292608"/>
          </a:xfrm>
          <a:prstGeom prst="ellipse">
            <a:avLst/>
          </a:prstGeom>
          <a:solidFill>
            <a:srgbClr val="F9B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7182B"/>
                </a:solidFill>
                <a:latin typeface="맑은 고딕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4526280"/>
            <a:ext cx="199339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12064" rIns="109728" rtlCol="0" anchor="t"/>
          <a:lstStyle/>
          <a:p>
            <a:pPr algn="ctr">
              <a:lnSpc>
                <a:spcPct val="120000"/>
              </a:lnSpc>
            </a:pPr>
            <a:r>
              <a:rPr sz="1000">
                <a:solidFill>
                  <a:srgbClr val="17182B"/>
                </a:solidFill>
                <a:latin typeface="맑은 고딕"/>
              </a:rPr>
              <a:t>화면이 두 트랙(지금 바로/장보기)으로 나눠서 카드로 보여줘요</a:t>
            </a:r>
          </a:p>
        </p:txBody>
      </p:sp>
      <p:sp>
        <p:nvSpPr>
          <p:cNvPr id="24" name="Oval 23"/>
          <p:cNvSpPr/>
          <p:nvPr/>
        </p:nvSpPr>
        <p:spPr>
          <a:xfrm>
            <a:off x="9409176" y="4645152"/>
            <a:ext cx="292608" cy="292608"/>
          </a:xfrm>
          <a:prstGeom prst="ellipse">
            <a:avLst/>
          </a:prstGeom>
          <a:solidFill>
            <a:srgbClr val="F9B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7182B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맑은 고딕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525524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THE REAL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182B"/>
                </a:solidFill>
                <a:latin typeface="맑은 고딕"/>
              </a:rPr>
              <a:t>말로만 설명 안 하고, 실제 화면으로 보여드릴게요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E7086"/>
                </a:solidFill>
                <a:latin typeface="맑은 고딕"/>
              </a:rPr>
              <a:t>이번 주 작업한 3개 화면을 실제로 캡처했습니다.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386584"/>
            <a:ext cx="3329241" cy="1764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hot_fridg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23160"/>
            <a:ext cx="3256089" cy="1691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79392"/>
            <a:ext cx="325608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82B"/>
                </a:solidFill>
                <a:latin typeface="맑은 고딕"/>
              </a:rPr>
              <a:t>① 냉장고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90288"/>
            <a:ext cx="325608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7086"/>
                </a:solidFill>
                <a:latin typeface="맑은 고딕"/>
              </a:rPr>
              <a:t>재료를 고르면 기니가 반응해요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8505" y="2386584"/>
            <a:ext cx="3404381" cy="1764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hot_hom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081" y="2423160"/>
            <a:ext cx="3331230" cy="1691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35081" y="4279392"/>
            <a:ext cx="333122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82B"/>
                </a:solidFill>
                <a:latin typeface="맑은 고딕"/>
              </a:rPr>
              <a:t>② 홈 화면 (2트랙)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5081" y="4590288"/>
            <a:ext cx="333122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7086"/>
                </a:solidFill>
                <a:latin typeface="맑은 고딕"/>
              </a:rPr>
              <a:t>지금 바로 / 재료 조금만 사면 돼요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5766" y="2386584"/>
            <a:ext cx="4158622" cy="1764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hot_recipe_detail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342" y="2423160"/>
            <a:ext cx="408547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22342" y="4279392"/>
            <a:ext cx="408547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82B"/>
                </a:solidFill>
                <a:latin typeface="맑은 고딕"/>
              </a:rPr>
              <a:t>③ 레시피 상세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2342" y="4590288"/>
            <a:ext cx="408547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7086"/>
                </a:solidFill>
                <a:latin typeface="맑은 고딕"/>
              </a:rPr>
              <a:t>트랙 안내 + 보유/구매 필요 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맑은 고딕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743455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PARALLEL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7182B"/>
                </a:solidFill>
                <a:latin typeface="맑은 고딕"/>
              </a:rPr>
              <a:t>끼니픽과 별개로, LLM Wiki도 같이 쌓고 있어요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1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dirty="0" err="1">
                <a:solidFill>
                  <a:srgbClr val="6E7086"/>
                </a:solidFill>
                <a:latin typeface="맑은 고딕"/>
              </a:rPr>
              <a:t>Karpathy의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LLM Wiki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패턴을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따라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원본을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매번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다시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뒤지지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않고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,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읽을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때마다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지식을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6E7086"/>
                </a:solidFill>
                <a:latin typeface="맑은 고딕"/>
              </a:rPr>
              <a:t>누적시킵니다</a:t>
            </a:r>
            <a:r>
              <a:rPr sz="1350" b="0" dirty="0">
                <a:solidFill>
                  <a:srgbClr val="6E7086"/>
                </a:solidFill>
                <a:latin typeface="맑은 고딕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45059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37160" rtlCol="0" anchor="t"/>
          <a:lstStyle/>
          <a:p>
            <a:r>
              <a:rPr sz="1450" b="1" dirty="0">
                <a:solidFill>
                  <a:srgbClr val="8A5A08"/>
                </a:solidFill>
                <a:latin typeface="Segoe UI"/>
              </a:rPr>
              <a:t>raw/</a:t>
            </a:r>
          </a:p>
          <a:p>
            <a:pPr>
              <a:spcBef>
                <a:spcPts val="400"/>
              </a:spcBef>
            </a:pPr>
            <a:r>
              <a:rPr sz="1200" b="1" dirty="0" err="1">
                <a:solidFill>
                  <a:srgbClr val="17182B"/>
                </a:solidFill>
                <a:latin typeface="맑은 고딕"/>
              </a:rPr>
              <a:t>불변</a:t>
            </a:r>
            <a:r>
              <a:rPr sz="12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7182B"/>
                </a:solidFill>
                <a:latin typeface="맑은 고딕"/>
              </a:rPr>
              <a:t>원본</a:t>
            </a:r>
            <a:endParaRPr sz="120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000" dirty="0" err="1">
                <a:solidFill>
                  <a:srgbClr val="6E7086"/>
                </a:solidFill>
                <a:latin typeface="맑은 고딕"/>
              </a:rPr>
              <a:t>논문·강의·책·영상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등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원본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—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AI가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절대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수정하지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않음</a:t>
            </a:r>
            <a:endParaRPr sz="1000" dirty="0">
              <a:solidFill>
                <a:srgbClr val="6E7086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38144" y="2377440"/>
            <a:ext cx="245059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37160" rtlCol="0" anchor="t"/>
          <a:lstStyle/>
          <a:p>
            <a:r>
              <a:rPr sz="1450" b="1" dirty="0">
                <a:solidFill>
                  <a:srgbClr val="8A5A08"/>
                </a:solidFill>
                <a:latin typeface="Segoe UI"/>
              </a:rPr>
              <a:t>wiki/</a:t>
            </a:r>
          </a:p>
          <a:p>
            <a:pPr>
              <a:spcBef>
                <a:spcPts val="400"/>
              </a:spcBef>
            </a:pPr>
            <a:r>
              <a:rPr sz="1200" b="1" dirty="0" err="1">
                <a:solidFill>
                  <a:srgbClr val="17182B"/>
                </a:solidFill>
                <a:latin typeface="맑은 고딕"/>
              </a:rPr>
              <a:t>공통</a:t>
            </a:r>
            <a:r>
              <a:rPr sz="12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7182B"/>
                </a:solidFill>
                <a:latin typeface="맑은 고딕"/>
              </a:rPr>
              <a:t>지식</a:t>
            </a:r>
            <a:endParaRPr sz="120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000" dirty="0" err="1">
                <a:solidFill>
                  <a:srgbClr val="6E7086"/>
                </a:solidFill>
                <a:latin typeface="맑은 고딕"/>
              </a:rPr>
              <a:t>어떤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프로젝트를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하든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재사용되는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개념·용어·도구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사용법</a:t>
            </a:r>
            <a:endParaRPr sz="1000" dirty="0">
              <a:solidFill>
                <a:srgbClr val="6E7086"/>
              </a:solidFill>
              <a:latin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53328" y="2377440"/>
            <a:ext cx="245059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37160" rtlCol="0" anchor="t"/>
          <a:lstStyle/>
          <a:p>
            <a:r>
              <a:rPr sz="1450" b="1" dirty="0">
                <a:solidFill>
                  <a:srgbClr val="8A5A08"/>
                </a:solidFill>
                <a:latin typeface="Segoe UI"/>
              </a:rPr>
              <a:t>project wiki/</a:t>
            </a:r>
          </a:p>
          <a:p>
            <a:pPr>
              <a:spcBef>
                <a:spcPts val="400"/>
              </a:spcBef>
            </a:pPr>
            <a:r>
              <a:rPr sz="1200" b="1" dirty="0" err="1">
                <a:solidFill>
                  <a:srgbClr val="17182B"/>
                </a:solidFill>
                <a:latin typeface="맑은 고딕"/>
              </a:rPr>
              <a:t>프로젝트</a:t>
            </a:r>
            <a:r>
              <a:rPr sz="12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7182B"/>
                </a:solidFill>
                <a:latin typeface="맑은 고딕"/>
              </a:rPr>
              <a:t>전용</a:t>
            </a:r>
            <a:endParaRPr sz="120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000" dirty="0">
                <a:solidFill>
                  <a:srgbClr val="6E7086"/>
                </a:solidFill>
                <a:latin typeface="맑은 고딕"/>
              </a:rPr>
              <a:t>그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프로젝트에서만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의미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있는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소스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요약·의사결정</a:t>
            </a:r>
            <a:endParaRPr sz="1000" dirty="0">
              <a:solidFill>
                <a:srgbClr val="6E7086"/>
              </a:solidFill>
              <a:latin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68512" y="2377440"/>
            <a:ext cx="245059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37160" rtlCol="0" anchor="t"/>
          <a:lstStyle/>
          <a:p>
            <a:r>
              <a:rPr sz="1450" b="1" dirty="0">
                <a:solidFill>
                  <a:srgbClr val="8A5A08"/>
                </a:solidFill>
                <a:latin typeface="Segoe UI"/>
              </a:rPr>
              <a:t>Output/</a:t>
            </a:r>
          </a:p>
          <a:p>
            <a:pPr>
              <a:spcBef>
                <a:spcPts val="400"/>
              </a:spcBef>
            </a:pPr>
            <a:r>
              <a:rPr sz="1200" b="1" dirty="0" err="1">
                <a:solidFill>
                  <a:srgbClr val="17182B"/>
                </a:solidFill>
                <a:latin typeface="맑은 고딕"/>
              </a:rPr>
              <a:t>결과물</a:t>
            </a:r>
            <a:endParaRPr sz="120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000" dirty="0" err="1">
                <a:solidFill>
                  <a:srgbClr val="6E7086"/>
                </a:solidFill>
                <a:latin typeface="맑은 고딕"/>
              </a:rPr>
              <a:t>연구실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지원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자료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,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발표자료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등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실제로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6E7086"/>
                </a:solidFill>
                <a:latin typeface="맑은 고딕"/>
              </a:rPr>
              <a:t>내보내는</a:t>
            </a:r>
            <a:r>
              <a:rPr sz="1000" dirty="0">
                <a:solidFill>
                  <a:srgbClr val="6E7086"/>
                </a:solidFill>
                <a:latin typeface="맑은 고딕"/>
              </a:rPr>
              <a:t> 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331927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164592" rIns="182880" rtlCol="0" anchor="t"/>
          <a:lstStyle/>
          <a:p>
            <a:r>
              <a:rPr sz="1300" b="1" dirty="0">
                <a:solidFill>
                  <a:srgbClr val="8A5A08"/>
                </a:solidFill>
                <a:latin typeface="Segoe UI"/>
              </a:rPr>
              <a:t>Ingest  </a:t>
            </a:r>
            <a:r>
              <a:rPr sz="1300" b="1" dirty="0" err="1">
                <a:solidFill>
                  <a:srgbClr val="17182B"/>
                </a:solidFill>
                <a:latin typeface="맑은 고딕"/>
              </a:rPr>
              <a:t>흡수</a:t>
            </a:r>
            <a:endParaRPr sz="130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050" dirty="0" err="1">
                <a:solidFill>
                  <a:srgbClr val="17182B"/>
                </a:solidFill>
                <a:latin typeface="맑은 고딕"/>
              </a:rPr>
              <a:t>원본을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읽고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사실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위주로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요약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,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기존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페이지와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연결</a:t>
            </a:r>
            <a:endParaRPr sz="1050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87552" y="4261104"/>
            <a:ext cx="310896" cy="310896"/>
          </a:xfrm>
          <a:prstGeom prst="ellipse">
            <a:avLst/>
          </a:prstGeom>
          <a:solidFill>
            <a:srgbClr val="F9B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7182B"/>
                </a:solidFill>
                <a:latin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4114800"/>
            <a:ext cx="3319272" cy="1234440"/>
          </a:xfrm>
          <a:prstGeom prst="roundRect">
            <a:avLst>
              <a:gd name="adj" fmla="val 1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164592" rIns="182880" rtlCol="0" anchor="t"/>
          <a:lstStyle/>
          <a:p>
            <a:r>
              <a:rPr sz="1300" b="1" dirty="0">
                <a:solidFill>
                  <a:srgbClr val="8A5A08"/>
                </a:solidFill>
                <a:latin typeface="Segoe UI"/>
              </a:rPr>
              <a:t>Query  </a:t>
            </a:r>
            <a:r>
              <a:rPr sz="1300" b="1" dirty="0" err="1">
                <a:solidFill>
                  <a:srgbClr val="17182B"/>
                </a:solidFill>
                <a:latin typeface="맑은 고딕"/>
              </a:rPr>
              <a:t>질의</a:t>
            </a:r>
            <a:endParaRPr sz="130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050" dirty="0" err="1">
                <a:solidFill>
                  <a:srgbClr val="17182B"/>
                </a:solidFill>
                <a:latin typeface="맑은 고딕"/>
              </a:rPr>
              <a:t>index.md부터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훑고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drill-down,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raw는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마지막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수단</a:t>
            </a:r>
            <a:endParaRPr sz="1050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89704" y="4261104"/>
            <a:ext cx="310896" cy="310896"/>
          </a:xfrm>
          <a:prstGeom prst="ellipse">
            <a:avLst/>
          </a:prstGeom>
          <a:solidFill>
            <a:srgbClr val="F9B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7182B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27264" y="4114800"/>
            <a:ext cx="331927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164592" rIns="182880" rtlCol="0" anchor="t"/>
          <a:lstStyle/>
          <a:p>
            <a:r>
              <a:rPr sz="1300" b="1">
                <a:solidFill>
                  <a:srgbClr val="8A5A08"/>
                </a:solidFill>
                <a:latin typeface="Segoe UI"/>
              </a:rPr>
              <a:t>Lint  </a:t>
            </a:r>
            <a:r>
              <a:rPr sz="1300" b="1" dirty="0" err="1">
                <a:solidFill>
                  <a:srgbClr val="17182B"/>
                </a:solidFill>
                <a:latin typeface="맑은 고딕"/>
              </a:rPr>
              <a:t>점검</a:t>
            </a:r>
            <a:endParaRPr sz="130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050" dirty="0" err="1">
                <a:solidFill>
                  <a:srgbClr val="17182B"/>
                </a:solidFill>
                <a:latin typeface="맑은 고딕"/>
              </a:rPr>
              <a:t>모순·고립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페이지·낡은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주장을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주기적으로</a:t>
            </a:r>
            <a:r>
              <a:rPr sz="10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050" dirty="0" err="1">
                <a:solidFill>
                  <a:srgbClr val="17182B"/>
                </a:solidFill>
                <a:latin typeface="맑은 고딕"/>
              </a:rPr>
              <a:t>점검</a:t>
            </a:r>
            <a:endParaRPr sz="1050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991856" y="4261104"/>
            <a:ext cx="310896" cy="310896"/>
          </a:xfrm>
          <a:prstGeom prst="ellipse">
            <a:avLst/>
          </a:prstGeom>
          <a:solidFill>
            <a:srgbClr val="F9B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7182B"/>
                </a:solidFill>
                <a:latin typeface="Segoe UI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6263640"/>
            <a:ext cx="10515600" cy="0"/>
          </a:xfrm>
          <a:prstGeom prst="line">
            <a:avLst/>
          </a:prstGeom>
          <a:ln w="12700">
            <a:solidFill>
              <a:srgbClr val="E3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7086"/>
                </a:solidFill>
                <a:latin typeface="맑은 고딕"/>
              </a:rPr>
              <a:t>Karpathy의 LLM Wiki 패턴 기반 · 공통 wiki 15페이지 누적 · Zotero MCP · Graphify 지식그래프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567434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HOW I'LL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356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dirty="0" err="1">
                <a:solidFill>
                  <a:srgbClr val="17182B"/>
                </a:solidFill>
                <a:latin typeface="맑은 고딕"/>
              </a:rPr>
              <a:t>이렇게</a:t>
            </a:r>
            <a:r>
              <a:rPr sz="23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lang="ko-KR" altLang="en-US" sz="2300" b="1" dirty="0">
                <a:solidFill>
                  <a:srgbClr val="17182B"/>
                </a:solidFill>
                <a:latin typeface="맑은 고딕"/>
              </a:rPr>
              <a:t>활용하</a:t>
            </a:r>
            <a:r>
              <a:rPr sz="2300" b="1" dirty="0">
                <a:solidFill>
                  <a:srgbClr val="17182B"/>
                </a:solidFill>
                <a:latin typeface="맑은 고딕"/>
              </a:rPr>
              <a:t>려 </a:t>
            </a:r>
            <a:r>
              <a:rPr sz="2300" b="1" dirty="0" err="1">
                <a:solidFill>
                  <a:srgbClr val="17182B"/>
                </a:solidFill>
                <a:latin typeface="맑은 고딕"/>
              </a:rPr>
              <a:t>합니다</a:t>
            </a:r>
            <a:r>
              <a:rPr sz="2300" b="1" dirty="0">
                <a:solidFill>
                  <a:srgbClr val="17182B"/>
                </a:solidFill>
                <a:latin typeface="맑은 고딕"/>
              </a:rPr>
              <a:t> — </a:t>
            </a:r>
            <a:r>
              <a:rPr sz="2300" b="1" dirty="0" err="1">
                <a:solidFill>
                  <a:srgbClr val="17182B"/>
                </a:solidFill>
                <a:latin typeface="맑은 고딕"/>
              </a:rPr>
              <a:t>Zotero에서</a:t>
            </a:r>
            <a:r>
              <a:rPr sz="23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7182B"/>
                </a:solidFill>
                <a:latin typeface="맑은 고딕"/>
              </a:rPr>
              <a:t>NotebookLM까지</a:t>
            </a:r>
            <a:endParaRPr sz="230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E7086"/>
                </a:solidFill>
                <a:latin typeface="맑은 고딕"/>
              </a:rPr>
              <a:t>논문을 읽고 남긴 하이라이트·메모가 옵시디언에 쌓이고, NotebookLM으로 다시 학습·산출물을 만들어 LLM Wiki를 키우는 순환 구조입니다.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14884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37160" rIns="118872" rtlCol="0" anchor="t"/>
          <a:lstStyle/>
          <a:p>
            <a:r>
              <a:rPr sz="1250" b="1" dirty="0">
                <a:solidFill>
                  <a:srgbClr val="8A5A08"/>
                </a:solidFill>
                <a:latin typeface="Segoe UI"/>
              </a:rPr>
              <a:t>Zotero</a:t>
            </a:r>
          </a:p>
          <a:p>
            <a:pPr>
              <a:spcBef>
                <a:spcPts val="600"/>
              </a:spcBef>
            </a:pPr>
            <a:r>
              <a:rPr sz="1250" b="1" dirty="0" err="1">
                <a:solidFill>
                  <a:srgbClr val="17182B"/>
                </a:solidFill>
                <a:latin typeface="맑은 고딕"/>
              </a:rPr>
              <a:t>읽고</a:t>
            </a:r>
            <a:r>
              <a:rPr sz="12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7182B"/>
                </a:solidFill>
                <a:latin typeface="맑은 고딕"/>
              </a:rPr>
              <a:t>하이라이트</a:t>
            </a:r>
            <a:endParaRPr sz="125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50" dirty="0" err="1">
                <a:solidFill>
                  <a:srgbClr val="6E7086"/>
                </a:solidFill>
                <a:latin typeface="맑은 고딕"/>
              </a:rPr>
              <a:t>논문을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읽으며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형광펜·메모를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남김</a:t>
            </a:r>
            <a:endParaRPr sz="950" dirty="0">
              <a:solidFill>
                <a:srgbClr val="6E7086"/>
              </a:solidFill>
              <a:latin typeface="맑은 고딕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971800" y="3223260"/>
            <a:ext cx="502920" cy="0"/>
          </a:xfrm>
          <a:prstGeom prst="line">
            <a:avLst/>
          </a:prstGeom>
          <a:ln w="22225">
            <a:solidFill>
              <a:srgbClr val="6E708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74720" y="2377440"/>
            <a:ext cx="214884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37160" rIns="118872" rtlCol="0" anchor="t"/>
          <a:lstStyle/>
          <a:p>
            <a:r>
              <a:rPr sz="1250" b="1" dirty="0">
                <a:solidFill>
                  <a:srgbClr val="8A5A08"/>
                </a:solidFill>
                <a:latin typeface="Segoe UI"/>
              </a:rPr>
              <a:t>Obsidian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17182B"/>
                </a:solidFill>
                <a:latin typeface="맑은 고딕"/>
              </a:rPr>
              <a:t>raw + wiki </a:t>
            </a:r>
            <a:r>
              <a:rPr sz="1250" b="1" dirty="0" err="1">
                <a:solidFill>
                  <a:srgbClr val="17182B"/>
                </a:solidFill>
                <a:latin typeface="맑은 고딕"/>
              </a:rPr>
              <a:t>저장</a:t>
            </a:r>
            <a:endParaRPr sz="125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50" dirty="0" err="1">
                <a:solidFill>
                  <a:srgbClr val="6E7086"/>
                </a:solidFill>
                <a:latin typeface="맑은 고딕"/>
              </a:rPr>
              <a:t>raw엔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원본·메모·태그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,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wiki엔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요약·핵심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정리</a:t>
            </a:r>
            <a:endParaRPr sz="950" dirty="0">
              <a:solidFill>
                <a:srgbClr val="6E7086"/>
              </a:solidFill>
              <a:latin typeface="맑은 고딕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623560" y="3223260"/>
            <a:ext cx="502920" cy="0"/>
          </a:xfrm>
          <a:prstGeom prst="line">
            <a:avLst/>
          </a:prstGeom>
          <a:ln w="22225">
            <a:solidFill>
              <a:srgbClr val="6E708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0" y="2377440"/>
            <a:ext cx="214884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37160" rIns="118872" rtlCol="0" anchor="t"/>
          <a:lstStyle/>
          <a:p>
            <a:r>
              <a:rPr sz="1250" b="1" dirty="0" err="1">
                <a:solidFill>
                  <a:srgbClr val="8A5A08"/>
                </a:solidFill>
                <a:latin typeface="Segoe UI"/>
              </a:rPr>
              <a:t>NotebookLM</a:t>
            </a:r>
            <a:endParaRPr sz="1250" b="1" dirty="0">
              <a:solidFill>
                <a:srgbClr val="8A5A08"/>
              </a:solidFill>
              <a:latin typeface="Segoe UI"/>
            </a:endParaRPr>
          </a:p>
          <a:p>
            <a:pPr>
              <a:spcBef>
                <a:spcPts val="600"/>
              </a:spcBef>
            </a:pPr>
            <a:r>
              <a:rPr sz="1250" b="1" dirty="0" err="1">
                <a:solidFill>
                  <a:srgbClr val="17182B"/>
                </a:solidFill>
                <a:latin typeface="맑은 고딕"/>
              </a:rPr>
              <a:t>연결해서</a:t>
            </a:r>
            <a:r>
              <a:rPr sz="12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7182B"/>
                </a:solidFill>
                <a:latin typeface="맑은 고딕"/>
              </a:rPr>
              <a:t>학습</a:t>
            </a:r>
            <a:endParaRPr sz="125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50" dirty="0" err="1">
                <a:solidFill>
                  <a:srgbClr val="6E7086"/>
                </a:solidFill>
                <a:latin typeface="맑은 고딕"/>
              </a:rPr>
              <a:t>원본·메모·요약을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소스로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공부하거나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자료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생성</a:t>
            </a:r>
            <a:endParaRPr sz="950" dirty="0">
              <a:solidFill>
                <a:srgbClr val="6E7086"/>
              </a:solidFill>
              <a:latin typeface="맑은 고딕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275320" y="3223260"/>
            <a:ext cx="502920" cy="0"/>
          </a:xfrm>
          <a:prstGeom prst="line">
            <a:avLst/>
          </a:prstGeom>
          <a:ln w="22225">
            <a:solidFill>
              <a:srgbClr val="6E708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78240" y="2377440"/>
            <a:ext cx="214884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37160" rIns="118872" rtlCol="0" anchor="t"/>
          <a:lstStyle/>
          <a:p>
            <a:r>
              <a:rPr sz="1250" b="1" dirty="0">
                <a:solidFill>
                  <a:srgbClr val="8A5A08"/>
                </a:solidFill>
                <a:latin typeface="Segoe UI"/>
              </a:rPr>
              <a:t>LLM Wiki</a:t>
            </a:r>
          </a:p>
          <a:p>
            <a:pPr>
              <a:spcBef>
                <a:spcPts val="600"/>
              </a:spcBef>
            </a:pPr>
            <a:r>
              <a:rPr sz="1250" b="1" dirty="0" err="1">
                <a:solidFill>
                  <a:srgbClr val="17182B"/>
                </a:solidFill>
                <a:latin typeface="맑은 고딕"/>
              </a:rPr>
              <a:t>다시</a:t>
            </a:r>
            <a:r>
              <a:rPr sz="125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7182B"/>
                </a:solidFill>
                <a:latin typeface="맑은 고딕"/>
              </a:rPr>
              <a:t>저장·활용</a:t>
            </a:r>
            <a:endParaRPr sz="1250" b="1" dirty="0">
              <a:solidFill>
                <a:srgbClr val="17182B"/>
              </a:solidFill>
              <a:latin typeface="맑은 고딕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50" dirty="0" err="1">
                <a:solidFill>
                  <a:srgbClr val="6E7086"/>
                </a:solidFill>
                <a:latin typeface="맑은 고딕"/>
              </a:rPr>
              <a:t>만든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산출물을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wiki에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저장해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다음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질문의</a:t>
            </a:r>
            <a:r>
              <a:rPr sz="950" dirty="0">
                <a:solidFill>
                  <a:srgbClr val="6E7086"/>
                </a:solidFill>
                <a:latin typeface="맑은 고딕"/>
              </a:rPr>
              <a:t> </a:t>
            </a:r>
            <a:r>
              <a:rPr sz="950" dirty="0" err="1">
                <a:solidFill>
                  <a:srgbClr val="6E7086"/>
                </a:solidFill>
                <a:latin typeface="맑은 고딕"/>
              </a:rPr>
              <a:t>재료로</a:t>
            </a:r>
            <a:endParaRPr sz="950" dirty="0">
              <a:solidFill>
                <a:srgbClr val="6E7086"/>
              </a:solidFill>
              <a:latin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4389120"/>
            <a:ext cx="10104120" cy="1371600"/>
          </a:xfrm>
          <a:prstGeom prst="roundRect">
            <a:avLst>
              <a:gd name="adj" fmla="val 8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0" rIns="274320" rtlCol="0" anchor="t"/>
          <a:lstStyle/>
          <a:p>
            <a:pPr algn="ctr"/>
            <a:r>
              <a:rPr sz="1100" b="1" dirty="0" err="1">
                <a:solidFill>
                  <a:srgbClr val="8A5A08"/>
                </a:solidFill>
                <a:latin typeface="맑은 고딕"/>
              </a:rPr>
              <a:t>순환</a:t>
            </a:r>
            <a:r>
              <a:rPr sz="1100" b="1" dirty="0">
                <a:solidFill>
                  <a:srgbClr val="8A5A08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8A5A08"/>
                </a:solidFill>
                <a:latin typeface="맑은 고딕"/>
              </a:rPr>
              <a:t>구조</a:t>
            </a:r>
            <a:endParaRPr sz="1100" b="1" dirty="0">
              <a:solidFill>
                <a:srgbClr val="8A5A08"/>
              </a:solidFill>
              <a:latin typeface="맑은 고딕"/>
            </a:endParaRP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150" dirty="0" err="1">
                <a:solidFill>
                  <a:srgbClr val="17182B"/>
                </a:solidFill>
                <a:latin typeface="맑은 고딕"/>
              </a:rPr>
              <a:t>NotebookLM에서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만든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요약·인포그래픽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같은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산출물은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다시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LLM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Wiki에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저장되고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,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다음에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논문을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읽을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때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참고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재료가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됩니다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. Zotero(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원본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도서관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) → LLM Wiki(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컴파일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) →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NotebookLM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(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질의응답·산출물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) 3단계를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계속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오가는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17182B"/>
                </a:solidFill>
                <a:latin typeface="맑은 고딕"/>
              </a:rPr>
              <a:t>구조입니다</a:t>
            </a:r>
            <a:r>
              <a:rPr sz="1150" dirty="0">
                <a:solidFill>
                  <a:srgbClr val="17182B"/>
                </a:solidFill>
                <a:latin typeface="맑은 고딕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263640"/>
            <a:ext cx="10515600" cy="0"/>
          </a:xfrm>
          <a:prstGeom prst="line">
            <a:avLst/>
          </a:prstGeom>
          <a:ln w="12700">
            <a:solidFill>
              <a:srgbClr val="E3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7086"/>
                </a:solidFill>
                <a:latin typeface="맑은 고딕"/>
              </a:rPr>
              <a:t>Zotero MCP × NotebookLM 파이프라인 — 브레인 트리니티 튜토리얼 참고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835406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7182B"/>
                </a:solidFill>
                <a:latin typeface="맑은 고딕"/>
              </a:rPr>
              <a:t>이 발표 자료 자체도, 오늘 새로 만든 스킬로 뽑았어요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E7086"/>
                </a:solidFill>
                <a:latin typeface="맑은 고딕"/>
              </a:rPr>
              <a:t>PPT를 만들 때마다 반복되던 실수를 막기 위해, pptx-builder라는 재사용 가능한 Claude Code 스킬을 오늘 만들었습니다.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45059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250" b="1">
                <a:solidFill>
                  <a:srgbClr val="17182B"/>
                </a:solidFill>
                <a:latin typeface="맑은 고딕"/>
              </a:rPr>
              <a:t>내장 폰트만 사용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8144" y="2377440"/>
            <a:ext cx="245059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250" b="1">
                <a:solidFill>
                  <a:srgbClr val="17182B"/>
                </a:solidFill>
                <a:latin typeface="맑은 고딕"/>
              </a:rPr>
              <a:t>16:9 비율 고정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2377440"/>
            <a:ext cx="245059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250" b="1">
                <a:solidFill>
                  <a:srgbClr val="17182B"/>
                </a:solidFill>
                <a:latin typeface="맑은 고딕"/>
              </a:rPr>
              <a:t>제목 위치 고정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68512" y="2377440"/>
            <a:ext cx="245059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250" b="1">
                <a:solidFill>
                  <a:srgbClr val="17182B"/>
                </a:solidFill>
                <a:latin typeface="맑은 고딕"/>
              </a:rPr>
              <a:t>본문 밀도 있게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1029614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19456" rIns="274320" rtlCol="0" anchor="t"/>
          <a:lstStyle/>
          <a:p>
            <a:pPr algn="ctr"/>
            <a:r>
              <a:rPr lang="ko-KR" altLang="en-US" sz="1150" b="1" dirty="0">
                <a:solidFill>
                  <a:srgbClr val="F0455C"/>
                </a:solidFill>
                <a:latin typeface="맑은 고딕"/>
              </a:rPr>
              <a:t>방금</a:t>
            </a:r>
            <a:r>
              <a:rPr sz="1150" b="1" dirty="0">
                <a:solidFill>
                  <a:srgbClr val="F0455C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F0455C"/>
                </a:solidFill>
                <a:latin typeface="맑은 고딕"/>
              </a:rPr>
              <a:t>있었던</a:t>
            </a:r>
            <a:r>
              <a:rPr sz="1150" b="1" dirty="0">
                <a:solidFill>
                  <a:srgbClr val="F0455C"/>
                </a:solidFill>
                <a:latin typeface="맑은 고딕"/>
              </a:rPr>
              <a:t> 일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50" dirty="0">
                <a:solidFill>
                  <a:srgbClr val="17182B"/>
                </a:solidFill>
                <a:latin typeface="맑은 고딕"/>
              </a:rPr>
              <a:t>"4페이지만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고쳐줘"라고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했는데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,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스크립트를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처음부터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다시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실행해서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전체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파일을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덮어쓴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적이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있습니다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—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이미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손으로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고쳐둔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다른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페이지까지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함께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사라졌어요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.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그래서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지금은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(1)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덮어쓰기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전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무조건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백업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, (2)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고칠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슬라이드만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지우고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다시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그리는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절차를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스킬에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못박아뒀고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, 이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발표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자료도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그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절차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그대로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안전하게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고쳐가고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1250" dirty="0" err="1">
                <a:solidFill>
                  <a:srgbClr val="17182B"/>
                </a:solidFill>
                <a:latin typeface="맑은 고딕"/>
              </a:rPr>
              <a:t>있습니다</a:t>
            </a:r>
            <a:r>
              <a:rPr sz="1250" dirty="0">
                <a:solidFill>
                  <a:srgbClr val="17182B"/>
                </a:solidFill>
                <a:latin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29000"/>
            <a:ext cx="54864" cy="1828800"/>
          </a:xfrm>
          <a:prstGeom prst="rect">
            <a:avLst/>
          </a:prstGeom>
          <a:solidFill>
            <a:srgbClr val="F0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822960" y="6263640"/>
            <a:ext cx="10515600" cy="0"/>
          </a:xfrm>
          <a:prstGeom prst="line">
            <a:avLst/>
          </a:prstGeom>
          <a:ln w="12700">
            <a:solidFill>
              <a:srgbClr val="E3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7086"/>
                </a:solidFill>
                <a:latin typeface="맑은 고딕"/>
              </a:rPr>
              <a:t>참고 영상 — 페이퍼로지, 「오늘, 클로드가 PPT를 죽였습니다」(2026-05-02)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914400"/>
            <a:ext cx="963930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NEXT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22023"/>
            <a:ext cx="10515600" cy="1156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dirty="0" err="1">
                <a:solidFill>
                  <a:srgbClr val="17182B"/>
                </a:solidFill>
                <a:latin typeface="맑은 고딕"/>
              </a:rPr>
              <a:t>감사합니다</a:t>
            </a:r>
            <a:r>
              <a:rPr sz="72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4400" b="1" dirty="0">
                <a:solidFill>
                  <a:srgbClr val="17182B"/>
                </a:solidFill>
                <a:latin typeface="맑은 고딕"/>
              </a:rPr>
              <a:t>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6E7086"/>
                </a:solidFill>
                <a:latin typeface="맑은 고딕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894</Words>
  <Application>Microsoft Office PowerPoint</Application>
  <PresentationFormat>와이드스크린</PresentationFormat>
  <Paragraphs>166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pyojunghan</cp:lastModifiedBy>
  <cp:revision>9</cp:revision>
  <dcterms:created xsi:type="dcterms:W3CDTF">2013-01-27T09:14:16Z</dcterms:created>
  <dcterms:modified xsi:type="dcterms:W3CDTF">2026-07-16T09:26:51Z</dcterms:modified>
  <cp:category/>
</cp:coreProperties>
</file>