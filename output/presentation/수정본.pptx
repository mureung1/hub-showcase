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E99482-03BF-4C83-8DA4-CDBC1555FE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256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94532F-101A-4443-B50A-A4E79128E576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295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UniRadar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F07376-9723-4F57-B0D6-F205C2C21C6B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295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CE8FF"/>
                </a:solidFill>
              </a:defRPr>
            </a:pPr>
            <a:r>
              <a:rPr sz="1800" b="1">
                <a:solidFill>
                  <a:srgbClr val="DCE8FF"/>
                </a:solidFill>
              </a:rPr>
              <a:t>대학생 맞춤형 기회 탐색 에이전트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81A55B-BF22-4694-AE31-94F818780B71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1047750" cy="476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BA9268-95E8-4784-B0C4-8A92FFC5151D}"/>
              </a:ext>
            </a:extLst>
          </p:cNvPr>
          <p:cNvSpPr>
            <a:spLocks noGrp="1"/>
          </p:cNvSpPr>
          <p:nvPr/>
        </p:nvSpPr>
        <p:spPr>
          <a:xfrm>
            <a:off x="4762500" y="1733550"/>
            <a:ext cx="619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흩어진 공고를</a:t>
            </a:r>
          </a:p>
          <a:p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실행 가능한 일정으로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B35731-B375-409C-99ED-E8F2E6B0D5AC}"/>
              </a:ext>
            </a:extLst>
          </p:cNvPr>
          <p:cNvSpPr>
            <a:spLocks noGrp="1"/>
          </p:cNvSpPr>
          <p:nvPr/>
        </p:nvSpPr>
        <p:spPr>
          <a:xfrm>
            <a:off x="4762500" y="5143500"/>
            <a:ext cx="600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링크 스캔 · 최신 공지 비교 · AI 분석 · 태스크 생성</a:t>
            </a:r>
          </a:p>
        </p:txBody>
      </p:sp>
    </p:spTree>
    <p:extLst>
      <p:ext uri="{BB962C8B-B14F-4D97-AF65-F5344CB8AC3E}">
        <p14:creationId xmlns:p14="http://schemas.microsoft.com/office/powerpoint/2010/main" val="807881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A2F413C2-B3D0-4C8E-B611-1BBCBD9D91B8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PROBLEM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550BA4-606B-4972-AD2F-4EDFECC1589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01828"/>
                </a:solidFill>
              </a:defRPr>
            </a:pPr>
            <a:r>
              <a:rPr lang="ko-KR" altLang="en-US" sz="2850" b="1">
                <a:solidFill>
                  <a:srgbClr val="101828"/>
                </a:solidFill>
              </a:rPr>
              <a:t>공지를 읽을 때</a:t>
            </a:r>
            <a:r>
              <a:rPr sz="2850" b="1">
                <a:solidFill>
                  <a:srgbClr val="101828"/>
                </a:solidFill>
              </a:rPr>
              <a:t> 필요한 것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3BBB34-3B1E-4BEB-A04B-E893BFB108D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52F95D-4F7C-4BE8-9E02-41C204CBDD1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A0C8EC-12B5-4DBF-9E63-8395360C461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1DD21A-9A40-46D8-997C-ECDA0569A35B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발견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A32CFF-B96D-443C-A7C0-3FB65375E320}"/>
              </a:ext>
            </a:extLst>
          </p:cNvPr>
          <p:cNvSpPr>
            <a:spLocks noGrp="1"/>
          </p:cNvSpPr>
          <p:nvPr/>
        </p:nvSpPr>
        <p:spPr>
          <a:xfrm>
            <a:off x="3086100" y="2076450"/>
            <a:ext cx="9525" cy="21907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A7F7AA-3BA9-4ECC-94E6-C0BFF874CFCB}"/>
              </a:ext>
            </a:extLst>
          </p:cNvPr>
          <p:cNvSpPr>
            <a:spLocks noGrp="1"/>
          </p:cNvSpPr>
          <p:nvPr/>
        </p:nvSpPr>
        <p:spPr>
          <a:xfrm>
            <a:off x="3409950" y="20002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A222CA-6774-42B7-AB67-797A9C08E604}"/>
              </a:ext>
            </a:extLst>
          </p:cNvPr>
          <p:cNvSpPr>
            <a:spLocks noGrp="1"/>
          </p:cNvSpPr>
          <p:nvPr/>
        </p:nvSpPr>
        <p:spPr>
          <a:xfrm>
            <a:off x="3409950" y="27241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판단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137E4F-85C5-4152-A0D1-F8BC2FAA47DF}"/>
              </a:ext>
            </a:extLst>
          </p:cNvPr>
          <p:cNvSpPr>
            <a:spLocks noGrp="1"/>
          </p:cNvSpPr>
          <p:nvPr/>
        </p:nvSpPr>
        <p:spPr>
          <a:xfrm>
            <a:off x="5810250" y="2076450"/>
            <a:ext cx="9525" cy="21907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BDBE20-4DEF-403C-ACE5-51F8E8AF6BA6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108298-8A62-4822-A324-94483F602F32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기억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525D5E-7E2A-4CF0-91D0-FCB142265F08}"/>
              </a:ext>
            </a:extLst>
          </p:cNvPr>
          <p:cNvSpPr>
            <a:spLocks noGrp="1"/>
          </p:cNvSpPr>
          <p:nvPr/>
        </p:nvSpPr>
        <p:spPr>
          <a:xfrm>
            <a:off x="8534400" y="2076450"/>
            <a:ext cx="9525" cy="21907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183C3F-F176-4AE0-8E55-73314AB317FC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14EA2A-1DEB-45A5-AB4F-C8906453EA6F}"/>
              </a:ext>
            </a:extLst>
          </p:cNvPr>
          <p:cNvSpPr>
            <a:spLocks noGrp="1"/>
          </p:cNvSpPr>
          <p:nvPr/>
        </p:nvSpPr>
        <p:spPr>
          <a:xfrm>
            <a:off x="8858250" y="27241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실행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40C836B-7513-47B8-BF6C-1EC89458D326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9525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D9C97D0-4E11-4D78-B6C1-C89A449A4668}"/>
              </a:ext>
            </a:extLst>
          </p:cNvPr>
          <p:cNvSpPr>
            <a:spLocks noGrp="1"/>
          </p:cNvSpPr>
          <p:nvPr/>
        </p:nvSpPr>
        <p:spPr>
          <a:xfrm>
            <a:off x="990600" y="5105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UniRadar가 줄이는 비용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8B78EDF-3851-48A2-845E-BA25DFF1CDC8}"/>
              </a:ext>
            </a:extLst>
          </p:cNvPr>
          <p:cNvSpPr>
            <a:spLocks noGrp="1"/>
          </p:cNvSpPr>
          <p:nvPr/>
        </p:nvSpPr>
        <p:spPr>
          <a:xfrm>
            <a:off x="3714750" y="5048250"/>
            <a:ext cx="714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반복 탐색 → 새 공지 확인 → 조건 요약 → 준비 태스크</a:t>
            </a:r>
          </a:p>
        </p:txBody>
      </p:sp>
    </p:spTree>
    <p:extLst>
      <p:ext uri="{BB962C8B-B14F-4D97-AF65-F5344CB8AC3E}">
        <p14:creationId xmlns:p14="http://schemas.microsoft.com/office/powerpoint/2010/main" val="732629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01321DC2-C4DA-4770-824A-2FEA30DF2251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USER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78EA35-FEAE-4E5C-B842-216F0991749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01828"/>
                </a:solidFill>
              </a:defRPr>
            </a:pPr>
            <a:r>
              <a:rPr lang="ko-KR" altLang="en-US" sz="2850" b="1">
                <a:solidFill>
                  <a:srgbClr val="101828"/>
                </a:solidFill>
              </a:rPr>
              <a:t>각각의 기능</a:t>
            </a:r>
            <a:endParaRPr sz="2850" b="1">
              <a:solidFill>
                <a:srgbClr val="10182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DC7C88-14AA-43CC-BDA1-9BE520DAB626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C3F497-F53C-4B1B-AE6B-0391FDDFB0F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B79922-7AEC-41DC-B325-41CB7EAB2DC2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63B4C9-FC1E-433A-B502-BCA728E46340}"/>
              </a:ext>
            </a:extLst>
          </p:cNvPr>
          <p:cNvSpPr>
            <a:spLocks noGrp="1"/>
          </p:cNvSpPr>
          <p:nvPr/>
        </p:nvSpPr>
        <p:spPr>
          <a:xfrm>
            <a:off x="685800" y="2562225"/>
            <a:ext cx="1809750" cy="38100"/>
          </a:xfrm>
          <a:prstGeom prst="rect">
            <a:avLst/>
          </a:prstGeom>
          <a:solidFill>
            <a:srgbClr val="256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78DF65-D548-4D52-8460-6944F274823B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출처 등록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925B8B-C14B-496E-9103-18421F7B96BB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출처 이름과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공지 목록 URL 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5BF7F2-2165-42B7-AEF2-207282AA7482}"/>
              </a:ext>
            </a:extLst>
          </p:cNvPr>
          <p:cNvSpPr>
            <a:spLocks noGrp="1"/>
          </p:cNvSpPr>
          <p:nvPr/>
        </p:nvSpPr>
        <p:spPr>
          <a:xfrm>
            <a:off x="2857500" y="2190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DE4EBB-8359-49FB-9CD7-820FF378B985}"/>
              </a:ext>
            </a:extLst>
          </p:cNvPr>
          <p:cNvSpPr>
            <a:spLocks noGrp="1"/>
          </p:cNvSpPr>
          <p:nvPr/>
        </p:nvSpPr>
        <p:spPr>
          <a:xfrm>
            <a:off x="2857500" y="2562225"/>
            <a:ext cx="1809750" cy="381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C9E27A-DEFD-4A09-B567-C17889175962}"/>
              </a:ext>
            </a:extLst>
          </p:cNvPr>
          <p:cNvSpPr>
            <a:spLocks noGrp="1"/>
          </p:cNvSpPr>
          <p:nvPr/>
        </p:nvSpPr>
        <p:spPr>
          <a:xfrm>
            <a:off x="2857500" y="2762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일괄 스캔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0328CE-79BF-4F00-81B5-0487D1868958}"/>
              </a:ext>
            </a:extLst>
          </p:cNvPr>
          <p:cNvSpPr>
            <a:spLocks noGrp="1"/>
          </p:cNvSpPr>
          <p:nvPr/>
        </p:nvSpPr>
        <p:spPr>
          <a:xfrm>
            <a:off x="2857500" y="32575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저장된 여러 출처를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한 번에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86A398-176B-4808-A275-FBD9A9918EB8}"/>
              </a:ext>
            </a:extLst>
          </p:cNvPr>
          <p:cNvSpPr>
            <a:spLocks noGrp="1"/>
          </p:cNvSpPr>
          <p:nvPr/>
        </p:nvSpPr>
        <p:spPr>
          <a:xfrm>
            <a:off x="5029200" y="2190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3AB53A-1FB2-482D-8CD2-ABE4B05994DB}"/>
              </a:ext>
            </a:extLst>
          </p:cNvPr>
          <p:cNvSpPr>
            <a:spLocks noGrp="1"/>
          </p:cNvSpPr>
          <p:nvPr/>
        </p:nvSpPr>
        <p:spPr>
          <a:xfrm>
            <a:off x="5029200" y="2562225"/>
            <a:ext cx="1809750" cy="381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ABBC75-7C2B-4AD3-AB72-13D7179669DE}"/>
              </a:ext>
            </a:extLst>
          </p:cNvPr>
          <p:cNvSpPr>
            <a:spLocks noGrp="1"/>
          </p:cNvSpPr>
          <p:nvPr/>
        </p:nvSpPr>
        <p:spPr>
          <a:xfrm>
            <a:off x="5029200" y="2762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새 글 비교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6563A2-283C-4E3D-A928-9F68AE974BB3}"/>
              </a:ext>
            </a:extLst>
          </p:cNvPr>
          <p:cNvSpPr>
            <a:spLocks noGrp="1"/>
          </p:cNvSpPr>
          <p:nvPr/>
        </p:nvSpPr>
        <p:spPr>
          <a:xfrm>
            <a:off x="5029200" y="32575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전체 모드와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마지막 스캔 이후 모드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D31B39-946D-47B6-941B-534E1036C7A6}"/>
              </a:ext>
            </a:extLst>
          </p:cNvPr>
          <p:cNvSpPr>
            <a:spLocks noGrp="1"/>
          </p:cNvSpPr>
          <p:nvPr/>
        </p:nvSpPr>
        <p:spPr>
          <a:xfrm>
            <a:off x="7200900" y="2190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F9D8A"/>
                </a:solidFill>
              </a:defRPr>
            </a:pPr>
            <a:r>
              <a:rPr sz="1350" b="1">
                <a:solidFill>
                  <a:srgbClr val="0F9D8A"/>
                </a:solidFill>
              </a:rPr>
              <a:t>04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A3A941-BA51-43C7-B1E8-AD21B73F030F}"/>
              </a:ext>
            </a:extLst>
          </p:cNvPr>
          <p:cNvSpPr>
            <a:spLocks noGrp="1"/>
          </p:cNvSpPr>
          <p:nvPr/>
        </p:nvSpPr>
        <p:spPr>
          <a:xfrm>
            <a:off x="7200900" y="2562225"/>
            <a:ext cx="1809750" cy="38100"/>
          </a:xfrm>
          <a:prstGeom prst="rect">
            <a:avLst/>
          </a:prstGeom>
          <a:solidFill>
            <a:srgbClr val="0F9D8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447770-16C3-44ED-9F74-694AFDECE0EE}"/>
              </a:ext>
            </a:extLst>
          </p:cNvPr>
          <p:cNvSpPr>
            <a:spLocks noGrp="1"/>
          </p:cNvSpPr>
          <p:nvPr/>
        </p:nvSpPr>
        <p:spPr>
          <a:xfrm>
            <a:off x="7200900" y="2762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AI 분석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0D4165E-1597-43D1-AB75-6390F44C7330}"/>
              </a:ext>
            </a:extLst>
          </p:cNvPr>
          <p:cNvSpPr>
            <a:spLocks noGrp="1"/>
          </p:cNvSpPr>
          <p:nvPr/>
        </p:nvSpPr>
        <p:spPr>
          <a:xfrm>
            <a:off x="7200900" y="32575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URL 또는 본문으로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지원 조건 구조화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C7FF6F-5A43-40FF-A101-CF29DEC40FC2}"/>
              </a:ext>
            </a:extLst>
          </p:cNvPr>
          <p:cNvSpPr>
            <a:spLocks noGrp="1"/>
          </p:cNvSpPr>
          <p:nvPr/>
        </p:nvSpPr>
        <p:spPr>
          <a:xfrm>
            <a:off x="9372600" y="2190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05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5E2CF39-57FE-4AA7-8A08-6CE066329503}"/>
              </a:ext>
            </a:extLst>
          </p:cNvPr>
          <p:cNvSpPr>
            <a:spLocks noGrp="1"/>
          </p:cNvSpPr>
          <p:nvPr/>
        </p:nvSpPr>
        <p:spPr>
          <a:xfrm>
            <a:off x="9372600" y="2562225"/>
            <a:ext cx="1809750" cy="381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1C34CD-4482-43C3-A099-3B0ACDA90AFF}"/>
              </a:ext>
            </a:extLst>
          </p:cNvPr>
          <p:cNvSpPr>
            <a:spLocks noGrp="1"/>
          </p:cNvSpPr>
          <p:nvPr/>
        </p:nvSpPr>
        <p:spPr>
          <a:xfrm>
            <a:off x="9372600" y="2762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준비 관리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DAF728-73C1-48C3-9441-2AB59A10026A}"/>
              </a:ext>
            </a:extLst>
          </p:cNvPr>
          <p:cNvSpPr>
            <a:spLocks noGrp="1"/>
          </p:cNvSpPr>
          <p:nvPr/>
        </p:nvSpPr>
        <p:spPr>
          <a:xfrm>
            <a:off x="9372600" y="32575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저장과 마감 태스크로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다음 행동 확인</a:t>
            </a:r>
          </a:p>
        </p:txBody>
      </p:sp>
    </p:spTree>
    <p:extLst>
      <p:ext uri="{BB962C8B-B14F-4D97-AF65-F5344CB8AC3E}">
        <p14:creationId xmlns:p14="http://schemas.microsoft.com/office/powerpoint/2010/main" val="142257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DB1B20-8088-497D-B614-A95F12A6ECD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EXPERIENCE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5D6FE3-1688-47CA-B5B3-5825E0AE374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대시보드 화면</a:t>
            </a:r>
            <a:r>
              <a:rPr lang="ko-KR" altLang="en-US" sz="2850" b="1">
                <a:solidFill>
                  <a:srgbClr val="101828"/>
                </a:solidFill>
              </a:rPr>
              <a:t>의</a:t>
            </a:r>
            <a:r>
              <a:rPr sz="2850" b="1">
                <a:solidFill>
                  <a:srgbClr val="101828"/>
                </a:solidFill>
              </a:rPr>
              <a:t> 탐색·분석·마감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79FA8A-41A6-4A4A-8158-F6F94CBD0A4D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B97A06-1285-4683-A92D-35E1AFA8BA2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BE647D-F608-4BA6-8C06-C3F022AF0F74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UI 기준안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E07C45-1750-403F-BCEA-49B895A7B92A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76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화면에서 바로</a:t>
            </a:r>
          </a:p>
          <a:p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다음 행동을 찾는다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D4F7C5-B20A-4C7E-B01F-0C71FA8C4B19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추천 현황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69085D-FBC6-48BE-97B0-DEF384A245A4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분석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A8132C-EAA6-4EA8-80A5-1697D47917DD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마감 태스크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142388-4343-4A8E-A9BA-5C0B474D0ACA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저장 공고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CD48E8D-8298-4687-9CC0-BBF3568CAFF4}"/>
              </a:ext>
            </a:extLst>
          </p:cNvPr>
          <p:cNvSpPr>
            <a:spLocks noGrp="1"/>
          </p:cNvSpPr>
          <p:nvPr/>
        </p:nvSpPr>
        <p:spPr>
          <a:xfrm>
            <a:off x="3905250" y="1809750"/>
            <a:ext cx="76009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70085" y="1924050"/>
            <a:ext cx="687128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0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A622EFE5-265A-4FCF-B06F-6FFD2CF7BA0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ARCHITECTURE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8153FC-3340-41A1-8256-6DC0C554CB0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01828"/>
                </a:solidFill>
              </a:defRPr>
            </a:pPr>
            <a:r>
              <a:rPr lang="ko-KR" altLang="en-US" sz="2850" b="1">
                <a:solidFill>
                  <a:srgbClr val="101828"/>
                </a:solidFill>
              </a:rPr>
              <a:t>서비스 구조</a:t>
            </a:r>
            <a:endParaRPr sz="2850" b="1">
              <a:solidFill>
                <a:srgbClr val="10182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5581BE-FFDA-41DF-8537-DC14BF78C486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C01AA0-F0D7-470F-A928-186D74AE3F75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253AC28-ECC2-4E91-A1E0-05B6370B5FEC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8001000" cy="781050"/>
          </a:xfrm>
          <a:prstGeom prst="roundRect">
            <a:avLst>
              <a:gd name="adj" fmla="val 9756"/>
            </a:avLst>
          </a:prstGeom>
          <a:solidFill>
            <a:srgbClr val="EEF4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2D671B-6CCF-4876-8815-17FEE4AC028D}"/>
              </a:ext>
            </a:extLst>
          </p:cNvPr>
          <p:cNvSpPr>
            <a:spLocks noGrp="1"/>
          </p:cNvSpPr>
          <p:nvPr/>
        </p:nvSpPr>
        <p:spPr>
          <a:xfrm>
            <a:off x="952500" y="21336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FF"/>
                </a:solidFill>
              </a:defRPr>
            </a:pPr>
            <a:r>
              <a:rPr sz="1800" b="1">
                <a:solidFill>
                  <a:srgbClr val="2563FF"/>
                </a:solidFill>
              </a:rPr>
              <a:t>React + Vite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30A275-225A-4D56-B7A0-0330BC4E583F}"/>
              </a:ext>
            </a:extLst>
          </p:cNvPr>
          <p:cNvSpPr>
            <a:spLocks noGrp="1"/>
          </p:cNvSpPr>
          <p:nvPr/>
        </p:nvSpPr>
        <p:spPr>
          <a:xfrm>
            <a:off x="3143250" y="217170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사용자 입력 · 스캔 결과 · 분석 결과 · localStorage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A90F8A4-A059-4598-9BA1-CC7BB2C35457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80010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76733C-E6E9-471C-8284-2E21B9CA956E}"/>
              </a:ext>
            </a:extLst>
          </p:cNvPr>
          <p:cNvSpPr>
            <a:spLocks noGrp="1"/>
          </p:cNvSpPr>
          <p:nvPr/>
        </p:nvSpPr>
        <p:spPr>
          <a:xfrm>
            <a:off x="952500" y="32194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Express API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DDA299-C9FD-402F-9937-8EE2206F5F15}"/>
              </a:ext>
            </a:extLst>
          </p:cNvPr>
          <p:cNvSpPr>
            <a:spLocks noGrp="1"/>
          </p:cNvSpPr>
          <p:nvPr/>
        </p:nvSpPr>
        <p:spPr>
          <a:xfrm>
            <a:off x="3143250" y="32575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/api/fetch-html · /api/analyze · Zod 입력 검증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7BE0404-984E-46DE-BFC1-4998A903A7E3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8001000" cy="1123950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96D056-59D8-4A1F-A66E-FCEA990E9654}"/>
              </a:ext>
            </a:extLst>
          </p:cNvPr>
          <p:cNvSpPr>
            <a:spLocks noGrp="1"/>
          </p:cNvSpPr>
          <p:nvPr/>
        </p:nvSpPr>
        <p:spPr>
          <a:xfrm>
            <a:off x="952500" y="44577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서비스 계층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52A870-72EA-48F9-8BCC-D5D22B84C27C}"/>
              </a:ext>
            </a:extLst>
          </p:cNvPr>
          <p:cNvSpPr>
            <a:spLocks noGrp="1"/>
          </p:cNvSpPr>
          <p:nvPr/>
        </p:nvSpPr>
        <p:spPr>
          <a:xfrm>
            <a:off x="3143250" y="449580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HTML 가져오기/본문 추출 · 링크 정규화 · Gemini/OpenAI/Mock 어댑터 · 태스크 생성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517AEE2-448C-486D-BA14-DC2AEC12BE22}"/>
              </a:ext>
            </a:extLst>
          </p:cNvPr>
          <p:cNvSpPr>
            <a:spLocks noGrp="1"/>
          </p:cNvSpPr>
          <p:nvPr/>
        </p:nvSpPr>
        <p:spPr>
          <a:xfrm>
            <a:off x="9353550" y="18859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외부 연결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0441C2E-478E-477B-8AB3-A0284CE0D69D}"/>
              </a:ext>
            </a:extLst>
          </p:cNvPr>
          <p:cNvSpPr>
            <a:spLocks noGrp="1"/>
          </p:cNvSpPr>
          <p:nvPr/>
        </p:nvSpPr>
        <p:spPr>
          <a:xfrm>
            <a:off x="9144000" y="2381250"/>
            <a:ext cx="2362200" cy="666750"/>
          </a:xfrm>
          <a:prstGeom prst="roundRect">
            <a:avLst>
              <a:gd name="adj" fmla="val 11429"/>
            </a:avLst>
          </a:prstGeom>
          <a:solidFill>
            <a:srgbClr val="EEF4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6ECC98-BF4E-46D0-810B-1588AE707772}"/>
              </a:ext>
            </a:extLst>
          </p:cNvPr>
          <p:cNvSpPr>
            <a:spLocks noGrp="1"/>
          </p:cNvSpPr>
          <p:nvPr/>
        </p:nvSpPr>
        <p:spPr>
          <a:xfrm>
            <a:off x="9372600" y="258127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563FF"/>
                </a:solidFill>
              </a:defRPr>
            </a:pPr>
            <a:r>
              <a:rPr sz="1500" b="1">
                <a:solidFill>
                  <a:srgbClr val="2563FF"/>
                </a:solidFill>
              </a:rPr>
              <a:t>공지 웹사이트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197D48D-076D-4D5B-8A00-6D02D3115380}"/>
              </a:ext>
            </a:extLst>
          </p:cNvPr>
          <p:cNvSpPr>
            <a:spLocks noGrp="1"/>
          </p:cNvSpPr>
          <p:nvPr/>
        </p:nvSpPr>
        <p:spPr>
          <a:xfrm>
            <a:off x="9144000" y="3371850"/>
            <a:ext cx="2362200" cy="666750"/>
          </a:xfrm>
          <a:prstGeom prst="roundRect">
            <a:avLst>
              <a:gd name="adj" fmla="val 11429"/>
            </a:avLst>
          </a:prstGeom>
          <a:solidFill>
            <a:srgbClr val="F3E8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AB101C-AAA8-4C5B-941F-4599A362D3D1}"/>
              </a:ext>
            </a:extLst>
          </p:cNvPr>
          <p:cNvSpPr>
            <a:spLocks noGrp="1"/>
          </p:cNvSpPr>
          <p:nvPr/>
        </p:nvSpPr>
        <p:spPr>
          <a:xfrm>
            <a:off x="9372600" y="357187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Gemini API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0E74A2C-A553-446D-AE60-B8F22278A1B5}"/>
              </a:ext>
            </a:extLst>
          </p:cNvPr>
          <p:cNvSpPr>
            <a:spLocks noGrp="1"/>
          </p:cNvSpPr>
          <p:nvPr/>
        </p:nvSpPr>
        <p:spPr>
          <a:xfrm>
            <a:off x="9144000" y="4362450"/>
            <a:ext cx="2362200" cy="666750"/>
          </a:xfrm>
          <a:prstGeom prst="roundRect">
            <a:avLst>
              <a:gd name="adj" fmla="val 11429"/>
            </a:avLst>
          </a:prstGeom>
          <a:solidFill>
            <a:srgbClr val="ECFDF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8944C5-7ADA-4CD2-8EA0-D60DE12C2540}"/>
              </a:ext>
            </a:extLst>
          </p:cNvPr>
          <p:cNvSpPr>
            <a:spLocks noGrp="1"/>
          </p:cNvSpPr>
          <p:nvPr/>
        </p:nvSpPr>
        <p:spPr>
          <a:xfrm>
            <a:off x="9372600" y="456247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Mock fallback</a:t>
            </a:r>
          </a:p>
        </p:txBody>
      </p:sp>
    </p:spTree>
    <p:extLst>
      <p:ext uri="{BB962C8B-B14F-4D97-AF65-F5344CB8AC3E}">
        <p14:creationId xmlns:p14="http://schemas.microsoft.com/office/powerpoint/2010/main" val="1379454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54CBA71-D7CE-4A55-B572-EC073353F27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NOTICE SCANNING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F123F7-493C-49AB-B4CD-A3537254A15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링크 정규화</a:t>
            </a:r>
            <a:r>
              <a:rPr lang="en-US" sz="2850" b="1">
                <a:solidFill>
                  <a:srgbClr val="101828"/>
                </a:solidFill>
              </a:rPr>
              <a:t> </a:t>
            </a:r>
            <a:r>
              <a:rPr lang="ko-KR" altLang="en-US" sz="2850" b="1">
                <a:solidFill>
                  <a:srgbClr val="101828"/>
                </a:solidFill>
              </a:rPr>
              <a:t>및</a:t>
            </a:r>
            <a:r>
              <a:rPr sz="2850" b="1">
                <a:solidFill>
                  <a:srgbClr val="101828"/>
                </a:solidFill>
              </a:rPr>
              <a:t> </a:t>
            </a:r>
            <a:r>
              <a:rPr lang="ko-KR" altLang="en-US" sz="2850" b="1">
                <a:solidFill>
                  <a:srgbClr val="101828"/>
                </a:solidFill>
              </a:rPr>
              <a:t>두 가지 모드</a:t>
            </a:r>
            <a:endParaRPr sz="2850" b="1">
              <a:solidFill>
                <a:srgbClr val="10182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B3EE36-EF38-4DEB-93CF-E6F0906AF11A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E1E898-1F26-4755-98CF-21B3129E57D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727AED-82EB-4518-9908-CFC99C3CFA07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입력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7000C6-99C2-4E0D-9BAD-71AFD3C32F87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출처 이름 + 공지 목록 URL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C5C0AC-D03D-4D21-BDF2-CB9D6017422D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개별 출처 또는 저장된 출처 전체를 스캔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CF8A56-A8F0-4A48-B9D2-6CB9B76DFE3D}"/>
              </a:ext>
            </a:extLst>
          </p:cNvPr>
          <p:cNvSpPr>
            <a:spLocks noGrp="1"/>
          </p:cNvSpPr>
          <p:nvPr/>
        </p:nvSpPr>
        <p:spPr>
          <a:xfrm>
            <a:off x="5429250" y="1981200"/>
            <a:ext cx="19050" cy="37147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467B16-AFC4-46FE-8021-37BC5540169E}"/>
              </a:ext>
            </a:extLst>
          </p:cNvPr>
          <p:cNvSpPr>
            <a:spLocks noGrp="1"/>
          </p:cNvSpPr>
          <p:nvPr/>
        </p:nvSpPr>
        <p:spPr>
          <a:xfrm>
            <a:off x="6038850" y="195262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비교 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18ECAA-6548-4262-9054-6002CD8C1539}"/>
              </a:ext>
            </a:extLst>
          </p:cNvPr>
          <p:cNvSpPr>
            <a:spLocks noGrp="1"/>
          </p:cNvSpPr>
          <p:nvPr/>
        </p:nvSpPr>
        <p:spPr>
          <a:xfrm>
            <a:off x="6038850" y="23431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두 가지 보기 모드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0BA9752-A94E-4C14-AA15-5033D8CE9849}"/>
              </a:ext>
            </a:extLst>
          </p:cNvPr>
          <p:cNvSpPr>
            <a:spLocks noGrp="1"/>
          </p:cNvSpPr>
          <p:nvPr/>
        </p:nvSpPr>
        <p:spPr>
          <a:xfrm>
            <a:off x="6038850" y="3086100"/>
            <a:ext cx="2381250" cy="1638300"/>
          </a:xfrm>
          <a:prstGeom prst="roundRect">
            <a:avLst>
              <a:gd name="adj" fmla="val 4651"/>
            </a:avLst>
          </a:prstGeom>
          <a:solidFill>
            <a:srgbClr val="EEF4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074E86-7800-419C-8D5C-39478AD93545}"/>
              </a:ext>
            </a:extLst>
          </p:cNvPr>
          <p:cNvSpPr>
            <a:spLocks noGrp="1"/>
          </p:cNvSpPr>
          <p:nvPr/>
        </p:nvSpPr>
        <p:spPr>
          <a:xfrm>
            <a:off x="6305550" y="33528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FF"/>
                </a:solidFill>
              </a:defRPr>
            </a:pPr>
            <a:r>
              <a:rPr sz="2100" b="1">
                <a:solidFill>
                  <a:srgbClr val="2563FF"/>
                </a:solidFill>
              </a:rPr>
              <a:t>전체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D63B3E-E3CF-426D-A28F-361DED21876C}"/>
              </a:ext>
            </a:extLst>
          </p:cNvPr>
          <p:cNvSpPr>
            <a:spLocks noGrp="1"/>
          </p:cNvSpPr>
          <p:nvPr/>
        </p:nvSpPr>
        <p:spPr>
          <a:xfrm>
            <a:off x="6305550" y="394335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현재 페이지에서 찾은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모든 공지 링크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1C267B2-7432-4DC5-A498-D3DB78E01561}"/>
              </a:ext>
            </a:extLst>
          </p:cNvPr>
          <p:cNvSpPr>
            <a:spLocks noGrp="1"/>
          </p:cNvSpPr>
          <p:nvPr/>
        </p:nvSpPr>
        <p:spPr>
          <a:xfrm>
            <a:off x="8724900" y="3086100"/>
            <a:ext cx="2381250" cy="1638300"/>
          </a:xfrm>
          <a:prstGeom prst="roundRect">
            <a:avLst>
              <a:gd name="adj" fmla="val 4651"/>
            </a:avLst>
          </a:prstGeom>
          <a:solidFill>
            <a:srgbClr val="F3E8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FBCE25-8BAD-4D16-AEC1-53CA6F72E8C7}"/>
              </a:ext>
            </a:extLst>
          </p:cNvPr>
          <p:cNvSpPr>
            <a:spLocks noGrp="1"/>
          </p:cNvSpPr>
          <p:nvPr/>
        </p:nvSpPr>
        <p:spPr>
          <a:xfrm>
            <a:off x="8991600" y="33528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최신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E669903-88A4-4D6C-9256-92E068878C03}"/>
              </a:ext>
            </a:extLst>
          </p:cNvPr>
          <p:cNvSpPr>
            <a:spLocks noGrp="1"/>
          </p:cNvSpPr>
          <p:nvPr/>
        </p:nvSpPr>
        <p:spPr>
          <a:xfrm>
            <a:off x="8991600" y="394335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마지막 스캔 이후</a:t>
            </a:r>
          </a:p>
          <a:p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새로 추가된 공지</a:t>
            </a:r>
          </a:p>
        </p:txBody>
      </p:sp>
    </p:spTree>
    <p:extLst>
      <p:ext uri="{BB962C8B-B14F-4D97-AF65-F5344CB8AC3E}">
        <p14:creationId xmlns:p14="http://schemas.microsoft.com/office/powerpoint/2010/main" val="1582548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1BDF5A7-F3C7-4E19-8341-FA71685B573A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AI ANALYSIS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59D4DD-303B-4636-9F37-7D729D1E483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URL 분석</a:t>
            </a:r>
            <a:r>
              <a:rPr lang="en-US" sz="2850" b="1">
                <a:solidFill>
                  <a:srgbClr val="101828"/>
                </a:solidFill>
              </a:rPr>
              <a:t> </a:t>
            </a:r>
            <a:r>
              <a:rPr lang="ko-KR" altLang="en-US" sz="2850" b="1">
                <a:solidFill>
                  <a:srgbClr val="101828"/>
                </a:solidFill>
              </a:rPr>
              <a:t>및</a:t>
            </a:r>
            <a:r>
              <a:rPr sz="2850" b="1">
                <a:solidFill>
                  <a:srgbClr val="101828"/>
                </a:solidFill>
              </a:rPr>
              <a:t> 태스크</a:t>
            </a:r>
            <a:r>
              <a:rPr lang="ko-KR" altLang="en-US" sz="2850" b="1">
                <a:solidFill>
                  <a:srgbClr val="101828"/>
                </a:solidFill>
              </a:rPr>
              <a:t>화</a:t>
            </a:r>
            <a:endParaRPr sz="2850" b="1">
              <a:solidFill>
                <a:srgbClr val="10182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3B25AE-9053-45A4-B290-2F556E66546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C5115F-1D0A-4802-9F5E-9669A9C379C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42B75F-177E-45B7-AA5A-7DBD9EC6DCC0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8C8C4F-107B-443D-ABB1-167BCFDC0991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URL / 본문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8F5B3D-60DE-4E29-BA4F-030ABFB1510A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2247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링크만 입력하면 서버가</a:t>
            </a:r>
          </a:p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HTML에서 본문을 추출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B0C60B-DD36-4B2B-A38A-264A0CD69198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2247900" cy="38100"/>
          </a:xfrm>
          <a:prstGeom prst="rect">
            <a:avLst/>
          </a:prstGeom>
          <a:solidFill>
            <a:srgbClr val="256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D8B6D3-85C4-4C75-AA53-2F4FA8F1E2AE}"/>
              </a:ext>
            </a:extLst>
          </p:cNvPr>
          <p:cNvSpPr>
            <a:spLocks noGrp="1"/>
          </p:cNvSpPr>
          <p:nvPr/>
        </p:nvSpPr>
        <p:spPr>
          <a:xfrm>
            <a:off x="3390900" y="19812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754217-6526-419D-AE1C-85AD2A4DDA15}"/>
              </a:ext>
            </a:extLst>
          </p:cNvPr>
          <p:cNvSpPr>
            <a:spLocks noGrp="1"/>
          </p:cNvSpPr>
          <p:nvPr/>
        </p:nvSpPr>
        <p:spPr>
          <a:xfrm>
            <a:off x="3390900" y="24193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구조화 분석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BCAC9F-598B-4D76-9DDA-5FCB4DCE4980}"/>
              </a:ext>
            </a:extLst>
          </p:cNvPr>
          <p:cNvSpPr>
            <a:spLocks noGrp="1"/>
          </p:cNvSpPr>
          <p:nvPr/>
        </p:nvSpPr>
        <p:spPr>
          <a:xfrm>
            <a:off x="3390900" y="3009900"/>
            <a:ext cx="2247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공고명·기관·마감일·</a:t>
            </a:r>
          </a:p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자격·서류·혜택 추출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A52C04-CC3C-4048-999D-C55A85D887D8}"/>
              </a:ext>
            </a:extLst>
          </p:cNvPr>
          <p:cNvSpPr>
            <a:spLocks noGrp="1"/>
          </p:cNvSpPr>
          <p:nvPr/>
        </p:nvSpPr>
        <p:spPr>
          <a:xfrm>
            <a:off x="3390900" y="4019550"/>
            <a:ext cx="2247900" cy="381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647A4C-B727-4951-879D-24AA91747047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AB62123-116E-4E04-BF87-446BD8E47AC2}"/>
              </a:ext>
            </a:extLst>
          </p:cNvPr>
          <p:cNvSpPr>
            <a:spLocks noGrp="1"/>
          </p:cNvSpPr>
          <p:nvPr/>
        </p:nvSpPr>
        <p:spPr>
          <a:xfrm>
            <a:off x="6096000" y="24193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맞춤 판단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C51B30-BA12-4D1C-9DD1-9CAB5B01C441}"/>
              </a:ext>
            </a:extLst>
          </p:cNvPr>
          <p:cNvSpPr>
            <a:spLocks noGrp="1"/>
          </p:cNvSpPr>
          <p:nvPr/>
        </p:nvSpPr>
        <p:spPr>
          <a:xfrm>
            <a:off x="6096000" y="3009900"/>
            <a:ext cx="2247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프로필과 비교해</a:t>
            </a:r>
          </a:p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지원 가능성과 점수 계산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5131958-42CB-4897-9379-505748E6081E}"/>
              </a:ext>
            </a:extLst>
          </p:cNvPr>
          <p:cNvSpPr>
            <a:spLocks noGrp="1"/>
          </p:cNvSpPr>
          <p:nvPr/>
        </p:nvSpPr>
        <p:spPr>
          <a:xfrm>
            <a:off x="6096000" y="4019550"/>
            <a:ext cx="2247900" cy="38100"/>
          </a:xfrm>
          <a:prstGeom prst="rect">
            <a:avLst/>
          </a:prstGeom>
          <a:solidFill>
            <a:srgbClr val="256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288A320-D204-4874-912E-A413623128CF}"/>
              </a:ext>
            </a:extLst>
          </p:cNvPr>
          <p:cNvSpPr>
            <a:spLocks noGrp="1"/>
          </p:cNvSpPr>
          <p:nvPr/>
        </p:nvSpPr>
        <p:spPr>
          <a:xfrm>
            <a:off x="8801100" y="19812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F6BA27C-EB3F-4A30-A158-1563AACE0917}"/>
              </a:ext>
            </a:extLst>
          </p:cNvPr>
          <p:cNvSpPr>
            <a:spLocks noGrp="1"/>
          </p:cNvSpPr>
          <p:nvPr/>
        </p:nvSpPr>
        <p:spPr>
          <a:xfrm>
            <a:off x="8801100" y="24193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태스크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F8D9C27-298E-4483-906C-79F6E35E2486}"/>
              </a:ext>
            </a:extLst>
          </p:cNvPr>
          <p:cNvSpPr>
            <a:spLocks noGrp="1"/>
          </p:cNvSpPr>
          <p:nvPr/>
        </p:nvSpPr>
        <p:spPr>
          <a:xfrm>
            <a:off x="8801100" y="3009900"/>
            <a:ext cx="2247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D-10·D-7·D-3·D-1</a:t>
            </a:r>
          </a:p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준비 일정 생성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058C8E-BFF9-492D-9D24-89051376E2E5}"/>
              </a:ext>
            </a:extLst>
          </p:cNvPr>
          <p:cNvSpPr>
            <a:spLocks noGrp="1"/>
          </p:cNvSpPr>
          <p:nvPr/>
        </p:nvSpPr>
        <p:spPr>
          <a:xfrm>
            <a:off x="8801100" y="4019550"/>
            <a:ext cx="2247900" cy="381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DF4EBFF-CB63-40E7-BA07-4080FE591906}"/>
              </a:ext>
            </a:extLst>
          </p:cNvPr>
          <p:cNvSpPr>
            <a:spLocks noGrp="1"/>
          </p:cNvSpPr>
          <p:nvPr/>
        </p:nvSpPr>
        <p:spPr>
          <a:xfrm>
            <a:off x="3048000" y="48577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opportunity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40BC5AE-53A7-4C9B-B1A9-D68D1FFAA36B}"/>
              </a:ext>
            </a:extLst>
          </p:cNvPr>
          <p:cNvSpPr>
            <a:spLocks noGrp="1"/>
          </p:cNvSpPr>
          <p:nvPr/>
        </p:nvSpPr>
        <p:spPr>
          <a:xfrm>
            <a:off x="4972050" y="48577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65E68B1-56B8-49B7-9C8E-CF9F442394B1}"/>
              </a:ext>
            </a:extLst>
          </p:cNvPr>
          <p:cNvSpPr>
            <a:spLocks noGrp="1"/>
          </p:cNvSpPr>
          <p:nvPr/>
        </p:nvSpPr>
        <p:spPr>
          <a:xfrm>
            <a:off x="6610350" y="48577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tasks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D4EBDD1-FDFC-4E51-BDA7-465A702E6665}"/>
              </a:ext>
            </a:extLst>
          </p:cNvPr>
          <p:cNvSpPr>
            <a:spLocks noGrp="1"/>
          </p:cNvSpPr>
          <p:nvPr/>
        </p:nvSpPr>
        <p:spPr>
          <a:xfrm>
            <a:off x="8248650" y="48577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</a:t>
            </a:r>
          </a:p>
        </p:txBody>
      </p:sp>
    </p:spTree>
    <p:extLst>
      <p:ext uri="{BB962C8B-B14F-4D97-AF65-F5344CB8AC3E}">
        <p14:creationId xmlns:p14="http://schemas.microsoft.com/office/powerpoint/2010/main" val="124739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A8B820-6043-46CE-B8D0-E5E4E28A5D7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RELIABILITY &amp; SECURITY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CE4246-D2A4-4B8D-A848-91AC5DC2542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01828"/>
                </a:solidFill>
              </a:defRPr>
            </a:pPr>
            <a:r>
              <a:rPr lang="ko-KR" altLang="en-US" sz="2850" b="1">
                <a:solidFill>
                  <a:srgbClr val="101828"/>
                </a:solidFill>
              </a:rPr>
              <a:t>오류</a:t>
            </a:r>
            <a:r>
              <a:rPr lang="en-US" altLang="ko-KR" sz="2850" b="1">
                <a:solidFill>
                  <a:srgbClr val="101828"/>
                </a:solidFill>
              </a:rPr>
              <a:t>/</a:t>
            </a:r>
            <a:r>
              <a:rPr lang="ko-KR" altLang="en-US" sz="2850" b="1">
                <a:solidFill>
                  <a:srgbClr val="101828"/>
                </a:solidFill>
              </a:rPr>
              <a:t>보안 대책</a:t>
            </a:r>
            <a:endParaRPr sz="2850" b="1">
              <a:solidFill>
                <a:srgbClr val="10182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917308-BCE6-4BE8-826F-1748B323A41C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315882-B9DE-49E5-AB11-7541CC5BB92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EFB432-75A0-4695-BD41-E532FFAD014F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76200" cy="666750"/>
          </a:xfrm>
          <a:prstGeom prst="rect">
            <a:avLst/>
          </a:prstGeom>
          <a:solidFill>
            <a:srgbClr val="256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9441C1-51B8-4BCA-9938-F9CB0FC17545}"/>
              </a:ext>
            </a:extLst>
          </p:cNvPr>
          <p:cNvSpPr>
            <a:spLocks noGrp="1"/>
          </p:cNvSpPr>
          <p:nvPr/>
        </p:nvSpPr>
        <p:spPr>
          <a:xfrm>
            <a:off x="1009650" y="1962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API 키 격리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57772F-9B65-4547-882B-BE3A0EB451B9}"/>
              </a:ext>
            </a:extLst>
          </p:cNvPr>
          <p:cNvSpPr>
            <a:spLocks noGrp="1"/>
          </p:cNvSpPr>
          <p:nvPr/>
        </p:nvSpPr>
        <p:spPr>
          <a:xfrm>
            <a:off x="3714750" y="1990725"/>
            <a:ext cx="742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키는 .env와 Express 서버에서만 사용하고 프론트엔드에는 전달하지 않음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252F54-F180-49E3-86AC-889C68B42B42}"/>
              </a:ext>
            </a:extLst>
          </p:cNvPr>
          <p:cNvSpPr>
            <a:spLocks noGrp="1"/>
          </p:cNvSpPr>
          <p:nvPr/>
        </p:nvSpPr>
        <p:spPr>
          <a:xfrm>
            <a:off x="1009650" y="2743200"/>
            <a:ext cx="101346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02E3EE-A1E5-47FA-AAF4-4BADF7E4F455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76200" cy="666750"/>
          </a:xfrm>
          <a:prstGeom prst="rect">
            <a:avLst/>
          </a:prstGeom>
          <a:solidFill>
            <a:srgbClr val="EF444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D2AF8D-B018-4BAF-A4A2-84087C1C57EC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공개 URL만 허용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EED0B1-D13A-4B80-9787-B45FB92F2A36}"/>
              </a:ext>
            </a:extLst>
          </p:cNvPr>
          <p:cNvSpPr>
            <a:spLocks noGrp="1"/>
          </p:cNvSpPr>
          <p:nvPr/>
        </p:nvSpPr>
        <p:spPr>
          <a:xfrm>
            <a:off x="3714750" y="2943225"/>
            <a:ext cx="742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localhost·사설 IP·메타데이터 주소를 차단하고 리다이렉트마다 재검증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4144CA-8F24-44C0-B1C5-86818741337C}"/>
              </a:ext>
            </a:extLst>
          </p:cNvPr>
          <p:cNvSpPr>
            <a:spLocks noGrp="1"/>
          </p:cNvSpPr>
          <p:nvPr/>
        </p:nvSpPr>
        <p:spPr>
          <a:xfrm>
            <a:off x="1009650" y="3695700"/>
            <a:ext cx="101346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2923B8-7918-4EC0-98C2-9B64321C451B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76200" cy="6667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7FC7A4-246F-4892-B609-CC64B92D1491}"/>
              </a:ext>
            </a:extLst>
          </p:cNvPr>
          <p:cNvSpPr>
            <a:spLocks noGrp="1"/>
          </p:cNvSpPr>
          <p:nvPr/>
        </p:nvSpPr>
        <p:spPr>
          <a:xfrm>
            <a:off x="1009650" y="3867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가져오기 제한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88B48E4-2C82-4A46-8347-CE0A718E2770}"/>
              </a:ext>
            </a:extLst>
          </p:cNvPr>
          <p:cNvSpPr>
            <a:spLocks noGrp="1"/>
          </p:cNvSpPr>
          <p:nvPr/>
        </p:nvSpPr>
        <p:spPr>
          <a:xfrm>
            <a:off x="3714750" y="3895725"/>
            <a:ext cx="742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15초 타임아웃·최대 5회 리다이렉트·HTML 5MB 제한 적용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26B17D-C7AA-435B-AB64-417B2666E73F}"/>
              </a:ext>
            </a:extLst>
          </p:cNvPr>
          <p:cNvSpPr>
            <a:spLocks noGrp="1"/>
          </p:cNvSpPr>
          <p:nvPr/>
        </p:nvSpPr>
        <p:spPr>
          <a:xfrm>
            <a:off x="1009650" y="4648200"/>
            <a:ext cx="101346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C7C238-3FD2-47EB-B19A-1A4B53B209D0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76200" cy="6667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4D0178E-8E2D-49B5-9141-9740831C8510}"/>
              </a:ext>
            </a:extLst>
          </p:cNvPr>
          <p:cNvSpPr>
            <a:spLocks noGrp="1"/>
          </p:cNvSpPr>
          <p:nvPr/>
        </p:nvSpPr>
        <p:spPr>
          <a:xfrm>
            <a:off x="1009650" y="48196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AI 실패 복구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FAFF06-7384-4474-89DB-B5407DB701B1}"/>
              </a:ext>
            </a:extLst>
          </p:cNvPr>
          <p:cNvSpPr>
            <a:spLocks noGrp="1"/>
          </p:cNvSpPr>
          <p:nvPr/>
        </p:nvSpPr>
        <p:spPr>
          <a:xfrm>
            <a:off x="3714750" y="4848225"/>
            <a:ext cx="742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인증·할당량·속도 제한 오류가 나도 mock 결과와 친절한 안내로 복구</a:t>
            </a:r>
          </a:p>
        </p:txBody>
      </p:sp>
    </p:spTree>
    <p:extLst>
      <p:ext uri="{BB962C8B-B14F-4D97-AF65-F5344CB8AC3E}">
        <p14:creationId xmlns:p14="http://schemas.microsoft.com/office/powerpoint/2010/main" val="63241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BE20D0-4E11-414E-B83B-01C54F44F43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NEXT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B32851D-5844-4C05-A343-2D38474887B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101828"/>
                </a:solidFill>
              </a:defRPr>
            </a:pPr>
            <a:r>
              <a:rPr lang="ko-KR" altLang="en-US" sz="3450" b="1">
                <a:solidFill>
                  <a:srgbClr val="101828"/>
                </a:solidFill>
              </a:rPr>
              <a:t>현재 기능과 추후 계획</a:t>
            </a:r>
            <a:endParaRPr sz="3450" b="1">
              <a:solidFill>
                <a:srgbClr val="10182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D81408-6847-4E19-B00F-8ED1F0057E51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721BCD-D6AD-40EB-B4AE-844A0FBA4DDF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FF"/>
                </a:solidFill>
              </a:defRPr>
            </a:pPr>
            <a:r>
              <a:rPr sz="1800" b="1">
                <a:solidFill>
                  <a:srgbClr val="2563FF"/>
                </a:solidFill>
              </a:rPr>
              <a:t>지금 가능한 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9CDA51-ABD6-4E2E-BF19-DB40DB5CAB99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4476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사용자 출처 등록과 일괄 스캔</a:t>
            </a:r>
          </a:p>
          <a:p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전체 / 최신 공지 비교</a:t>
            </a:r>
          </a:p>
          <a:p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URL 기반 AI 분석과 mock 복구</a:t>
            </a:r>
          </a:p>
          <a:p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저장 기록과 준비 태스크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D0B2BAB-0E2C-4712-93DC-3522F032684D}"/>
              </a:ext>
            </a:extLst>
          </p:cNvPr>
          <p:cNvSpPr>
            <a:spLocks noGrp="1"/>
          </p:cNvSpPr>
          <p:nvPr/>
        </p:nvSpPr>
        <p:spPr>
          <a:xfrm>
            <a:off x="5772150" y="2895600"/>
            <a:ext cx="19050" cy="2343150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FC0C47-A8EA-4F27-97C4-42819F257786}"/>
              </a:ext>
            </a:extLst>
          </p:cNvPr>
          <p:cNvSpPr>
            <a:spLocks noGrp="1"/>
          </p:cNvSpPr>
          <p:nvPr/>
        </p:nvSpPr>
        <p:spPr>
          <a:xfrm>
            <a:off x="6305550" y="28956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다음 개발 우선순위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DBCEEF-F69A-4E19-8FCA-2A222CC2B679}"/>
              </a:ext>
            </a:extLst>
          </p:cNvPr>
          <p:cNvSpPr>
            <a:spLocks noGrp="1"/>
          </p:cNvSpPr>
          <p:nvPr/>
        </p:nvSpPr>
        <p:spPr>
          <a:xfrm>
            <a:off x="6305550" y="3448050"/>
            <a:ext cx="4572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1. 동적 사이트와 첨부파일 본문 처리</a:t>
            </a:r>
          </a:p>
          <a:p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2. 사이트별 파서와 자동 수집 스케줄</a:t>
            </a:r>
          </a:p>
          <a:p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3. 사용자 계정·DB·알림 연결</a:t>
            </a:r>
          </a:p>
          <a:p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4. 실제 공고 기반 정확도 평가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16113DC-7EC3-44EC-B951-1753B16A65EE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820400" cy="609600"/>
          </a:xfrm>
          <a:prstGeom prst="roundRect">
            <a:avLst>
              <a:gd name="adj" fmla="val 12500"/>
            </a:avLst>
          </a:prstGeom>
          <a:solidFill>
            <a:srgbClr val="256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DEAA77-3087-43BD-9F7A-EBBA451EBC17}"/>
              </a:ext>
            </a:extLst>
          </p:cNvPr>
          <p:cNvSpPr>
            <a:spLocks noGrp="1"/>
          </p:cNvSpPr>
          <p:nvPr/>
        </p:nvSpPr>
        <p:spPr>
          <a:xfrm>
            <a:off x="1066800" y="5724525"/>
            <a:ext cx="1005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UniRadar는 ‘찾기’에서 끝나지 않고 ‘지원 준비’까지 이어지는 에이전트입니다.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8B49C6F-6921-4453-BA26-F84123FE9355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0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441</Words>
  <Application>Microsoft Office PowerPoint</Application>
  <DocSecurity>0</DocSecurity>
  <PresentationFormat>와이드스크린</PresentationFormat>
  <Paragraphs>126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박건태</cp:lastModifiedBy>
  <cp:revision>2</cp:revision>
  <dcterms:created xsi:type="dcterms:W3CDTF">2026-07-10T01:09:48Z</dcterms:created>
  <dcterms:modified xsi:type="dcterms:W3CDTF">2026-07-10T03:36:32Z</dcterms:modified>
</cp:coreProperties>
</file>