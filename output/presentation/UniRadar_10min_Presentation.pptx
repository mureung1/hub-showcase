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1f4b6c3d33464b" /><Relationship Type="http://schemas.openxmlformats.org/officeDocument/2006/relationships/extended-properties" Target="/docProps/app.xml" Id="Reba7fe1901214d57" /><Relationship Type="http://schemas.openxmlformats.org/officeDocument/2006/relationships/officeDocument" Target="/ppt/presentation.xml" Id="R85ba788e2036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77ffb3646747a9"/>
  </p:sldMasterIdLst>
  <p:notesMasterIdLst>
    <p:notesMasterId xmlns:r="http://schemas.openxmlformats.org/officeDocument/2006/relationships" r:id="Rb5f0e458e37244f1"/>
  </p:notesMasterIdLst>
  <p:sldIdLst>
    <p:sldId xmlns:r="http://schemas.openxmlformats.org/officeDocument/2006/relationships" id="256" r:id="Re5b880e7f4804310"/>
    <p:sldId xmlns:r="http://schemas.openxmlformats.org/officeDocument/2006/relationships" id="257" r:id="R30b4cb34aa6d447e"/>
    <p:sldId xmlns:r="http://schemas.openxmlformats.org/officeDocument/2006/relationships" id="258" r:id="R981639b7f0f6464b"/>
    <p:sldId xmlns:r="http://schemas.openxmlformats.org/officeDocument/2006/relationships" id="259" r:id="Rdaa884e2b1904fbc"/>
    <p:sldId xmlns:r="http://schemas.openxmlformats.org/officeDocument/2006/relationships" id="260" r:id="Rfb1eda6e26404ff8"/>
    <p:sldId xmlns:r="http://schemas.openxmlformats.org/officeDocument/2006/relationships" id="261" r:id="R3a14f480c96c40c4"/>
    <p:sldId xmlns:r="http://schemas.openxmlformats.org/officeDocument/2006/relationships" id="262" r:id="R434ea761a79a4de2"/>
    <p:sldId xmlns:r="http://schemas.openxmlformats.org/officeDocument/2006/relationships" id="263" r:id="R565031f4042a4fd0"/>
    <p:sldId xmlns:r="http://schemas.openxmlformats.org/officeDocument/2006/relationships" id="264" r:id="R06614960889b4e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8a3ea7e4bf4d9c" /><Relationship Type="http://schemas.openxmlformats.org/officeDocument/2006/relationships/slideMaster" Target="/ppt/slideMasters/slideMaster1.xml" Id="R0177ffb3646747a9" /><Relationship Type="http://schemas.openxmlformats.org/officeDocument/2006/relationships/notesMaster" Target="/ppt/notesMasters/notesMaster1.xml" Id="Rb5f0e458e37244f1" /><Relationship Type="http://schemas.openxmlformats.org/officeDocument/2006/relationships/presProps" Target="/ppt/presProps.xml" Id="R9a242c7c454a45db" /><Relationship Type="http://schemas.openxmlformats.org/officeDocument/2006/relationships/tableStyles" Target="/ppt/tableStyles.xml" Id="Rfdac63e7a83d4364" /><Relationship Type="http://schemas.openxmlformats.org/officeDocument/2006/relationships/slide" Target="/ppt/slides/slide1.xml" Id="Re5b880e7f4804310" /><Relationship Type="http://schemas.openxmlformats.org/officeDocument/2006/relationships/slide" Target="/ppt/slides/slide2.xml" Id="R30b4cb34aa6d447e" /><Relationship Type="http://schemas.openxmlformats.org/officeDocument/2006/relationships/slide" Target="/ppt/slides/slide3.xml" Id="R981639b7f0f6464b" /><Relationship Type="http://schemas.openxmlformats.org/officeDocument/2006/relationships/slide" Target="/ppt/slides/slide4.xml" Id="Rdaa884e2b1904fbc" /><Relationship Type="http://schemas.openxmlformats.org/officeDocument/2006/relationships/slide" Target="/ppt/slides/slide5.xml" Id="Rfb1eda6e26404ff8" /><Relationship Type="http://schemas.openxmlformats.org/officeDocument/2006/relationships/slide" Target="/ppt/slides/slide6.xml" Id="R3a14f480c96c40c4" /><Relationship Type="http://schemas.openxmlformats.org/officeDocument/2006/relationships/slide" Target="/ppt/slides/slide7.xml" Id="R434ea761a79a4de2" /><Relationship Type="http://schemas.openxmlformats.org/officeDocument/2006/relationships/slide" Target="/ppt/slides/slide8.xml" Id="R565031f4042a4fd0" /><Relationship Type="http://schemas.openxmlformats.org/officeDocument/2006/relationships/slide" Target="/ppt/slides/slide9.xml" Id="R06614960889b4e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c0874a270341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eb9133acd41e3" /><Relationship Type="http://schemas.openxmlformats.org/officeDocument/2006/relationships/notesMaster" Target="/ppt/notesMasters/notesMaster1.xml" Id="R8a5e5369fc0d45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a72ca4cb1d42bb" /><Relationship Type="http://schemas.openxmlformats.org/officeDocument/2006/relationships/notesMaster" Target="/ppt/notesMasters/notesMaster1.xml" Id="R7890b38b7a9f4a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3eddf6e1a64220" /><Relationship Type="http://schemas.openxmlformats.org/officeDocument/2006/relationships/notesMaster" Target="/ppt/notesMasters/notesMaster1.xml" Id="R6d36c9e0a429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8f00813fdf4c8e" /><Relationship Type="http://schemas.openxmlformats.org/officeDocument/2006/relationships/notesMaster" Target="/ppt/notesMasters/notesMaster1.xml" Id="R10c51d351e5844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dd72cb2ac46a9" /><Relationship Type="http://schemas.openxmlformats.org/officeDocument/2006/relationships/notesMaster" Target="/ppt/notesMasters/notesMaster1.xml" Id="R091dba968bf246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0207d0fac44d09" /><Relationship Type="http://schemas.openxmlformats.org/officeDocument/2006/relationships/notesMaster" Target="/ppt/notesMasters/notesMaster1.xml" Id="R0ecafec05e2f47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324111c83341fd" /><Relationship Type="http://schemas.openxmlformats.org/officeDocument/2006/relationships/notesMaster" Target="/ppt/notesMasters/notesMaster1.xml" Id="R62fdc92573c2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e78bbd3b014968" /><Relationship Type="http://schemas.openxmlformats.org/officeDocument/2006/relationships/notesMaster" Target="/ppt/notesMasters/notesMaster1.xml" Id="Rba65123b311644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d869f96f8c4dd0" /><Relationship Type="http://schemas.openxmlformats.org/officeDocument/2006/relationships/notesMaster" Target="/ppt/notesMasters/notesMaster1.xml" Id="Rbcd745a9a434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6bdcbc26849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001afb7ff24961" /><Relationship Type="http://schemas.openxmlformats.org/officeDocument/2006/relationships/slideLayout" Target="/ppt/slideLayouts/slideLayout1.xml" Id="Rfe5a89fc51124f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5a89fc5112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4df3d7acb4033" /><Relationship Type="http://schemas.openxmlformats.org/officeDocument/2006/relationships/notesSlide" Target="/ppt/notesSlides/notesSlide1.xml" Id="Rdb6db65576f04a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e2f3b1a714705" /><Relationship Type="http://schemas.openxmlformats.org/officeDocument/2006/relationships/notesSlide" Target="/ppt/notesSlides/notesSlide2.xml" Id="R2488f2080895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487684b0b4c3f" /><Relationship Type="http://schemas.openxmlformats.org/officeDocument/2006/relationships/notesSlide" Target="/ppt/notesSlides/notesSlide3.xml" Id="R3b4e8a9deedf4d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bee60f67e4bb4" /><Relationship Type="http://schemas.openxmlformats.org/officeDocument/2006/relationships/image" Target="/ppt/media/image.png" Id="R7f8a957eaccf4de5" /><Relationship Type="http://schemas.openxmlformats.org/officeDocument/2006/relationships/notesSlide" Target="/ppt/notesSlides/notesSlide4.xml" Id="R13eea35e36c342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4d795899d4c0b" /><Relationship Type="http://schemas.openxmlformats.org/officeDocument/2006/relationships/notesSlide" Target="/ppt/notesSlides/notesSlide5.xml" Id="Ra534afcc0f214c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5492bccb542c3" /><Relationship Type="http://schemas.openxmlformats.org/officeDocument/2006/relationships/notesSlide" Target="/ppt/notesSlides/notesSlide6.xml" Id="R8af4c93b39b449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7d5040eb64ad6" /><Relationship Type="http://schemas.openxmlformats.org/officeDocument/2006/relationships/notesSlide" Target="/ppt/notesSlides/notesSlide7.xml" Id="Rf5d22809819d43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243a9f85e4ed6" /><Relationship Type="http://schemas.openxmlformats.org/officeDocument/2006/relationships/notesSlide" Target="/ppt/notesSlides/notesSlide8.xml" Id="R790ca0098aeb41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2bb679c2a4ed2" /><Relationship Type="http://schemas.openxmlformats.org/officeDocument/2006/relationships/notesSlide" Target="/ppt/notesSlides/notesSlide9.xml" Id="R814aae21f9ba4f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E99482-03BF-4C83-8DA4-CDBC1555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4532F-101A-4443-B50A-A4E79128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UniRadar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07376-9723-4F57-B0D6-F205C2C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E8FF"/>
                </a:solidFill>
              </a:defRPr>
            </a:pPr>
            <a:r>
              <a:rPr sz="1800" b="1">
                <a:solidFill>
                  <a:srgbClr val="DCE8FF"/>
                </a:solidFill>
              </a:rPr>
              <a:t>대학생 맞춤형 기회 탐색 에이전트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1A55B-BF22-4694-AE31-94F81878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F5B41-CD6F-4DF3-A2EE-A5AACD55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F1FF"/>
                </a:solidFill>
              </a:defRPr>
            </a:pPr>
            <a:r>
              <a:rPr sz="1350" b="0">
                <a:solidFill>
                  <a:srgbClr val="EAF1FF"/>
                </a:solidFill>
              </a:rPr>
              <a:t>공고를 찾고, 비교하고, 준비하는 흐름을 하나로 연결했습니다.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98D80-857A-448B-9D7A-78D46C4A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123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10분 프로젝트 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A9268-95E8-4784-B0C4-8A92FFC5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흩어진 대학생 공고를</a:t>
            </a:r>
          </a:p>
          <a:p xmlns:a="http://schemas.openxmlformats.org/drawingml/2006/main">
            <a:pPr algn="l">
              <a:defRPr sz="3600" b="1">
                <a:solidFill>
                  <a:srgbClr val="101828"/>
                </a:solidFill>
              </a:defRPr>
            </a:pPr>
            <a:r>
              <a:rPr sz="3600" b="1">
                <a:solidFill>
                  <a:srgbClr val="101828"/>
                </a:solidFill>
              </a:rPr>
              <a:t>실행 가능한 일정으로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A78BF-3F0A-440E-9A11-E1B15E45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React + Vite · Express · Gemini / Mock · localStorage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E9CC8-BAE6-4DFA-AB34-B02A0857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390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7C1A7-D506-46D7-80AA-4D883F07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96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작동하는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35731-B375-409C-99ED-E8F2E6B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33F"/>
                </a:solidFill>
              </a:defRPr>
            </a:pPr>
            <a:r>
              <a:rPr sz="1500" b="1">
                <a:solidFill>
                  <a:srgbClr val="12233F"/>
                </a:solidFill>
              </a:rPr>
              <a:t>링크 스캔 · 최신 공지 비교 · AI 분석 · 태스크 생성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521D1-6375-4BA2-BDD3-BF84D8C1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15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4A3B8"/>
                </a:solidFill>
              </a:defRPr>
            </a:pPr>
            <a:r>
              <a:rPr sz="1050" b="0">
                <a:solidFill>
                  <a:srgbClr val="94A3B8"/>
                </a:solidFill>
              </a:rPr>
              <a:t>2026.07.10</a:t>
            </a:r>
          </a:p>
        </p:txBody>
      </p:sp>
    </p:spTree>
    <p:extLst>
      <p:ext uri="{BB962C8B-B14F-4D97-AF65-F5344CB8AC3E}">
        <p14:creationId xmlns:p14="http://schemas.microsoft.com/office/powerpoint/2010/main" val="807881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F413C2-B3D0-4C8E-B611-1BBCBD9D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50BA4-606B-4972-AD2F-4EDFECC1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학생에게 필요한 것은 공고 목록이 아니라 판단과 준비다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BBB34-3B1E-4BEB-A04B-E893BFB1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B9A1-0C2A-4148-9AF3-7371B441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2F95D-4F7C-4BE8-9E02-41C204CB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0C8EC-12B5-4DBF-9E63-8395360C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DD21A-9A40-46D8-997C-ECDA0569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C470B-211C-41E5-A02B-5185EB1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학교·기관마다 흩어진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공지 페이지를 반복 방문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32CFF-B96D-443C-A7C0-3FB65375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F7AA-3BA9-4ECC-94E6-C0BFF874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222CA-6774-42B7-AB67-797A9C08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46337-C8B1-4A95-A184-36E088B4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긴 본문에서 지원 자격과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우대 조건을 직접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37E4F-85C5-4152-A0D1-F8BC2FAA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DBE20-4DEF-403C-ACE5-51F8E8A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08298-8A62-4822-A324-94483F6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기억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3EE12-FC8A-4A7A-AFB4-9539DB0B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새 글인지 이전에 본 글인지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사용자가 스스로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25D5E-7E2A-4CF0-91D0-FCB1422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95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83C3F-F176-4AE0-8E55-73314AB3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FF"/>
                </a:solidFill>
              </a:defRPr>
            </a:pPr>
            <a:r>
              <a:rPr sz="3150" b="1">
                <a:solidFill>
                  <a:srgbClr val="2563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4EA2A-1DEB-45A5-AB4F-C890645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</a:defRPr>
            </a:pPr>
            <a:r>
              <a:rPr sz="1950" b="1">
                <a:solidFill>
                  <a:srgbClr val="101828"/>
                </a:solidFill>
              </a:rPr>
              <a:t>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6306B-136C-41F1-BD7C-B9A9EE7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마감일과 제출 서류를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별도 일정으로 다시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C836B-7513-47B8-BF6C-1EC8945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C97D0-4E11-4D78-B6C1-C89A449A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UniRadar가 줄이는 비용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78EDF-3851-48A2-845E-BA25DFF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반복 탐색 → 새 공지 확인 → 조건 요약 → 준비 태스크</a:t>
            </a:r>
          </a:p>
        </p:txBody>
      </p:sp>
    </p:spTree>
    <p:extLst>
      <p:ext uri="{BB962C8B-B14F-4D97-AF65-F5344CB8AC3E}">
        <p14:creationId xmlns:p14="http://schemas.microsoft.com/office/powerpoint/2010/main" val="732629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21DC2-C4DA-4770-824A-2FEA30D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USER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8EA35-FEAE-4E5C-B842-216F099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사용자는 링크를 등록한 뒤 새 공지만 골라 준비한다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C7C88-14AA-43CC-BDA1-9BE520DA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86155-95B7-47F0-8F57-CF1A9B5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F497-F53C-4B1B-AE6B-0391FDD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79922-7AEC-41DC-B325-41CB7EAB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B4C9-FC1E-433A-B502-BCA728E4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8DF65-D548-4D52-8460-6944F274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출처 등록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25B8B-C14B-496E-9103-18421F7B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출처 이름과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공지 목록 URL 저장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BF7F2-2165-42B7-AEF2-207282AA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E4EBB-8359-49FB-9CD7-820FF378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9E27A-DEFD-4A09-B567-C1788917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일괄 스캔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328CE-79BF-4F00-81B5-0487D186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저장된 여러 출처를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한 번에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6A398-176B-4808-A275-FBD9A991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AB53A-1FB2-482D-8CD2-ABE4B05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BBC75-7C2B-4AD3-AB72-13D71796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새 글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563A2-283C-4E3D-A928-9F68AE97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전체 모드와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마지막 스캔 이후 모드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31B39-946D-47B6-941B-534E1036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9D8A"/>
                </a:solidFill>
              </a:defRPr>
            </a:pPr>
            <a:r>
              <a:rPr sz="1350" b="1">
                <a:solidFill>
                  <a:srgbClr val="0F9D8A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3A941-BA51-43C7-B1E8-AD21B73F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447770-16C3-44ED-9F74-694AFDEC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4165E-1597-43D1-AB75-6390F44C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URL 또는 본문으로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지원 조건 구조화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7FF6F-5A43-40FF-A101-CF29DEC4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90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E2CF39-57FE-4AA7-8A08-6CE06632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622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1C34CD-4482-43C3-A099-3B0ACDA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준비 관리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AF728-73C1-48C3-9441-2AB59A10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575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저장과 마감 태스크로</a:t>
            </a:r>
          </a:p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다음 행동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73B9F-2359-4E15-A5B4-827DDAAE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</a:defRPr>
            </a:pPr>
            <a:r>
              <a:rPr sz="1500" b="1">
                <a:solidFill>
                  <a:srgbClr val="101828"/>
                </a:solidFill>
              </a:rPr>
              <a:t>저장된 스캔 기준은 localStorage에 남아 새로고침 후에도 이어집니다.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721E2-789A-4430-ACBA-C531484C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191125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D4362-CFD3-446C-92E9-E46279C6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38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FF"/>
                </a:solidFill>
              </a:defRPr>
            </a:pPr>
            <a:r>
              <a:rPr sz="1125" b="1">
                <a:solidFill>
                  <a:srgbClr val="2563FF"/>
                </a:solidFill>
              </a:rPr>
              <a:t>전체 / 최신</a:t>
            </a:r>
          </a:p>
        </p:txBody>
      </p:sp>
    </p:spTree>
    <p:extLst>
      <p:ext uri="{BB962C8B-B14F-4D97-AF65-F5344CB8AC3E}">
        <p14:creationId xmlns:p14="http://schemas.microsoft.com/office/powerpoint/2010/main" val="1422570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DB1B20-8088-497D-B614-A95F12A6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D6FE3-1688-47CA-B5B3-5825E0A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대시보드 한 화면에 탐색·분석·마감 관리를 모았다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9FA8A-41A6-4A4A-8158-F6F94CBD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6F7F9-376D-45AA-BBFF-B7D088CB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97A06-1285-4683-A92D-35E1AFA8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E647D-F608-4BA6-8C06-C3F022A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UI 기준안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07C45-1750-403F-BCEA-49B895A7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화면에서 바로</a:t>
            </a:r>
          </a:p>
          <a:p xmlns:a="http://schemas.openxmlformats.org/drawingml/2006/main">
            <a:pPr algn="l">
              <a:defRPr sz="2250" b="1">
                <a:solidFill>
                  <a:srgbClr val="101828"/>
                </a:solidFill>
              </a:defRPr>
            </a:pPr>
            <a:r>
              <a:rPr sz="2250" b="1">
                <a:solidFill>
                  <a:srgbClr val="101828"/>
                </a:solidFill>
              </a:rPr>
              <a:t>다음 행동을 찾는다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4F7C5-B20A-4C7E-B01F-0C71FA8C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FF"/>
                </a:solidFill>
              </a:defRPr>
            </a:pPr>
            <a:r>
              <a:rPr sz="1350" b="1">
                <a:solidFill>
                  <a:srgbClr val="2563FF"/>
                </a:solidFill>
              </a:rPr>
              <a:t>추천 현황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9085D-FBC6-48BE-97B0-DEF384A2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분석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A8132C-EAA6-4EA8-80A5-1697D479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마감 태스크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42388-4343-4A8E-A9BA-5C0B474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저장 공고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3E1AF-F771-4299-8193-FDE72E12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현재 구현은 이 구조를 바탕으로 스캔과 AI 분석 기능을 연결했습니다.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48E8D-8298-4687-9CC0-BBF3568C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9750"/>
            <a:ext cx="76009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a957eaccf4de5"/>
          <a:stretch xmlns:a="http://schemas.openxmlformats.org/drawingml/2006/main"/>
        </p:blipFill>
        <p:spPr>
          <a:xfrm xmlns:a="http://schemas.openxmlformats.org/drawingml/2006/main">
            <a:off x="4270085" y="1924050"/>
            <a:ext cx="6871280" cy="3867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BB1B1-10EF-46BB-96D2-6058D99A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962650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기준 디자인 이미지</a:t>
            </a:r>
          </a:p>
        </p:txBody>
      </p:sp>
    </p:spTree>
    <p:extLst>
      <p:ext uri="{BB962C8B-B14F-4D97-AF65-F5344CB8AC3E}">
        <p14:creationId xmlns:p14="http://schemas.microsoft.com/office/powerpoint/2010/main" val="7714021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22EFE5-265A-4FCF-B06F-6FFD2CF7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153FC-3340-41A1-8256-6DC0C55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프론트와 서버를 분리해 스캔·AI·비밀키 경계를 명확히 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581BE-FFDA-41DF-8537-DC14BF78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5C7AE-99C0-413F-A0D5-D03D93B7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01AA0-F0D7-470F-A928-186D74A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3AC28-ECC2-4E91-A1E0-05B6370B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D671B-6CCF-4876-8815-17FEE4AC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React + 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0A275-225A-4D56-B7A0-0330BC4E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717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사용자 입력 · 스캔 결과 · 분석 결과 · localStorage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0F8A4-A059-4598-9BA1-CC7BB2C3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8001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733C-E6E9-471C-8284-2E21B9CA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33F"/>
                </a:solidFill>
              </a:defRPr>
            </a:pPr>
            <a:r>
              <a:rPr sz="1800" b="1">
                <a:solidFill>
                  <a:srgbClr val="12233F"/>
                </a:solidFill>
              </a:rPr>
              <a:t>Express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DA299-C9FD-402F-9937-8EE2206F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/api/fetch-html · /api/analyze · Zod 입력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E0404-984E-46DE-BFC1-4998A90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8001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6D056-59D8-4A1F-A66E-FCEA990E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서비스 계층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2A870-72EA-48F9-8BCC-D5D22B84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HTML 가져오기/본문 추출 · 링크 정규화 · Gemini/OpenAI/Mock 어댑터 · 태스크 생성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7AEE2-448C-486D-BA14-DC2AEC1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외부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41C2E-478E-477B-8AB3-A0284CE0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ECC98-BF4E-46D0-810B-1588AE7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81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FF"/>
                </a:solidFill>
              </a:defRPr>
            </a:pPr>
            <a:r>
              <a:rPr sz="1500" b="1">
                <a:solidFill>
                  <a:srgbClr val="2563FF"/>
                </a:solidFill>
              </a:rPr>
              <a:t>공지 웹사이트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7D48D-076D-4D5B-8A00-6D02D31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AB101C-AAA8-4C5B-941F-4599A362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Gemini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E74A2C-A553-446D-AE60-B8F22278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62450"/>
            <a:ext cx="2362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944C5-7ADA-4CD2-8EA0-D60DE12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624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Mock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BB637-7BBC-4C05-9BDC-DA65B853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6260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</a:defRPr>
            </a:pPr>
            <a:r>
              <a:rPr sz="1200" b="0">
                <a:solidFill>
                  <a:srgbClr val="667085"/>
                </a:solidFill>
              </a:rPr>
              <a:t>API 키와 실제 AI 호출은 서버 안에서만 처리</a:t>
            </a:r>
          </a:p>
        </p:txBody>
      </p:sp>
    </p:spTree>
    <p:extLst>
      <p:ext uri="{BB962C8B-B14F-4D97-AF65-F5344CB8AC3E}">
        <p14:creationId xmlns:p14="http://schemas.microsoft.com/office/powerpoint/2010/main" val="1379454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CBA71-D7CE-4A55-B572-EC073353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NOTICE SCANNING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123F7-493C-49AB-B4CD-A3537254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사이트가 달라도 링크를 정규화하고 마지막 스캔과 비교한다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EE36-EF38-4DEB-93CF-E6F0906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22AD0-B6EA-4607-A950-7458CCA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1E898-1F26-4755-98CF-21B3129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27AED-82EB-4518-9908-CFC99C3C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000C6-99C2-4E0D-9BAD-71AFD3C3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출처 이름 + 공지 목록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5C0AC-D03D-4D21-BDF2-CB9D601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개별 출처 또는 저장된 출처 전체를 스캔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2753C-DC24-4542-99DA-F8A9B04E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957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F878D-04D5-4820-9821-81122BA5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FF"/>
                </a:solidFill>
              </a:defRPr>
            </a:pPr>
            <a:r>
              <a:rPr sz="1500" b="1">
                <a:solidFill>
                  <a:srgbClr val="2563FF"/>
                </a:solidFill>
              </a:rPr>
              <a:t>정규화 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979D5-6520-4F21-83EF-75106F58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상대 URL → 절대 URL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목록 링크·파일 링크 제외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중복 제거와 게시글 패턴 판별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</a:defRPr>
            </a:pPr>
            <a:r>
              <a:rPr sz="1275" b="0">
                <a:solidFill>
                  <a:srgbClr val="101828"/>
                </a:solidFill>
              </a:rPr>
              <a:t>KNU doRead/doc_no 링크 복원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F8A56-A8F0-4A48-B9D2-6CB9B76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67B16-AFC4-46FE-8021-37BC5540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</a:defRPr>
            </a:pPr>
            <a:r>
              <a:rPr sz="1200" b="1">
                <a:solidFill>
                  <a:srgbClr val="7C3AED"/>
                </a:solidFill>
              </a:rPr>
              <a:t>비교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8ECAA-6548-4262-9054-6002CD8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</a:defRPr>
            </a:pPr>
            <a:r>
              <a:rPr sz="2100" b="1">
                <a:solidFill>
                  <a:srgbClr val="101828"/>
                </a:solidFill>
              </a:rPr>
              <a:t>두 가지 보기 모드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A9752-A94E-4C14-AA15-5033D8CE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74E86-7800-419C-8D5C-39478AD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FF"/>
                </a:solidFill>
              </a:defRPr>
            </a:pPr>
            <a:r>
              <a:rPr sz="2100" b="1">
                <a:solidFill>
                  <a:srgbClr val="2563FF"/>
                </a:solidFill>
              </a:rPr>
              <a:t>전체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63B3E-E3CF-426D-A28F-361DED21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현재 페이지에서 찾은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모든 공지 링크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267B2-7432-4DC5-A498-D3DB78E0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38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BCE25-8BAD-4D16-AEC1-53CA6F7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52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</a:defRPr>
            </a:pPr>
            <a:r>
              <a:rPr sz="2100" b="1">
                <a:solidFill>
                  <a:srgbClr val="7C3AED"/>
                </a:solidFill>
              </a:rPr>
              <a:t>최신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69903-88A4-4D6C-9256-92E06887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마지막 스캔 이후</a:t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</a:defRPr>
            </a:pPr>
            <a:r>
              <a:rPr sz="1350" b="0">
                <a:solidFill>
                  <a:srgbClr val="101828"/>
                </a:solidFill>
              </a:rPr>
              <a:t>새로 추가된 공지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C3C9B-8727-4C91-84ED-90702D9D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81600"/>
            <a:ext cx="506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스캔 스냅샷은 출처별로 저장되어 다음 비교의 기준이 됩니다.</a:t>
            </a:r>
          </a:p>
        </p:txBody>
      </p:sp>
    </p:spTree>
    <p:extLst>
      <p:ext uri="{BB962C8B-B14F-4D97-AF65-F5344CB8AC3E}">
        <p14:creationId xmlns:p14="http://schemas.microsoft.com/office/powerpoint/2010/main" val="1582548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BDF5A7-F3C7-4E19-8341-FA71685B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AI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9D4DD-303B-4636-9F37-7D729D1E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URL 하나가 구조화된 분석 결과와 준비 태스크로 바뀐다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B25AE-9053-45A4-B290-2F556E6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A8515-3F0C-4628-800C-A801D9E6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5115F-1D0A-4802-9F5E-9669A9C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2B75F-177E-45B7-AA5A-7DBD9EC6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C8C4F-107B-443D-ABB1-167BCFDC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URL / 본문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F5B3D-60DE-4E29-BA4F-030ABFB1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링크만 입력하면 서버가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HTML에서 본문을 추출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0C60B-DD36-4B2B-A38A-264A0CD6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8B6D3-85C4-4C75-AA53-2F4FA8F1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54217-6526-419D-AE1C-85AD2A4D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구조화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CAC9F-598B-4D76-9DDA-5FCB4DC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공고명·기관·마감일·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자격·서류·혜택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52C04-CC3C-4048-999D-C55A85D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647A4C-B727-4951-879D-24AA917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62123-116E-4E04-BF87-446BD8E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맞춤 판단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51B30-BA12-4D1C-9DD1-9CAB5B01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프로필과 비교해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지원 가능성과 점수 계산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31958-42CB-4897-9379-505748E6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8A320-D204-4874-912E-A413623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BA27C-EB3F-4A30-A158-1563AAC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</a:defRPr>
            </a:pPr>
            <a:r>
              <a:rPr sz="1875" b="1">
                <a:solidFill>
                  <a:srgbClr val="101828"/>
                </a:solidFill>
              </a:rPr>
              <a:t>태스크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D9C27-298E-4483-906C-79F6E35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247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D-10·D-7·D-3·D-1</a:t>
            </a:r>
          </a:p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준비 일정 생성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58C8E-BFF9-492D-9D24-89051376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19550"/>
            <a:ext cx="224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81887-1A1A-4539-92B4-6FB3A6B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223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46FC10-CCB1-49D0-918C-00D406E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C7FF"/>
                </a:solidFill>
              </a:defRPr>
            </a:pPr>
            <a:r>
              <a:rPr sz="1350" b="1">
                <a:solidFill>
                  <a:srgbClr val="A9C7FF"/>
                </a:solidFill>
              </a:rPr>
              <a:t>고정 JSON 계약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4EBFF-CB63-40E7-BA07-4080FE59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opportunity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BC5AE-53A7-4C9B-B1A9-D68D1FFA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E68B1-56B8-49B7-9C8E-CF9F4423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tasks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4EBDD1-FDFC-4E51-BDA7-465A702E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618A6-DE72-4CA1-88C1-F3391570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5FA"/>
                </a:solidFill>
              </a:defRPr>
            </a:pPr>
            <a:r>
              <a:rPr sz="1200" b="0">
                <a:solidFill>
                  <a:srgbClr val="D9E5FA"/>
                </a:solidFill>
              </a:rPr>
              <a:t>mock · gemini · openai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CA820-5BE1-4635-B6F4-3539F058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29200"/>
            <a:ext cx="19240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BC604-C307-439F-81AE-40665B32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76825"/>
            <a:ext cx="1924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</a:defRPr>
            </a:pPr>
            <a:r>
              <a:rPr sz="1050" b="1">
                <a:solidFill>
                  <a:srgbClr val="16A34A"/>
                </a:solidFill>
              </a:rPr>
              <a:t>실패 시 mock fallback</a:t>
            </a:r>
          </a:p>
        </p:txBody>
      </p:sp>
    </p:spTree>
    <p:extLst>
      <p:ext uri="{BB962C8B-B14F-4D97-AF65-F5344CB8AC3E}">
        <p14:creationId xmlns:p14="http://schemas.microsoft.com/office/powerpoint/2010/main" val="1247398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A8B820-6043-46CE-B8D0-E5E4E28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RELIABILITY &amp;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E4246-D2A4-4B8D-A848-91AC5DC2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</a:defRPr>
            </a:pPr>
            <a:r>
              <a:rPr sz="2850" b="1">
                <a:solidFill>
                  <a:srgbClr val="101828"/>
                </a:solidFill>
              </a:rPr>
              <a:t>외부 URL과 AI 오류를 전제로 앱이 계속 동작하도록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17308-BCE6-4BE8-826F-1748B323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66397-B85D-4009-A27A-1D49C92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15882-B9DE-49E5-AB11-7541CC5B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B432-75A0-4695-BD41-E532FFA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441C1-51B8-4BCA-9938-F9CB0FC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API 키 격리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7772F-9B65-4547-882B-BE3A0EB4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90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키는 .env와 Express 서버에서만 사용하고 프론트엔드에는 전달하지 않음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52F54-F180-49E3-86AC-889C68B4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2E3EE-A1E5-47FA-AAF4-4BADF7E4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2AF8D-B018-4BAF-A4A2-84087C1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14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공개 URL만 허용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ED0B1-D13A-4B80-9787-B45FB9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localhost·사설 IP·메타데이터 주소를 차단하고 리다이렉트마다 재검증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4144CA-8F24-44C0-B1C5-86818741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923B8-7918-4EC0-98C2-9B64321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FC7A4-246F-4892-B609-CC64B92D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가져오기 제한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B48E4-2C82-4A46-8347-CE0A718E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15초 타임아웃·최대 5회 리다이렉트·HTML 5MB 제한 적용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6B17D-C7AA-435B-AB64-417B266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7C238-3FD2-47EB-B19A-1A4B53B2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0178E-8E2D-49B5-9141-9740831C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</a:defRPr>
            </a:pPr>
            <a:r>
              <a:rPr sz="1650" b="1">
                <a:solidFill>
                  <a:srgbClr val="101828"/>
                </a:solidFill>
              </a:rPr>
              <a:t>AI 실패 복구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AFF06-7384-4474-89DB-B5407DB7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48225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인증·할당량·속도 제한 오류가 나도 mock 결과와 친절한 안내로 복구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C57EA8-1A5E-41A3-A55B-8FEDDE62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FF"/>
                </a:solidFill>
              </a:defRPr>
            </a:pPr>
            <a:r>
              <a:rPr sz="1200" b="1">
                <a:solidFill>
                  <a:srgbClr val="2563FF"/>
                </a:solidFill>
              </a:rPr>
              <a:t>보안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0270C-9C89-444C-B107-2CA1397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816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</a:defRPr>
            </a:pPr>
            <a:r>
              <a:rPr sz="1425" b="1">
                <a:solidFill>
                  <a:srgbClr val="101828"/>
                </a:solidFill>
              </a:rPr>
              <a:t>SSRF 차단 테스트 · npm audit 0 vulnerabilities · npm run build 통과</a:t>
            </a:r>
          </a:p>
        </p:txBody>
      </p:sp>
    </p:spTree>
    <p:extLst>
      <p:ext uri="{BB962C8B-B14F-4D97-AF65-F5344CB8AC3E}">
        <p14:creationId xmlns:p14="http://schemas.microsoft.com/office/powerpoint/2010/main" val="632419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E20D0-4E11-414E-B83B-01C54F44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FF"/>
                </a:solidFill>
              </a:defRPr>
            </a:pPr>
            <a:r>
              <a:rPr sz="1050" b="1">
                <a:solidFill>
                  <a:srgbClr val="2563FF"/>
                </a:solidFill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2851D-5844-4C05-A343-2D38474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기능은 연결됐다.</a:t>
            </a:r>
          </a:p>
          <a:p xmlns:a="http://schemas.openxmlformats.org/drawingml/2006/main">
            <a:pPr algn="l">
              <a:defRPr sz="3450" b="1">
                <a:solidFill>
                  <a:srgbClr val="101828"/>
                </a:solidFill>
              </a:defRPr>
            </a:pPr>
            <a:r>
              <a:rPr sz="3450" b="1">
                <a:solidFill>
                  <a:srgbClr val="101828"/>
                </a:solidFill>
              </a:rPr>
              <a:t>다음은 정확도와 지속 운영이다.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81408-6847-4E19-B00F-8ED1F00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21BCD-D6AD-40EB-B4AE-844A0FBA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FF"/>
                </a:solidFill>
              </a:defRPr>
            </a:pPr>
            <a:r>
              <a:rPr sz="1800" b="1">
                <a:solidFill>
                  <a:srgbClr val="2563FF"/>
                </a:solidFill>
              </a:rPr>
              <a:t>지금 가능한 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CDA51-ABD6-4E2E-BF19-DB40DB5C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사용자 출처 등록과 일괄 스캔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전체 / 최신 공지 비교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URL 기반 AI 분석과 mock 복구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• 저장 기록과 준비 태스크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B2BAB-0E2C-4712-93DC-3522F03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95600"/>
            <a:ext cx="190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C0C47-A8EA-4F27-97C4-42819F2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다음 개발 우선순위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BCEEF-F69A-4E19-8FCA-2A222CC2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480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1. 동적 사이트와 첨부파일 본문 처리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2. 사이트별 파서와 자동 수집 스케줄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3. 사용자 계정·DB·알림 연결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</a:defRPr>
            </a:pPr>
            <a:r>
              <a:rPr sz="1425" b="0">
                <a:solidFill>
                  <a:srgbClr val="101828"/>
                </a:solidFill>
              </a:rPr>
              <a:t>4. 실제 공고 기반 정확도 평가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113DC-7EC3-44EC-B951-1753B16A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56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EAA77-3087-43BD-9F7A-EBBA451E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24525"/>
            <a:ext cx="1005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UniRadar는 ‘찾기’에서 끝나지 않고 ‘지원 준비’까지 이어지는 에이전트입니다.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D2A4A-6BE4-48AF-9217-A4D3E2F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</a:defRPr>
            </a:pPr>
            <a:r>
              <a:rPr sz="900" b="0">
                <a:solidFill>
                  <a:srgbClr val="94A3B8"/>
                </a:solidFill>
              </a:rPr>
              <a:t>UniRadar MVP · 2026.07.10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49C6F-6921-4453-BA26-F84123F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4A3B8"/>
                </a:solidFill>
              </a:defRPr>
            </a:pPr>
            <a:r>
              <a:rPr sz="975" b="1">
                <a:solidFill>
                  <a:srgbClr val="94A3B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3067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2026-07-10T01:09:48.0510000Z</dcterms:created>
  <dcterms:modified xsi:type="dcterms:W3CDTF">2026-07-10T01:09:48.0530000Z</dcterms:modified>
</coreProperties>
</file>