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14d1af8cdb4271" /><Relationship Type="http://schemas.openxmlformats.org/officeDocument/2006/relationships/extended-properties" Target="/docProps/app.xml" Id="R720126dd8a65462f" /><Relationship Type="http://schemas.openxmlformats.org/officeDocument/2006/relationships/officeDocument" Target="/ppt/presentation.xml" Id="Rbb365cef524246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cdc5ce72924d63"/>
  </p:sldMasterIdLst>
  <p:notesMasterIdLst>
    <p:notesMasterId xmlns:r="http://schemas.openxmlformats.org/officeDocument/2006/relationships" r:id="R355351a8eaba4b81"/>
  </p:notesMasterIdLst>
  <p:sldIdLst>
    <p:sldId xmlns:r="http://schemas.openxmlformats.org/officeDocument/2006/relationships" id="256" r:id="Rd397c5aa27674ec7"/>
    <p:sldId xmlns:r="http://schemas.openxmlformats.org/officeDocument/2006/relationships" id="257" r:id="R7ccc85a99b854d0e"/>
    <p:sldId xmlns:r="http://schemas.openxmlformats.org/officeDocument/2006/relationships" id="258" r:id="Re0872cd8d23b4b8f"/>
    <p:sldId xmlns:r="http://schemas.openxmlformats.org/officeDocument/2006/relationships" id="259" r:id="R60e4bff18dba49af"/>
    <p:sldId xmlns:r="http://schemas.openxmlformats.org/officeDocument/2006/relationships" id="260" r:id="Rb1dd5c0e5ee549d3"/>
    <p:sldId xmlns:r="http://schemas.openxmlformats.org/officeDocument/2006/relationships" id="261" r:id="R168d25a590954236"/>
    <p:sldId xmlns:r="http://schemas.openxmlformats.org/officeDocument/2006/relationships" id="262" r:id="R403c2eb74edb40b7"/>
    <p:sldId xmlns:r="http://schemas.openxmlformats.org/officeDocument/2006/relationships" id="263" r:id="R56386da0fe4d4926"/>
    <p:sldId xmlns:r="http://schemas.openxmlformats.org/officeDocument/2006/relationships" id="264" r:id="Rce4c483e58e7467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bd7bd2d2cf4737" /><Relationship Type="http://schemas.openxmlformats.org/officeDocument/2006/relationships/slideMaster" Target="/ppt/slideMasters/slideMaster1.xml" Id="Ra5cdc5ce72924d63" /><Relationship Type="http://schemas.openxmlformats.org/officeDocument/2006/relationships/notesMaster" Target="/ppt/notesMasters/notesMaster1.xml" Id="R355351a8eaba4b81" /><Relationship Type="http://schemas.openxmlformats.org/officeDocument/2006/relationships/presProps" Target="/ppt/presProps.xml" Id="R706566985f574f3f" /><Relationship Type="http://schemas.openxmlformats.org/officeDocument/2006/relationships/viewProps" Target="/ppt/viewProps.xml" Id="R71c21ef13dce440a" /><Relationship Type="http://schemas.openxmlformats.org/officeDocument/2006/relationships/tableStyles" Target="/ppt/tableStyles.xml" Id="R3cc3a8f081034ac0" /><Relationship Type="http://schemas.openxmlformats.org/officeDocument/2006/relationships/slide" Target="/ppt/slides/slide1.xml" Id="Rd397c5aa27674ec7" /><Relationship Type="http://schemas.openxmlformats.org/officeDocument/2006/relationships/slide" Target="/ppt/slides/slide2.xml" Id="R7ccc85a99b854d0e" /><Relationship Type="http://schemas.openxmlformats.org/officeDocument/2006/relationships/slide" Target="/ppt/slides/slide3.xml" Id="Re0872cd8d23b4b8f" /><Relationship Type="http://schemas.openxmlformats.org/officeDocument/2006/relationships/slide" Target="/ppt/slides/slide4.xml" Id="R60e4bff18dba49af" /><Relationship Type="http://schemas.openxmlformats.org/officeDocument/2006/relationships/slide" Target="/ppt/slides/slide5.xml" Id="Rb1dd5c0e5ee549d3" /><Relationship Type="http://schemas.openxmlformats.org/officeDocument/2006/relationships/slide" Target="/ppt/slides/slide6.xml" Id="R168d25a590954236" /><Relationship Type="http://schemas.openxmlformats.org/officeDocument/2006/relationships/slide" Target="/ppt/slides/slide7.xml" Id="R403c2eb74edb40b7" /><Relationship Type="http://schemas.openxmlformats.org/officeDocument/2006/relationships/slide" Target="/ppt/slides/slide8.xml" Id="R56386da0fe4d4926" /><Relationship Type="http://schemas.openxmlformats.org/officeDocument/2006/relationships/slide" Target="/ppt/slides/slide9.xml" Id="Rce4c483e58e746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3459f48a91243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5c9a599afb4541" /><Relationship Type="http://schemas.openxmlformats.org/officeDocument/2006/relationships/notesMaster" Target="/ppt/notesMasters/notesMaster1.xml" Id="Rd390aa90bf93487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45901842ee4c7f" /><Relationship Type="http://schemas.openxmlformats.org/officeDocument/2006/relationships/notesMaster" Target="/ppt/notesMasters/notesMaster1.xml" Id="R44034c3c55cb417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8aafeae63e64d39" /><Relationship Type="http://schemas.openxmlformats.org/officeDocument/2006/relationships/notesMaster" Target="/ppt/notesMasters/notesMaster1.xml" Id="Ra31b2e0230b7424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29b98465c574222" /><Relationship Type="http://schemas.openxmlformats.org/officeDocument/2006/relationships/notesMaster" Target="/ppt/notesMasters/notesMaster1.xml" Id="Rfc7ba83ed818467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1e8be17012740da" /><Relationship Type="http://schemas.openxmlformats.org/officeDocument/2006/relationships/notesMaster" Target="/ppt/notesMasters/notesMaster1.xml" Id="Rc0091fa00ae5404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8f4a5256ae54653" /><Relationship Type="http://schemas.openxmlformats.org/officeDocument/2006/relationships/notesMaster" Target="/ppt/notesMasters/notesMaster1.xml" Id="R4b98aa45f7874b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faf93e72aaa48e4" /><Relationship Type="http://schemas.openxmlformats.org/officeDocument/2006/relationships/notesMaster" Target="/ppt/notesMasters/notesMaster1.xml" Id="Rf577b8440b63492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3be13875fa340a8" /><Relationship Type="http://schemas.openxmlformats.org/officeDocument/2006/relationships/notesMaster" Target="/ppt/notesMasters/notesMaster1.xml" Id="Rbbe26c6f21ce4aa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d28e87e106e4c39" /><Relationship Type="http://schemas.openxmlformats.org/officeDocument/2006/relationships/notesMaster" Target="/ppt/notesMasters/notesMaster1.xml" Id="Raa3450fe468746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포인트: UniRadar는 흩어진 교내·기관 공고를 한곳에 모으는 데서 끝나지 않고, 학생이 실제로 지원 준비를 시작할 수 있도록 돕는 서비스입니다. 오늘은 완성된 핵심 흐름과 이를 지탱하는 구조를 보여드리겠습니다.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 implementation: README.md, src/App.jsx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포인트: 학생은 기회를 찾고, 내 조건을 판단하고, 나중에 다시 찾을 수 있게 기억하고, 결국 행동으로 옮겨야 합니다. 기존 공지 사이트는 이 네 단계를 연결해 주지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 planning: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포인트: 로그인 뒤에 프로필과 출처가 계정별로 연결됩니다. 추천 사이트를 추가하고, 공지를 스캔하고, 분석 결과를 저장하거나 태스크로 변환하는 순서입니다.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 implementation: src/App.jsx, server/index.js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포인트: 데모에서는 대시보드를 출발점으로 프로필, 탐색, 저장 공고, 마감 태스크 화면을 차례로 보여줍니다. 대시보드는 지금 해야 할 일을 빠르게 찾는 출발점입니다.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 implementation: src/App.jsx, src/styles.css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포인트: React/Vite는 화면과 로그인 세션을 맡고, Express는 인증된 API 요청을 검증하고 스캔·분석을 수행합니다. Supabase는 사용자별 프로필과 출처, 저장 공고를 RLS로 분리합니다.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 implementation: server/index.js, README.md, SUPABASE_SETUP.md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포인트: 여러 출처를 스캔하면 결과가 섞일 수 있습니다. 그래서 링크를 정규화해 중복을 제거하고, 전체 모드와 마지막 스캔 이후의 최신 모드를 구분했으며, 결과는 사이트와 관계없이 시간순으로 보여줍니다.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 implementation: src/agents/noticeLinkAgent.js, server/services/noticeDiscoveryService.js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포인트: Gemini는 자연어 공고에서 구조화된 opportunity 정보를 추출합니다. 최종 지원 가능성은 규칙 기반 매칭으로 다시 계산해 일관성을 확보하고, 태스크는 공고의 실제 문맥과 마감에 맞춰 만듭니다.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 implementation: server/services/analyzeOpportunity.js, src/services/matchOpportunity.js, server/services/createTasks.js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포인트: AI 기능은 외부 호출이기 때문에 보안을 별도 기능으로 다뤘습니다. 키는 서버에만 두고, 인증이 없으면 비용이 발생할 수 있는 분석과 탐색 API를 호출할 수 없으며, URL 수집도 사설 주소와 과도한 응답을 제한합니다.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 implementation: server/index.js, server/middleware/requireAuth.js, server/services/fetchOpportunityText.js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포인트: 이번 프로젝트의 핵심은 기능 목록보다 하나의 사용 흐름이 끝까지 연결되는지였습니다. 요구사항을 Issue로 분해하고 Agent와 Skill로 구현·디자인·테스트를 보조받아, 배포와 회귀 점검까지 반복했습니다.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 process: AGENTS.md, scripts/requirementValidationAgent.mjs, tests/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90d5018e6948c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02e7144df9437b" /><Relationship Type="http://schemas.openxmlformats.org/officeDocument/2006/relationships/slideLayout" Target="/ppt/slideLayouts/slideLayout1.xml" Id="R542b98bab3f442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2b98bab3f442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4fb834b90e4f3d" /><Relationship Type="http://schemas.openxmlformats.org/officeDocument/2006/relationships/notesSlide" Target="/ppt/notesSlides/notesSlide1.xml" Id="R3b6a29bcdce441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22e93ef9da4880" /><Relationship Type="http://schemas.openxmlformats.org/officeDocument/2006/relationships/notesSlide" Target="/ppt/notesSlides/notesSlide2.xml" Id="Rc5a6e23b4fe047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000218526d4d2d" /><Relationship Type="http://schemas.openxmlformats.org/officeDocument/2006/relationships/notesSlide" Target="/ppt/notesSlides/notesSlide3.xml" Id="R4153d7f9e78d48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57cbf81a574267" /><Relationship Type="http://schemas.openxmlformats.org/officeDocument/2006/relationships/image" Target="/ppt/media/image.png" Id="Rfea85268c995484d" /><Relationship Type="http://schemas.openxmlformats.org/officeDocument/2006/relationships/notesSlide" Target="/ppt/notesSlides/notesSlide4.xml" Id="R1558814d10e54c6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5775b182634d6e" /><Relationship Type="http://schemas.openxmlformats.org/officeDocument/2006/relationships/notesSlide" Target="/ppt/notesSlides/notesSlide5.xml" Id="Rf412d51710584c1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5873d732774f12" /><Relationship Type="http://schemas.openxmlformats.org/officeDocument/2006/relationships/notesSlide" Target="/ppt/notesSlides/notesSlide6.xml" Id="R0d88d0fa9260480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b2aad42e264ce7" /><Relationship Type="http://schemas.openxmlformats.org/officeDocument/2006/relationships/notesSlide" Target="/ppt/notesSlides/notesSlide7.xml" Id="Rc72736a43670431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9fd0dc6a7d45f8" /><Relationship Type="http://schemas.openxmlformats.org/officeDocument/2006/relationships/notesSlide" Target="/ppt/notesSlides/notesSlide8.xml" Id="R3f7d8d6fd8cc4b0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6c8a44dd1c4895" /><Relationship Type="http://schemas.openxmlformats.org/officeDocument/2006/relationships/notesSlide" Target="/ppt/notesSlides/notesSlide9.xml" Id="Rf9c76c0c01f0448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F4E99482-03BF-4C83-8DA4-CDBC1555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0C94532F-101A-4443-B50A-A4E79128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UniRadar</a:t>
            </a:r>
          </a:p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97F07376-9723-4F57-B0D6-F205C2C2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295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DCE8FF"/>
                </a:solidFill>
              </a:defRPr>
            </a:pPr>
            <a:r>
              <a:rPr sz="1800" b="1">
                <a:solidFill>
                  <a:srgbClr val="DCE8FF"/>
                </a:solidFill>
              </a:rPr>
              <a:t>대학생 맞춤형 기회 탐색·실행 에이전트</a:t>
            </a:r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5F81A55B-BF22-4694-AE31-94F818780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42BA9268-95E8-4784-B0C4-8A92FFC51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33550"/>
            <a:ext cx="619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828"/>
                </a:solidFill>
              </a:defRPr>
            </a:pPr>
            <a:r>
              <a:rPr sz="3600" b="1">
                <a:solidFill>
                  <a:srgbClr val="101828"/>
                </a:solidFill>
              </a:rPr>
              <a:t>찾은 공고를</a:t>
            </a:r>
          </a:p>
          <a:p xmlns:a="http://schemas.openxmlformats.org/drawingml/2006/main">
            <a:pPr algn="l">
              <a:buNone/>
              <a:defRPr sz="3600" b="1">
                <a:solidFill>
                  <a:srgbClr val="101828"/>
                </a:solidFill>
              </a:defRPr>
            </a:pPr>
            <a:r>
              <a:rPr sz="3600" b="1">
                <a:solidFill>
                  <a:srgbClr val="101828"/>
                </a:solidFill>
              </a:rPr>
              <a:t>실행으로 연결</a:t>
            </a:r>
          </a:p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28B35731-B375-409C-99ED-E8F2E6B0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143500"/>
            <a:ext cx="600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233F"/>
                </a:solidFill>
              </a:defRPr>
            </a:pPr>
            <a:r>
              <a:rPr sz="1500" b="1">
                <a:solidFill>
                  <a:srgbClr val="12233F"/>
                </a:solidFill>
              </a:rPr>
              <a:t>로그인 · 출처 스캔 · Gemini 분석 · 저장 · 태스크 관리</a:t>
            </a:r>
          </a:p>
        </p:txBody>
      </p:sp>
    </p:spTree>
    <p:extLst>
      <p:ext uri="{BB962C8B-B14F-4D97-AF65-F5344CB8AC3E}">
        <p14:creationId xmlns:p14="http://schemas.microsoft.com/office/powerpoint/2010/main" val="8078812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A2F413C2-B3D0-4C8E-B611-1BBCBD9D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563FF"/>
                </a:solidFill>
              </a:defRPr>
            </a:pPr>
            <a:r>
              <a:rPr sz="1050" b="1">
                <a:solidFill>
                  <a:srgbClr val="2563FF"/>
                </a:solidFill>
              </a:rPr>
              <a:t>PROBLEM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1E550BA4-606B-4972-AD2F-4EDFECC1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대학생의 기회 탐색은 네 번의 맥락 전환을 요구한다</a:t>
            </a:r>
          </a:p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D43BBB34-3B1E-4BEB-A04B-E893BFB10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D552F95D-4F7C-4BE8-9E02-41C204CB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94A3B8"/>
                </a:solidFill>
              </a:defRPr>
            </a:pPr>
            <a:r>
              <a:rPr sz="975" b="1">
                <a:solidFill>
                  <a:srgbClr val="94A3B8"/>
                </a:solidFill>
              </a:rPr>
              <a:t>02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F0A0C8EC-12B5-4DBF-9E63-8395360C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9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563FF"/>
                </a:solidFill>
              </a:defRPr>
            </a:pPr>
            <a:r>
              <a:rPr sz="3150" b="1">
                <a:solidFill>
                  <a:srgbClr val="2563FF"/>
                </a:solidFill>
              </a:rPr>
              <a:t>1</a:t>
            </a:r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A41DD21A-9A40-46D8-997C-ECDA0569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1828"/>
                </a:solidFill>
              </a:defRPr>
            </a:pPr>
            <a:r>
              <a:rPr sz="1950" b="1">
                <a:solidFill>
                  <a:srgbClr val="101828"/>
                </a:solidFill>
              </a:rPr>
              <a:t>발견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26A32CFF-B96D-443C-A7C0-3FB65375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076450"/>
            <a:ext cx="95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ADA7F7AA-3BA9-4ECC-94E6-C0BFF874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00250"/>
            <a:ext cx="49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563FF"/>
                </a:solidFill>
              </a:defRPr>
            </a:pPr>
            <a:r>
              <a:rPr sz="3150" b="1">
                <a:solidFill>
                  <a:srgbClr val="2563FF"/>
                </a:solidFill>
              </a:rPr>
              <a:t>2</a:t>
            </a:r>
          </a:p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D0A222CA-6774-42B7-AB67-797A9C08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7241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1828"/>
                </a:solidFill>
              </a:defRPr>
            </a:pPr>
            <a:r>
              <a:rPr sz="1950" b="1">
                <a:solidFill>
                  <a:srgbClr val="101828"/>
                </a:solidFill>
              </a:rPr>
              <a:t>판단</a:t>
            </a:r>
          </a:p>
        </p:txBody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34137E4F-85C5-4152-A0D1-F8BC2FAA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76450"/>
            <a:ext cx="95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EABDBE20-4DEF-403C-ACE5-51F8E8AF6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00250"/>
            <a:ext cx="49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563FF"/>
                </a:solidFill>
              </a:defRPr>
            </a:pPr>
            <a:r>
              <a:rPr sz="3150" b="1">
                <a:solidFill>
                  <a:srgbClr val="2563FF"/>
                </a:solidFill>
              </a:rPr>
              <a:t>3</a:t>
            </a:r>
          </a:p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88108298-8A62-4822-A324-94483F60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7241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1828"/>
                </a:solidFill>
              </a:defRPr>
            </a:pPr>
            <a:r>
              <a:rPr sz="1950" b="1">
                <a:solidFill>
                  <a:srgbClr val="101828"/>
                </a:solidFill>
              </a:rPr>
              <a:t>기억</a:t>
            </a:r>
          </a:p>
        </p:txBody>
      </p:sp>
      <p:sp>
        <p:nvSpPr>
          <p:cNvPr id="17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0F525D5E-7E2A-4CF0-91D0-FCB142265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76450"/>
            <a:ext cx="95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92183C3F-F176-4AE0-8E55-73314AB31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00250"/>
            <a:ext cx="49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563FF"/>
                </a:solidFill>
              </a:defRPr>
            </a:pPr>
            <a:r>
              <a:rPr sz="3150" b="1">
                <a:solidFill>
                  <a:srgbClr val="2563FF"/>
                </a:solidFill>
              </a:rPr>
              <a:t>4</a:t>
            </a:r>
          </a:p>
        </p:txBody>
      </p:sp>
      <p:sp>
        <p:nvSpPr>
          <p:cNvPr id="19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3714EA2A-1DEB-45A5-AB4F-C8906453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241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1828"/>
                </a:solidFill>
              </a:defRPr>
            </a:pPr>
            <a:r>
              <a:rPr sz="1950" b="1">
                <a:solidFill>
                  <a:srgbClr val="101828"/>
                </a:solidFill>
              </a:rPr>
              <a:t>실행</a:t>
            </a:r>
          </a:p>
        </p:txBody>
      </p:sp>
      <p:sp>
        <p:nvSpPr>
          <p:cNvPr id="21" name="사각형: 둥근 모서리 20">
            <a:extLst xmlns:a="http://schemas.openxmlformats.org/drawingml/2006/main">
              <a:ext uri="{FF2B5EF4-FFF2-40B4-BE49-F238E27FC236}">
                <a16:creationId xmlns:a16="http://schemas.microsoft.com/office/drawing/2014/main" id="{640C836B-7513-47B8-BF6C-1EC89458D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8204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7D9C97D0-4E11-4D78-B6C1-C89A449A4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054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563FF"/>
                </a:solidFill>
              </a:defRPr>
            </a:pPr>
            <a:r>
              <a:rPr sz="1350" b="1">
                <a:solidFill>
                  <a:srgbClr val="2563FF"/>
                </a:solidFill>
              </a:rPr>
              <a:t>UniRadar가 줄이는 비용</a:t>
            </a:r>
          </a:p>
        </p:txBody>
      </p:sp>
      <p:sp>
        <p:nvSpPr>
          <p:cNvPr id="23" name="직사각형 22">
            <a:extLst xmlns:a="http://schemas.openxmlformats.org/drawingml/2006/main">
              <a:ext uri="{FF2B5EF4-FFF2-40B4-BE49-F238E27FC236}">
                <a16:creationId xmlns:a16="http://schemas.microsoft.com/office/drawing/2014/main" id="{98B78EDF-3851-48A2-845E-BA25DFF1C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48250"/>
            <a:ext cx="714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2233F"/>
                </a:solidFill>
              </a:defRPr>
            </a:pPr>
            <a:r>
              <a:rPr sz="1800" b="1">
                <a:solidFill>
                  <a:srgbClr val="12233F"/>
                </a:solidFill>
              </a:rPr>
              <a:t>반복 탐색 → 링크 중복 제거 → 조건 구조화 → 준비 태스크</a:t>
            </a:r>
          </a:p>
        </p:txBody>
      </p:sp>
    </p:spTree>
    <p:extLst>
      <p:ext uri="{BB962C8B-B14F-4D97-AF65-F5344CB8AC3E}">
        <p14:creationId xmlns:p14="http://schemas.microsoft.com/office/powerpoint/2010/main" val="7326298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직사각형 28">
            <a:extLst xmlns:a="http://schemas.openxmlformats.org/drawingml/2006/main">
              <a:ext uri="{FF2B5EF4-FFF2-40B4-BE49-F238E27FC236}">
                <a16:creationId xmlns:a16="http://schemas.microsoft.com/office/drawing/2014/main" id="{01321DC2-C4DA-4770-824A-2FEA30DF2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563FF"/>
                </a:solidFill>
              </a:defRPr>
            </a:pPr>
            <a:r>
              <a:rPr sz="1050" b="1">
                <a:solidFill>
                  <a:srgbClr val="2563FF"/>
                </a:solidFill>
              </a:rPr>
              <a:t>USER FLOW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B378EA35-FEAE-4E5C-B842-216F0991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로그인 후, 탐색부터 준비까지 하나의 흐름으로</a:t>
            </a:r>
          </a:p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8BDC7C88-14AA-43CC-BDA1-9BE520DA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8CC3F497-F53C-4B1B-AE6B-0391FDDFB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94A3B8"/>
                </a:solidFill>
              </a:defRPr>
            </a:pPr>
            <a:r>
              <a:rPr sz="975" b="1">
                <a:solidFill>
                  <a:srgbClr val="94A3B8"/>
                </a:solidFill>
              </a:rPr>
              <a:t>03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9BB79922-7AEC-41DC-B325-41CB7EAB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563FF"/>
                </a:solidFill>
              </a:defRPr>
            </a:pPr>
            <a:r>
              <a:rPr sz="1350" b="1">
                <a:solidFill>
                  <a:srgbClr val="2563FF"/>
                </a:solidFill>
              </a:rPr>
              <a:t>01</a:t>
            </a:r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C163B4C9-FC1E-433A-B502-BCA728E4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62225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C078DF65-D548-4D52-8460-6944F2748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프로필 저장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B9925B8B-C14B-496E-9103-18421F7B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80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학교·학년·전공·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관심·지역을 계정별 저장</a:t>
            </a: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A25BF7F2-2165-42B7-AEF2-207282AA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90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D4ED8"/>
                </a:solidFill>
              </a:defRPr>
            </a:pPr>
            <a:r>
              <a:rPr sz="1350" b="1">
                <a:solidFill>
                  <a:srgbClr val="1D4ED8"/>
                </a:solidFill>
              </a:rPr>
              <a:t>02</a:t>
            </a:r>
          </a:p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15DE4EBB-8359-49FB-9CD7-820FF378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62225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60C9E27A-DEFD-4A09-B567-C17889175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622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출처 관리</a:t>
            </a:r>
          </a:p>
        </p:txBody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530328CE-79BF-4F00-81B5-0487D186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57550"/>
            <a:ext cx="180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추천 사이트를 확인하고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나의 추적 출처로 저장</a:t>
            </a: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1186A398-176B-4808-A275-FBD9A991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90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C3AED"/>
                </a:solidFill>
              </a:defRPr>
            </a:pPr>
            <a:r>
              <a:rPr sz="1350" b="1">
                <a:solidFill>
                  <a:srgbClr val="7C3AED"/>
                </a:solidFill>
              </a:rPr>
              <a:t>03</a:t>
            </a:r>
          </a:p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533AB53A-1FB2-482D-8CD2-ABE4B059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562225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A9ABBC75-7C2B-4AD3-AB72-13D71796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7622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공지 스캔</a:t>
            </a:r>
          </a:p>
        </p:txBody>
      </p:sp>
      <p:sp>
        <p:nvSpPr>
          <p:cNvPr id="17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F16563A2-283C-4E3D-A928-9F68AE974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257550"/>
            <a:ext cx="180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출처별 최신 공지를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중복 없이 수집·정렬</a:t>
            </a:r>
          </a:p>
        </p:txBody>
      </p:sp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7BD31B39-946D-47B6-941B-534E1036C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190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F9D8A"/>
                </a:solidFill>
              </a:defRPr>
            </a:pPr>
            <a:r>
              <a:rPr sz="1350" b="1">
                <a:solidFill>
                  <a:srgbClr val="0F9D8A"/>
                </a:solidFill>
              </a:rPr>
              <a:t>04</a:t>
            </a:r>
          </a:p>
        </p:txBody>
      </p:sp>
      <p:sp>
        <p:nvSpPr>
          <p:cNvPr id="19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83A3A941-BA51-43C7-B1E8-AD21B73F0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562225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직사각형 19">
            <a:extLst xmlns:a="http://schemas.openxmlformats.org/drawingml/2006/main">
              <a:ext uri="{FF2B5EF4-FFF2-40B4-BE49-F238E27FC236}">
                <a16:creationId xmlns:a16="http://schemas.microsoft.com/office/drawing/2014/main" id="{A3447770-16C3-44ED-9F74-694AFDEC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622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AI 분석</a:t>
            </a:r>
          </a:p>
        </p:txBody>
      </p:sp>
      <p:sp>
        <p:nvSpPr>
          <p:cNvPr id="21" name="직사각형 20">
            <a:extLst xmlns:a="http://schemas.openxmlformats.org/drawingml/2006/main">
              <a:ext uri="{FF2B5EF4-FFF2-40B4-BE49-F238E27FC236}">
                <a16:creationId xmlns:a16="http://schemas.microsoft.com/office/drawing/2014/main" id="{F0D4165E-1597-43D1-AB75-6390F44C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257550"/>
            <a:ext cx="180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공고를 표준 JSON으로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구조화하고 조건 비교</a:t>
            </a:r>
          </a:p>
        </p:txBody>
      </p:sp>
      <p:sp>
        <p:nvSpPr>
          <p:cNvPr id="22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36C7FF6F-5A43-40FF-A101-CF29DEC4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190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A34A"/>
                </a:solidFill>
              </a:defRPr>
            </a:pPr>
            <a:r>
              <a:rPr sz="1350" b="1">
                <a:solidFill>
                  <a:srgbClr val="16A34A"/>
                </a:solidFill>
              </a:rPr>
              <a:t>05</a:t>
            </a:r>
          </a:p>
        </p:txBody>
      </p:sp>
      <p:sp>
        <p:nvSpPr>
          <p:cNvPr id="23" name="직사각형 22">
            <a:extLst xmlns:a="http://schemas.openxmlformats.org/drawingml/2006/main">
              <a:ext uri="{FF2B5EF4-FFF2-40B4-BE49-F238E27FC236}">
                <a16:creationId xmlns:a16="http://schemas.microsoft.com/office/drawing/2014/main" id="{05E2CF39-57FE-4AA7-8A08-6CE06632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562225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5B1C34CD-4482-43C3-A099-3B0ACDA9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622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저장·태스크</a:t>
            </a:r>
          </a:p>
        </p:txBody>
      </p:sp>
      <p:sp>
        <p:nvSpPr>
          <p:cNvPr id="25" name="직사각형 24">
            <a:extLst xmlns:a="http://schemas.openxmlformats.org/drawingml/2006/main">
              <a:ext uri="{FF2B5EF4-FFF2-40B4-BE49-F238E27FC236}">
                <a16:creationId xmlns:a16="http://schemas.microsoft.com/office/drawing/2014/main" id="{7CDAF728-73C1-48C3-9441-2AB59A100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257550"/>
            <a:ext cx="180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관심 공고와 준비 일을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계정별로 관리</a:t>
            </a:r>
          </a:p>
        </p:txBody>
      </p:sp>
    </p:spTree>
    <p:extLst>
      <p:ext uri="{BB962C8B-B14F-4D97-AF65-F5344CB8AC3E}">
        <p14:creationId xmlns:p14="http://schemas.microsoft.com/office/powerpoint/2010/main" val="14225709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A6DB1B20-8088-497D-B614-A95F12A6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563FF"/>
                </a:solidFill>
              </a:defRPr>
            </a:pPr>
            <a:r>
              <a:rPr sz="1050" b="1">
                <a:solidFill>
                  <a:srgbClr val="2563FF"/>
                </a:solidFill>
              </a:rPr>
              <a:t>EXPERIENCE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DB5D6FE3-1688-47CA-B5B3-5825E0AE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실제 서비스: 대시보드에서 우선순위를 결정한다</a:t>
            </a:r>
          </a:p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3479FA8A-41A6-4A4A-8158-F6F94CBD0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C2B97A06-1285-4683-A92D-35E1AFA8B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94A3B8"/>
                </a:solidFill>
              </a:defRPr>
            </a:pPr>
            <a:r>
              <a:rPr sz="975" b="1">
                <a:solidFill>
                  <a:srgbClr val="94A3B8"/>
                </a:solidFill>
              </a:rPr>
              <a:t>04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00BE647D-F608-4BA6-8C06-C3F022AF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563FF"/>
                </a:solidFill>
              </a:defRPr>
            </a:pPr>
            <a:r>
              <a:rPr sz="1200" b="1">
                <a:solidFill>
                  <a:srgbClr val="2563FF"/>
                </a:solidFill>
              </a:rPr>
              <a:t>사용 흐름의 중심</a:t>
            </a:r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93E07C45-1750-403F-BCEA-49B895A7B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76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공고를 읽기 전에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다음 행동을 정한다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5AD4F7C5-B20A-4C7E-B01F-0C71FA8C4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563FF"/>
                </a:solidFill>
              </a:defRPr>
            </a:pPr>
            <a:r>
              <a:rPr sz="1350" b="1">
                <a:solidFill>
                  <a:srgbClr val="2563FF"/>
                </a:solidFill>
              </a:rPr>
              <a:t>내 프로필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0469085D-FBC6-48BE-97B0-DEF384A2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C3AED"/>
                </a:solidFill>
              </a:defRPr>
            </a:pPr>
            <a:r>
              <a:rPr sz="1350" b="1">
                <a:solidFill>
                  <a:srgbClr val="7C3AED"/>
                </a:solidFill>
              </a:rPr>
              <a:t>공지 탐색</a:t>
            </a: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B1A8132C-EAA6-4EA8-80A5-1697D479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59E0B"/>
                </a:solidFill>
              </a:defRPr>
            </a:pPr>
            <a:r>
              <a:rPr sz="1350" b="1">
                <a:solidFill>
                  <a:srgbClr val="F59E0B"/>
                </a:solidFill>
              </a:rPr>
              <a:t>마감 태스크</a:t>
            </a:r>
          </a:p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2D142388-4343-4A8E-A9BA-5C0B474D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A34A"/>
                </a:solidFill>
              </a:defRPr>
            </a:pPr>
            <a:r>
              <a:rPr sz="1350" b="1">
                <a:solidFill>
                  <a:srgbClr val="16A34A"/>
                </a:solidFill>
              </a:rPr>
              <a:t>저장 공고</a:t>
            </a:r>
          </a:p>
        </p:txBody>
      </p:sp>
      <p:sp>
        <p:nvSpPr>
          <p:cNvPr id="13" name="사각형: 둥근 모서리 12">
            <a:extLst xmlns:a="http://schemas.openxmlformats.org/drawingml/2006/main">
              <a:ext uri="{FF2B5EF4-FFF2-40B4-BE49-F238E27FC236}">
                <a16:creationId xmlns:a16="http://schemas.microsoft.com/office/drawing/2014/main" id="{BCD48E8D-8298-4687-9CC0-BBF3568C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809750"/>
            <a:ext cx="760095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7" name="그림 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a85268c995484d"/>
          <a:stretch xmlns:a="http://schemas.openxmlformats.org/drawingml/2006/main"/>
        </p:blipFill>
        <p:spPr>
          <a:xfrm xmlns:a="http://schemas.openxmlformats.org/drawingml/2006/main">
            <a:off x="4270085" y="1924050"/>
            <a:ext cx="6871280" cy="38671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4021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직사각형 22">
            <a:extLst xmlns:a="http://schemas.openxmlformats.org/drawingml/2006/main">
              <a:ext uri="{FF2B5EF4-FFF2-40B4-BE49-F238E27FC236}">
                <a16:creationId xmlns:a16="http://schemas.microsoft.com/office/drawing/2014/main" id="{A622EFE5-265A-4FCF-B06F-6FFD2CF7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563FF"/>
                </a:solidFill>
              </a:defRPr>
            </a:pPr>
            <a:r>
              <a:rPr sz="1050" b="1">
                <a:solidFill>
                  <a:srgbClr val="2563FF"/>
                </a:solidFill>
              </a:rPr>
              <a:t>ARCHITECTURE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348153FC-3340-41A1-8256-6DC0C554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배포 가능한 화면·서버·DB 수직 슬라이스</a:t>
            </a:r>
          </a:p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6F5581BE-FFDA-41DF-8537-DC14BF78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4DC01AA0-F0D7-470F-A928-186D74AE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94A3B8"/>
                </a:solidFill>
              </a:defRPr>
            </a:pPr>
            <a:r>
              <a:rPr sz="975" b="1">
                <a:solidFill>
                  <a:srgbClr val="94A3B8"/>
                </a:solidFill>
              </a:rPr>
              <a:t>05</a:t>
            </a:r>
          </a:p>
        </p:txBody>
      </p:sp>
      <p:sp>
        <p:nvSpPr>
          <p:cNvPr id="6" name="사각형: 둥근 모서리 5">
            <a:extLst xmlns:a="http://schemas.openxmlformats.org/drawingml/2006/main">
              <a:ext uri="{FF2B5EF4-FFF2-40B4-BE49-F238E27FC236}">
                <a16:creationId xmlns:a16="http://schemas.microsoft.com/office/drawing/2014/main" id="{A253AC28-ECC2-4E91-A1E0-05B6370B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001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E92D671B-6CCF-4876-8815-17FEE4AC0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336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563FF"/>
                </a:solidFill>
              </a:defRPr>
            </a:pPr>
            <a:r>
              <a:rPr sz="1800" b="1">
                <a:solidFill>
                  <a:srgbClr val="2563FF"/>
                </a:solidFill>
              </a:rPr>
              <a:t>React + Vite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9030A275-225A-4D56-B7A0-0330BC4E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71700"/>
            <a:ext cx="514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로그인 세션 · 화면 상태 · API 요청</a:t>
            </a:r>
          </a:p>
        </p:txBody>
      </p:sp>
      <p:sp>
        <p:nvSpPr>
          <p:cNvPr id="9" name="사각형: 둥근 모서리 8">
            <a:extLst xmlns:a="http://schemas.openxmlformats.org/drawingml/2006/main">
              <a:ext uri="{FF2B5EF4-FFF2-40B4-BE49-F238E27FC236}">
                <a16:creationId xmlns:a16="http://schemas.microsoft.com/office/drawing/2014/main" id="{9A90F8A4-A059-4598-9BA1-CC7BB2C35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80010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2876733C-E6E9-471C-8284-2E21B9CA9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2233F"/>
                </a:solidFill>
              </a:defRPr>
            </a:pPr>
            <a:r>
              <a:rPr sz="1800" b="1">
                <a:solidFill>
                  <a:srgbClr val="12233F"/>
                </a:solidFill>
              </a:rPr>
              <a:t>Express API</a:t>
            </a:r>
          </a:p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4ADDA299-C9FD-402F-9937-8EE2206F5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57550"/>
            <a:ext cx="514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인증 미들웨어 · Zod 검증 · 스캔/분석 서비스</a:t>
            </a:r>
          </a:p>
        </p:txBody>
      </p:sp>
      <p:sp>
        <p:nvSpPr>
          <p:cNvPr id="12" name="사각형: 둥근 모서리 11">
            <a:extLst xmlns:a="http://schemas.openxmlformats.org/drawingml/2006/main">
              <a:ext uri="{FF2B5EF4-FFF2-40B4-BE49-F238E27FC236}">
                <a16:creationId xmlns:a16="http://schemas.microsoft.com/office/drawing/2014/main" id="{E7BE0404-984E-46DE-BFC1-4998A903A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8001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C696D056-59D8-4A1F-A66E-FCEA990E9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577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667085"/>
                </a:solidFill>
              </a:defRPr>
            </a:pPr>
            <a:r>
              <a:rPr sz="1800" b="1">
                <a:solidFill>
                  <a:srgbClr val="667085"/>
                </a:solidFill>
              </a:rPr>
              <a:t>Supabase</a:t>
            </a: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5452A870-72EA-48F9-8BCC-D5D22B84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95800"/>
            <a:ext cx="514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Auth · profiles · settings · sources · saved opportunities</a:t>
            </a:r>
          </a:p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3517AEE2-448C-486D-BA14-DC2AEC12B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8859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563FF"/>
                </a:solidFill>
              </a:defRPr>
            </a:pPr>
            <a:r>
              <a:rPr sz="1200" b="1">
                <a:solidFill>
                  <a:srgbClr val="2563FF"/>
                </a:solidFill>
              </a:rPr>
              <a:t>외부 연결</a:t>
            </a:r>
          </a:p>
        </p:txBody>
      </p:sp>
      <p:sp>
        <p:nvSpPr>
          <p:cNvPr id="16" name="사각형: 둥근 모서리 15">
            <a:extLst xmlns:a="http://schemas.openxmlformats.org/drawingml/2006/main">
              <a:ext uri="{FF2B5EF4-FFF2-40B4-BE49-F238E27FC236}">
                <a16:creationId xmlns:a16="http://schemas.microsoft.com/office/drawing/2014/main" id="{70441C2E-478E-477B-8AB3-A0284CE0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81250"/>
            <a:ext cx="23622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746ECC98-BF4E-46D0-810B-1588AE707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5812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563FF"/>
                </a:solidFill>
              </a:defRPr>
            </a:pPr>
            <a:r>
              <a:rPr sz="1500" b="1">
                <a:solidFill>
                  <a:srgbClr val="2563FF"/>
                </a:solidFill>
              </a:rPr>
              <a:t>공지 웹사이트</a:t>
            </a:r>
          </a:p>
        </p:txBody>
      </p:sp>
      <p:sp>
        <p:nvSpPr>
          <p:cNvPr id="18" name="사각형: 둥근 모서리 17">
            <a:extLst xmlns:a="http://schemas.openxmlformats.org/drawingml/2006/main">
              <a:ext uri="{FF2B5EF4-FFF2-40B4-BE49-F238E27FC236}">
                <a16:creationId xmlns:a16="http://schemas.microsoft.com/office/drawing/2014/main" id="{8197D48D-076D-4D5B-8A00-6D02D311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71850"/>
            <a:ext cx="23622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B3AB101C-AAA8-4C5B-941F-4599A362D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5718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7C3AED"/>
                </a:solidFill>
              </a:defRPr>
            </a:pPr>
            <a:r>
              <a:rPr sz="1500" b="1">
                <a:solidFill>
                  <a:srgbClr val="7C3AED"/>
                </a:solidFill>
              </a:rPr>
              <a:t>Gemini API</a:t>
            </a:r>
          </a:p>
        </p:txBody>
      </p:sp>
      <p:sp>
        <p:nvSpPr>
          <p:cNvPr id="20" name="사각형: 둥근 모서리 19">
            <a:extLst xmlns:a="http://schemas.openxmlformats.org/drawingml/2006/main">
              <a:ext uri="{FF2B5EF4-FFF2-40B4-BE49-F238E27FC236}">
                <a16:creationId xmlns:a16="http://schemas.microsoft.com/office/drawing/2014/main" id="{90E74A2C-A553-446D-AE60-B8F22278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362450"/>
            <a:ext cx="23622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직사각형 20">
            <a:extLst xmlns:a="http://schemas.openxmlformats.org/drawingml/2006/main">
              <a:ext uri="{FF2B5EF4-FFF2-40B4-BE49-F238E27FC236}">
                <a16:creationId xmlns:a16="http://schemas.microsoft.com/office/drawing/2014/main" id="{178944C5-7ADA-4CD2-8EA0-D60DE12C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5624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6A34A"/>
                </a:solidFill>
              </a:defRPr>
            </a:pPr>
            <a:r>
              <a:rPr sz="1500" b="1">
                <a:solidFill>
                  <a:srgbClr val="16A34A"/>
                </a:solidFill>
              </a:rPr>
              <a:t>Vercel / Render</a:t>
            </a:r>
          </a:p>
        </p:txBody>
      </p:sp>
    </p:spTree>
    <p:extLst>
      <p:ext uri="{BB962C8B-B14F-4D97-AF65-F5344CB8AC3E}">
        <p14:creationId xmlns:p14="http://schemas.microsoft.com/office/powerpoint/2010/main" val="13794545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D54CBA71-D7CE-4A55-B572-EC073353F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563FF"/>
                </a:solidFill>
              </a:defRPr>
            </a:pPr>
            <a:r>
              <a:rPr sz="1050" b="1">
                <a:solidFill>
                  <a:srgbClr val="2563FF"/>
                </a:solidFill>
              </a:rPr>
              <a:t>NOTICE SCANNING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8DF123F7-493C-49AB-B4CD-A3537254A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공지 수집은 출처별로, 결과는 시간순으로</a:t>
            </a:r>
          </a:p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16B3EE36-EF38-4DEB-93CF-E6F0906A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41E1E898-1F26-4755-98CF-21B3129E5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94A3B8"/>
                </a:solidFill>
              </a:defRPr>
            </a:pPr>
            <a:r>
              <a:rPr sz="975" b="1">
                <a:solidFill>
                  <a:srgbClr val="94A3B8"/>
                </a:solidFill>
              </a:rPr>
              <a:t>06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24727AED-82EB-4518-9908-CFC99C3CF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563FF"/>
                </a:solidFill>
              </a:defRPr>
            </a:pPr>
            <a:r>
              <a:rPr sz="1200" b="1">
                <a:solidFill>
                  <a:srgbClr val="2563FF"/>
                </a:solidFill>
              </a:rPr>
              <a:t>출처 등록</a:t>
            </a:r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3D7000C6-99C2-4E0D-9BAD-71AFD3C3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1828"/>
                </a:solidFill>
              </a:defRPr>
            </a:pPr>
            <a:r>
              <a:rPr sz="2100" b="1">
                <a:solidFill>
                  <a:srgbClr val="101828"/>
                </a:solidFill>
              </a:rPr>
              <a:t>출처 이름 + 공지 목록 URL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7FC5C0AC-D03D-4D21-BDF2-CB9D60174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계정별 출처를 한 번에 스캔하고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같은 링크는 한 번만 수집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D2CF8A56-A8F0-4A48-B9D2-6CB9B76D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8120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25467B16-AFC4-46FE-8021-37BC55401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95262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C3AED"/>
                </a:solidFill>
              </a:defRPr>
            </a:pPr>
            <a:r>
              <a:rPr sz="1200" b="1">
                <a:solidFill>
                  <a:srgbClr val="7C3AED"/>
                </a:solidFill>
              </a:rPr>
              <a:t>결과 관리</a:t>
            </a: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5C18ECAA-6548-4262-9054-6002CD8C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3431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1828"/>
                </a:solidFill>
              </a:defRPr>
            </a:pPr>
            <a:r>
              <a:rPr sz="2100" b="1">
                <a:solidFill>
                  <a:srgbClr val="101828"/>
                </a:solidFill>
              </a:rPr>
              <a:t>전체 / 최신 모드</a:t>
            </a:r>
          </a:p>
        </p:txBody>
      </p:sp>
      <p:sp>
        <p:nvSpPr>
          <p:cNvPr id="15" name="사각형: 둥근 모서리 14">
            <a:extLst xmlns:a="http://schemas.openxmlformats.org/drawingml/2006/main">
              <a:ext uri="{FF2B5EF4-FFF2-40B4-BE49-F238E27FC236}">
                <a16:creationId xmlns:a16="http://schemas.microsoft.com/office/drawing/2014/main" id="{30BA9752-A94E-4C14-AA15-5033D8CE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086100"/>
            <a:ext cx="238125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4F074E86-7800-419C-8D5C-39478AD93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528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563FF"/>
                </a:solidFill>
              </a:defRPr>
            </a:pPr>
            <a:r>
              <a:rPr sz="2100" b="1">
                <a:solidFill>
                  <a:srgbClr val="2563FF"/>
                </a:solidFill>
              </a:rPr>
              <a:t>전체</a:t>
            </a:r>
          </a:p>
        </p:txBody>
      </p:sp>
      <p:sp>
        <p:nvSpPr>
          <p:cNvPr id="17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31D63B3E-E3CF-426D-A28F-361DED218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4335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출처당 설정한 수만큼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최신 공지를 확인</a:t>
            </a:r>
          </a:p>
        </p:txBody>
      </p:sp>
      <p:sp>
        <p:nvSpPr>
          <p:cNvPr id="18" name="사각형: 둥근 모서리 17">
            <a:extLst xmlns:a="http://schemas.openxmlformats.org/drawingml/2006/main">
              <a:ext uri="{FF2B5EF4-FFF2-40B4-BE49-F238E27FC236}">
                <a16:creationId xmlns:a16="http://schemas.microsoft.com/office/drawing/2014/main" id="{41C267B2-7432-4DC5-A498-D3DB78E0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086100"/>
            <a:ext cx="238125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E6FBCE25-8BAD-4D16-AEC1-53CA6F72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528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7C3AED"/>
                </a:solidFill>
              </a:defRPr>
            </a:pPr>
            <a:r>
              <a:rPr sz="2100" b="1">
                <a:solidFill>
                  <a:srgbClr val="7C3AED"/>
                </a:solidFill>
              </a:rPr>
              <a:t>최신</a:t>
            </a:r>
          </a:p>
        </p:txBody>
      </p:sp>
      <p:sp>
        <p:nvSpPr>
          <p:cNvPr id="20" name="직사각형 19">
            <a:extLst xmlns:a="http://schemas.openxmlformats.org/drawingml/2006/main">
              <a:ext uri="{FF2B5EF4-FFF2-40B4-BE49-F238E27FC236}">
                <a16:creationId xmlns:a16="http://schemas.microsoft.com/office/drawing/2014/main" id="{0E669903-88A4-4D6C-9256-92E06887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94335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마지막 스캔 이후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새 링크만 비교</a:t>
            </a:r>
          </a:p>
        </p:txBody>
      </p:sp>
    </p:spTree>
    <p:extLst>
      <p:ext uri="{BB962C8B-B14F-4D97-AF65-F5344CB8AC3E}">
        <p14:creationId xmlns:p14="http://schemas.microsoft.com/office/powerpoint/2010/main" val="15825485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직사각형 30">
            <a:extLst xmlns:a="http://schemas.openxmlformats.org/drawingml/2006/main">
              <a:ext uri="{FF2B5EF4-FFF2-40B4-BE49-F238E27FC236}">
                <a16:creationId xmlns:a16="http://schemas.microsoft.com/office/drawing/2014/main" id="{E1BDF5A7-F3C7-4E19-8341-FA71685B5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563FF"/>
                </a:solidFill>
              </a:defRPr>
            </a:pPr>
            <a:r>
              <a:rPr sz="1050" b="1">
                <a:solidFill>
                  <a:srgbClr val="2563FF"/>
                </a:solidFill>
              </a:rPr>
              <a:t>AI ANALYSIS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6B59D4DD-303B-4636-9F37-7D729D1E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Gemini는 공고를 읽고, 애플리케이션은 판단을 일관되게 한다</a:t>
            </a:r>
          </a:p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813B25AE-9053-45A4-B290-2F556E66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FCC5115F-1D0A-4802-9F5E-9669A9C3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94A3B8"/>
                </a:solidFill>
              </a:defRPr>
            </a:pPr>
            <a:r>
              <a:rPr sz="975" b="1">
                <a:solidFill>
                  <a:srgbClr val="94A3B8"/>
                </a:solidFill>
              </a:rPr>
              <a:t>07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3D42B75F-177E-45B7-AA5A-7DBD9EC6D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563FF"/>
                </a:solidFill>
              </a:defRPr>
            </a:pPr>
            <a:r>
              <a:rPr sz="1200" b="1">
                <a:solidFill>
                  <a:srgbClr val="2563FF"/>
                </a:solidFill>
              </a:rPr>
              <a:t>01</a:t>
            </a:r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218C8C4F-107B-443D-ABB1-167BCFDC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</a:defRPr>
            </a:pPr>
            <a:r>
              <a:rPr sz="1875" b="1">
                <a:solidFill>
                  <a:srgbClr val="101828"/>
                </a:solidFill>
              </a:rPr>
              <a:t>원문 확보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888F5B3D-60DE-4E29-BA4F-030ABFB1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2247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공지 링크에서 본문을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추출해 분석 준비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EFB0C60B-DD36-4B2B-A38A-264A0CD69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2247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9AD8B6D3-85C4-4C75-AA53-2F4FA8F1E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98120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563FF"/>
                </a:solidFill>
              </a:defRPr>
            </a:pPr>
            <a:r>
              <a:rPr sz="1200" b="1">
                <a:solidFill>
                  <a:srgbClr val="2563FF"/>
                </a:solidFill>
              </a:rPr>
              <a:t>02</a:t>
            </a:r>
          </a:p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A0754217-6526-419D-AE1C-85AD2A4DD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1935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</a:defRPr>
            </a:pPr>
            <a:r>
              <a:rPr sz="1875" b="1">
                <a:solidFill>
                  <a:srgbClr val="101828"/>
                </a:solidFill>
              </a:rPr>
              <a:t>구조화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5EBCAC9F-598B-4D76-9DDA-5FCB4DCE4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009900"/>
            <a:ext cx="2247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제목·기관·마감·조건·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서류·혜택을 JSON으로</a:t>
            </a:r>
          </a:p>
        </p:txBody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C4A52C04-CC3C-4048-999D-C55A85D8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019550"/>
            <a:ext cx="2247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61647A4C-B727-4951-879D-24AA9174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8120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563FF"/>
                </a:solidFill>
              </a:defRPr>
            </a:pPr>
            <a:r>
              <a:rPr sz="1200" b="1">
                <a:solidFill>
                  <a:srgbClr val="2563FF"/>
                </a:solidFill>
              </a:rPr>
              <a:t>03</a:t>
            </a:r>
          </a:p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3AB62123-116E-4E04-BF87-446BD8E4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1935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</a:defRPr>
            </a:pPr>
            <a:r>
              <a:rPr sz="1875" b="1">
                <a:solidFill>
                  <a:srgbClr val="101828"/>
                </a:solidFill>
              </a:rPr>
              <a:t>규칙 매칭</a:t>
            </a:r>
          </a:p>
        </p:txBody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62C51B30-BA12-4D1C-9DD1-9CAB5B01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09900"/>
            <a:ext cx="2247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필수·우대 조건을 분리해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지원 가능성·점수 계산</a:t>
            </a:r>
          </a:p>
        </p:txBody>
      </p:sp>
      <p:sp>
        <p:nvSpPr>
          <p:cNvPr id="17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35131958-42CB-4897-9379-505748E6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9550"/>
            <a:ext cx="2247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5288A320-D204-4874-912E-A4136231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98120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563FF"/>
                </a:solidFill>
              </a:defRPr>
            </a:pPr>
            <a:r>
              <a:rPr sz="1200" b="1">
                <a:solidFill>
                  <a:srgbClr val="2563FF"/>
                </a:solidFill>
              </a:rPr>
              <a:t>04</a:t>
            </a:r>
          </a:p>
        </p:txBody>
      </p:sp>
      <p:sp>
        <p:nvSpPr>
          <p:cNvPr id="19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7F6BA27C-EB3F-4A30-A158-1563AACE0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1935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</a:defRPr>
            </a:pPr>
            <a:r>
              <a:rPr sz="1875" b="1">
                <a:solidFill>
                  <a:srgbClr val="101828"/>
                </a:solidFill>
              </a:rPr>
              <a:t>실행 태스크</a:t>
            </a:r>
          </a:p>
        </p:txBody>
      </p:sp>
      <p:sp>
        <p:nvSpPr>
          <p:cNvPr id="20" name="직사각형 19">
            <a:extLst xmlns:a="http://schemas.openxmlformats.org/drawingml/2006/main">
              <a:ext uri="{FF2B5EF4-FFF2-40B4-BE49-F238E27FC236}">
                <a16:creationId xmlns:a16="http://schemas.microsoft.com/office/drawing/2014/main" id="{8F8D9C27-298E-4483-906C-79F6E35E2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09900"/>
            <a:ext cx="2247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공고 맥락에 맞춰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마감 전 할 일을 생성</a:t>
            </a:r>
          </a:p>
        </p:txBody>
      </p:sp>
      <p:sp>
        <p:nvSpPr>
          <p:cNvPr id="21" name="직사각형 20">
            <a:extLst xmlns:a="http://schemas.openxmlformats.org/drawingml/2006/main">
              <a:ext uri="{FF2B5EF4-FFF2-40B4-BE49-F238E27FC236}">
                <a16:creationId xmlns:a16="http://schemas.microsoft.com/office/drawing/2014/main" id="{C3058C8E-BFF9-492D-9D24-89051376E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19550"/>
            <a:ext cx="2247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4DF4EBFF-CB63-40E7-BA07-4080FE591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8577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opportunity</a:t>
            </a:r>
          </a:p>
        </p:txBody>
      </p:sp>
      <p:sp>
        <p:nvSpPr>
          <p:cNvPr id="25" name="직사각형 24">
            <a:extLst xmlns:a="http://schemas.openxmlformats.org/drawingml/2006/main">
              <a:ext uri="{FF2B5EF4-FFF2-40B4-BE49-F238E27FC236}">
                <a16:creationId xmlns:a16="http://schemas.microsoft.com/office/drawing/2014/main" id="{040BC5AE-53A7-4C9B-B1A9-D68D1FFA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8577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match</a:t>
            </a:r>
          </a:p>
        </p:txBody>
      </p:sp>
      <p:sp>
        <p:nvSpPr>
          <p:cNvPr id="26" name="직사각형 25">
            <a:extLst xmlns:a="http://schemas.openxmlformats.org/drawingml/2006/main">
              <a:ext uri="{FF2B5EF4-FFF2-40B4-BE49-F238E27FC236}">
                <a16:creationId xmlns:a16="http://schemas.microsoft.com/office/drawing/2014/main" id="{B65E68B1-56B8-49B7-9C8E-CF9F44239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577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tasks</a:t>
            </a:r>
          </a:p>
        </p:txBody>
      </p:sp>
      <p:sp>
        <p:nvSpPr>
          <p:cNvPr id="27" name="직사각형 26">
            <a:extLst xmlns:a="http://schemas.openxmlformats.org/drawingml/2006/main">
              <a:ext uri="{FF2B5EF4-FFF2-40B4-BE49-F238E27FC236}">
                <a16:creationId xmlns:a16="http://schemas.microsoft.com/office/drawing/2014/main" id="{DD4EBDD1-FDFC-4E51-BDA7-465A702E6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577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mode</a:t>
            </a:r>
          </a:p>
        </p:txBody>
      </p:sp>
    </p:spTree>
    <p:extLst>
      <p:ext uri="{BB962C8B-B14F-4D97-AF65-F5344CB8AC3E}">
        <p14:creationId xmlns:p14="http://schemas.microsoft.com/office/powerpoint/2010/main" val="12473987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직사각형 22">
            <a:extLst xmlns:a="http://schemas.openxmlformats.org/drawingml/2006/main">
              <a:ext uri="{FF2B5EF4-FFF2-40B4-BE49-F238E27FC236}">
                <a16:creationId xmlns:a16="http://schemas.microsoft.com/office/drawing/2014/main" id="{BDA8B820-6043-46CE-B8D0-E5E4E28A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563FF"/>
                </a:solidFill>
              </a:defRPr>
            </a:pPr>
            <a:r>
              <a:rPr sz="1050" b="1">
                <a:solidFill>
                  <a:srgbClr val="2563FF"/>
                </a:solidFill>
              </a:rPr>
              <a:t>RELIABILITY &amp; SECURITY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20CE4246-D2A4-4B8D-A848-91AC5DC2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외부 요청과 계정 데이터를 두 겹으로 보호</a:t>
            </a:r>
          </a:p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E1917308-BCE6-4BE8-826F-1748B323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C4315882-B9DE-49E5-AB11-7541CC5BB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94A3B8"/>
                </a:solidFill>
              </a:defRPr>
            </a:pPr>
            <a:r>
              <a:rPr sz="975" b="1">
                <a:solidFill>
                  <a:srgbClr val="94A3B8"/>
                </a:solidFill>
              </a:rPr>
              <a:t>08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4CEFB432-75A0-4695-BD41-E532FFAD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F19441C1-51B8-4BCA-9938-F9CB0FC1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62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키·모델 격리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F757772F-9B65-4547-882B-BE3A0EB4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90725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Gemini 키는 Express의 .env에서만 사용하고 브라우저에 전달하지 않음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AF252F54-F180-49E3-86AC-889C68B42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43200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AC02E3EE-A1E5-47FA-AAF4-4BADF7E4F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49D2AF8D-B018-4BAF-A4A2-84087C1C5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14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인증 API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9FEED0B1-D13A-4B80-9787-B45FB92F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43225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분석·추천·탐색은 Bearer token이 있는 로그인 요청만 허용</a:t>
            </a:r>
          </a:p>
        </p:txBody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684144CA-8F24-44C0-B1C5-868187413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5700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112923B8-7918-4EC0-98C2-9B64321C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3D7FC7A4-246F-4892-B609-CC64B92D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67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안전한 URL 수집</a:t>
            </a:r>
          </a:p>
        </p:txBody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B88B48E4-2C82-4A46-8347-CE0A718E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95725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사설 주소 차단 · 리다이렉트 재검증 · 본문 크기와 시간 제한</a:t>
            </a:r>
          </a:p>
        </p:txBody>
      </p:sp>
      <p:sp>
        <p:nvSpPr>
          <p:cNvPr id="17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D526B17D-C7AA-435B-AB64-417B2666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48200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A4C7C238-3FD2-47EB-B19A-1A4B53B2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34D0178E-8E2D-49B5-9141-9740831C8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19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실패와 품질 확인</a:t>
            </a:r>
          </a:p>
        </p:txBody>
      </p:sp>
      <p:sp>
        <p:nvSpPr>
          <p:cNvPr id="20" name="직사각형 19">
            <a:extLst xmlns:a="http://schemas.openxmlformats.org/drawingml/2006/main">
              <a:ext uri="{FF2B5EF4-FFF2-40B4-BE49-F238E27FC236}">
                <a16:creationId xmlns:a16="http://schemas.microsoft.com/office/drawing/2014/main" id="{7EFAFF06-7384-4474-89DB-B5407DB7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48225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mock fallback · 자동 테스트 · 요구사항 검증으로 회귀를 줄임</a:t>
            </a:r>
          </a:p>
        </p:txBody>
      </p:sp>
    </p:spTree>
    <p:extLst>
      <p:ext uri="{BB962C8B-B14F-4D97-AF65-F5344CB8AC3E}">
        <p14:creationId xmlns:p14="http://schemas.microsoft.com/office/powerpoint/2010/main" val="6324191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42BE20D0-4E11-414E-B83B-01C54F44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563FF"/>
                </a:solidFill>
              </a:defRPr>
            </a:pPr>
            <a:r>
              <a:rPr sz="1050" b="1">
                <a:solidFill>
                  <a:srgbClr val="2563FF"/>
                </a:solidFill>
              </a:rPr>
              <a:t>NEXT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FB32851D-5844-4C05-A343-2D3847488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810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01828"/>
                </a:solidFill>
              </a:defRPr>
            </a:pPr>
            <a:r>
              <a:rPr sz="3450" b="1">
                <a:solidFill>
                  <a:srgbClr val="101828"/>
                </a:solidFill>
              </a:rPr>
              <a:t>기능을 쌓는 대신, 검증 가능한 흐름을 만들었다</a:t>
            </a:r>
          </a:p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4AD81408-6847-4E19-B00F-8ED1F0057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DE721BCD-D6AD-40EB-B4AE-844A0FBA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563FF"/>
                </a:solidFill>
              </a:defRPr>
            </a:pPr>
            <a:r>
              <a:rPr sz="1800" b="1">
                <a:solidFill>
                  <a:srgbClr val="2563FF"/>
                </a:solidFill>
              </a:rPr>
              <a:t>현재 구현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439CDA51-ABD6-4E2E-BF19-DB40DB5CA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• 아이디 로그인과 계정별 데이터 분리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• 출처 추천·저장·일괄 스캔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• Gemini 분석·저장 공고·태스크 관리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ED0B2BAB-0E2C-4712-93DC-3522F0326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895600"/>
            <a:ext cx="190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C0FC0C47-A8EA-4F27-97C4-42819F25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956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7C3AED"/>
                </a:solidFill>
              </a:defRPr>
            </a:pPr>
            <a:r>
              <a:rPr sz="1800" b="1">
                <a:solidFill>
                  <a:srgbClr val="7C3AED"/>
                </a:solidFill>
              </a:rPr>
              <a:t>개발 방식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C2DBCEEF-F69A-4E19-8FCA-2A222CC2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48050"/>
            <a:ext cx="4572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1. 요구사항을 Issue로 분해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2. Agent/Skill로 구현·디자인·TDD 지원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</a:defRPr>
            </a:pPr>
            <a:r>
              <a:rPr sz="1425">
                <a:solidFill>
                  <a:srgbClr val="101828"/>
                </a:solidFill>
              </a:rPr>
              <a:t>3. 테스트·배포 점검 후 반복</a:t>
            </a:r>
          </a:p>
        </p:txBody>
      </p:sp>
      <p:sp>
        <p:nvSpPr>
          <p:cNvPr id="9" name="사각형: 둥근 모서리 8">
            <a:extLst xmlns:a="http://schemas.openxmlformats.org/drawingml/2006/main">
              <a:ext uri="{FF2B5EF4-FFF2-40B4-BE49-F238E27FC236}">
                <a16:creationId xmlns:a16="http://schemas.microsoft.com/office/drawing/2014/main" id="{A16113DC-7EC3-44EC-B951-1753B16A6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8204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563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12DEAA77-3087-43BD-9F7A-EBBA451E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24525"/>
            <a:ext cx="1005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UniRadar는 공고 탐색을 ‘발견’에서 ‘지원 준비’로 연결합니다.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18B49C6F-6921-4453-BA26-F84123FE9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94A3B8"/>
                </a:solidFill>
              </a:defRPr>
            </a:pPr>
            <a:r>
              <a:rPr sz="975" b="1">
                <a:solidFill>
                  <a:srgbClr val="94A3B8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306708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2026-07-31T02:58:39.6630000Z</dcterms:created>
  <dcterms:modified xsi:type="dcterms:W3CDTF">2026-07-31T02:58:39.6630000Z</dcterms:modified>
</coreProperties>
</file>