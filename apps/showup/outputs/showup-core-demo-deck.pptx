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2744"/>
                </a:solidFill>
                <a:latin typeface="Arial"/>
              </a:defRPr>
            </a:pPr>
            <a:r>
              <a:rPr sz="3000" b="1">
                <a:solidFill>
                  <a:srgbClr val="0F2744"/>
                </a:solidFill>
                <a:latin typeface="Arial"/>
                <a:ea typeface="Yu Gothic"/>
              </a:rPr>
              <a:t>ShowUp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6309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핵심 기능 시연</a:t>
            </a:r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화면 · 서버 · DB 한 바퀴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096512"/>
            <a:ext cx="292608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40740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76072"/>
                </a:solidFill>
                <a:latin typeface="Arial"/>
              </a:defRPr>
            </a:pPr>
            <a:r>
              <a:rPr sz="1800" b="1">
                <a:solidFill>
                  <a:srgbClr val="476072"/>
                </a:solidFill>
                <a:latin typeface="Arial"/>
                <a:ea typeface="Yu Gothic"/>
              </a:rPr>
              <a:t>이번 주 구현 데모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73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6072"/>
                </a:solidFill>
                <a:latin typeface="Arial"/>
              </a:defRPr>
            </a:pPr>
            <a:r>
              <a:rPr sz="1500">
                <a:solidFill>
                  <a:srgbClr val="476072"/>
                </a:solidFill>
                <a:latin typeface="Arial"/>
                <a:ea typeface="Yu Gothic"/>
              </a:rPr>
              <a:t>2026.07 · N167 채민석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749808"/>
            <a:ext cx="3886200" cy="525780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시연 흐름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96596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  <a:defRPr sz="1700" b="1">
                <a:solidFill>
                  <a:srgbClr val="0F2744"/>
                </a:solidFill>
                <a:latin typeface="Arial"/>
              </a:defRPr>
            </a:pPr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1. 로그인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2. 고객 검색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3. 예약 생성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4. 이벤트 기록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5. 서버 재계산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6. 경고·등급 확인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Arial"/>
              </a:defRPr>
            </a:pPr>
            <a:r>
              <a:rPr sz="2400" b="1">
                <a:solidFill>
                  <a:srgbClr val="0F2744"/>
                </a:solidFill>
                <a:latin typeface="Arial"/>
                <a:ea typeface="Yu Gothic"/>
              </a:rPr>
              <a:t>이번 주에 만든 핵심 기능 5가지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8872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148840" cy="109728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47088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인증·가게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/login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600200"/>
            <a:ext cx="2148840" cy="1097280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47088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고객 검색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/customers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1600200"/>
            <a:ext cx="2148840" cy="109728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847088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예약·상태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/reservations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600200"/>
            <a:ext cx="2148840" cy="1097280"/>
          </a:xfrm>
          <a:prstGeom prst="roundRect">
            <a:avLst/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847088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사건 기록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/customers/:id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600200"/>
            <a:ext cx="2148840" cy="1097280"/>
          </a:xfrm>
          <a:prstGeom prst="roundRect">
            <a:avLst/>
          </a:prstGeom>
          <a:solidFill>
            <a:srgbClr val="E9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847088"/>
            <a:ext cx="2148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위험도·경고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RiskBadge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08960"/>
            <a:ext cx="11475720" cy="2560320"/>
          </a:xfrm>
          <a:prstGeom prst="round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10744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1700" b="1">
                <a:solidFill>
                  <a:srgbClr val="F7F3EA"/>
                </a:solidFill>
                <a:latin typeface="Arial"/>
              </a:defRPr>
            </a:pPr>
            <a:r>
              <a:rPr sz="1700" b="1">
                <a:solidFill>
                  <a:srgbClr val="F7F3EA"/>
                </a:solidFill>
                <a:latin typeface="Arial"/>
                <a:ea typeface="Yu Gothic"/>
              </a:rPr>
              <a:t>핵심 순환:  검색 → 경고 확인 → 예약 → 방문·노쇼·사건 기록 → 서버 재계산 → 다음 검색 반영</a:t>
            </a:r>
            <a:br/>
            <a:br/>
            <a:r>
              <a:rPr sz="1700" b="1">
                <a:solidFill>
                  <a:srgbClr val="F7F3EA"/>
                </a:solidFill>
                <a:latin typeface="Arial"/>
                <a:ea typeface="Yu Gothic"/>
              </a:rPr>
              <a:t>7/13 인증   ·   7/14 고객   ·   7/15 예약·사건   ·   7/16 riskStats 서버화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Arial"/>
              </a:defRPr>
            </a:pPr>
            <a:r>
              <a:rPr sz="2400" b="1">
                <a:solidFill>
                  <a:srgbClr val="0F2744"/>
                </a:solidFill>
                <a:latin typeface="Arial"/>
                <a:ea typeface="Yu Gothic"/>
              </a:rPr>
              <a:t>화면 · 서버 · DB 3계층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8872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835640" cy="96012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0136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744"/>
                </a:solidFill>
                <a:latin typeface="Arial"/>
              </a:defRPr>
            </a:pPr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화면   React 페이지 + services/*.ts   —   Customers · Reservations · CustomerDetail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6700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76072"/>
                </a:solidFill>
                <a:latin typeface="Arial"/>
              </a:defRPr>
            </a:pPr>
            <a:r>
              <a:rPr sz="1400" b="1">
                <a:solidFill>
                  <a:srgbClr val="476072"/>
                </a:solidFill>
                <a:latin typeface="Arial"/>
                <a:ea typeface="Yu Gothic"/>
              </a:rPr>
              <a:t>↓  Firebase SDK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00400"/>
            <a:ext cx="10835640" cy="960120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4728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744"/>
                </a:solidFill>
                <a:latin typeface="Arial"/>
              </a:defRPr>
            </a:pPr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DB   Firestore   stores/{uid}/customers · reservations · incidents   (storeId = user.uid)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159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76072"/>
                </a:solidFill>
                <a:latin typeface="Arial"/>
              </a:defRPr>
            </a:pPr>
            <a:r>
              <a:rPr sz="1400" b="1">
                <a:solidFill>
                  <a:srgbClr val="476072"/>
                </a:solidFill>
                <a:latin typeface="Arial"/>
                <a:ea typeface="Yu Gothic"/>
              </a:rPr>
              <a:t>↓  onDocumentWritten 트리거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46320"/>
            <a:ext cx="10835640" cy="96012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09320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서버   Cloud Functions   recalculateRiskOnReservationChange · ...OnIncidentChange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Arial"/>
              </a:defRPr>
            </a:pPr>
            <a:r>
              <a:rPr sz="2400" b="1">
                <a:solidFill>
                  <a:srgbClr val="0F2744"/>
                </a:solidFill>
                <a:latin typeface="Arial"/>
                <a:ea typeface="Yu Gothic"/>
              </a:rPr>
              <a:t>시연 한 바퀴 — 6단계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8872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783080" cy="214884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500" b="1">
                <a:solidFill>
                  <a:srgbClr val="0F2744"/>
                </a:solidFill>
                <a:latin typeface="Arial"/>
              </a:defRPr>
            </a:pPr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1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로그인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Auth</a:t>
            </a:r>
          </a:p>
        </p:txBody>
      </p:sp>
      <p:sp>
        <p:nvSpPr>
          <p:cNvPr id="8" name="Chevron 7"/>
          <p:cNvSpPr/>
          <p:nvPr/>
        </p:nvSpPr>
        <p:spPr>
          <a:xfrm>
            <a:off x="2578608" y="2468880"/>
            <a:ext cx="411480" cy="411480"/>
          </a:xfrm>
          <a:prstGeom prst="chevron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90672" y="1600200"/>
            <a:ext cx="1783080" cy="2148840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214884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500" b="1">
                <a:solidFill>
                  <a:srgbClr val="0F2744"/>
                </a:solidFill>
                <a:latin typeface="Arial"/>
              </a:defRPr>
            </a:pPr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2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고객 검색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검색·마스킹</a:t>
            </a:r>
          </a:p>
        </p:txBody>
      </p:sp>
      <p:sp>
        <p:nvSpPr>
          <p:cNvPr id="11" name="Chevron 10"/>
          <p:cNvSpPr/>
          <p:nvPr/>
        </p:nvSpPr>
        <p:spPr>
          <a:xfrm>
            <a:off x="4983480" y="2468880"/>
            <a:ext cx="411480" cy="411480"/>
          </a:xfrm>
          <a:prstGeom prst="chevron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95544" y="1600200"/>
            <a:ext cx="1783080" cy="214884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95544" y="214884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500" b="1">
                <a:solidFill>
                  <a:srgbClr val="0F2744"/>
                </a:solidFill>
                <a:latin typeface="Arial"/>
              </a:defRPr>
            </a:pPr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3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예약 생성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예약 문서</a:t>
            </a:r>
          </a:p>
        </p:txBody>
      </p:sp>
      <p:sp>
        <p:nvSpPr>
          <p:cNvPr id="14" name="Chevron 13"/>
          <p:cNvSpPr/>
          <p:nvPr/>
        </p:nvSpPr>
        <p:spPr>
          <a:xfrm>
            <a:off x="7388352" y="2468880"/>
            <a:ext cx="411480" cy="411480"/>
          </a:xfrm>
          <a:prstGeom prst="chevron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00416" y="1600200"/>
            <a:ext cx="1783080" cy="2148840"/>
          </a:xfrm>
          <a:prstGeom prst="roundRect">
            <a:avLst/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416" y="214884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500" b="1">
                <a:solidFill>
                  <a:srgbClr val="0F2744"/>
                </a:solidFill>
                <a:latin typeface="Arial"/>
              </a:defRPr>
            </a:pPr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4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이벤트 기록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노쇼·사건</a:t>
            </a:r>
          </a:p>
        </p:txBody>
      </p:sp>
      <p:sp>
        <p:nvSpPr>
          <p:cNvPr id="17" name="Chevron 16"/>
          <p:cNvSpPr/>
          <p:nvPr/>
        </p:nvSpPr>
        <p:spPr>
          <a:xfrm>
            <a:off x="9793224" y="2468880"/>
            <a:ext cx="411480" cy="411480"/>
          </a:xfrm>
          <a:prstGeom prst="chevron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05288" y="1600200"/>
            <a:ext cx="1783080" cy="2148840"/>
          </a:xfrm>
          <a:prstGeom prst="roundRect">
            <a:avLst/>
          </a:prstGeom>
          <a:solidFill>
            <a:srgbClr val="E9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5288" y="214884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500" b="1">
                <a:solidFill>
                  <a:srgbClr val="0F2744"/>
                </a:solidFill>
                <a:latin typeface="Arial"/>
              </a:defRPr>
            </a:pPr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5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서버 재계산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CF 트리거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51960"/>
            <a:ext cx="11402568" cy="1417320"/>
          </a:xfrm>
          <a:prstGeom prst="round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7091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F3EA"/>
                </a:solidFill>
                <a:latin typeface="Arial"/>
              </a:defRPr>
            </a:pPr>
            <a:r>
              <a:rPr sz="1700" b="1">
                <a:solidFill>
                  <a:srgbClr val="F7F3EA"/>
                </a:solidFill>
                <a:latin typeface="Arial"/>
                <a:ea typeface="Yu Gothic"/>
              </a:rPr>
              <a:t>6. 화면 반영 — RiskBadge 등급 변경 · RiskAlertBanner(노쇼 3+ / abuse 1+)  →  다시 검색으로 순환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Act 1–2 | 로그인 → 고객 검색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8872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49240" cy="416052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defRPr sz="1500" b="1">
                <a:solidFill>
                  <a:srgbClr val="0F2744"/>
                </a:solidFill>
                <a:latin typeface="Arial"/>
              </a:defRPr>
            </a:pPr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화면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/login → signIn()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/register → signUp() + createStore()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ProtectedRoute → /dashboard</a:t>
            </a:r>
            <a:br/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DB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stores/{uid} 문서 생성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ownerUid = Auth uid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49240" cy="4160520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874519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defRPr sz="1500" b="1">
                <a:solidFill>
                  <a:srgbClr val="0F2744"/>
                </a:solidFill>
                <a:latin typeface="Arial"/>
              </a:defRPr>
            </a:pPr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화면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/customers → 이름·뒤4자리 입력</a:t>
            </a:r>
            <a:br/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서비스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searchCustomers(storeId, keyword)</a:t>
            </a:r>
            <a:br/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DB 읽기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stores/{uid}/customers</a:t>
            </a:r>
            <a:br/>
            <a:r>
              <a:rPr sz="1500" b="1">
                <a:solidFill>
                  <a:srgbClr val="0F2744"/>
                </a:solidFill>
                <a:latin typeface="Arial"/>
                <a:ea typeface="Yu Gothic"/>
              </a:rPr>
              <a:t>phone 마스킹 후 표시 · RiskBadge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Act 3–4 | 예약 생성 → 이벤트 기록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8872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49240" cy="1874519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/reservations/new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createReservation()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→ reservations/{resId}  status: pending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49240" cy="1874519"/>
          </a:xfrm>
          <a:prstGeom prst="roundRect">
            <a:avLst/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/reservations → 노쇼 버튼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transitionReservationStatus()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/customers/:id → 사건 기록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createIncident() 4종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11880"/>
            <a:ext cx="10927080" cy="2148840"/>
          </a:xfrm>
          <a:prstGeom prst="round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233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600" b="1">
                <a:solidFill>
                  <a:srgbClr val="F7F3EA"/>
                </a:solidFill>
                <a:latin typeface="Arial"/>
              </a:defRPr>
            </a:pPr>
            <a:r>
              <a:rPr sz="1600" b="1">
                <a:solidFill>
                  <a:srgbClr val="F7F3EA"/>
                </a:solidFill>
                <a:latin typeface="Arial"/>
                <a:ea typeface="Yu Gothic"/>
              </a:rPr>
              <a:t>예약·사건 문서가 write 되면 → Cloud Functions 트리거 발동</a:t>
            </a:r>
            <a:br/>
            <a:r>
              <a:rPr sz="1600" b="1">
                <a:solidFill>
                  <a:srgbClr val="F7F3EA"/>
                </a:solidFill>
                <a:latin typeface="Arial"/>
                <a:ea typeface="Yu Gothic"/>
              </a:rPr>
              <a:t>recalculateRiskOnReservationChange · recalculateRiskOnIncidentChange</a:t>
            </a:r>
            <a:br/>
            <a:r>
              <a:rPr sz="1600" b="1">
                <a:solidFill>
                  <a:srgbClr val="F7F3EA"/>
                </a:solidFill>
                <a:latin typeface="Arial"/>
                <a:ea typeface="Yu Gothic"/>
              </a:rPr>
              <a:t>calculateRiskStats() → customers/{id}.riskStats 업데이트 (클라이언트 쓰기 차단)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Act 5–6 | 위험도 반영 · 보안 경계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8872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487168" cy="123444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24871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1800" b="1">
                <a:solidFill>
                  <a:srgbClr val="0F2744"/>
                </a:solidFill>
                <a:latin typeface="Arial"/>
              </a:defRPr>
            </a:pPr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+8</a:t>
            </a:r>
            <a:br/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노쇼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417320"/>
            <a:ext cx="2487168" cy="1234440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691640"/>
            <a:ext cx="24871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1800" b="1">
                <a:solidFill>
                  <a:srgbClr val="0F2744"/>
                </a:solidFill>
                <a:latin typeface="Arial"/>
              </a:defRPr>
            </a:pPr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+4</a:t>
            </a:r>
            <a:br/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당일 취소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7336" y="1417320"/>
            <a:ext cx="2487168" cy="123444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17336" y="1691640"/>
            <a:ext cx="24871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1800" b="1">
                <a:solidFill>
                  <a:srgbClr val="0F2744"/>
                </a:solidFill>
                <a:latin typeface="Arial"/>
              </a:defRPr>
            </a:pPr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−1</a:t>
            </a:r>
            <a:br/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정상 방문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3104" y="1417320"/>
            <a:ext cx="2487168" cy="1234440"/>
          </a:xfrm>
          <a:prstGeom prst="roundRect">
            <a:avLst/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3104" y="1691640"/>
            <a:ext cx="24871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1800" b="1">
                <a:solidFill>
                  <a:srgbClr val="0F2744"/>
                </a:solidFill>
                <a:latin typeface="Arial"/>
              </a:defRPr>
            </a:pPr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+10</a:t>
            </a:r>
            <a:br/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abuse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5349240" cy="1417320"/>
          </a:xfrm>
          <a:prstGeom prst="roundRect">
            <a:avLst/>
          </a:prstGeom>
          <a:solidFill>
            <a:srgbClr val="E9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4709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0–23 안심 · 24–39 주의 · 40+ 위험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노쇼 3+ 또는 abuse 1+ → 경고 배너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971800"/>
            <a:ext cx="5349240" cy="1417320"/>
          </a:xfrm>
          <a:prstGeom prst="round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4709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 b="1">
                <a:solidFill>
                  <a:srgbClr val="F7F3EA"/>
                </a:solidFill>
                <a:latin typeface="Arial"/>
              </a:defRPr>
            </a:pPr>
            <a:r>
              <a:rPr sz="1600" b="1">
                <a:solidFill>
                  <a:srgbClr val="F7F3EA"/>
                </a:solidFill>
                <a:latin typeface="Arial"/>
                <a:ea typeface="Yu Gothic"/>
              </a:rPr>
              <a:t>보안: riskStats 클라이언트 쓰기 차단</a:t>
            </a:r>
            <a:br/>
            <a:r>
              <a:rPr sz="1600" b="1">
                <a:solidFill>
                  <a:srgbClr val="F7F3EA"/>
                </a:solidFill>
                <a:latin typeface="Arial"/>
                <a:ea typeface="Yu Gothic"/>
              </a:rPr>
              <a:t>전화 마스킹 · 가게 격리 · 침투 8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09160"/>
            <a:ext cx="10927080" cy="100584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017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자동 차단 없음 — 참고 지표로 사장님 판단 지원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Firestore 구조 (storeId = user.uid)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8872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927080" cy="416052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stores/{storeId}/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  ├─ customers/{customerId}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  │     name, phone, phoneLast4, riskStats{ score, noShowCount, ... }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  │     └─ incidents/{incidentId}    type, memo, occurredAt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  └─ reservations/{reservationId}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        customerId, date, time, status, cancelledSameDay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457200"/>
          </a:xfrm>
          <a:prstGeom prst="rect">
            <a:avLst/>
          </a:prstGeom>
          <a:noFill/>
        </p:spPr>
        <p:txBody>
          <a:bodyPr wrap="square" anchor="b">
            <a:normAutofit fontScale="60000"/>
          </a:bodyPr>
          <a:lstStyle/>
          <a:p>
            <a:pPr>
              <a:defRPr sz="2200" b="1">
                <a:solidFill>
                  <a:srgbClr val="051C2C"/>
                </a:solidFill>
                <a:latin typeface="Arial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45775" cy="1828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01168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  <a:defRPr sz="2800" b="1">
                <a:solidFill>
                  <a:srgbClr val="F7F3EA"/>
                </a:solidFill>
                <a:latin typeface="Arial"/>
              </a:defRPr>
            </a:pPr>
            <a:r>
              <a:rPr sz="2800" b="1">
                <a:solidFill>
                  <a:srgbClr val="F7F3EA"/>
                </a:solidFill>
                <a:latin typeface="Arial"/>
                <a:ea typeface="Yu Gothic"/>
              </a:rPr>
              <a:t>검색 → 기록 → 서버 재계산</a:t>
            </a:r>
            <a:br/>
            <a:r>
              <a:rPr sz="2800" b="1">
                <a:solidFill>
                  <a:srgbClr val="F7F3EA"/>
                </a:solidFill>
                <a:latin typeface="Arial"/>
                <a:ea typeface="Yu Gothic"/>
              </a:rPr>
              <a:t>한 바퀴가 돕니다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8C9D9"/>
                </a:solidFill>
                <a:latin typeface="Arial"/>
              </a:defRPr>
            </a:pPr>
            <a:r>
              <a:rPr sz="1800">
                <a:solidFill>
                  <a:srgbClr val="B8C9D9"/>
                </a:solidFill>
                <a:latin typeface="Arial"/>
                <a:ea typeface="Yu Gothic"/>
              </a:rPr>
              <a:t>라이브 데모 시작 · 질문 환영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27A"/>
                </a:solidFill>
                <a:latin typeface="Arial"/>
              </a:defRPr>
            </a:pPr>
            <a:r>
              <a:rPr sz="1500" b="1">
                <a:solidFill>
                  <a:srgbClr val="E8C27A"/>
                </a:solidFill>
                <a:latin typeface="Arial"/>
                <a:ea typeface="Yu Gothic"/>
              </a:rPr>
              <a:t>npm run dev + (권장) Functions 에뮬레이터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34440"/>
            <a:ext cx="3657600" cy="4389120"/>
          </a:xfrm>
          <a:prstGeom prst="round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E7CB1"/>
                </a:solidFill>
                <a:latin typeface="Arial"/>
              </a:defRPr>
            </a:pPr>
            <a:r>
              <a:rPr sz="1500" b="1">
                <a:solidFill>
                  <a:srgbClr val="3E7CB1"/>
                </a:solidFill>
                <a:latin typeface="Arial"/>
                <a:ea typeface="Yu Gothic"/>
              </a:rPr>
              <a:t>시연 체크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9456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defRPr sz="1500" b="1">
                <a:solidFill>
                  <a:srgbClr val="F7F3EA"/>
                </a:solidFill>
                <a:latin typeface="Arial"/>
              </a:defRPr>
            </a:pPr>
            <a:r>
              <a:rPr sz="1500" b="1">
                <a:solidFill>
                  <a:srgbClr val="F7F3EA"/>
                </a:solidFill>
                <a:latin typeface="Arial"/>
                <a:ea typeface="Yu Gothic"/>
              </a:rPr>
              <a:t>✓ 로그인</a:t>
            </a:r>
            <a:br/>
            <a:r>
              <a:rPr sz="1500" b="1">
                <a:solidFill>
                  <a:srgbClr val="F7F3EA"/>
                </a:solidFill>
                <a:latin typeface="Arial"/>
                <a:ea typeface="Yu Gothic"/>
              </a:rPr>
              <a:t>✓ 고객 검색</a:t>
            </a:r>
            <a:br/>
            <a:r>
              <a:rPr sz="1500" b="1">
                <a:solidFill>
                  <a:srgbClr val="F7F3EA"/>
                </a:solidFill>
                <a:latin typeface="Arial"/>
                <a:ea typeface="Yu Gothic"/>
              </a:rPr>
              <a:t>✓ 예약 생성</a:t>
            </a:r>
            <a:br/>
            <a:r>
              <a:rPr sz="1500" b="1">
                <a:solidFill>
                  <a:srgbClr val="F7F3EA"/>
                </a:solidFill>
                <a:latin typeface="Arial"/>
                <a:ea typeface="Yu Gothic"/>
              </a:rPr>
              <a:t>✓ 노쇼·사건 기록</a:t>
            </a:r>
            <a:br/>
            <a:r>
              <a:rPr sz="1500" b="1">
                <a:solidFill>
                  <a:srgbClr val="F7F3EA"/>
                </a:solidFill>
                <a:latin typeface="Arial"/>
                <a:ea typeface="Yu Gothic"/>
              </a:rPr>
              <a:t>✓ 등급·배너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