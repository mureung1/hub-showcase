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8368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2744"/>
                </a:solidFill>
                <a:latin typeface="Arial"/>
              </a:defRPr>
            </a:pPr>
            <a:r>
              <a:rPr sz="3000" b="1">
                <a:solidFill>
                  <a:srgbClr val="0F2744"/>
                </a:solidFill>
                <a:latin typeface="Arial"/>
                <a:ea typeface="Yu Gothic"/>
              </a:rPr>
              <a:t>ShowUp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572768"/>
            <a:ext cx="6126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744"/>
                </a:solidFill>
                <a:latin typeface="Arial"/>
              </a:defRPr>
            </a:pPr>
            <a:r>
              <a:rPr sz="2200" b="1">
                <a:solidFill>
                  <a:srgbClr val="0F2744"/>
                </a:solidFill>
                <a:latin typeface="Arial"/>
                <a:ea typeface="Yu Gothic"/>
              </a:rPr>
              <a:t>소상공인을 위한 노쇼·고객 이력 관리와 위험도 경고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4160520"/>
            <a:ext cx="3383280" cy="45720"/>
          </a:xfrm>
          <a:prstGeom prst="rect">
            <a:avLst/>
          </a:prstGeom>
          <a:solidFill>
            <a:srgbClr val="3E7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49884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76072"/>
                </a:solidFill>
                <a:latin typeface="Arial"/>
              </a:defRPr>
            </a:pPr>
            <a:r>
              <a:rPr sz="1800" b="1">
                <a:solidFill>
                  <a:srgbClr val="476072"/>
                </a:solidFill>
                <a:latin typeface="Arial"/>
                <a:ea typeface="Yu Gothic"/>
              </a:rPr>
              <a:t>Week 1·2 통합 과정 데모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9204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B7280"/>
                </a:solidFill>
                <a:latin typeface="Arial"/>
              </a:defRPr>
            </a:pPr>
            <a:r>
              <a:rPr sz="1500">
                <a:solidFill>
                  <a:srgbClr val="6B7280"/>
                </a:solidFill>
                <a:latin typeface="Arial"/>
                <a:ea typeface="Yu Gothic"/>
              </a:rPr>
              <a:t>2026.07 · N167 채민석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777240"/>
            <a:ext cx="3749039" cy="5212080"/>
          </a:xfrm>
          <a:prstGeom prst="round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234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CE8F2"/>
                </a:solidFill>
                <a:latin typeface="Arial"/>
              </a:defRPr>
            </a:pPr>
            <a:r>
              <a:rPr sz="1800" b="1">
                <a:solidFill>
                  <a:srgbClr val="DCE8F2"/>
                </a:solidFill>
                <a:latin typeface="Arial"/>
                <a:ea typeface="Yu Gothic"/>
              </a:rPr>
              <a:t>핵심 경험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1783080"/>
            <a:ext cx="2834640" cy="804672"/>
          </a:xfrm>
          <a:prstGeom prst="roundRect">
            <a:avLst/>
          </a:prstGeom>
          <a:solidFill>
            <a:srgbClr val="DC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01168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2744"/>
                </a:solidFill>
                <a:latin typeface="Arial"/>
              </a:defRPr>
            </a:pPr>
            <a:r>
              <a:rPr sz="1700" b="1">
                <a:solidFill>
                  <a:srgbClr val="0F2744"/>
                </a:solidFill>
                <a:latin typeface="Arial"/>
                <a:ea typeface="Yu Gothic"/>
              </a:rPr>
              <a:t>검색</a:t>
            </a:r>
            <a:br/>
            <a:r>
              <a:rPr sz="1700" b="1">
                <a:solidFill>
                  <a:srgbClr val="0F2744"/>
                </a:solidFill>
                <a:latin typeface="Arial"/>
                <a:ea typeface="Yu Gothic"/>
              </a:rPr>
              <a:t>전화 뒤 4자리·이름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2834640"/>
            <a:ext cx="2834640" cy="804672"/>
          </a:xfrm>
          <a:prstGeom prst="roundRect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30906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D3B09"/>
                </a:solidFill>
                <a:latin typeface="Arial"/>
              </a:defRPr>
            </a:pPr>
            <a:r>
              <a:rPr sz="1800" b="1">
                <a:solidFill>
                  <a:srgbClr val="6D3B09"/>
                </a:solidFill>
                <a:latin typeface="Arial"/>
                <a:ea typeface="Yu Gothic"/>
              </a:rPr>
              <a:t>위험도 경고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3886200"/>
            <a:ext cx="2834640" cy="1078992"/>
          </a:xfrm>
          <a:prstGeom prst="roundRect">
            <a:avLst/>
          </a:prstGeom>
          <a:solidFill>
            <a:srgbClr val="E9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11480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2744"/>
                </a:solidFill>
                <a:latin typeface="Arial"/>
              </a:defRPr>
            </a:pPr>
            <a:r>
              <a:rPr sz="1700" b="1">
                <a:solidFill>
                  <a:srgbClr val="0F2744"/>
                </a:solidFill>
                <a:latin typeface="Arial"/>
                <a:ea typeface="Yu Gothic"/>
              </a:rPr>
              <a:t>방문 / 노쇼 /</a:t>
            </a:r>
            <a:br/>
            <a:r>
              <a:rPr sz="1700" b="1">
                <a:solidFill>
                  <a:srgbClr val="0F2744"/>
                </a:solidFill>
                <a:latin typeface="Arial"/>
                <a:ea typeface="Yu Gothic"/>
              </a:rPr>
              <a:t>사건 기록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38912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744"/>
                </a:solidFill>
                <a:latin typeface="Arial"/>
              </a:defRPr>
            </a:pPr>
            <a:r>
              <a:rPr sz="2600" b="1">
                <a:solidFill>
                  <a:srgbClr val="0F2744"/>
                </a:solidFill>
                <a:latin typeface="Arial"/>
                <a:ea typeface="Yu Gothic"/>
              </a:rPr>
              <a:t>문제는 예약 접수가 아니라, 반복 피해를 미리 알 수 없다는 점입니다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51560"/>
            <a:ext cx="1280160" cy="45720"/>
          </a:xfrm>
          <a:prstGeom prst="rect">
            <a:avLst/>
          </a:prstGeom>
          <a:solidFill>
            <a:srgbClr val="3E7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3429000" cy="3246120"/>
          </a:xfrm>
          <a:prstGeom prst="roundRect">
            <a:avLst/>
          </a:prstGeom>
          <a:solidFill>
            <a:srgbClr val="FD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93852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D1F1F"/>
                </a:solidFill>
                <a:latin typeface="Arial"/>
              </a:defRPr>
            </a:pPr>
            <a:r>
              <a:rPr sz="1800" b="1">
                <a:solidFill>
                  <a:srgbClr val="8D1F1F"/>
                </a:solidFill>
                <a:latin typeface="Arial"/>
                <a:ea typeface="Yu Gothic"/>
              </a:rPr>
              <a:t>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377440"/>
            <a:ext cx="27432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2744"/>
                </a:solidFill>
                <a:latin typeface="Arial"/>
              </a:defRPr>
            </a:pPr>
            <a:r>
              <a:rPr sz="2400" b="1">
                <a:solidFill>
                  <a:srgbClr val="0F2744"/>
                </a:solidFill>
                <a:latin typeface="Arial"/>
                <a:ea typeface="Yu Gothic"/>
              </a:rPr>
              <a:t>노쇼·분쟁 이력을</a:t>
            </a:r>
            <a:br/>
            <a:r>
              <a:rPr sz="2400" b="1">
                <a:solidFill>
                  <a:srgbClr val="0F2744"/>
                </a:solidFill>
                <a:latin typeface="Arial"/>
                <a:ea typeface="Yu Gothic"/>
              </a:rPr>
              <a:t>예약 전에 확인할 수단이 부족합니다.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429000" cy="3246120"/>
          </a:xfrm>
          <a:prstGeom prst="roundRect">
            <a:avLst/>
          </a:prstGeom>
          <a:solidFill>
            <a:srgbClr val="E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193852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76B4D"/>
                </a:solidFill>
                <a:latin typeface="Arial"/>
              </a:defRPr>
            </a:pPr>
            <a:r>
              <a:rPr sz="1800" b="1">
                <a:solidFill>
                  <a:srgbClr val="176B4D"/>
                </a:solidFill>
                <a:latin typeface="Arial"/>
                <a:ea typeface="Yu Gothic"/>
              </a:rPr>
              <a:t>해결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0872" y="2377440"/>
            <a:ext cx="27432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2744"/>
                </a:solidFill>
                <a:latin typeface="Arial"/>
              </a:defRPr>
            </a:pPr>
            <a:r>
              <a:rPr sz="2300" b="1">
                <a:solidFill>
                  <a:srgbClr val="0F2744"/>
                </a:solidFill>
                <a:latin typeface="Arial"/>
                <a:ea typeface="Yu Gothic"/>
              </a:rPr>
              <a:t>위험도를 참고 지표로 제시해</a:t>
            </a:r>
            <a:br/>
            <a:r>
              <a:rPr sz="2300" b="1">
                <a:solidFill>
                  <a:srgbClr val="0F2744"/>
                </a:solidFill>
                <a:latin typeface="Arial"/>
                <a:ea typeface="Yu Gothic"/>
              </a:rPr>
              <a:t>사장님의 판단을 지원합니다.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645920"/>
            <a:ext cx="3429000" cy="3246120"/>
          </a:xfrm>
          <a:prstGeom prst="roundRect">
            <a:avLst/>
          </a:prstGeom>
          <a:solidFill>
            <a:srgbClr val="FF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193852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9A4B09"/>
                </a:solidFill>
                <a:latin typeface="Arial"/>
              </a:defRPr>
            </a:pPr>
            <a:r>
              <a:rPr sz="1800" b="1">
                <a:solidFill>
                  <a:srgbClr val="9A4B09"/>
                </a:solidFill>
                <a:latin typeface="Arial"/>
                <a:ea typeface="Yu Gothic"/>
              </a:rPr>
              <a:t>원칙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2331720"/>
            <a:ext cx="2743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2744"/>
                </a:solidFill>
                <a:latin typeface="Arial"/>
              </a:defRPr>
            </a:pPr>
            <a:r>
              <a:rPr sz="2300" b="1">
                <a:solidFill>
                  <a:srgbClr val="0F2744"/>
                </a:solidFill>
                <a:latin typeface="Arial"/>
                <a:ea typeface="Yu Gothic"/>
              </a:rPr>
              <a:t>자동 차단 금지</a:t>
            </a:r>
            <a:br/>
            <a:r>
              <a:rPr sz="2300" b="1">
                <a:solidFill>
                  <a:srgbClr val="0F2744"/>
                </a:solidFill>
                <a:latin typeface="Arial"/>
                <a:ea typeface="Yu Gothic"/>
              </a:rPr>
              <a:t>가게 간 공유 없음</a:t>
            </a:r>
            <a:br/>
            <a:r>
              <a:rPr sz="2300" b="1">
                <a:solidFill>
                  <a:srgbClr val="0F2744"/>
                </a:solidFill>
                <a:latin typeface="Arial"/>
                <a:ea typeface="Yu Gothic"/>
              </a:rPr>
              <a:t>최종 판단은 사람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38912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744"/>
                </a:solidFill>
                <a:latin typeface="Arial"/>
              </a:defRPr>
            </a:pPr>
            <a:r>
              <a:rPr sz="2600" b="1">
                <a:solidFill>
                  <a:srgbClr val="0F2744"/>
                </a:solidFill>
                <a:latin typeface="Arial"/>
                <a:ea typeface="Yu Gothic"/>
              </a:rPr>
              <a:t>4개 역할 세션으로 기획·구현·보안을 병렬 관리했습니다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51560"/>
            <a:ext cx="1280160" cy="45720"/>
          </a:xfrm>
          <a:prstGeom prst="rect">
            <a:avLst/>
          </a:prstGeom>
          <a:solidFill>
            <a:srgbClr val="3E7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2468880" cy="3108960"/>
          </a:xfrm>
          <a:prstGeom prst="roundRect">
            <a:avLst/>
          </a:prstGeom>
          <a:solidFill>
            <a:srgbClr val="DC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65960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2744"/>
                </a:solidFill>
                <a:latin typeface="Arial"/>
              </a:defRPr>
            </a:pPr>
            <a:r>
              <a:rPr sz="1900" b="1">
                <a:solidFill>
                  <a:srgbClr val="0F2744"/>
                </a:solidFill>
                <a:latin typeface="Arial"/>
                <a:ea typeface="Yu Gothic"/>
              </a:rPr>
              <a:t>LEAD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04288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76072"/>
                </a:solidFill>
                <a:latin typeface="Arial"/>
              </a:defRPr>
            </a:pPr>
            <a:r>
              <a:rPr sz="1300" b="1">
                <a:solidFill>
                  <a:srgbClr val="476072"/>
                </a:solidFill>
                <a:latin typeface="Arial"/>
                <a:ea typeface="Yu Gothic"/>
              </a:rPr>
              <a:t>GLM 5.2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61488"/>
            <a:ext cx="18745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744"/>
                </a:solidFill>
                <a:latin typeface="Arial"/>
              </a:defRPr>
            </a:pPr>
            <a:r>
              <a:rPr sz="1800" b="1">
                <a:solidFill>
                  <a:srgbClr val="0F2744"/>
                </a:solidFill>
                <a:latin typeface="Arial"/>
                <a:ea typeface="Yu Gothic"/>
              </a:rPr>
              <a:t>기획</a:t>
            </a:r>
            <a:br/>
            <a:r>
              <a:rPr sz="1800" b="1">
                <a:solidFill>
                  <a:srgbClr val="0F2744"/>
                </a:solidFill>
                <a:latin typeface="Arial"/>
                <a:ea typeface="Yu Gothic"/>
              </a:rPr>
              <a:t>일정 조정</a:t>
            </a:r>
            <a:br/>
            <a:r>
              <a:rPr sz="1800" b="1">
                <a:solidFill>
                  <a:srgbClr val="0F2744"/>
                </a:solidFill>
                <a:latin typeface="Arial"/>
                <a:ea typeface="Yu Gothic"/>
              </a:rPr>
              <a:t>인터페이스</a:t>
            </a:r>
            <a:br/>
            <a:r>
              <a:rPr sz="1800" b="1">
                <a:solidFill>
                  <a:srgbClr val="0F2744"/>
                </a:solidFill>
                <a:latin typeface="Arial"/>
                <a:ea typeface="Yu Gothic"/>
              </a:rPr>
              <a:t>통합 QA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645920"/>
            <a:ext cx="2468880" cy="3108960"/>
          </a:xfrm>
          <a:prstGeom prst="roundRect">
            <a:avLst/>
          </a:prstGeom>
          <a:solidFill>
            <a:srgbClr val="E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965960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2744"/>
                </a:solidFill>
                <a:latin typeface="Arial"/>
              </a:defRPr>
            </a:pPr>
            <a:r>
              <a:rPr sz="1900" b="1">
                <a:solidFill>
                  <a:srgbClr val="0F2744"/>
                </a:solidFill>
                <a:latin typeface="Arial"/>
                <a:ea typeface="Yu Gothic"/>
              </a:rPr>
              <a:t>FE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304288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76072"/>
                </a:solidFill>
                <a:latin typeface="Arial"/>
              </a:defRPr>
            </a:pPr>
            <a:r>
              <a:rPr sz="1300" b="1">
                <a:solidFill>
                  <a:srgbClr val="476072"/>
                </a:solidFill>
                <a:latin typeface="Arial"/>
                <a:ea typeface="Yu Gothic"/>
              </a:rPr>
              <a:t>Qwen 3.5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761488"/>
            <a:ext cx="18745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744"/>
                </a:solidFill>
                <a:latin typeface="Arial"/>
              </a:defRPr>
            </a:pPr>
            <a:r>
              <a:rPr sz="1800" b="1">
                <a:solidFill>
                  <a:srgbClr val="0F2744"/>
                </a:solidFill>
                <a:latin typeface="Arial"/>
                <a:ea typeface="Yu Gothic"/>
              </a:rPr>
              <a:t>화면</a:t>
            </a:r>
            <a:br/>
            <a:r>
              <a:rPr sz="1800" b="1">
                <a:solidFill>
                  <a:srgbClr val="0F2744"/>
                </a:solidFill>
                <a:latin typeface="Arial"/>
                <a:ea typeface="Yu Gothic"/>
              </a:rPr>
              <a:t>폼</a:t>
            </a:r>
            <a:br/>
            <a:r>
              <a:rPr sz="1800" b="1">
                <a:solidFill>
                  <a:srgbClr val="0F2744"/>
                </a:solidFill>
                <a:latin typeface="Arial"/>
                <a:ea typeface="Yu Gothic"/>
              </a:rPr>
              <a:t>반응형 UI</a:t>
            </a:r>
            <a:br/>
            <a:r>
              <a:rPr sz="1800" b="1">
                <a:solidFill>
                  <a:srgbClr val="0F2744"/>
                </a:solidFill>
                <a:latin typeface="Arial"/>
                <a:ea typeface="Yu Gothic"/>
              </a:rPr>
              <a:t>상태 표현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645920"/>
            <a:ext cx="2468880" cy="3108960"/>
          </a:xfrm>
          <a:prstGeom prst="roundRect">
            <a:avLst/>
          </a:prstGeom>
          <a:solidFill>
            <a:srgbClr val="FF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965960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2744"/>
                </a:solidFill>
                <a:latin typeface="Arial"/>
              </a:defRPr>
            </a:pPr>
            <a:r>
              <a:rPr sz="1900" b="1">
                <a:solidFill>
                  <a:srgbClr val="0F2744"/>
                </a:solidFill>
                <a:latin typeface="Arial"/>
                <a:ea typeface="Yu Gothic"/>
              </a:rPr>
              <a:t>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304288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76072"/>
                </a:solidFill>
                <a:latin typeface="Arial"/>
              </a:defRPr>
            </a:pPr>
            <a:r>
              <a:rPr sz="1300" b="1">
                <a:solidFill>
                  <a:srgbClr val="476072"/>
                </a:solidFill>
                <a:latin typeface="Arial"/>
                <a:ea typeface="Yu Gothic"/>
              </a:rPr>
              <a:t>Kimi K2.7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761488"/>
            <a:ext cx="18745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2744"/>
                </a:solidFill>
                <a:latin typeface="Arial"/>
              </a:defRPr>
            </a:pPr>
            <a:r>
              <a:rPr sz="1700" b="1">
                <a:solidFill>
                  <a:srgbClr val="0F2744"/>
                </a:solidFill>
                <a:latin typeface="Arial"/>
                <a:ea typeface="Yu Gothic"/>
              </a:rPr>
              <a:t>Firebase</a:t>
            </a:r>
            <a:br/>
            <a:r>
              <a:rPr sz="1700" b="1">
                <a:solidFill>
                  <a:srgbClr val="0F2744"/>
                </a:solidFill>
                <a:latin typeface="Arial"/>
                <a:ea typeface="Yu Gothic"/>
              </a:rPr>
              <a:t>서비스 함수</a:t>
            </a:r>
            <a:br/>
            <a:r>
              <a:rPr sz="1700" b="1">
                <a:solidFill>
                  <a:srgbClr val="0F2744"/>
                </a:solidFill>
                <a:latin typeface="Arial"/>
                <a:ea typeface="Yu Gothic"/>
              </a:rPr>
              <a:t>위험도 로직</a:t>
            </a:r>
            <a:br/>
            <a:r>
              <a:rPr sz="1700" b="1">
                <a:solidFill>
                  <a:srgbClr val="0F2744"/>
                </a:solidFill>
                <a:latin typeface="Arial"/>
                <a:ea typeface="Yu Gothic"/>
              </a:rPr>
              <a:t>시드 데이터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1080" y="1645920"/>
            <a:ext cx="2468880" cy="3108960"/>
          </a:xfrm>
          <a:prstGeom prst="roundRect">
            <a:avLst/>
          </a:prstGeom>
          <a:solidFill>
            <a:srgbClr val="FD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1965960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2744"/>
                </a:solidFill>
                <a:latin typeface="Arial"/>
              </a:defRPr>
            </a:pPr>
            <a:r>
              <a:rPr sz="1900" b="1">
                <a:solidFill>
                  <a:srgbClr val="0F2744"/>
                </a:solidFill>
                <a:latin typeface="Arial"/>
                <a:ea typeface="Yu Gothic"/>
              </a:rPr>
              <a:t>SEC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2304288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76072"/>
                </a:solidFill>
                <a:latin typeface="Arial"/>
              </a:defRPr>
            </a:pPr>
            <a:r>
              <a:rPr sz="1300" b="1">
                <a:solidFill>
                  <a:srgbClr val="476072"/>
                </a:solidFill>
                <a:latin typeface="Arial"/>
                <a:ea typeface="Yu Gothic"/>
              </a:rPr>
              <a:t>GLM 5.2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2761488"/>
            <a:ext cx="18745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2744"/>
                </a:solidFill>
                <a:latin typeface="Arial"/>
              </a:defRPr>
            </a:pPr>
            <a:r>
              <a:rPr sz="1700" b="1">
                <a:solidFill>
                  <a:srgbClr val="0F2744"/>
                </a:solidFill>
                <a:latin typeface="Arial"/>
                <a:ea typeface="Yu Gothic"/>
              </a:rPr>
              <a:t>Rules</a:t>
            </a:r>
            <a:br/>
            <a:r>
              <a:rPr sz="1700" b="1">
                <a:solidFill>
                  <a:srgbClr val="0F2744"/>
                </a:solidFill>
                <a:latin typeface="Arial"/>
                <a:ea typeface="Yu Gothic"/>
              </a:rPr>
              <a:t>마스킹</a:t>
            </a:r>
            <a:br/>
            <a:r>
              <a:rPr sz="1700" b="1">
                <a:solidFill>
                  <a:srgbClr val="0F2744"/>
                </a:solidFill>
                <a:latin typeface="Arial"/>
                <a:ea typeface="Yu Gothic"/>
              </a:rPr>
              <a:t>침투 테스트</a:t>
            </a:r>
            <a:br/>
            <a:r>
              <a:rPr sz="1700" b="1">
                <a:solidFill>
                  <a:srgbClr val="0F2744"/>
                </a:solidFill>
                <a:latin typeface="Arial"/>
                <a:ea typeface="Yu Gothic"/>
              </a:rPr>
              <a:t>법적 가드레일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074920"/>
            <a:ext cx="10424160" cy="658368"/>
          </a:xfrm>
          <a:prstGeom prst="round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285232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7F3EA"/>
                </a:solidFill>
                <a:latin typeface="Arial"/>
              </a:defRPr>
            </a:pPr>
            <a:r>
              <a:rPr sz="1300" b="1">
                <a:solidFill>
                  <a:srgbClr val="F7F3EA"/>
                </a:solidFill>
                <a:latin typeface="Arial"/>
                <a:ea typeface="Yu Gothic"/>
              </a:rPr>
              <a:t>Plan → 검토 → 구현 → 검증 시나리오 → 커밋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38912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744"/>
                </a:solidFill>
                <a:latin typeface="Arial"/>
              </a:defRPr>
            </a:pPr>
            <a:r>
              <a:rPr sz="2600" b="1">
                <a:solidFill>
                  <a:srgbClr val="0F2744"/>
                </a:solidFill>
                <a:latin typeface="Arial"/>
                <a:ea typeface="Yu Gothic"/>
              </a:rPr>
              <a:t>Week 1은 핵심 흐름, Week 2는 데모 완성도로 확장했습니다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51560"/>
            <a:ext cx="1280160" cy="45720"/>
          </a:xfrm>
          <a:prstGeom prst="rect">
            <a:avLst/>
          </a:prstGeom>
          <a:solidFill>
            <a:srgbClr val="3E7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5166360" cy="3520440"/>
          </a:xfrm>
          <a:prstGeom prst="roundRect">
            <a:avLst/>
          </a:prstGeom>
          <a:solidFill>
            <a:srgbClr val="DC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9659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744"/>
                </a:solidFill>
                <a:latin typeface="Arial"/>
              </a:defRPr>
            </a:pPr>
            <a:r>
              <a:rPr sz="2200" b="1">
                <a:solidFill>
                  <a:srgbClr val="0F2744"/>
                </a:solidFill>
                <a:latin typeface="Arial"/>
                <a:ea typeface="Yu Gothic"/>
              </a:rPr>
              <a:t>Week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450592"/>
            <a:ext cx="44805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744"/>
                </a:solidFill>
                <a:latin typeface="Arial"/>
              </a:defRPr>
            </a:pPr>
            <a:r>
              <a:rPr sz="2200" b="1">
                <a:solidFill>
                  <a:srgbClr val="0F2744"/>
                </a:solidFill>
                <a:latin typeface="Arial"/>
                <a:ea typeface="Yu Gothic"/>
              </a:rPr>
              <a:t>인증 → 고객 CRUD → 예약·사건 → riskStats</a:t>
            </a:r>
            <a:br/>
            <a:br/>
            <a:r>
              <a:rPr sz="2200" b="1">
                <a:solidFill>
                  <a:srgbClr val="0F2744"/>
                </a:solidFill>
                <a:latin typeface="Arial"/>
                <a:ea typeface="Yu Gothic"/>
              </a:rPr>
              <a:t>공통 schema, Rules,</a:t>
            </a:r>
            <a:br/>
            <a:r>
              <a:rPr sz="2200" b="1">
                <a:solidFill>
                  <a:srgbClr val="0F2744"/>
                </a:solidFill>
                <a:latin typeface="Arial"/>
                <a:ea typeface="Yu Gothic"/>
              </a:rPr>
              <a:t>서버 재계산 구조를 먼저 고정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91640"/>
            <a:ext cx="5166360" cy="3520440"/>
          </a:xfrm>
          <a:prstGeom prst="roundRect">
            <a:avLst/>
          </a:prstGeom>
          <a:solidFill>
            <a:srgbClr val="FF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9659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D3B09"/>
                </a:solidFill>
                <a:latin typeface="Arial"/>
              </a:defRPr>
            </a:pPr>
            <a:r>
              <a:rPr sz="2200" b="1">
                <a:solidFill>
                  <a:srgbClr val="6D3B09"/>
                </a:solidFill>
                <a:latin typeface="Arial"/>
                <a:ea typeface="Yu Gothic"/>
              </a:rPr>
              <a:t>Week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2450592"/>
            <a:ext cx="44805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744"/>
                </a:solidFill>
                <a:latin typeface="Arial"/>
              </a:defRPr>
            </a:pPr>
            <a:r>
              <a:rPr sz="2200" b="1">
                <a:solidFill>
                  <a:srgbClr val="0F2744"/>
                </a:solidFill>
                <a:latin typeface="Arial"/>
                <a:ea typeface="Yu Gothic"/>
              </a:rPr>
              <a:t>RiskAlertBanner, 대시보드, 타임라인</a:t>
            </a:r>
            <a:br/>
            <a:br/>
            <a:r>
              <a:rPr sz="2200" b="1">
                <a:solidFill>
                  <a:srgbClr val="0F2744"/>
                </a:solidFill>
                <a:latin typeface="Arial"/>
                <a:ea typeface="Yu Gothic"/>
              </a:rPr>
              <a:t>모바일 QA, 회귀 테스트,</a:t>
            </a:r>
            <a:br/>
            <a:r>
              <a:rPr sz="2200" b="1">
                <a:solidFill>
                  <a:srgbClr val="0F2744"/>
                </a:solidFill>
                <a:latin typeface="Arial"/>
                <a:ea typeface="Yu Gothic"/>
              </a:rPr>
              <a:t>배포 준비로 신뢰성 강화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3891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744"/>
                </a:solidFill>
                <a:latin typeface="Arial"/>
              </a:defRPr>
            </a:pPr>
            <a:r>
              <a:rPr sz="2600" b="1">
                <a:solidFill>
                  <a:srgbClr val="0F2744"/>
                </a:solidFill>
                <a:latin typeface="Arial"/>
                <a:ea typeface="Yu Gothic"/>
              </a:rPr>
              <a:t>Week 1 | AI가 연결한 핵심 데이터 흐름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51560"/>
            <a:ext cx="1280160" cy="45720"/>
          </a:xfrm>
          <a:prstGeom prst="rect">
            <a:avLst/>
          </a:prstGeom>
          <a:solidFill>
            <a:srgbClr val="3E7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1874519"/>
            <a:ext cx="2331720" cy="1051560"/>
          </a:xfrm>
          <a:prstGeom prst="roundRect">
            <a:avLst/>
          </a:prstGeom>
          <a:solidFill>
            <a:srgbClr val="1E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224028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Yu Gothic"/>
              </a:rPr>
              <a:t>인증·가게 생성</a:t>
            </a:r>
          </a:p>
        </p:txBody>
      </p:sp>
      <p:sp>
        <p:nvSpPr>
          <p:cNvPr id="6" name="Chevron 5"/>
          <p:cNvSpPr/>
          <p:nvPr/>
        </p:nvSpPr>
        <p:spPr>
          <a:xfrm>
            <a:off x="3200400" y="2057400"/>
            <a:ext cx="640080" cy="640080"/>
          </a:xfrm>
          <a:prstGeom prst="chevron">
            <a:avLst/>
          </a:prstGeom>
          <a:solidFill>
            <a:srgbClr val="9BB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77639" y="1874519"/>
            <a:ext cx="2331720" cy="1051560"/>
          </a:xfrm>
          <a:prstGeom prst="roundRect">
            <a:avLst/>
          </a:prstGeom>
          <a:solidFill>
            <a:srgbClr val="237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51960" y="224028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Yu Gothic"/>
              </a:rPr>
              <a:t>고객 검색·마스킹</a:t>
            </a:r>
          </a:p>
        </p:txBody>
      </p:sp>
      <p:sp>
        <p:nvSpPr>
          <p:cNvPr id="9" name="Chevron 8"/>
          <p:cNvSpPr/>
          <p:nvPr/>
        </p:nvSpPr>
        <p:spPr>
          <a:xfrm>
            <a:off x="6473952" y="2057400"/>
            <a:ext cx="640080" cy="640080"/>
          </a:xfrm>
          <a:prstGeom prst="chevron">
            <a:avLst/>
          </a:prstGeom>
          <a:solidFill>
            <a:srgbClr val="C7B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51192" y="1874519"/>
            <a:ext cx="2331720" cy="1051560"/>
          </a:xfrm>
          <a:prstGeom prst="roundRect">
            <a:avLst/>
          </a:prstGeom>
          <a:solidFill>
            <a:srgbClr val="B56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25512" y="224028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Yu Gothic"/>
              </a:rPr>
              <a:t>예약·사건 기록</a:t>
            </a:r>
          </a:p>
        </p:txBody>
      </p:sp>
      <p:sp>
        <p:nvSpPr>
          <p:cNvPr id="12" name="Chevron 11"/>
          <p:cNvSpPr/>
          <p:nvPr/>
        </p:nvSpPr>
        <p:spPr>
          <a:xfrm>
            <a:off x="9756648" y="2057400"/>
            <a:ext cx="640080" cy="640080"/>
          </a:xfrm>
          <a:prstGeom prst="chevron">
            <a:avLst/>
          </a:prstGeom>
          <a:solidFill>
            <a:srgbClr val="D1A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515600" y="1874519"/>
            <a:ext cx="1097280" cy="1051560"/>
          </a:xfrm>
          <a:prstGeom prst="roundRect">
            <a:avLst/>
          </a:prstGeom>
          <a:solidFill>
            <a:srgbClr val="9D1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34472" y="2148840"/>
            <a:ext cx="8595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Yu Gothic"/>
              </a:rPr>
              <a:t>서버</a:t>
            </a:r>
            <a:br/>
            <a:r>
              <a:rPr sz="1600" b="1">
                <a:solidFill>
                  <a:srgbClr val="FFFFFF"/>
                </a:solidFill>
                <a:latin typeface="Arial"/>
                <a:ea typeface="Yu Gothic"/>
              </a:rPr>
              <a:t>재계산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160520"/>
            <a:ext cx="3200400" cy="1143000"/>
          </a:xfrm>
          <a:prstGeom prst="roundRect">
            <a:avLst/>
          </a:prstGeom>
          <a:solidFill>
            <a:srgbClr val="DC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5079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2744"/>
                </a:solidFill>
                <a:latin typeface="Arial"/>
              </a:defRPr>
            </a:pPr>
            <a:r>
              <a:rPr sz="2400" b="1">
                <a:solidFill>
                  <a:srgbClr val="0F2744"/>
                </a:solidFill>
                <a:latin typeface="Arial"/>
                <a:ea typeface="Yu Gothic"/>
              </a:rPr>
              <a:t>27 commits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4160520"/>
            <a:ext cx="3200400" cy="1143000"/>
          </a:xfrm>
          <a:prstGeom prst="roundRect">
            <a:avLst/>
          </a:prstGeom>
          <a:solidFill>
            <a:srgbClr val="E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43891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744"/>
                </a:solidFill>
                <a:latin typeface="Arial"/>
              </a:defRPr>
            </a:pPr>
            <a:r>
              <a:rPr sz="1800" b="1">
                <a:solidFill>
                  <a:srgbClr val="0F2744"/>
                </a:solidFill>
                <a:latin typeface="Arial"/>
                <a:ea typeface="Yu Gothic"/>
              </a:rPr>
              <a:t>시드 데이터</a:t>
            </a:r>
            <a:br/>
            <a:r>
              <a:rPr sz="1800" b="1">
                <a:solidFill>
                  <a:srgbClr val="0F2744"/>
                </a:solidFill>
                <a:latin typeface="Arial"/>
                <a:ea typeface="Yu Gothic"/>
              </a:rPr>
              <a:t>고객 10 / 예약 30 / 사건 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4160520"/>
            <a:ext cx="3200400" cy="1143000"/>
          </a:xfrm>
          <a:prstGeom prst="roundRect">
            <a:avLst/>
          </a:prstGeom>
          <a:solidFill>
            <a:srgbClr val="FF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43891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744"/>
                </a:solidFill>
                <a:latin typeface="Arial"/>
              </a:defRPr>
            </a:pPr>
            <a:r>
              <a:rPr sz="2000" b="1">
                <a:solidFill>
                  <a:srgbClr val="0F2744"/>
                </a:solidFill>
                <a:latin typeface="Arial"/>
                <a:ea typeface="Yu Gothic"/>
              </a:rPr>
              <a:t>침투 테스트</a:t>
            </a:r>
            <a:br/>
            <a:r>
              <a:rPr sz="2000" b="1">
                <a:solidFill>
                  <a:srgbClr val="0F2744"/>
                </a:solidFill>
                <a:latin typeface="Arial"/>
                <a:ea typeface="Yu Gothic"/>
              </a:rPr>
              <a:t>5 → 8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38912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744"/>
                </a:solidFill>
                <a:latin typeface="Arial"/>
              </a:defRPr>
            </a:pPr>
            <a:r>
              <a:rPr sz="2600" b="1">
                <a:solidFill>
                  <a:srgbClr val="0F2744"/>
                </a:solidFill>
                <a:latin typeface="Arial"/>
                <a:ea typeface="Yu Gothic"/>
              </a:rPr>
              <a:t>AI 제안, 인간 승인 | riskStats를 서버로 옮겼습니다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51560"/>
            <a:ext cx="1280160" cy="45720"/>
          </a:xfrm>
          <a:prstGeom prst="rect">
            <a:avLst/>
          </a:prstGeom>
          <a:solidFill>
            <a:srgbClr val="3E7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3337560" cy="2926080"/>
          </a:xfrm>
          <a:prstGeom prst="roundRect">
            <a:avLst/>
          </a:prstGeom>
          <a:solidFill>
            <a:srgbClr val="FD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084831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8D1F1F"/>
                </a:solidFill>
                <a:latin typeface="Arial"/>
              </a:defRPr>
            </a:pPr>
            <a:r>
              <a:rPr sz="1700" b="1">
                <a:solidFill>
                  <a:srgbClr val="8D1F1F"/>
                </a:solidFill>
                <a:latin typeface="Arial"/>
                <a:ea typeface="Yu Gothic"/>
              </a:rP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542032"/>
            <a:ext cx="2697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2744"/>
                </a:solidFill>
                <a:latin typeface="Arial"/>
              </a:defRPr>
            </a:pPr>
            <a:r>
              <a:rPr sz="2400" b="1">
                <a:solidFill>
                  <a:srgbClr val="0F2744"/>
                </a:solidFill>
                <a:latin typeface="Arial"/>
                <a:ea typeface="Yu Gothic"/>
              </a:rPr>
              <a:t>클라이언트가</a:t>
            </a:r>
            <a:br/>
            <a:r>
              <a:rPr sz="2400" b="1">
                <a:solidFill>
                  <a:srgbClr val="0F2744"/>
                </a:solidFill>
                <a:latin typeface="Arial"/>
                <a:ea typeface="Yu Gothic"/>
              </a:rPr>
              <a:t>riskStats 갱신</a:t>
            </a:r>
            <a:br/>
            <a:br/>
            <a:r>
              <a:rPr sz="2400" b="1">
                <a:solidFill>
                  <a:srgbClr val="0F2744"/>
                </a:solidFill>
                <a:latin typeface="Arial"/>
                <a:ea typeface="Yu Gothic"/>
              </a:rPr>
              <a:t>조작·불일치 가능</a:t>
            </a:r>
          </a:p>
        </p:txBody>
      </p:sp>
      <p:sp>
        <p:nvSpPr>
          <p:cNvPr id="7" name="Chevron 6"/>
          <p:cNvSpPr/>
          <p:nvPr/>
        </p:nvSpPr>
        <p:spPr>
          <a:xfrm>
            <a:off x="4590288" y="2761488"/>
            <a:ext cx="2011680" cy="822960"/>
          </a:xfrm>
          <a:prstGeom prst="chevron">
            <a:avLst/>
          </a:prstGeom>
          <a:solidFill>
            <a:srgbClr val="3E7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176272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744"/>
                </a:solidFill>
                <a:latin typeface="Arial"/>
              </a:defRPr>
            </a:pPr>
            <a:r>
              <a:rPr sz="1600" b="1">
                <a:solidFill>
                  <a:srgbClr val="0F2744"/>
                </a:solidFill>
                <a:latin typeface="Arial"/>
                <a:ea typeface="Yu Gothic"/>
              </a:rPr>
              <a:t>AI 설계 제안</a:t>
            </a:r>
            <a:br/>
            <a:r>
              <a:rPr sz="1600" b="1">
                <a:solidFill>
                  <a:srgbClr val="0F2744"/>
                </a:solidFill>
                <a:latin typeface="Arial"/>
                <a:ea typeface="Yu Gothic"/>
              </a:rPr>
              <a:t>+ 인간 승인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1783080"/>
            <a:ext cx="3840480" cy="2926080"/>
          </a:xfrm>
          <a:prstGeom prst="roundRect">
            <a:avLst/>
          </a:prstGeom>
          <a:solidFill>
            <a:srgbClr val="E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208483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6B4D"/>
                </a:solidFill>
                <a:latin typeface="Arial"/>
              </a:defRPr>
            </a:pPr>
            <a:r>
              <a:rPr sz="1700" b="1">
                <a:solidFill>
                  <a:srgbClr val="176B4D"/>
                </a:solidFill>
                <a:latin typeface="Arial"/>
                <a:ea typeface="Yu Gothic"/>
              </a:rPr>
              <a:t>After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542032"/>
            <a:ext cx="3063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744"/>
                </a:solidFill>
                <a:latin typeface="Arial"/>
              </a:defRPr>
            </a:pPr>
            <a:r>
              <a:rPr sz="2200" b="1">
                <a:solidFill>
                  <a:srgbClr val="0F2744"/>
                </a:solidFill>
                <a:latin typeface="Arial"/>
                <a:ea typeface="Yu Gothic"/>
              </a:rPr>
              <a:t>Cloud Functions</a:t>
            </a:r>
            <a:br/>
            <a:r>
              <a:rPr sz="2200" b="1">
                <a:solidFill>
                  <a:srgbClr val="0F2744"/>
                </a:solidFill>
                <a:latin typeface="Arial"/>
                <a:ea typeface="Yu Gothic"/>
              </a:rPr>
              <a:t>onDocumentWritten 재계산</a:t>
            </a:r>
            <a:br/>
            <a:br/>
            <a:r>
              <a:rPr sz="2200" b="1">
                <a:solidFill>
                  <a:srgbClr val="0F2744"/>
                </a:solidFill>
                <a:latin typeface="Arial"/>
                <a:ea typeface="Yu Gothic"/>
              </a:rPr>
              <a:t>클라이언트 읽기 전용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074920"/>
            <a:ext cx="10104120" cy="658368"/>
          </a:xfrm>
          <a:prstGeom prst="round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5285232"/>
            <a:ext cx="9509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7F3EA"/>
                </a:solidFill>
                <a:latin typeface="Arial"/>
              </a:defRPr>
            </a:pPr>
            <a:r>
              <a:rPr sz="1500" b="1">
                <a:solidFill>
                  <a:srgbClr val="F7F3EA"/>
                </a:solidFill>
                <a:latin typeface="Arial"/>
                <a:ea typeface="Yu Gothic"/>
              </a:rPr>
              <a:t>Rules 쓰기 차단 · 엣지 케이스 단위 테스트 · 침투 테스트 8 PASS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38912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744"/>
                </a:solidFill>
                <a:latin typeface="Arial"/>
              </a:defRPr>
            </a:pPr>
            <a:r>
              <a:rPr sz="2600" b="1">
                <a:solidFill>
                  <a:srgbClr val="0F2744"/>
                </a:solidFill>
                <a:latin typeface="Arial"/>
                <a:ea typeface="Yu Gothic"/>
              </a:rPr>
              <a:t>위험도는 점수화하되, 낙인 방지를 위해 회복과 가드레일을 넣었습니다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51560"/>
            <a:ext cx="1280160" cy="45720"/>
          </a:xfrm>
          <a:prstGeom prst="rect">
            <a:avLst/>
          </a:prstGeom>
          <a:solidFill>
            <a:srgbClr val="3E7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1783080"/>
            <a:ext cx="2514600" cy="987552"/>
          </a:xfrm>
          <a:prstGeom prst="roundRect">
            <a:avLst/>
          </a:prstGeom>
          <a:solidFill>
            <a:srgbClr val="DC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993392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744"/>
                </a:solidFill>
                <a:latin typeface="Arial"/>
              </a:defRPr>
            </a:pPr>
            <a:r>
              <a:rPr sz="2200" b="1">
                <a:solidFill>
                  <a:srgbClr val="0F2744"/>
                </a:solidFill>
                <a:latin typeface="Arial"/>
                <a:ea typeface="Yu Gothic"/>
              </a:rPr>
              <a:t>+8</a:t>
            </a:r>
            <a:br/>
            <a:r>
              <a:rPr sz="2200" b="1">
                <a:solidFill>
                  <a:srgbClr val="0F2744"/>
                </a:solidFill>
                <a:latin typeface="Arial"/>
                <a:ea typeface="Yu Gothic"/>
              </a:rPr>
              <a:t>노쇼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783080"/>
            <a:ext cx="2514600" cy="987552"/>
          </a:xfrm>
          <a:prstGeom prst="roundRect">
            <a:avLst/>
          </a:prstGeom>
          <a:solidFill>
            <a:srgbClr val="E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30752" y="1993392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744"/>
                </a:solidFill>
                <a:latin typeface="Arial"/>
              </a:defRPr>
            </a:pPr>
            <a:r>
              <a:rPr sz="2200" b="1">
                <a:solidFill>
                  <a:srgbClr val="0F2744"/>
                </a:solidFill>
                <a:latin typeface="Arial"/>
                <a:ea typeface="Yu Gothic"/>
              </a:rPr>
              <a:t>+4</a:t>
            </a:r>
            <a:br/>
            <a:r>
              <a:rPr sz="2200" b="1">
                <a:solidFill>
                  <a:srgbClr val="0F2744"/>
                </a:solidFill>
                <a:latin typeface="Arial"/>
                <a:ea typeface="Yu Gothic"/>
              </a:rPr>
              <a:t>당일 취소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783080"/>
            <a:ext cx="2514600" cy="987552"/>
          </a:xfrm>
          <a:prstGeom prst="roundRect">
            <a:avLst/>
          </a:prstGeom>
          <a:solidFill>
            <a:srgbClr val="FF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993392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744"/>
                </a:solidFill>
                <a:latin typeface="Arial"/>
              </a:defRPr>
            </a:pPr>
            <a:r>
              <a:rPr sz="2200" b="1">
                <a:solidFill>
                  <a:srgbClr val="0F2744"/>
                </a:solidFill>
                <a:latin typeface="Arial"/>
                <a:ea typeface="Yu Gothic"/>
              </a:rPr>
              <a:t>+10</a:t>
            </a:r>
            <a:br/>
            <a:r>
              <a:rPr sz="2200" b="1">
                <a:solidFill>
                  <a:srgbClr val="0F2744"/>
                </a:solidFill>
                <a:latin typeface="Arial"/>
                <a:ea typeface="Yu Gothic"/>
              </a:rPr>
              <a:t>abuse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42832" y="1783080"/>
            <a:ext cx="2514600" cy="987552"/>
          </a:xfrm>
          <a:prstGeom prst="roundRect">
            <a:avLst/>
          </a:prstGeom>
          <a:solidFill>
            <a:srgbClr val="FD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17152" y="1993392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744"/>
                </a:solidFill>
                <a:latin typeface="Arial"/>
              </a:defRPr>
            </a:pPr>
            <a:r>
              <a:rPr sz="2200" b="1">
                <a:solidFill>
                  <a:srgbClr val="0F2744"/>
                </a:solidFill>
                <a:latin typeface="Arial"/>
                <a:ea typeface="Yu Gothic"/>
              </a:rPr>
              <a:t>−1</a:t>
            </a:r>
            <a:br/>
            <a:r>
              <a:rPr sz="2200" b="1">
                <a:solidFill>
                  <a:srgbClr val="0F2744"/>
                </a:solidFill>
                <a:latin typeface="Arial"/>
                <a:ea typeface="Yu Gothic"/>
              </a:rPr>
              <a:t>정상 방문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429000"/>
            <a:ext cx="5166360" cy="1143000"/>
          </a:xfrm>
          <a:prstGeom prst="roundRect">
            <a:avLst/>
          </a:prstGeom>
          <a:solidFill>
            <a:srgbClr val="E9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776472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744"/>
                </a:solidFill>
                <a:latin typeface="Arial"/>
              </a:defRPr>
            </a:pPr>
            <a:r>
              <a:rPr sz="2000" b="1">
                <a:solidFill>
                  <a:srgbClr val="0F2744"/>
                </a:solidFill>
                <a:latin typeface="Arial"/>
                <a:ea typeface="Yu Gothic"/>
              </a:rPr>
              <a:t>0–23 안심 · 24–39 주의 · 40+ 위험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429000"/>
            <a:ext cx="5257800" cy="1143000"/>
          </a:xfrm>
          <a:prstGeom prst="roundRect">
            <a:avLst/>
          </a:prstGeom>
          <a:solidFill>
            <a:srgbClr val="FF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3675887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744"/>
                </a:solidFill>
                <a:latin typeface="Arial"/>
              </a:defRPr>
            </a:pPr>
            <a:r>
              <a:rPr sz="1800" b="1">
                <a:solidFill>
                  <a:srgbClr val="0F2744"/>
                </a:solidFill>
                <a:latin typeface="Arial"/>
                <a:ea typeface="Yu Gothic"/>
              </a:rPr>
              <a:t>노쇼 3회 이상 또는 abuse 1회 이상이면 경고</a:t>
            </a:r>
            <a:br/>
            <a:r>
              <a:rPr sz="1800" b="1">
                <a:solidFill>
                  <a:srgbClr val="0F2744"/>
                </a:solidFill>
                <a:latin typeface="Arial"/>
                <a:ea typeface="Yu Gothic"/>
              </a:rPr>
              <a:t>자동 차단은 하지 않음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38912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744"/>
                </a:solidFill>
                <a:latin typeface="Arial"/>
              </a:defRPr>
            </a:pPr>
            <a:r>
              <a:rPr sz="2600" b="1">
                <a:solidFill>
                  <a:srgbClr val="0F2744"/>
                </a:solidFill>
                <a:latin typeface="Arial"/>
                <a:ea typeface="Yu Gothic"/>
              </a:rPr>
              <a:t>Week 2 | 데모는 ‘예약 전 확인 → 기록 → 다음 판단’ 순환으로 보여줍니다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51560"/>
            <a:ext cx="1280160" cy="45720"/>
          </a:xfrm>
          <a:prstGeom prst="rect">
            <a:avLst/>
          </a:prstGeom>
          <a:solidFill>
            <a:srgbClr val="3E7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1783080"/>
            <a:ext cx="2514600" cy="2697480"/>
          </a:xfrm>
          <a:prstGeom prst="roundRect">
            <a:avLst/>
          </a:prstGeom>
          <a:solidFill>
            <a:srgbClr val="DC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20299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744"/>
                </a:solidFill>
                <a:latin typeface="Arial"/>
              </a:defRPr>
            </a:pPr>
            <a:r>
              <a:rPr sz="2000" b="1">
                <a:solidFill>
                  <a:srgbClr val="0F2744"/>
                </a:solidFill>
                <a:latin typeface="Arial"/>
                <a:ea typeface="Yu Gothic"/>
              </a:rPr>
              <a:t>진입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487168"/>
            <a:ext cx="1920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744"/>
                </a:solidFill>
                <a:latin typeface="Arial"/>
              </a:defRPr>
            </a:pPr>
            <a:r>
              <a:rPr sz="2000" b="1">
                <a:solidFill>
                  <a:srgbClr val="0F2744"/>
                </a:solidFill>
                <a:latin typeface="Arial"/>
                <a:ea typeface="Yu Gothic"/>
              </a:rPr>
              <a:t>로그인</a:t>
            </a:r>
            <a:br/>
            <a:r>
              <a:rPr sz="2000" b="1">
                <a:solidFill>
                  <a:srgbClr val="0F2744"/>
                </a:solidFill>
                <a:latin typeface="Arial"/>
                <a:ea typeface="Yu Gothic"/>
              </a:rPr>
              <a:t>회원가입</a:t>
            </a:r>
            <a:br/>
            <a:r>
              <a:rPr sz="2000" b="1">
                <a:solidFill>
                  <a:srgbClr val="0F2744"/>
                </a:solidFill>
                <a:latin typeface="Arial"/>
                <a:ea typeface="Yu Gothic"/>
              </a:rPr>
              <a:t>가게 생성</a:t>
            </a:r>
            <a:br/>
            <a:r>
              <a:rPr sz="2000" b="1">
                <a:solidFill>
                  <a:srgbClr val="0F2744"/>
                </a:solidFill>
                <a:latin typeface="Arial"/>
                <a:ea typeface="Yu Gothic"/>
              </a:rPr>
              <a:t>동의 체크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783080"/>
            <a:ext cx="2514600" cy="2697480"/>
          </a:xfrm>
          <a:prstGeom prst="roundRect">
            <a:avLst/>
          </a:prstGeom>
          <a:solidFill>
            <a:srgbClr val="E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30752" y="20299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744"/>
                </a:solidFill>
                <a:latin typeface="Arial"/>
              </a:defRPr>
            </a:pPr>
            <a:r>
              <a:rPr sz="2000" b="1">
                <a:solidFill>
                  <a:srgbClr val="0F2744"/>
                </a:solidFill>
                <a:latin typeface="Arial"/>
                <a:ea typeface="Yu Gothic"/>
              </a:rPr>
              <a:t>고객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30752" y="2487168"/>
            <a:ext cx="1920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744"/>
                </a:solidFill>
                <a:latin typeface="Arial"/>
              </a:defRPr>
            </a:pPr>
            <a:r>
              <a:rPr sz="2000" b="1">
                <a:solidFill>
                  <a:srgbClr val="0F2744"/>
                </a:solidFill>
                <a:latin typeface="Arial"/>
                <a:ea typeface="Yu Gothic"/>
              </a:rPr>
              <a:t>이름·뒤4자리 검색</a:t>
            </a:r>
            <a:br/>
            <a:r>
              <a:rPr sz="2000" b="1">
                <a:solidFill>
                  <a:srgbClr val="0F2744"/>
                </a:solidFill>
                <a:latin typeface="Arial"/>
                <a:ea typeface="Yu Gothic"/>
              </a:rPr>
              <a:t>전화번호 마스킹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783080"/>
            <a:ext cx="2514600" cy="2697480"/>
          </a:xfrm>
          <a:prstGeom prst="roundRect">
            <a:avLst/>
          </a:prstGeom>
          <a:solidFill>
            <a:srgbClr val="FF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20299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744"/>
                </a:solidFill>
                <a:latin typeface="Arial"/>
              </a:defRPr>
            </a:pPr>
            <a:r>
              <a:rPr sz="2000" b="1">
                <a:solidFill>
                  <a:srgbClr val="0F2744"/>
                </a:solidFill>
                <a:latin typeface="Arial"/>
                <a:ea typeface="Yu Gothic"/>
              </a:rPr>
              <a:t>예약·사건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487168"/>
            <a:ext cx="1920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744"/>
                </a:solidFill>
                <a:latin typeface="Arial"/>
              </a:defRPr>
            </a:pPr>
            <a:r>
              <a:rPr sz="2000" b="1">
                <a:solidFill>
                  <a:srgbClr val="0F2744"/>
                </a:solidFill>
                <a:latin typeface="Arial"/>
                <a:ea typeface="Yu Gothic"/>
              </a:rPr>
              <a:t>예약 생성</a:t>
            </a:r>
            <a:br/>
            <a:r>
              <a:rPr sz="2000" b="1">
                <a:solidFill>
                  <a:srgbClr val="0F2744"/>
                </a:solidFill>
                <a:latin typeface="Arial"/>
                <a:ea typeface="Yu Gothic"/>
              </a:rPr>
              <a:t>상태 전환</a:t>
            </a:r>
            <a:br/>
            <a:r>
              <a:rPr sz="2000" b="1">
                <a:solidFill>
                  <a:srgbClr val="0F2744"/>
                </a:solidFill>
                <a:latin typeface="Arial"/>
                <a:ea typeface="Yu Gothic"/>
              </a:rPr>
              <a:t>4종 사건</a:t>
            </a:r>
            <a:br/>
            <a:r>
              <a:rPr sz="2000" b="1">
                <a:solidFill>
                  <a:srgbClr val="0F2744"/>
                </a:solidFill>
                <a:latin typeface="Arial"/>
                <a:ea typeface="Yu Gothic"/>
              </a:rPr>
              <a:t>사실 메모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42832" y="1783080"/>
            <a:ext cx="2514600" cy="2697480"/>
          </a:xfrm>
          <a:prstGeom prst="roundRect">
            <a:avLst/>
          </a:prstGeom>
          <a:solidFill>
            <a:srgbClr val="FD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17152" y="20299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744"/>
                </a:solidFill>
                <a:latin typeface="Arial"/>
              </a:defRPr>
            </a:pPr>
            <a:r>
              <a:rPr sz="2000" b="1">
                <a:solidFill>
                  <a:srgbClr val="0F2744"/>
                </a:solidFill>
                <a:latin typeface="Arial"/>
                <a:ea typeface="Yu Gothic"/>
              </a:rPr>
              <a:t>위험도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17152" y="2487168"/>
            <a:ext cx="1920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2744"/>
                </a:solidFill>
                <a:latin typeface="Arial"/>
              </a:defRPr>
            </a:pPr>
            <a:r>
              <a:rPr sz="2000" b="1">
                <a:solidFill>
                  <a:srgbClr val="0F2744"/>
                </a:solidFill>
                <a:latin typeface="Arial"/>
                <a:ea typeface="Yu Gothic"/>
              </a:rPr>
              <a:t>점수·3등급</a:t>
            </a:r>
            <a:br/>
            <a:r>
              <a:rPr sz="2000" b="1">
                <a:solidFill>
                  <a:srgbClr val="0F2744"/>
                </a:solidFill>
                <a:latin typeface="Arial"/>
                <a:ea typeface="Yu Gothic"/>
              </a:rPr>
              <a:t>경고 조건</a:t>
            </a:r>
            <a:br/>
            <a:r>
              <a:rPr sz="2000" b="1">
                <a:solidFill>
                  <a:srgbClr val="0F2744"/>
                </a:solidFill>
                <a:latin typeface="Arial"/>
                <a:ea typeface="Yu Gothic"/>
              </a:rPr>
              <a:t>대시보드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983480"/>
            <a:ext cx="10744200" cy="658368"/>
          </a:xfrm>
          <a:prstGeom prst="round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193792"/>
            <a:ext cx="10149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7F3EA"/>
                </a:solidFill>
                <a:latin typeface="Arial"/>
              </a:defRPr>
            </a:pPr>
            <a:r>
              <a:rPr sz="1500" b="1">
                <a:solidFill>
                  <a:srgbClr val="F7F3EA"/>
                </a:solidFill>
                <a:latin typeface="Arial"/>
                <a:ea typeface="Yu Gothic"/>
              </a:rPr>
              <a:t>AI가 생성한 흐름을 사람이 테스트·보안 검증한 뒤, 사장님의 판단 경험으로 연결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38912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744"/>
                </a:solidFill>
                <a:latin typeface="Arial"/>
              </a:defRPr>
            </a:pPr>
            <a:r>
              <a:rPr sz="2600" b="1">
                <a:solidFill>
                  <a:srgbClr val="0F2744"/>
                </a:solidFill>
                <a:latin typeface="Arial"/>
                <a:ea typeface="Yu Gothic"/>
              </a:rPr>
              <a:t>개인정보와 낙인 리스크는 설계 단계에서 분리해 관리했습니다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51560"/>
            <a:ext cx="1280160" cy="45720"/>
          </a:xfrm>
          <a:prstGeom prst="rect">
            <a:avLst/>
          </a:prstGeom>
          <a:solidFill>
            <a:srgbClr val="3E7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1783080"/>
            <a:ext cx="3520440" cy="3154680"/>
          </a:xfrm>
          <a:prstGeom prst="roundRect">
            <a:avLst/>
          </a:prstGeom>
          <a:solidFill>
            <a:srgbClr val="DC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66543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744"/>
                </a:solidFill>
                <a:latin typeface="Arial"/>
              </a:defRPr>
            </a:pPr>
            <a:r>
              <a:rPr sz="2200" b="1">
                <a:solidFill>
                  <a:srgbClr val="0F2744"/>
                </a:solidFill>
                <a:latin typeface="Arial"/>
                <a:ea typeface="Yu Gothic"/>
              </a:rPr>
              <a:t>가게 간 공유 없음</a:t>
            </a:r>
            <a:br/>
            <a:br/>
            <a:r>
              <a:rPr sz="2200" b="1">
                <a:solidFill>
                  <a:srgbClr val="0F2744"/>
                </a:solidFill>
                <a:latin typeface="Arial"/>
                <a:ea typeface="Yu Gothic"/>
              </a:rPr>
              <a:t>UI에는 전화번호 마스킹</a:t>
            </a:r>
            <a:br/>
            <a:br/>
            <a:r>
              <a:rPr sz="2200" b="1">
                <a:solidFill>
                  <a:srgbClr val="0F2744"/>
                </a:solidFill>
                <a:latin typeface="Arial"/>
                <a:ea typeface="Yu Gothic"/>
              </a:rPr>
              <a:t>본인 가게 데이터만 접근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783080"/>
            <a:ext cx="3520440" cy="3154680"/>
          </a:xfrm>
          <a:prstGeom prst="roundRect">
            <a:avLst/>
          </a:prstGeom>
          <a:solidFill>
            <a:srgbClr val="E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6008" y="2066543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744"/>
                </a:solidFill>
                <a:latin typeface="Arial"/>
              </a:defRPr>
            </a:pPr>
            <a:r>
              <a:rPr sz="2200" b="1">
                <a:solidFill>
                  <a:srgbClr val="0F2744"/>
                </a:solidFill>
                <a:latin typeface="Arial"/>
                <a:ea typeface="Yu Gothic"/>
              </a:rPr>
              <a:t>4개 선택형 카테고리</a:t>
            </a:r>
            <a:br/>
            <a:br/>
            <a:r>
              <a:rPr sz="2200" b="1">
                <a:solidFill>
                  <a:srgbClr val="0F2744"/>
                </a:solidFill>
                <a:latin typeface="Arial"/>
                <a:ea typeface="Yu Gothic"/>
              </a:rPr>
              <a:t>‘사실만 기록’ 안내</a:t>
            </a:r>
            <a:br/>
            <a:br/>
            <a:r>
              <a:rPr sz="2200" b="1">
                <a:solidFill>
                  <a:srgbClr val="0F2744"/>
                </a:solidFill>
                <a:latin typeface="Arial"/>
                <a:ea typeface="Yu Gothic"/>
              </a:rPr>
              <a:t>주관적 낙인 표현 배제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3568" y="1783080"/>
            <a:ext cx="3520440" cy="3154680"/>
          </a:xfrm>
          <a:prstGeom prst="roundRect">
            <a:avLst/>
          </a:prstGeom>
          <a:solidFill>
            <a:srgbClr val="FF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66175" y="2066543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744"/>
                </a:solidFill>
                <a:latin typeface="Arial"/>
              </a:defRPr>
            </a:pPr>
            <a:r>
              <a:rPr sz="2200" b="1">
                <a:solidFill>
                  <a:srgbClr val="0F2744"/>
                </a:solidFill>
                <a:latin typeface="Arial"/>
                <a:ea typeface="Yu Gothic"/>
              </a:rPr>
              <a:t>‘블랙리스트’ 금지</a:t>
            </a:r>
            <a:br/>
            <a:br/>
            <a:r>
              <a:rPr sz="2200" b="1">
                <a:solidFill>
                  <a:srgbClr val="0F2744"/>
                </a:solidFill>
                <a:latin typeface="Arial"/>
                <a:ea typeface="Yu Gothic"/>
              </a:rPr>
              <a:t>참고 지표로 표현</a:t>
            </a:r>
            <a:br/>
            <a:br/>
            <a:r>
              <a:rPr sz="2200" b="1">
                <a:solidFill>
                  <a:srgbClr val="0F2744"/>
                </a:solidFill>
                <a:latin typeface="Arial"/>
                <a:ea typeface="Yu Gothic"/>
              </a:rPr>
              <a:t>최종 판단은 사장님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38912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744"/>
                </a:solidFill>
                <a:latin typeface="Arial"/>
              </a:defRPr>
            </a:pPr>
            <a:r>
              <a:rPr sz="2600" b="1">
                <a:solidFill>
                  <a:srgbClr val="0F2744"/>
                </a:solidFill>
                <a:latin typeface="Arial"/>
                <a:ea typeface="Yu Gothic"/>
              </a:rPr>
              <a:t>현재 검증은 통과했고, Week 2는 QA와 배포 준비를 마무리합니다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51560"/>
            <a:ext cx="1280160" cy="45720"/>
          </a:xfrm>
          <a:prstGeom prst="rect">
            <a:avLst/>
          </a:prstGeom>
          <a:solidFill>
            <a:srgbClr val="3E7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1783080"/>
            <a:ext cx="2423160" cy="960120"/>
          </a:xfrm>
          <a:prstGeom prst="roundRect">
            <a:avLst/>
          </a:prstGeom>
          <a:solidFill>
            <a:srgbClr val="DC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744"/>
                </a:solidFill>
                <a:latin typeface="Arial"/>
              </a:defRPr>
            </a:pPr>
            <a:r>
              <a:rPr sz="1400" b="1">
                <a:solidFill>
                  <a:srgbClr val="0F2744"/>
                </a:solidFill>
                <a:latin typeface="Arial"/>
                <a:ea typeface="Yu Gothic"/>
              </a:rPr>
              <a:t>typecheck PASS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64992" y="1783080"/>
            <a:ext cx="2423160" cy="960120"/>
          </a:xfrm>
          <a:prstGeom prst="roundRect">
            <a:avLst/>
          </a:prstGeom>
          <a:solidFill>
            <a:srgbClr val="E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21031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744"/>
                </a:solidFill>
                <a:latin typeface="Arial"/>
              </a:defRPr>
            </a:pPr>
            <a:r>
              <a:rPr sz="1400" b="1">
                <a:solidFill>
                  <a:srgbClr val="0F2744"/>
                </a:solidFill>
                <a:latin typeface="Arial"/>
                <a:ea typeface="Yu Gothic"/>
              </a:rPr>
              <a:t>lint 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16752" y="1783080"/>
            <a:ext cx="2423160" cy="960120"/>
          </a:xfrm>
          <a:prstGeom prst="roundRect">
            <a:avLst/>
          </a:prstGeom>
          <a:solidFill>
            <a:srgbClr val="FF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1031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744"/>
                </a:solidFill>
                <a:latin typeface="Arial"/>
              </a:defRPr>
            </a:pPr>
            <a:r>
              <a:rPr sz="1400" b="1">
                <a:solidFill>
                  <a:srgbClr val="0F2744"/>
                </a:solidFill>
                <a:latin typeface="Arial"/>
                <a:ea typeface="Yu Gothic"/>
              </a:rPr>
              <a:t>risk.test PASS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68512" y="1783080"/>
            <a:ext cx="2423160" cy="960120"/>
          </a:xfrm>
          <a:prstGeom prst="roundRect">
            <a:avLst/>
          </a:prstGeom>
          <a:solidFill>
            <a:srgbClr val="FD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21031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744"/>
                </a:solidFill>
                <a:latin typeface="Arial"/>
              </a:defRPr>
            </a:pPr>
            <a:r>
              <a:rPr sz="1400" b="1">
                <a:solidFill>
                  <a:srgbClr val="0F2744"/>
                </a:solidFill>
                <a:latin typeface="Arial"/>
                <a:ea typeface="Yu Gothic"/>
              </a:rPr>
              <a:t>vite build PASS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337560"/>
            <a:ext cx="5166360" cy="1920240"/>
          </a:xfrm>
          <a:prstGeom prst="roundRect">
            <a:avLst/>
          </a:prstGeom>
          <a:solidFill>
            <a:srgbClr val="E9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675887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2744"/>
                </a:solidFill>
                <a:latin typeface="Arial"/>
              </a:defRPr>
            </a:pPr>
            <a:r>
              <a:rPr sz="1900" b="1">
                <a:solidFill>
                  <a:srgbClr val="0F2744"/>
                </a:solidFill>
                <a:latin typeface="Arial"/>
                <a:ea typeface="Yu Gothic"/>
              </a:rPr>
              <a:t>Week 2 검증</a:t>
            </a:r>
            <a:br/>
            <a:br/>
            <a:r>
              <a:rPr sz="1900" b="1">
                <a:solidFill>
                  <a:srgbClr val="0F2744"/>
                </a:solidFill>
                <a:latin typeface="Arial"/>
                <a:ea typeface="Yu Gothic"/>
              </a:rPr>
              <a:t>375px 모바일 · 빈/에러 상태 · 접근성</a:t>
            </a:r>
            <a:br/>
            <a:r>
              <a:rPr sz="1900" b="1">
                <a:solidFill>
                  <a:srgbClr val="0F2744"/>
                </a:solidFill>
                <a:latin typeface="Arial"/>
                <a:ea typeface="Yu Gothic"/>
              </a:rPr>
              <a:t>Rules 회귀 테스트 · 법무 체크리스트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3337560"/>
            <a:ext cx="5166360" cy="1920240"/>
          </a:xfrm>
          <a:prstGeom prst="roundRect">
            <a:avLst/>
          </a:prstGeom>
          <a:solidFill>
            <a:srgbClr val="FF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3675887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2744"/>
                </a:solidFill>
                <a:latin typeface="Arial"/>
              </a:defRPr>
            </a:pPr>
            <a:r>
              <a:rPr sz="1900" b="1">
                <a:solidFill>
                  <a:srgbClr val="0F2744"/>
                </a:solidFill>
                <a:latin typeface="Arial"/>
                <a:ea typeface="Yu Gothic"/>
              </a:rPr>
              <a:t>다음 완료 기준</a:t>
            </a:r>
            <a:br/>
            <a:br/>
            <a:r>
              <a:rPr sz="1900" b="1">
                <a:solidFill>
                  <a:srgbClr val="0F2744"/>
                </a:solidFill>
                <a:latin typeface="Arial"/>
                <a:ea typeface="Yu Gothic"/>
              </a:rPr>
              <a:t>Cloud Functions 배포 · 데모 데이터</a:t>
            </a:r>
            <a:br/>
            <a:r>
              <a:rPr sz="1900" b="1">
                <a:solidFill>
                  <a:srgbClr val="0F2744"/>
                </a:solidFill>
                <a:latin typeface="Arial"/>
                <a:ea typeface="Yu Gothic"/>
              </a:rPr>
              <a:t>로그인→검색→기록→재계산→경고 E2E 통과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5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25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400300"/>
            <a:ext cx="944849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300" b="1">
                <a:solidFill>
                  <a:srgbClr val="FFFFFF"/>
                </a:solidFill>
                <a:latin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</a:rPr>
              <a:t>AI가 제안하고, 사람이 검증해 신뢰 가능한 제품을 만듭니다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97580"/>
            <a:ext cx="94484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Arial"/>
              </a:defRPr>
            </a:pPr>
            <a:r>
              <a:rPr sz="1600">
                <a:solidFill>
                  <a:srgbClr val="FFFFFF"/>
                </a:solidFill>
                <a:latin typeface="Arial"/>
              </a:rPr>
              <a:t>감사합니다 · 질문 받겠습니다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Yu Gothic"/>
              </a:rPr>
              <a:t>역할 분리된 AI Agent + 문서 가드레일 + 인간 검증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