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1E0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진행 공유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벼락치기 스케줄러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 대학생을 위한 수면·카페인 스케줄 최적화 도구 — 다중 시험 최적화 · 화면 연동 파트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097280" cy="0"/>
          </a:xfrm>
          <a:prstGeom prst="line">
            <a:avLst/>
          </a:prstGeom>
          <a:noFill/>
          <a:ln w="19050">
            <a:solidFill>
              <a:srgbClr val="EC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N110_안정연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무엇을, 왜 만드는가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500"/>
            </a:avLst>
          </a:prstGeom>
          <a:solidFill>
            <a:srgbClr val="F6F1E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시험기간이 되면 대학생 대부분은 벼락치기를 하고,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섭취를 순전히 감에 의존해 조절한다.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결과, 시험이 여럿 겹치는 주간 전체를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고려하지 못하고 수면부족·컨디션 저하가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누적된다.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935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날짜·공부량·수면패턴·카페인 상태를 입력하면,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생물수학 모델로 "시험 시작 시각에 각성도가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최고가 되는" 수면·카페인 스케줄을 계산해주는 도구.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1E0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373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단위 스케줄이 아니라, 시험이 여러 개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겹치는 "시험기간 전체"를 한 번에 고려해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스케줄을 배분해준다.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 모델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Two-Process Model(수면압+일주기리듬) +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약동학·약력학(PK/PD) 상호작용 모델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수면과학 논문 기반의 검증된 공식 사용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로드맵 (4주)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검증 및 문제 정의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0350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 작성 (v1 → v2)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350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문서·스킬 설정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3504" y="3127248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제작 → React 이식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5234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S/C(수면압·일주기) 구현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75234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PK/PD 근사 모델 구현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75234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 로직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752344" y="3127248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 역산(그리드 탐색)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74320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1E0C9"/>
          </a:solidFill>
          <a:ln w="19050">
            <a:solidFill>
              <a:srgbClr val="9A5B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0118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통합 최적화(담금질)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90118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연동 + 계산 API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90118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브라우저·서버·DB 실제 연동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90118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화면에 계산 기능 연결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89204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9A5B28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7512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0372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05002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 (여유 시)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705002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테스트 · 버그 수정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05002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51" name="Text 49"/>
          <p:cNvSpPr/>
          <p:nvPr/>
        </p:nvSpPr>
        <p:spPr>
          <a:xfrm>
            <a:off x="717804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데모 준비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704088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순서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여기: 3주차 — "계산하기"를 누르면 실제로 계산돼 결과가 나오는, 끝까지 동작하는 앱을 완성하는 게 목표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· 진행 상황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목표 · 진행 상황 (07/20 ~ 07/23)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1E0C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흩어져 있던 계산 엔진·화면·DB를 하나로 연결해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"계산하기"를 누르면 여러 시험을 한 번에 고려한 스케줄이 실제로 나오게 만들기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75104" cy="2468880"/>
          </a:xfrm>
          <a:prstGeom prst="roundRect">
            <a:avLst>
              <a:gd name="adj" fmla="val 4630"/>
            </a:avLst>
          </a:prstGeom>
          <a:solidFill>
            <a:srgbClr val="F6F1E9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2148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07/20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55117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 코어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803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최적화 3종 구현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35584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그리드·목적함수·국소 탐색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최소 수면시간 패널티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642616" y="1965960"/>
            <a:ext cx="1975104" cy="2468880"/>
          </a:xfrm>
          <a:prstGeom prst="roundRect">
            <a:avLst>
              <a:gd name="adj" fmla="val 4630"/>
            </a:avLst>
          </a:prstGeom>
          <a:solidFill>
            <a:srgbClr val="F6F1E9"/>
          </a:solidFill>
          <a:ln/>
        </p:spPr>
      </p:sp>
      <p:sp>
        <p:nvSpPr>
          <p:cNvPr id="18" name="Shape 16"/>
          <p:cNvSpPr/>
          <p:nvPr/>
        </p:nvSpPr>
        <p:spPr>
          <a:xfrm>
            <a:off x="2807208" y="2148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19" name="Text 17"/>
          <p:cNvSpPr/>
          <p:nvPr/>
        </p:nvSpPr>
        <p:spPr>
          <a:xfrm>
            <a:off x="2807208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 07/21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25496" y="255117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· 버그 · 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25496" y="2962656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28803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스크립트로 수렴 확인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825496" y="3438144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335584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시각·축 분리 버그 수정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825496" y="3913632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프로젝트·마이그레이션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828032" y="1965960"/>
            <a:ext cx="1975104" cy="2468880"/>
          </a:xfrm>
          <a:prstGeom prst="roundRect">
            <a:avLst>
              <a:gd name="adj" fmla="val 4630"/>
            </a:avLst>
          </a:prstGeom>
          <a:solidFill>
            <a:srgbClr val="F6F1E9"/>
          </a:solidFill>
          <a:ln/>
        </p:spPr>
      </p:sp>
      <p:sp>
        <p:nvSpPr>
          <p:cNvPr id="28" name="Shape 26"/>
          <p:cNvSpPr/>
          <p:nvPr/>
        </p:nvSpPr>
        <p:spPr>
          <a:xfrm>
            <a:off x="4992624" y="2148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29" name="Text 27"/>
          <p:cNvSpPr/>
          <p:nvPr/>
        </p:nvSpPr>
        <p:spPr>
          <a:xfrm>
            <a:off x="4992624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07/22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10912" y="255117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기반 · 화면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10912" y="2962656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2" name="Text 30"/>
          <p:cNvSpPr/>
          <p:nvPr/>
        </p:nvSpPr>
        <p:spPr>
          <a:xfrm>
            <a:off x="5157216" y="28803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/api/schedule/calculate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5010912" y="3438144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4" name="Text 32"/>
          <p:cNvSpPr/>
          <p:nvPr/>
        </p:nvSpPr>
        <p:spPr>
          <a:xfrm>
            <a:off x="5157216" y="335584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프록시·Context 연동 기반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010912" y="3913632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6" name="Text 34"/>
          <p:cNvSpPr/>
          <p:nvPr/>
        </p:nvSpPr>
        <p:spPr>
          <a:xfrm>
            <a:off x="5157216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입력·처리중·결과 화면 API 연결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7013448" y="1965960"/>
            <a:ext cx="1975104" cy="2468880"/>
          </a:xfrm>
          <a:prstGeom prst="roundRect">
            <a:avLst>
              <a:gd name="adj" fmla="val 4630"/>
            </a:avLst>
          </a:prstGeom>
          <a:solidFill>
            <a:srgbClr val="F6F1E9"/>
          </a:solidFill>
          <a:ln/>
        </p:spPr>
      </p:sp>
      <p:sp>
        <p:nvSpPr>
          <p:cNvPr id="38" name="Shape 36"/>
          <p:cNvSpPr/>
          <p:nvPr/>
        </p:nvSpPr>
        <p:spPr>
          <a:xfrm>
            <a:off x="7178040" y="2148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07/23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96328" y="255117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마무리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96328" y="2962656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2" name="Text 40"/>
          <p:cNvSpPr/>
          <p:nvPr/>
        </p:nvSpPr>
        <p:spPr>
          <a:xfrm>
            <a:off x="7342632" y="28803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그래프 렌더·가로 스크롤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196328" y="3438144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4" name="Text 42"/>
          <p:cNvSpPr/>
          <p:nvPr/>
        </p:nvSpPr>
        <p:spPr>
          <a:xfrm>
            <a:off x="7342632" y="335584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최근 기록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196328" y="3913632"/>
            <a:ext cx="64008" cy="64008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6" name="Text 44"/>
          <p:cNvSpPr/>
          <p:nvPr/>
        </p:nvSpPr>
        <p:spPr>
          <a:xfrm>
            <a:off x="7342632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조정 재계산 연동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· 완료 이슈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3주차에 닫은 이슈 (GitHub)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최적화부터 화면 연동까지 — 3주차 마일스톤 이슈 18개를 모두 닫았다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24328" cy="3287268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7465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288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46504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 (BE)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258568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33856" y="2258568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그리드 결정변수 정의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640080" y="2564892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" y="2564892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목적함수(최솟값 채점) 구현</a:t>
            </a:r>
            <a:endParaRPr lang="en-US" sz="890" dirty="0"/>
          </a:p>
        </p:txBody>
      </p:sp>
      <p:sp>
        <p:nvSpPr>
          <p:cNvPr id="14" name="Text 11"/>
          <p:cNvSpPr/>
          <p:nvPr/>
        </p:nvSpPr>
        <p:spPr>
          <a:xfrm>
            <a:off x="640080" y="2871216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" y="2871216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탐색 휴리스틱(담금질)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640080" y="3177540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" y="3177540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검증 스크립트</a:t>
            </a:r>
            <a:endParaRPr lang="en-US" sz="890" dirty="0"/>
          </a:p>
        </p:txBody>
      </p:sp>
      <p:sp>
        <p:nvSpPr>
          <p:cNvPr id="18" name="Text 15"/>
          <p:cNvSpPr/>
          <p:nvPr/>
        </p:nvSpPr>
        <p:spPr>
          <a:xfrm>
            <a:off x="640080" y="3483864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" y="3483864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수면시간 패널티 반영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640080" y="3790188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" y="3790188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기상 시각 버그 수정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640080" y="4096512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" y="4096512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취침·기상 축 분리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3264408" y="1600200"/>
            <a:ext cx="2624328" cy="3287268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25" name="Shape 22"/>
          <p:cNvSpPr/>
          <p:nvPr/>
        </p:nvSpPr>
        <p:spPr>
          <a:xfrm>
            <a:off x="3429000" y="17465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858768" y="1746504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· DB (BE/DB)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447288" y="2258568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941064" y="2258568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생성·마이그레이션</a:t>
            </a:r>
            <a:endParaRPr lang="en-US" sz="890" dirty="0"/>
          </a:p>
        </p:txBody>
      </p:sp>
      <p:sp>
        <p:nvSpPr>
          <p:cNvPr id="30" name="Text 26"/>
          <p:cNvSpPr/>
          <p:nvPr/>
        </p:nvSpPr>
        <p:spPr>
          <a:xfrm>
            <a:off x="3447288" y="2564892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941064" y="2564892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/schedule/calculate</a:t>
            </a:r>
            <a:endParaRPr lang="en-US" sz="890" dirty="0"/>
          </a:p>
        </p:txBody>
      </p:sp>
      <p:sp>
        <p:nvSpPr>
          <p:cNvPr id="32" name="Text 28"/>
          <p:cNvSpPr/>
          <p:nvPr/>
        </p:nvSpPr>
        <p:spPr>
          <a:xfrm>
            <a:off x="3447288" y="2871216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941064" y="2871216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기반(프록시+Context)</a:t>
            </a:r>
            <a:endParaRPr lang="en-US" sz="890" dirty="0"/>
          </a:p>
        </p:txBody>
      </p:sp>
      <p:sp>
        <p:nvSpPr>
          <p:cNvPr id="34" name="Shape 30"/>
          <p:cNvSpPr/>
          <p:nvPr/>
        </p:nvSpPr>
        <p:spPr>
          <a:xfrm>
            <a:off x="6071616" y="1600200"/>
            <a:ext cx="2624328" cy="3287268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35" name="Shape 31"/>
          <p:cNvSpPr/>
          <p:nvPr/>
        </p:nvSpPr>
        <p:spPr>
          <a:xfrm>
            <a:off x="6236208" y="17465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2880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65976" y="1746504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(FE)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254496" y="2258568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748272" y="2258568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입력 화면 API 연동</a:t>
            </a:r>
            <a:endParaRPr lang="en-US" sz="890" dirty="0"/>
          </a:p>
        </p:txBody>
      </p:sp>
      <p:sp>
        <p:nvSpPr>
          <p:cNvPr id="40" name="Text 35"/>
          <p:cNvSpPr/>
          <p:nvPr/>
        </p:nvSpPr>
        <p:spPr>
          <a:xfrm>
            <a:off x="6254496" y="2564892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#17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748272" y="2564892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중 실제 응답 대기</a:t>
            </a:r>
            <a:endParaRPr lang="en-US" sz="890" dirty="0"/>
          </a:p>
        </p:txBody>
      </p:sp>
      <p:sp>
        <p:nvSpPr>
          <p:cNvPr id="42" name="Text 37"/>
          <p:cNvSpPr/>
          <p:nvPr/>
        </p:nvSpPr>
        <p:spPr>
          <a:xfrm>
            <a:off x="6254496" y="2871216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#18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6748272" y="2871216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추천·경고 렌더링</a:t>
            </a:r>
            <a:endParaRPr lang="en-US" sz="890" dirty="0"/>
          </a:p>
        </p:txBody>
      </p:sp>
      <p:sp>
        <p:nvSpPr>
          <p:cNvPr id="44" name="Text 39"/>
          <p:cNvSpPr/>
          <p:nvPr/>
        </p:nvSpPr>
        <p:spPr>
          <a:xfrm>
            <a:off x="6254496" y="3177540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#25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748272" y="3177540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그래프 렌더링</a:t>
            </a:r>
            <a:endParaRPr lang="en-US" sz="890" dirty="0"/>
          </a:p>
        </p:txBody>
      </p:sp>
      <p:sp>
        <p:nvSpPr>
          <p:cNvPr id="46" name="Text 41"/>
          <p:cNvSpPr/>
          <p:nvPr/>
        </p:nvSpPr>
        <p:spPr>
          <a:xfrm>
            <a:off x="6254496" y="3483864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748272" y="3483864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그래프 가로 스크롤</a:t>
            </a:r>
            <a:endParaRPr lang="en-US" sz="890" dirty="0"/>
          </a:p>
        </p:txBody>
      </p:sp>
      <p:sp>
        <p:nvSpPr>
          <p:cNvPr id="48" name="Text 43"/>
          <p:cNvSpPr/>
          <p:nvPr/>
        </p:nvSpPr>
        <p:spPr>
          <a:xfrm>
            <a:off x="6254496" y="3790188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#19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6748272" y="3790188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최근 기록</a:t>
            </a:r>
            <a:endParaRPr lang="en-US" sz="890" dirty="0"/>
          </a:p>
        </p:txBody>
      </p:sp>
      <p:sp>
        <p:nvSpPr>
          <p:cNvPr id="50" name="Text 45"/>
          <p:cNvSpPr/>
          <p:nvPr/>
        </p:nvSpPr>
        <p:spPr>
          <a:xfrm>
            <a:off x="6254496" y="4096512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#20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6748272" y="4096512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조정 재계산 연동</a:t>
            </a:r>
            <a:endParaRPr lang="en-US" sz="890" dirty="0"/>
          </a:p>
        </p:txBody>
      </p:sp>
      <p:sp>
        <p:nvSpPr>
          <p:cNvPr id="52" name="Text 47"/>
          <p:cNvSpPr/>
          <p:nvPr/>
        </p:nvSpPr>
        <p:spPr>
          <a:xfrm>
            <a:off x="6254496" y="4402836"/>
            <a:ext cx="502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#29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6748272" y="4402836"/>
            <a:ext cx="1801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시험 시드 버그 수정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기술 지도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44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— React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1947672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화면이 mock 없이 실제 계산 API와 연결됨.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그래프·추천 스케줄·최근 기록까지 동작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158" y="14744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— Express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29000" y="1947672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/api/schedule/calculate 로 다중 시험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엔진을 노출, Supabase 참고데이터 조회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071616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4744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— Supabase (Postgres)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36208" y="1947672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민감도별 반감기·안전 섭취 한도 등 참고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실제 SELECT로 조회 — 연결 완료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하나: 계산하기 (입력 → 계산 엔진 → 결과)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3346704"/>
            <a:ext cx="8229600" cy="1540764"/>
          </a:xfrm>
          <a:prstGeom prst="roundRect">
            <a:avLst>
              <a:gd name="adj" fmla="val 5341"/>
            </a:avLst>
          </a:prstGeom>
          <a:solidFill>
            <a:srgbClr val="F1E0C9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3346704"/>
            <a:ext cx="777240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입력 화면 "계산하기" → </a:t>
            </a:r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/api/schedule/calculate →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검증 → DB에서 반감기·안전 한도 조회 → Two-Process+카페인으로 각성도 곡선 → 다중 시험 로컬 탐색 → 안전 한도 판정 → </a:t>
            </a:r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 각성도 곡선, 추천 스케줄, 경고 } 응답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· 시퀀스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처리 흐름 — POST /api/schedule/calculate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pic>
        <p:nvPicPr>
          <p:cNvPr id="5" name="Image 0" descr="C:\dev.project\NAVER_AI\hub\exam-cram-scheduler\docs\diagrams\아키텍처-서버순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256" y="1188720"/>
            <a:ext cx="4037489" cy="3698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 · 다중 시험 최적화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최적 스케줄을 찾을까 — 계산 3단계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528420"/>
            <a:ext cx="271577" cy="2715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6304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70432" y="1664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만들기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06654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multiDayCandidates.ts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658368" y="2377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취침·기상·카페인 시각·용량을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"축"으로 둔다. 평소값 ±1시간을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 간격으로 → 밤마다 최대 9개 후보.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 4개면 조합이 81⁴이라, 전체 조합은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만들고 축 목록만 반환한다.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99816" y="2651760"/>
            <a:ext cx="146304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64408" y="128016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01568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8" y="1528420"/>
            <a:ext cx="271577" cy="27157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46304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977640" y="1664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매기기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47288" y="206654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multiDayObjective.ts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3465576" y="2377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하나 = 시험별 시작 시각의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중 최솟값(min).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"가장 컨디션 나쁠 시험"을 끌어올리는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방향으로 채점하고, 여기서 패널티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(수면 부족·수면 중 섭취·한도 초과)를 뺀다.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07024" y="2651760"/>
            <a:ext cx="146304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071616" y="128016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22" name="Shape 18"/>
          <p:cNvSpPr/>
          <p:nvPr/>
        </p:nvSpPr>
        <p:spPr>
          <a:xfrm>
            <a:off x="6208776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76" y="1528420"/>
            <a:ext cx="271577" cy="27157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84848" y="146304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784848" y="1664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쪽으로 옮기기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54496" y="206654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multiDayLocalSearch.ts</a:t>
            </a:r>
            <a:endParaRPr lang="en-US" sz="870" dirty="0"/>
          </a:p>
        </p:txBody>
      </p:sp>
      <p:sp>
        <p:nvSpPr>
          <p:cNvPr id="27" name="Text 22"/>
          <p:cNvSpPr/>
          <p:nvPr/>
        </p:nvSpPr>
        <p:spPr>
          <a:xfrm>
            <a:off x="6272784" y="2377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담금질(simulated annealing). 축 하나를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무작위로 골라 ±1칸 옮겨 채점 → 좋으면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이동, 나빠도 초반엔 확률적으로 허용.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 재시작 8회 × 반복 500회 중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높은 점수를 최종 채택한다.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물리적으로 말이 안 되는 후보(기상 전 카페인, 시험 후 기상)는 1단계에서 이미 제외 — 자세한 채점·탐색은 다음 장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 · 채점 &amp; 탐색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점수는 어떻게 매길까 — 가산점·패널티와 국소 탐색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채점 공식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F1E0C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= </a:t>
            </a:r>
            <a:pPr algn="l" indent="0" marL="0">
              <a:buNone/>
            </a:pPr>
            <a:r>
              <a:rPr lang="en-US" sz="12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시험별 각성도의 최솟값</a:t>
            </a:r>
            <a:pPr algn="l" indent="0" marL="0">
              <a:buNone/>
            </a:pPr>
            <a:r>
              <a:rPr lang="en-US" sz="12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−  패널티 3종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패널티 3종 (점수에서 뺀다)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15768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15768"/>
            <a:ext cx="64008" cy="566928"/>
          </a:xfrm>
          <a:prstGeom prst="rect">
            <a:avLst/>
          </a:prstGeom>
          <a:solidFill>
            <a:srgbClr val="C1442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88920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수면시간 부족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76656" y="3008376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33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 1시간당  − 0.5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410712"/>
            <a:ext cx="64008" cy="566928"/>
          </a:xfrm>
          <a:prstGeom prst="rect">
            <a:avLst/>
          </a:prstGeom>
          <a:solidFill>
            <a:srgbClr val="C1442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83864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자는 중 카페인 섭취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76656" y="3703320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33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기상까지 남은 1시간당  − 1.0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05656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105656"/>
            <a:ext cx="64008" cy="566928"/>
          </a:xfrm>
          <a:prstGeom prst="rect">
            <a:avLst/>
          </a:prstGeom>
          <a:solidFill>
            <a:srgbClr val="C1442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178808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안전 한도 초과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76656" y="4398264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33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100mg 초과당  − 0.5  (0.005/mg)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18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7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가산점은 따로 없다 — "시험 시각에 각성도가 높다"가 곧 점수. 안전 관련 패널티는 각성도 차이(보통 0.01~0.05)보다 세게 잡아 항상 이기게 했다.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892040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국소 탐색 — 담금질 휴리스틱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581912"/>
            <a:ext cx="3794760" cy="2084832"/>
          </a:xfrm>
          <a:prstGeom prst="roundRect">
            <a:avLst>
              <a:gd name="adj" fmla="val 3947"/>
            </a:avLst>
          </a:prstGeom>
          <a:solidFill>
            <a:srgbClr val="F6F1E9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1728216"/>
            <a:ext cx="3392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전수 탐색을 안 하나 — 밤이 몇 개만 돼도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조합이 81ⁿ으로 폭발해 다 못 뒤진다.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축 하나를 무작위로 골라 ±1칸 옮긴다(이웃)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채점해서 더 좋으면 그 이웃으로 이동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나쁘더라도 "온도"에 따른 확률로 가끔 이동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→ 국소 최적점에 갇히지 않게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온도는 반복마다 기하급수로 낮아져,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후반엔 사실상 오르막으로만 이동(수렴)</a:t>
            </a:r>
            <a:endParaRPr lang="en-US" sz="9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2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무작위 초기값으로 8번 재시작 → 최고 채택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92040" y="38130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파라미터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4087368"/>
            <a:ext cx="866394" cy="548640"/>
          </a:xfrm>
          <a:prstGeom prst="roundRect">
            <a:avLst>
              <a:gd name="adj" fmla="val 13333"/>
            </a:avLst>
          </a:prstGeom>
          <a:solidFill>
            <a:srgbClr val="F1E0C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160520"/>
            <a:ext cx="86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416552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68162" y="4087368"/>
            <a:ext cx="866394" cy="548640"/>
          </a:xfrm>
          <a:prstGeom prst="roundRect">
            <a:avLst>
              <a:gd name="adj" fmla="val 13333"/>
            </a:avLst>
          </a:prstGeom>
          <a:solidFill>
            <a:srgbClr val="F1E0C9"/>
          </a:solidFill>
          <a:ln/>
        </p:spPr>
      </p:sp>
      <p:sp>
        <p:nvSpPr>
          <p:cNvPr id="30" name="Text 28"/>
          <p:cNvSpPr/>
          <p:nvPr/>
        </p:nvSpPr>
        <p:spPr>
          <a:xfrm>
            <a:off x="5868162" y="4160520"/>
            <a:ext cx="86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68162" y="4416552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재시작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44284" y="4087368"/>
            <a:ext cx="866394" cy="548640"/>
          </a:xfrm>
          <a:prstGeom prst="roundRect">
            <a:avLst>
              <a:gd name="adj" fmla="val 13333"/>
            </a:avLst>
          </a:prstGeom>
          <a:solidFill>
            <a:srgbClr val="F1E0C9"/>
          </a:solidFill>
          <a:ln/>
        </p:spPr>
      </p:sp>
      <p:sp>
        <p:nvSpPr>
          <p:cNvPr id="33" name="Text 31"/>
          <p:cNvSpPr/>
          <p:nvPr/>
        </p:nvSpPr>
        <p:spPr>
          <a:xfrm>
            <a:off x="6844284" y="4160520"/>
            <a:ext cx="86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44284" y="4416552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초기온도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20406" y="4087368"/>
            <a:ext cx="866394" cy="548640"/>
          </a:xfrm>
          <a:prstGeom prst="roundRect">
            <a:avLst>
              <a:gd name="adj" fmla="val 13333"/>
            </a:avLst>
          </a:prstGeom>
          <a:solidFill>
            <a:srgbClr val="F1E0C9"/>
          </a:solidFill>
          <a:ln/>
        </p:spPr>
      </p:sp>
      <p:sp>
        <p:nvSpPr>
          <p:cNvPr id="36" name="Text 34"/>
          <p:cNvSpPr/>
          <p:nvPr/>
        </p:nvSpPr>
        <p:spPr>
          <a:xfrm>
            <a:off x="7820406" y="4160520"/>
            <a:ext cx="86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20406" y="4416552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종료온도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· 서버 · DB를 연결한 실제 동작 화면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34340" y="288036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1E0C9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1972" y="3099816"/>
            <a:ext cx="3657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91740" y="2880360"/>
            <a:ext cx="1993392" cy="438912"/>
          </a:xfrm>
          <a:prstGeom prst="roundRect">
            <a:avLst>
              <a:gd name="adj" fmla="val 50000"/>
            </a:avLst>
          </a:prstGeom>
          <a:solidFill>
            <a:srgbClr val="F1E0C9"/>
          </a:solidFill>
          <a:ln/>
        </p:spPr>
      </p:sp>
      <p:sp>
        <p:nvSpPr>
          <p:cNvPr id="10" name="Text 8"/>
          <p:cNvSpPr/>
          <p:nvPr/>
        </p:nvSpPr>
        <p:spPr>
          <a:xfrm>
            <a:off x="2491740" y="288036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프록시 :5173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8284" y="3099816"/>
            <a:ext cx="3657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8052" y="2880360"/>
            <a:ext cx="1883664" cy="438912"/>
          </a:xfrm>
          <a:prstGeom prst="roundRect">
            <a:avLst>
              <a:gd name="adj" fmla="val 50000"/>
            </a:avLst>
          </a:prstGeom>
          <a:solidFill>
            <a:srgbClr val="F1E0C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8052" y="28803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:4000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4868" y="3099816"/>
            <a:ext cx="3657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74636" y="2880360"/>
            <a:ext cx="1335024" cy="438912"/>
          </a:xfrm>
          <a:prstGeom prst="roundRect">
            <a:avLst>
              <a:gd name="adj" fmla="val 50000"/>
            </a:avLst>
          </a:prstGeom>
          <a:solidFill>
            <a:srgbClr val="F1E0C9"/>
          </a:solidFill>
          <a:ln/>
        </p:spPr>
      </p:sp>
      <p:sp>
        <p:nvSpPr>
          <p:cNvPr id="16" name="Text 14"/>
          <p:cNvSpPr/>
          <p:nvPr/>
        </p:nvSpPr>
        <p:spPr>
          <a:xfrm>
            <a:off x="7374636" y="288036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65760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201409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6576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http://localhost:5173/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"계산하기"를 누르면 앞 장의 시퀀스(POST /api/schedule/calculate)가 실제로 실행됩니다 — 발표 중 다른 창에서 직접 시연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 · 일하는 방식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어떻게 일했나 — 3주간의 작업 방식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 — 이슈 하나를 처리하는 사이클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6F1E9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파악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30352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이슈로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작업 범위 확인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1735531" y="2007108"/>
            <a:ext cx="98755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50746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6F1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4522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2"/>
          <p:cNvSpPr/>
          <p:nvPr/>
        </p:nvSpPr>
        <p:spPr>
          <a:xfrm>
            <a:off x="2344522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05610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듣고 검증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923898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설명 듣고 근거·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수식이 맞는지 검증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3129077" y="2007108"/>
            <a:ext cx="98755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44291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6F1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738067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0" name="Text 18"/>
          <p:cNvSpPr/>
          <p:nvPr/>
        </p:nvSpPr>
        <p:spPr>
          <a:xfrm>
            <a:off x="3738067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9155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이해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317443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계획을 이해될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때까지 되묻기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4522622" y="2007108"/>
            <a:ext cx="98755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37837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6F1E9"/>
          </a:solidFill>
          <a:ln/>
        </p:spPr>
      </p:sp>
      <p:sp>
        <p:nvSpPr>
          <p:cNvPr id="25" name="Shape 23"/>
          <p:cNvSpPr/>
          <p:nvPr/>
        </p:nvSpPr>
        <p:spPr>
          <a:xfrm>
            <a:off x="5131613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6" name="Text 24"/>
          <p:cNvSpPr/>
          <p:nvPr/>
        </p:nvSpPr>
        <p:spPr>
          <a:xfrm>
            <a:off x="5131613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2701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수행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4710989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 이해한 뒤에야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작업 수행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916168" y="2007108"/>
            <a:ext cx="98755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31382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6F1E9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5158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2" name="Text 30"/>
          <p:cNvSpPr/>
          <p:nvPr/>
        </p:nvSpPr>
        <p:spPr>
          <a:xfrm>
            <a:off x="6525158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6246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 · 버그 테스트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104534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내용 이해 +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스크립트 테스트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7309714" y="2007108"/>
            <a:ext cx="98755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24928" y="1481328"/>
            <a:ext cx="1261872" cy="1051560"/>
          </a:xfrm>
          <a:prstGeom prst="roundRect">
            <a:avLst>
              <a:gd name="adj" fmla="val 7826"/>
            </a:avLst>
          </a:prstGeom>
          <a:solidFill>
            <a:srgbClr val="F1E0C9"/>
          </a:solidFill>
          <a:ln w="15240">
            <a:solidFill>
              <a:srgbClr val="9A5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18704" y="1591056"/>
            <a:ext cx="274320" cy="274320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8" name="Text 36"/>
          <p:cNvSpPr/>
          <p:nvPr/>
        </p:nvSpPr>
        <p:spPr>
          <a:xfrm>
            <a:off x="7918704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79792" y="190195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498080" y="21396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스킬로</a:t>
            </a:r>
            <a:endParaRPr lang="en-US" sz="7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단위 커밋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457200" y="26974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쓰는 Skill 3개  (.claude/skills/)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299923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2999232"/>
            <a:ext cx="64008" cy="56692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" y="3054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/commit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" y="3255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"커밋" 한마디로 바로 실행 — Conventional Commits</a:t>
            </a:r>
            <a:endParaRPr lang="en-US" sz="7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형식, 파일 하나당 커밋 하나로 분리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57200" y="365760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3657600"/>
            <a:ext cx="64008" cy="56692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" y="3712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/new-component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" y="3913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컴포넌트 요청 시 CLAUDE.md·디자인.md를 먼저 읽고</a:t>
            </a:r>
            <a:endParaRPr lang="en-US" sz="7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 재사용, 문서에 없으면 임의로 안 정하고 질문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57200" y="4315968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6F1E9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" y="4315968"/>
            <a:ext cx="64008" cy="56692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2" name="Text 50"/>
          <p:cNvSpPr/>
          <p:nvPr/>
        </p:nvSpPr>
        <p:spPr>
          <a:xfrm>
            <a:off x="621792" y="4370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/daily-recap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마무리 회고 — 한 일·목적·세부사항·</a:t>
            </a:r>
            <a:endParaRPr lang="en-US" sz="7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헷갈린 점·배운 것 5가지를 표로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892040" y="2697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· 함께 정한 규칙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892040" y="2999232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56" name="Text 54"/>
          <p:cNvSpPr/>
          <p:nvPr/>
        </p:nvSpPr>
        <p:spPr>
          <a:xfrm>
            <a:off x="5074920" y="30723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— 기본은 메인 세션에서 직접 진행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5074920" y="33284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Explore — 여러 파일을 한 번에 훑어야 할 때 코드베이스 탐색</a:t>
            </a:r>
            <a:endParaRPr lang="en-US" sz="82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Plan — 구현 전에 단계별 계획을 먼저 받아볼 때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4892040" y="4023360"/>
            <a:ext cx="3794760" cy="864108"/>
          </a:xfrm>
          <a:prstGeom prst="roundRect">
            <a:avLst>
              <a:gd name="adj" fmla="val 8466"/>
            </a:avLst>
          </a:prstGeom>
          <a:solidFill>
            <a:srgbClr val="F1E0C9"/>
          </a:solidFill>
          <a:ln/>
        </p:spPr>
      </p:sp>
      <p:sp>
        <p:nvSpPr>
          <p:cNvPr id="59" name="Text 57"/>
          <p:cNvSpPr/>
          <p:nvPr/>
        </p:nvSpPr>
        <p:spPr>
          <a:xfrm>
            <a:off x="5074920" y="40965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정한 규칙 — CLAUDE.md에 적어둔 것</a:t>
            </a:r>
            <a:endParaRPr lang="en-US" sz="930" dirty="0"/>
          </a:p>
        </p:txBody>
      </p:sp>
      <p:sp>
        <p:nvSpPr>
          <p:cNvPr id="60" name="Text 58"/>
          <p:cNvSpPr/>
          <p:nvPr/>
        </p:nvSpPr>
        <p:spPr>
          <a:xfrm>
            <a:off x="5074920" y="4343400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지시하지 않은 작업은 AI가 스스로 실행하지 않기</a:t>
            </a:r>
            <a:endParaRPr lang="en-US" sz="8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빈틈은 임의로 채우지 말고 다시 질문하기</a:t>
            </a:r>
            <a:endParaRPr lang="en-US" sz="8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코드 설명은 목적 → 방식 → 근거 → 구현 4단계로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 · 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할 일 · 고민되는 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794760" cy="3607308"/>
          </a:xfrm>
          <a:prstGeom prst="roundRect">
            <a:avLst>
              <a:gd name="adj" fmla="val 2535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417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" y="15201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44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 할 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240280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 (시간 여유 있으면)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31520" y="2715768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24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테스트 · 버그 수정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31520" y="3191256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0998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데모 준비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31520" y="3666744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5753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선택 이슈 정리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6012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#27 홈 화면 시험 캘린더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6012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#28 FE·BE 타입 통합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617720" y="1280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고민되는 점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17720" y="1664208"/>
            <a:ext cx="4069080" cy="1005840"/>
          </a:xfrm>
          <a:prstGeom prst="roundRect">
            <a:avLst>
              <a:gd name="adj" fmla="val 8182"/>
            </a:avLst>
          </a:prstGeom>
          <a:solidFill>
            <a:srgbClr val="F6F1E9"/>
          </a:solidFill>
          <a:ln/>
        </p:spPr>
      </p:sp>
      <p:sp>
        <p:nvSpPr>
          <p:cNvPr id="21" name="Shape 18"/>
          <p:cNvSpPr/>
          <p:nvPr/>
        </p:nvSpPr>
        <p:spPr>
          <a:xfrm>
            <a:off x="4800600" y="1828800"/>
            <a:ext cx="256032" cy="25603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66360" y="17830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FE·BE 타입을 통합할까 (#28)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66360" y="2066544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client(React)와 server(Express)가 요청·응답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타입을 각자 정의 중. 공유 폴더로 합쳐 한 곳에서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관리할지, 계층을 나눠 그대로 둘지 고민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4617720" y="2779776"/>
            <a:ext cx="4069080" cy="1005840"/>
          </a:xfrm>
          <a:prstGeom prst="roundRect">
            <a:avLst>
              <a:gd name="adj" fmla="val 8182"/>
            </a:avLst>
          </a:prstGeom>
          <a:solidFill>
            <a:srgbClr val="F6F1E9"/>
          </a:solidFill>
          <a:ln/>
        </p:spPr>
      </p:sp>
      <p:sp>
        <p:nvSpPr>
          <p:cNvPr id="26" name="Shape 23"/>
          <p:cNvSpPr/>
          <p:nvPr/>
        </p:nvSpPr>
        <p:spPr>
          <a:xfrm>
            <a:off x="4800600" y="2944368"/>
            <a:ext cx="256032" cy="25603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7" name="Text 24"/>
          <p:cNvSpPr/>
          <p:nvPr/>
        </p:nvSpPr>
        <p:spPr>
          <a:xfrm>
            <a:off x="480060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66360" y="289864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화면을 어떻게 마무리할까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66360" y="3182112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 그래프·추천 스케줄·경고·캘린더를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화면에 어디까지 담고 어떻게 정리해야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한눈에 이해할지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4617720" y="3895344"/>
            <a:ext cx="4069080" cy="1005840"/>
          </a:xfrm>
          <a:prstGeom prst="roundRect">
            <a:avLst>
              <a:gd name="adj" fmla="val 8182"/>
            </a:avLst>
          </a:prstGeom>
          <a:solidFill>
            <a:srgbClr val="F6F1E9"/>
          </a:solidFill>
          <a:ln/>
        </p:spPr>
      </p:sp>
      <p:sp>
        <p:nvSpPr>
          <p:cNvPr id="31" name="Shape 28"/>
          <p:cNvSpPr/>
          <p:nvPr/>
        </p:nvSpPr>
        <p:spPr>
          <a:xfrm>
            <a:off x="4800600" y="4059936"/>
            <a:ext cx="256032" cy="25603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2" name="Text 29"/>
          <p:cNvSpPr/>
          <p:nvPr/>
        </p:nvSpPr>
        <p:spPr>
          <a:xfrm>
            <a:off x="48006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66360" y="401421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캘린더의 정보 범위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166360" y="4297680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캘린더에 시험·수면·카페인·공부 중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어디까지 통합해 보여줄지 —</a:t>
            </a:r>
            <a:endParaRPr lang="en-US" sz="8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많으면 복잡, 적으면 밋밋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 벼락치기 스케줄러 — 3주차 진행 공유</dc:title>
  <dc:subject>PptxGenJS Presentation</dc:subject>
  <dc:creator>N110_안정연</dc:creator>
  <cp:lastModifiedBy>N110_안정연</cp:lastModifiedBy>
  <cp:revision>1</cp:revision>
  <dcterms:created xsi:type="dcterms:W3CDTF">2026-07-24T06:05:22Z</dcterms:created>
  <dcterms:modified xsi:type="dcterms:W3CDTF">2026-07-24T06:05:22Z</dcterms:modified>
</cp:coreProperties>
</file>