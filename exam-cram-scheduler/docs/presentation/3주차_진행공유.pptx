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331720" cy="384048"/>
          </a:xfrm>
          <a:prstGeom prst="roundRect">
            <a:avLst>
              <a:gd name="adj" fmla="val 19048"/>
            </a:avLst>
          </a:prstGeom>
          <a:solidFill>
            <a:srgbClr val="F1E0C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 진행 공유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벼락치기 스케줄러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시험기간 대학생을 위한 수면·카페인 스케줄 최적화 도구 — 다중 시험 최적화 · 화면 연동 파트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1097280" cy="0"/>
          </a:xfrm>
          <a:prstGeom prst="line">
            <a:avLst/>
          </a:prstGeom>
          <a:noFill/>
          <a:ln w="19050">
            <a:solidFill>
              <a:srgbClr val="ECE3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N110_안정연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소개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무엇을, 왜 만드는가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3931920" cy="3291840"/>
          </a:xfrm>
          <a:prstGeom prst="roundRect">
            <a:avLst>
              <a:gd name="adj" fmla="val 2500"/>
            </a:avLst>
          </a:prstGeom>
          <a:solidFill>
            <a:srgbClr val="F6F1E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시험기간이 되면 대학생 대부분은 벼락치기를 하고,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수면·카페인 섭취를 순전히 감에 의존해 조절한다.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결과, 시험이 여럿 겹치는 주간 전체를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고려하지 못하고 수면부족·컨디션 저하가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누적된다.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359359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날짜·공부량·수면패턴·카페인 상태를 입력하면,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생물수학 모델로 "시험 시작 시각에 각성도가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최고가 되는" 수면·카페인 스케줄을 계산해주는 도구.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60020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F1E0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7373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 단위 스케줄이 아니라, 시험이 여러 개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겹치는 "시험기간 전체"를 한 번에 고려해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수면·카페인 스케줄을 배분해준다.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사용한 모델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338328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F6F1E9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Two-Process Model(수면압+일주기리듬) +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약동학·약력학(PK/PD) 상호작용 모델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수면과학 논문 기반의 검증된 공식 사용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로드맵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로드맵 (4주)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6F1E9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1주차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" y="1975104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검증 및 문제 정의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603504" y="2359152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기획서 작성 (v1 → v2)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603504" y="2743200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문서·스킬 설정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603504" y="3127248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 제작 → React 이식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59436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FFFFFF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377440" y="2583180"/>
            <a:ext cx="228600" cy="0"/>
          </a:xfrm>
          <a:prstGeom prst="line">
            <a:avLst/>
          </a:prstGeom>
          <a:noFill/>
          <a:ln w="19050">
            <a:solidFill>
              <a:srgbClr val="AB9D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0604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6F1E9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52344" y="1975104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21" name="Text 19"/>
          <p:cNvSpPr/>
          <p:nvPr/>
        </p:nvSpPr>
        <p:spPr>
          <a:xfrm>
            <a:off x="288036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S/C(수면압·일주기) 구현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2752344" y="2359152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23" name="Text 21"/>
          <p:cNvSpPr/>
          <p:nvPr/>
        </p:nvSpPr>
        <p:spPr>
          <a:xfrm>
            <a:off x="288036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PK/PD 근사 모델 구현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2752344" y="2743200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25" name="Text 23"/>
          <p:cNvSpPr/>
          <p:nvPr/>
        </p:nvSpPr>
        <p:spPr>
          <a:xfrm>
            <a:off x="288036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섭취 한도 로직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2752344" y="3127248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27" name="Text 25"/>
          <p:cNvSpPr/>
          <p:nvPr/>
        </p:nvSpPr>
        <p:spPr>
          <a:xfrm>
            <a:off x="28803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각성 시각 역산(그리드 탐색)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274320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FFFFFF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26280" y="2583180"/>
            <a:ext cx="228600" cy="0"/>
          </a:xfrm>
          <a:prstGeom prst="line">
            <a:avLst/>
          </a:prstGeom>
          <a:noFill/>
          <a:ln w="19050">
            <a:solidFill>
              <a:srgbClr val="AB9D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75488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1E0C9"/>
          </a:solidFill>
          <a:ln w="19050">
            <a:solidFill>
              <a:srgbClr val="9A5B2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901184" y="1975104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통합 최적화(담금질)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4901184" y="2359152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연동 + 계산 API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4901184" y="2743200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브라우저·서버·DB 실제 연동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4901184" y="3127248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40" name="Text 38"/>
          <p:cNvSpPr/>
          <p:nvPr/>
        </p:nvSpPr>
        <p:spPr>
          <a:xfrm>
            <a:off x="502920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화면에 계산 기능 연결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489204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9A5B28"/>
          </a:solidFill>
          <a:ln/>
        </p:spPr>
      </p:sp>
      <p:sp>
        <p:nvSpPr>
          <p:cNvPr id="42" name="Text 40"/>
          <p:cNvSpPr/>
          <p:nvPr/>
        </p:nvSpPr>
        <p:spPr>
          <a:xfrm>
            <a:off x="489204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75120" y="2583180"/>
            <a:ext cx="228600" cy="0"/>
          </a:xfrm>
          <a:prstGeom prst="line">
            <a:avLst/>
          </a:prstGeom>
          <a:noFill/>
          <a:ln w="19050">
            <a:solidFill>
              <a:srgbClr val="AB9D8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90372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6F1E9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4088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4주차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050024" y="1975104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47" name="Text 45"/>
          <p:cNvSpPr/>
          <p:nvPr/>
        </p:nvSpPr>
        <p:spPr>
          <a:xfrm>
            <a:off x="717804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기능 (여유 시)</a:t>
            </a:r>
            <a:endParaRPr lang="en-US" sz="870" dirty="0"/>
          </a:p>
        </p:txBody>
      </p:sp>
      <p:sp>
        <p:nvSpPr>
          <p:cNvPr id="48" name="Shape 46"/>
          <p:cNvSpPr/>
          <p:nvPr/>
        </p:nvSpPr>
        <p:spPr>
          <a:xfrm>
            <a:off x="7050024" y="2359152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49" name="Text 47"/>
          <p:cNvSpPr/>
          <p:nvPr/>
        </p:nvSpPr>
        <p:spPr>
          <a:xfrm>
            <a:off x="717804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테스트 · 버그 수정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7050024" y="2743200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51" name="Text 49"/>
          <p:cNvSpPr/>
          <p:nvPr/>
        </p:nvSpPr>
        <p:spPr>
          <a:xfrm>
            <a:off x="717804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자료 · 데모 준비</a:t>
            </a:r>
            <a:endParaRPr lang="en-US" sz="870" dirty="0"/>
          </a:p>
        </p:txBody>
      </p:sp>
      <p:sp>
        <p:nvSpPr>
          <p:cNvPr id="52" name="Shape 50"/>
          <p:cNvSpPr/>
          <p:nvPr/>
        </p:nvSpPr>
        <p:spPr>
          <a:xfrm>
            <a:off x="704088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FFFFFF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순서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40507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여기: 3주차 — "계산하기"를 누르면 실제로 계산돼 결과가 나오는, 끝까지 동작하는 앱을 완성하는 게 목표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 · 진행 상황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 목표 · 진행 상황 (07/20 ~ 07/23)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E0C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목표: 흩어져 있던 계산 엔진·화면·DB를 하나로 연결해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"계산하기"를 누르면 여러 시험을 한 번에 고려한 스케줄이 실제로 나오게 만들기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975104" cy="2468880"/>
          </a:xfrm>
          <a:prstGeom prst="roundRect">
            <a:avLst>
              <a:gd name="adj" fmla="val 4630"/>
            </a:avLst>
          </a:prstGeom>
          <a:solidFill>
            <a:srgbClr val="F6F1E9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1488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9A5B28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1488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07/20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551176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엔진 코어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962656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803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최적화 3종 구현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640080" y="3438144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35584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그리드·목적함수·국소 탐색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3133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최소 수면시간 패널티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2642616" y="1965960"/>
            <a:ext cx="1975104" cy="2468880"/>
          </a:xfrm>
          <a:prstGeom prst="roundRect">
            <a:avLst>
              <a:gd name="adj" fmla="val 4630"/>
            </a:avLst>
          </a:prstGeom>
          <a:solidFill>
            <a:srgbClr val="F6F1E9"/>
          </a:solidFill>
          <a:ln/>
        </p:spPr>
      </p:sp>
      <p:sp>
        <p:nvSpPr>
          <p:cNvPr id="18" name="Shape 16"/>
          <p:cNvSpPr/>
          <p:nvPr/>
        </p:nvSpPr>
        <p:spPr>
          <a:xfrm>
            <a:off x="2807208" y="21488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9A5B28"/>
          </a:solidFill>
          <a:ln/>
        </p:spPr>
      </p:sp>
      <p:sp>
        <p:nvSpPr>
          <p:cNvPr id="19" name="Text 17"/>
          <p:cNvSpPr/>
          <p:nvPr/>
        </p:nvSpPr>
        <p:spPr>
          <a:xfrm>
            <a:off x="2807208" y="21488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 07/21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25496" y="2551176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· 버그 · DB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825496" y="2962656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2" name="Text 20"/>
          <p:cNvSpPr/>
          <p:nvPr/>
        </p:nvSpPr>
        <p:spPr>
          <a:xfrm>
            <a:off x="2971800" y="28803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스크립트로 수렴 확인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2825496" y="3438144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4" name="Text 22"/>
          <p:cNvSpPr/>
          <p:nvPr/>
        </p:nvSpPr>
        <p:spPr>
          <a:xfrm>
            <a:off x="2971800" y="335584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시각·축 분리 버그 수정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2825496" y="3913632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6" name="Text 24"/>
          <p:cNvSpPr/>
          <p:nvPr/>
        </p:nvSpPr>
        <p:spPr>
          <a:xfrm>
            <a:off x="2971800" y="383133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프로젝트·마이그레이션</a:t>
            </a:r>
            <a:endParaRPr lang="en-US" sz="870" dirty="0"/>
          </a:p>
        </p:txBody>
      </p:sp>
      <p:sp>
        <p:nvSpPr>
          <p:cNvPr id="27" name="Shape 25"/>
          <p:cNvSpPr/>
          <p:nvPr/>
        </p:nvSpPr>
        <p:spPr>
          <a:xfrm>
            <a:off x="4828032" y="1965960"/>
            <a:ext cx="1975104" cy="2468880"/>
          </a:xfrm>
          <a:prstGeom prst="roundRect">
            <a:avLst>
              <a:gd name="adj" fmla="val 4630"/>
            </a:avLst>
          </a:prstGeom>
          <a:solidFill>
            <a:srgbClr val="F6F1E9"/>
          </a:solidFill>
          <a:ln/>
        </p:spPr>
      </p:sp>
      <p:sp>
        <p:nvSpPr>
          <p:cNvPr id="28" name="Shape 26"/>
          <p:cNvSpPr/>
          <p:nvPr/>
        </p:nvSpPr>
        <p:spPr>
          <a:xfrm>
            <a:off x="4992624" y="21488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9A5B28"/>
          </a:solidFill>
          <a:ln/>
        </p:spPr>
      </p:sp>
      <p:sp>
        <p:nvSpPr>
          <p:cNvPr id="29" name="Text 27"/>
          <p:cNvSpPr/>
          <p:nvPr/>
        </p:nvSpPr>
        <p:spPr>
          <a:xfrm>
            <a:off x="4992624" y="21488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 07/22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10912" y="2551176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연동 기반 · 화면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10912" y="2962656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2" name="Text 30"/>
          <p:cNvSpPr/>
          <p:nvPr/>
        </p:nvSpPr>
        <p:spPr>
          <a:xfrm>
            <a:off x="5157216" y="28803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POST /api/schedule/calculate</a:t>
            </a:r>
            <a:endParaRPr lang="en-US" sz="870" dirty="0"/>
          </a:p>
        </p:txBody>
      </p:sp>
      <p:sp>
        <p:nvSpPr>
          <p:cNvPr id="33" name="Shape 31"/>
          <p:cNvSpPr/>
          <p:nvPr/>
        </p:nvSpPr>
        <p:spPr>
          <a:xfrm>
            <a:off x="5010912" y="3438144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4" name="Text 32"/>
          <p:cNvSpPr/>
          <p:nvPr/>
        </p:nvSpPr>
        <p:spPr>
          <a:xfrm>
            <a:off x="5157216" y="335584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프록시·Context 연동 기반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5010912" y="3913632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6" name="Text 34"/>
          <p:cNvSpPr/>
          <p:nvPr/>
        </p:nvSpPr>
        <p:spPr>
          <a:xfrm>
            <a:off x="5157216" y="383133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입력·처리중·결과 화면 API 연결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7013448" y="1965960"/>
            <a:ext cx="1975104" cy="2468880"/>
          </a:xfrm>
          <a:prstGeom prst="roundRect">
            <a:avLst>
              <a:gd name="adj" fmla="val 4630"/>
            </a:avLst>
          </a:prstGeom>
          <a:solidFill>
            <a:srgbClr val="F6F1E9"/>
          </a:solidFill>
          <a:ln/>
        </p:spPr>
      </p:sp>
      <p:sp>
        <p:nvSpPr>
          <p:cNvPr id="38" name="Shape 36"/>
          <p:cNvSpPr/>
          <p:nvPr/>
        </p:nvSpPr>
        <p:spPr>
          <a:xfrm>
            <a:off x="7178040" y="21488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9A5B28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21488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 07/23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96328" y="2551176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마무리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196328" y="2962656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42" name="Text 40"/>
          <p:cNvSpPr/>
          <p:nvPr/>
        </p:nvSpPr>
        <p:spPr>
          <a:xfrm>
            <a:off x="7342632" y="28803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각성도 그래프 렌더·가로 스크롤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7196328" y="3438144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44" name="Text 42"/>
          <p:cNvSpPr/>
          <p:nvPr/>
        </p:nvSpPr>
        <p:spPr>
          <a:xfrm>
            <a:off x="7342632" y="335584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localStorage 최근 기록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7196328" y="3913632"/>
            <a:ext cx="64008" cy="64008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46" name="Text 44"/>
          <p:cNvSpPr/>
          <p:nvPr/>
        </p:nvSpPr>
        <p:spPr>
          <a:xfrm>
            <a:off x="7342632" y="383133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스케줄 조정 재계산 연동</a:t>
            </a:r>
            <a:endParaRPr lang="en-US" sz="8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 · 완료 이슈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3주차에 닫은 이슈 (GitHub)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최적화부터 화면 연동까지 — 3주차 마일스톤 이슈 18개를 모두 닫았다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624328" cy="3287268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74650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82880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746504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엔진 (BE)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2258568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33856" y="2258568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그리드 결정변수 정의</a:t>
            </a:r>
            <a:endParaRPr lang="en-US" sz="890" dirty="0"/>
          </a:p>
        </p:txBody>
      </p:sp>
      <p:sp>
        <p:nvSpPr>
          <p:cNvPr id="12" name="Text 9"/>
          <p:cNvSpPr/>
          <p:nvPr/>
        </p:nvSpPr>
        <p:spPr>
          <a:xfrm>
            <a:off x="640080" y="2564892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133856" y="2564892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목적함수(최솟값 채점) 구현</a:t>
            </a:r>
            <a:endParaRPr lang="en-US" sz="890" dirty="0"/>
          </a:p>
        </p:txBody>
      </p:sp>
      <p:sp>
        <p:nvSpPr>
          <p:cNvPr id="14" name="Text 11"/>
          <p:cNvSpPr/>
          <p:nvPr/>
        </p:nvSpPr>
        <p:spPr>
          <a:xfrm>
            <a:off x="640080" y="2871216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#12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133856" y="2871216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 탐색 휴리스틱(담금질)</a:t>
            </a:r>
            <a:endParaRPr lang="en-US" sz="890" dirty="0"/>
          </a:p>
        </p:txBody>
      </p:sp>
      <p:sp>
        <p:nvSpPr>
          <p:cNvPr id="16" name="Text 13"/>
          <p:cNvSpPr/>
          <p:nvPr/>
        </p:nvSpPr>
        <p:spPr>
          <a:xfrm>
            <a:off x="640080" y="3177540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33856" y="3177540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검증 스크립트</a:t>
            </a:r>
            <a:endParaRPr lang="en-US" sz="890" dirty="0"/>
          </a:p>
        </p:txBody>
      </p:sp>
      <p:sp>
        <p:nvSpPr>
          <p:cNvPr id="18" name="Text 15"/>
          <p:cNvSpPr/>
          <p:nvPr/>
        </p:nvSpPr>
        <p:spPr>
          <a:xfrm>
            <a:off x="640080" y="3483864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#21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133856" y="3483864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수면시간 패널티 반영</a:t>
            </a:r>
            <a:endParaRPr lang="en-US" sz="890" dirty="0"/>
          </a:p>
        </p:txBody>
      </p:sp>
      <p:sp>
        <p:nvSpPr>
          <p:cNvPr id="20" name="Text 17"/>
          <p:cNvSpPr/>
          <p:nvPr/>
        </p:nvSpPr>
        <p:spPr>
          <a:xfrm>
            <a:off x="640080" y="3790188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#22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133856" y="3790188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기상 시각 버그 수정</a:t>
            </a:r>
            <a:endParaRPr lang="en-US" sz="890" dirty="0"/>
          </a:p>
        </p:txBody>
      </p:sp>
      <p:sp>
        <p:nvSpPr>
          <p:cNvPr id="22" name="Text 19"/>
          <p:cNvSpPr/>
          <p:nvPr/>
        </p:nvSpPr>
        <p:spPr>
          <a:xfrm>
            <a:off x="640080" y="4096512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#23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133856" y="4096512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취침·기상 축 분리</a:t>
            </a:r>
            <a:endParaRPr lang="en-US" sz="890" dirty="0"/>
          </a:p>
        </p:txBody>
      </p:sp>
      <p:sp>
        <p:nvSpPr>
          <p:cNvPr id="24" name="Shape 21"/>
          <p:cNvSpPr/>
          <p:nvPr/>
        </p:nvSpPr>
        <p:spPr>
          <a:xfrm>
            <a:off x="3264408" y="1600200"/>
            <a:ext cx="2624328" cy="3287268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25" name="Shape 22"/>
          <p:cNvSpPr/>
          <p:nvPr/>
        </p:nvSpPr>
        <p:spPr>
          <a:xfrm>
            <a:off x="3429000" y="174650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858768" y="1746504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연동 · DB (BE/DB)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447288" y="2258568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#14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3941064" y="2258568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생성·마이그레이션</a:t>
            </a:r>
            <a:endParaRPr lang="en-US" sz="890" dirty="0"/>
          </a:p>
        </p:txBody>
      </p:sp>
      <p:sp>
        <p:nvSpPr>
          <p:cNvPr id="30" name="Text 26"/>
          <p:cNvSpPr/>
          <p:nvPr/>
        </p:nvSpPr>
        <p:spPr>
          <a:xfrm>
            <a:off x="3447288" y="2564892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#15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3941064" y="2564892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POST /schedule/calculate</a:t>
            </a:r>
            <a:endParaRPr lang="en-US" sz="890" dirty="0"/>
          </a:p>
        </p:txBody>
      </p:sp>
      <p:sp>
        <p:nvSpPr>
          <p:cNvPr id="32" name="Text 28"/>
          <p:cNvSpPr/>
          <p:nvPr/>
        </p:nvSpPr>
        <p:spPr>
          <a:xfrm>
            <a:off x="3447288" y="2871216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#24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941064" y="2871216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연동 기반(프록시+Context)</a:t>
            </a:r>
            <a:endParaRPr lang="en-US" sz="890" dirty="0"/>
          </a:p>
        </p:txBody>
      </p:sp>
      <p:sp>
        <p:nvSpPr>
          <p:cNvPr id="34" name="Shape 30"/>
          <p:cNvSpPr/>
          <p:nvPr/>
        </p:nvSpPr>
        <p:spPr>
          <a:xfrm>
            <a:off x="6071616" y="1600200"/>
            <a:ext cx="2624328" cy="3287268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35" name="Shape 31"/>
          <p:cNvSpPr/>
          <p:nvPr/>
        </p:nvSpPr>
        <p:spPr>
          <a:xfrm>
            <a:off x="6236208" y="174650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828800"/>
            <a:ext cx="201168" cy="201168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665976" y="1746504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(FE)</a:t>
            </a:r>
            <a:endParaRPr lang="en-US" sz="1150" dirty="0"/>
          </a:p>
        </p:txBody>
      </p:sp>
      <p:sp>
        <p:nvSpPr>
          <p:cNvPr id="38" name="Text 33"/>
          <p:cNvSpPr/>
          <p:nvPr/>
        </p:nvSpPr>
        <p:spPr>
          <a:xfrm>
            <a:off x="6254496" y="2258568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#16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6748272" y="2258568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입력 화면 API 연동</a:t>
            </a:r>
            <a:endParaRPr lang="en-US" sz="890" dirty="0"/>
          </a:p>
        </p:txBody>
      </p:sp>
      <p:sp>
        <p:nvSpPr>
          <p:cNvPr id="40" name="Text 35"/>
          <p:cNvSpPr/>
          <p:nvPr/>
        </p:nvSpPr>
        <p:spPr>
          <a:xfrm>
            <a:off x="6254496" y="2564892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#17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6748272" y="2564892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 중 실제 응답 대기</a:t>
            </a:r>
            <a:endParaRPr lang="en-US" sz="890" dirty="0"/>
          </a:p>
        </p:txBody>
      </p:sp>
      <p:sp>
        <p:nvSpPr>
          <p:cNvPr id="42" name="Text 37"/>
          <p:cNvSpPr/>
          <p:nvPr/>
        </p:nvSpPr>
        <p:spPr>
          <a:xfrm>
            <a:off x="6254496" y="2871216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#18</a:t>
            </a:r>
            <a:endParaRPr lang="en-US" sz="950" dirty="0"/>
          </a:p>
        </p:txBody>
      </p:sp>
      <p:sp>
        <p:nvSpPr>
          <p:cNvPr id="43" name="Text 38"/>
          <p:cNvSpPr/>
          <p:nvPr/>
        </p:nvSpPr>
        <p:spPr>
          <a:xfrm>
            <a:off x="6748272" y="2871216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추천·경고 렌더링</a:t>
            </a:r>
            <a:endParaRPr lang="en-US" sz="890" dirty="0"/>
          </a:p>
        </p:txBody>
      </p:sp>
      <p:sp>
        <p:nvSpPr>
          <p:cNvPr id="44" name="Text 39"/>
          <p:cNvSpPr/>
          <p:nvPr/>
        </p:nvSpPr>
        <p:spPr>
          <a:xfrm>
            <a:off x="6254496" y="3177540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#25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6748272" y="3177540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각성도 그래프 렌더링</a:t>
            </a:r>
            <a:endParaRPr lang="en-US" sz="890" dirty="0"/>
          </a:p>
        </p:txBody>
      </p:sp>
      <p:sp>
        <p:nvSpPr>
          <p:cNvPr id="46" name="Text 41"/>
          <p:cNvSpPr/>
          <p:nvPr/>
        </p:nvSpPr>
        <p:spPr>
          <a:xfrm>
            <a:off x="6254496" y="3483864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#26</a:t>
            </a:r>
            <a:endParaRPr lang="en-US" sz="950" dirty="0"/>
          </a:p>
        </p:txBody>
      </p:sp>
      <p:sp>
        <p:nvSpPr>
          <p:cNvPr id="47" name="Text 42"/>
          <p:cNvSpPr/>
          <p:nvPr/>
        </p:nvSpPr>
        <p:spPr>
          <a:xfrm>
            <a:off x="6748272" y="3483864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각성도 그래프 가로 스크롤</a:t>
            </a:r>
            <a:endParaRPr lang="en-US" sz="890" dirty="0"/>
          </a:p>
        </p:txBody>
      </p:sp>
      <p:sp>
        <p:nvSpPr>
          <p:cNvPr id="48" name="Text 43"/>
          <p:cNvSpPr/>
          <p:nvPr/>
        </p:nvSpPr>
        <p:spPr>
          <a:xfrm>
            <a:off x="6254496" y="3790188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#19</a:t>
            </a:r>
            <a:endParaRPr lang="en-US" sz="950" dirty="0"/>
          </a:p>
        </p:txBody>
      </p:sp>
      <p:sp>
        <p:nvSpPr>
          <p:cNvPr id="49" name="Text 44"/>
          <p:cNvSpPr/>
          <p:nvPr/>
        </p:nvSpPr>
        <p:spPr>
          <a:xfrm>
            <a:off x="6748272" y="3790188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localStorage 최근 기록</a:t>
            </a:r>
            <a:endParaRPr lang="en-US" sz="890" dirty="0"/>
          </a:p>
        </p:txBody>
      </p:sp>
      <p:sp>
        <p:nvSpPr>
          <p:cNvPr id="50" name="Text 45"/>
          <p:cNvSpPr/>
          <p:nvPr/>
        </p:nvSpPr>
        <p:spPr>
          <a:xfrm>
            <a:off x="6254496" y="4096512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#20</a:t>
            </a:r>
            <a:endParaRPr lang="en-US" sz="950" dirty="0"/>
          </a:p>
        </p:txBody>
      </p:sp>
      <p:sp>
        <p:nvSpPr>
          <p:cNvPr id="51" name="Text 46"/>
          <p:cNvSpPr/>
          <p:nvPr/>
        </p:nvSpPr>
        <p:spPr>
          <a:xfrm>
            <a:off x="6748272" y="4096512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스케줄 조정 재계산 연동</a:t>
            </a:r>
            <a:endParaRPr lang="en-US" sz="890" dirty="0"/>
          </a:p>
        </p:txBody>
      </p:sp>
      <p:sp>
        <p:nvSpPr>
          <p:cNvPr id="52" name="Text 47"/>
          <p:cNvSpPr/>
          <p:nvPr/>
        </p:nvSpPr>
        <p:spPr>
          <a:xfrm>
            <a:off x="6254496" y="4402836"/>
            <a:ext cx="5029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#29</a:t>
            </a:r>
            <a:endParaRPr lang="en-US" sz="950" dirty="0"/>
          </a:p>
        </p:txBody>
      </p:sp>
      <p:sp>
        <p:nvSpPr>
          <p:cNvPr id="53" name="Text 48"/>
          <p:cNvSpPr/>
          <p:nvPr/>
        </p:nvSpPr>
        <p:spPr>
          <a:xfrm>
            <a:off x="6748272" y="4402836"/>
            <a:ext cx="1801368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시험 시드 버그 수정</a:t>
            </a:r>
            <a:endParaRPr lang="en-US" sz="8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스택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기술 지도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2624328" cy="1508760"/>
          </a:xfrm>
          <a:prstGeom prst="roundRect">
            <a:avLst>
              <a:gd name="adj" fmla="val 6061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4744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9903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 — React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1792" y="1947672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화면이 mock 없이 실제 계산 API와 연결됨.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각성도 그래프·추천 스케줄·최근 기록까지 동작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64408" y="1234440"/>
            <a:ext cx="2624328" cy="1508760"/>
          </a:xfrm>
          <a:prstGeom prst="roundRect">
            <a:avLst>
              <a:gd name="adj" fmla="val 6061"/>
            </a:avLst>
          </a:prstGeom>
          <a:solidFill>
            <a:srgbClr val="F6F1E9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3716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158" y="147447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95928" y="139903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 — Express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429000" y="1947672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POST /api/schedule/calculate 로 다중 시험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최적화 엔진을 노출, Supabase 참고데이터 조회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71616" y="1234440"/>
            <a:ext cx="2624328" cy="1508760"/>
          </a:xfrm>
          <a:prstGeom prst="roundRect">
            <a:avLst>
              <a:gd name="adj" fmla="val 6061"/>
            </a:avLst>
          </a:prstGeom>
          <a:solidFill>
            <a:srgbClr val="F6F1E9"/>
          </a:solidFill>
          <a:ln/>
        </p:spPr>
      </p:sp>
      <p:sp>
        <p:nvSpPr>
          <p:cNvPr id="16" name="Shape 12"/>
          <p:cNvSpPr/>
          <p:nvPr/>
        </p:nvSpPr>
        <p:spPr>
          <a:xfrm>
            <a:off x="6254496" y="13716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366" y="147447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03136" y="139903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— Supabase (Postgres)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236208" y="1947672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민감도별 반감기·안전 섭취 한도 등 참고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실제 SELECT로 조회 — 연결 완료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457200" y="29992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기능 하나: 계산하기 (입력 → 계산 엔진 → 결과)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7200" y="3346704"/>
            <a:ext cx="8229600" cy="1540764"/>
          </a:xfrm>
          <a:prstGeom prst="roundRect">
            <a:avLst>
              <a:gd name="adj" fmla="val 5341"/>
            </a:avLst>
          </a:prstGeom>
          <a:solidFill>
            <a:srgbClr val="F1E0C9"/>
          </a:solidFill>
          <a:ln/>
        </p:spPr>
      </p:sp>
      <p:sp>
        <p:nvSpPr>
          <p:cNvPr id="22" name="Text 17"/>
          <p:cNvSpPr/>
          <p:nvPr/>
        </p:nvSpPr>
        <p:spPr>
          <a:xfrm>
            <a:off x="685800" y="3346704"/>
            <a:ext cx="7772400" cy="1540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입력 화면 "계산하기" → </a:t>
            </a:r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/api/schedule/calculate → </a:t>
            </a:r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검증 → DB에서 반감기·안전 한도 조회 → Two-Process+카페인으로 각성도 곡선 → 다중 시험 로컬 탐색 → 안전 한도 판정 → </a:t>
            </a:r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{ 각성도 곡선, 추천 스케줄, 경고 } 응답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아키텍처 · 시퀀스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 처리 흐름 — POST /api/schedule/calculate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pic>
        <p:nvPicPr>
          <p:cNvPr id="5" name="Image 0" descr="C:\dev.project\NAVER_AI\hub\exam-cram-scheduler\docs\diagrams\아키텍처-서버순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3256" y="1188720"/>
            <a:ext cx="4037489" cy="36987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엔진 · 다중 시험 최적화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최적 스케줄을 찾을까 — 계산 3단계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2624328" cy="2743200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4173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460" y="1528420"/>
            <a:ext cx="271577" cy="27157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146304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70432" y="16642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만들기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2066544"/>
            <a:ext cx="2258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multiDayCandidates.ts</a:t>
            </a:r>
            <a:endParaRPr lang="en-US" sz="870" dirty="0"/>
          </a:p>
        </p:txBody>
      </p:sp>
      <p:sp>
        <p:nvSpPr>
          <p:cNvPr id="11" name="Text 8"/>
          <p:cNvSpPr/>
          <p:nvPr/>
        </p:nvSpPr>
        <p:spPr>
          <a:xfrm>
            <a:off x="658368" y="2377440"/>
            <a:ext cx="2240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취침·기상·카페인 시각·용량을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각각 "축"으로 둔다. 평소값 ±1시간을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15분 간격으로 → 밤마다 최대 9개 후보.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 4개면 조합이 81⁴이라, 전체 조합은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만들고 축 목록만 반환한다.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099816" y="2651760"/>
            <a:ext cx="146304" cy="0"/>
          </a:xfrm>
          <a:prstGeom prst="line">
            <a:avLst/>
          </a:prstGeom>
          <a:noFill/>
          <a:ln w="19050">
            <a:solidFill>
              <a:srgbClr val="9A5B28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280160"/>
            <a:ext cx="2624328" cy="2743200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14" name="Shape 11"/>
          <p:cNvSpPr/>
          <p:nvPr/>
        </p:nvSpPr>
        <p:spPr>
          <a:xfrm>
            <a:off x="3401568" y="14173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668" y="1528420"/>
            <a:ext cx="271577" cy="27157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977640" y="146304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3977640" y="16642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 매기기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447288" y="2066544"/>
            <a:ext cx="2258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multiDayObjective.ts</a:t>
            </a:r>
            <a:endParaRPr lang="en-US" sz="870" dirty="0"/>
          </a:p>
        </p:txBody>
      </p:sp>
      <p:sp>
        <p:nvSpPr>
          <p:cNvPr id="19" name="Text 15"/>
          <p:cNvSpPr/>
          <p:nvPr/>
        </p:nvSpPr>
        <p:spPr>
          <a:xfrm>
            <a:off x="3465576" y="2377440"/>
            <a:ext cx="2240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스케줄 하나 = 시험별 시작 시각의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각성도 중 최솟값(min).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"가장 컨디션 나쁠 시험"을 끌어올리는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채점하고, 여기서 패널티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(수면 부족·수면 중 섭취·한도 초과)를 뺀다.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907024" y="2651760"/>
            <a:ext cx="146304" cy="0"/>
          </a:xfrm>
          <a:prstGeom prst="line">
            <a:avLst/>
          </a:prstGeom>
          <a:noFill/>
          <a:ln w="19050">
            <a:solidFill>
              <a:srgbClr val="9A5B28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71616" y="1280160"/>
            <a:ext cx="2624328" cy="2743200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22" name="Shape 18"/>
          <p:cNvSpPr/>
          <p:nvPr/>
        </p:nvSpPr>
        <p:spPr>
          <a:xfrm>
            <a:off x="6208776" y="14173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76" y="1528420"/>
            <a:ext cx="271577" cy="27157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784848" y="146304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784848" y="16642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쪽으로 옮기기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254496" y="2066544"/>
            <a:ext cx="2258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multiDayLocalSearch.ts</a:t>
            </a:r>
            <a:endParaRPr lang="en-US" sz="870" dirty="0"/>
          </a:p>
        </p:txBody>
      </p:sp>
      <p:sp>
        <p:nvSpPr>
          <p:cNvPr id="27" name="Text 22"/>
          <p:cNvSpPr/>
          <p:nvPr/>
        </p:nvSpPr>
        <p:spPr>
          <a:xfrm>
            <a:off x="6272784" y="2377440"/>
            <a:ext cx="2240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담금질(simulated annealing). 축 하나를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무작위로 골라 ±1칸 옮겨 채점 → 좋으면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이동, 나빠도 초반엔 확률적으로 허용.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무작위 재시작 8회 × 반복 500회 중</a:t>
            </a:r>
            <a:endParaRPr lang="en-US" sz="9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높은 점수를 최종 채택한다.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57200" y="4169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물리적으로 말이 안 되는 후보(기상 전 카페인, 시험 후 기상)는 1단계에서 이미 제외 — 자세한 채점·탐색은 다음 장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엔진 · 채점 &amp; 탐색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점수는 어떻게 매길까 — 가산점·패널티와 국소 탐색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채점 공식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81912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F1E0C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81912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 = </a:t>
            </a:r>
            <a:pPr algn="l" indent="0" marL="0">
              <a:buNone/>
            </a:pPr>
            <a:r>
              <a:rPr lang="en-US" sz="12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시험별 각성도의 최솟값</a:t>
            </a:r>
            <a:pPr algn="l" indent="0" marL="0">
              <a:buNone/>
            </a:pPr>
            <a:r>
              <a:rPr lang="en-US" sz="12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−  패널티 3종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0487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패널티 3종 (점수에서 뺀다)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4160520" cy="566928"/>
          </a:xfrm>
          <a:prstGeom prst="roundRect">
            <a:avLst>
              <a:gd name="adj" fmla="val 12903"/>
            </a:avLst>
          </a:prstGeom>
          <a:solidFill>
            <a:srgbClr val="F6F1E9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715768"/>
            <a:ext cx="64008" cy="566928"/>
          </a:xfrm>
          <a:prstGeom prst="rect">
            <a:avLst/>
          </a:prstGeom>
          <a:solidFill>
            <a:srgbClr val="C1442C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788920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수면시간 부족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676656" y="3008376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33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부족 1시간당  − 0.5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4160520" cy="566928"/>
          </a:xfrm>
          <a:prstGeom prst="roundRect">
            <a:avLst>
              <a:gd name="adj" fmla="val 12903"/>
            </a:avLst>
          </a:prstGeom>
          <a:solidFill>
            <a:srgbClr val="F6F1E9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3410712"/>
            <a:ext cx="64008" cy="566928"/>
          </a:xfrm>
          <a:prstGeom prst="rect">
            <a:avLst/>
          </a:prstGeom>
          <a:solidFill>
            <a:srgbClr val="C1442C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483864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자는 중 카페인 섭취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676656" y="3703320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33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기상까지 남은 1시간당  − 1.0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4105656"/>
            <a:ext cx="4160520" cy="566928"/>
          </a:xfrm>
          <a:prstGeom prst="roundRect">
            <a:avLst>
              <a:gd name="adj" fmla="val 12903"/>
            </a:avLst>
          </a:prstGeom>
          <a:solidFill>
            <a:srgbClr val="F6F1E9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4105656"/>
            <a:ext cx="64008" cy="566928"/>
          </a:xfrm>
          <a:prstGeom prst="rect">
            <a:avLst/>
          </a:prstGeom>
          <a:solidFill>
            <a:srgbClr val="C1442C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4178808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 안전 한도 초과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676656" y="4398264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33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100mg 초과당  − 0.5  (0.005/mg)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8188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7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가산점은 따로 없다 — "시험 시각에 각성도가 높다"가 곧 점수. 안전 관련 패널티는 각성도 차이(보통 0.01~0.05)보다 세게 잡아 항상 이기게 했다.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4892040" y="1234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국소 탐색 — 담금질 휴리스틱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92040" y="1581912"/>
            <a:ext cx="3794760" cy="2084832"/>
          </a:xfrm>
          <a:prstGeom prst="roundRect">
            <a:avLst>
              <a:gd name="adj" fmla="val 3947"/>
            </a:avLst>
          </a:prstGeom>
          <a:solidFill>
            <a:srgbClr val="F6F1E9"/>
          </a:solidFill>
          <a:ln/>
        </p:spPr>
      </p:sp>
      <p:sp>
        <p:nvSpPr>
          <p:cNvPr id="24" name="Text 22"/>
          <p:cNvSpPr/>
          <p:nvPr/>
        </p:nvSpPr>
        <p:spPr>
          <a:xfrm>
            <a:off x="5093208" y="1728216"/>
            <a:ext cx="33924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전수 탐색을 안 하나 — 밤이 몇 개만 돼도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조합이 81ⁿ으로 폭발해 다 못 뒤진다.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축 하나를 무작위로 골라 ±1칸 옮긴다(이웃)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채점해서 더 좋으면 그 이웃으로 이동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나쁘더라도 "온도"에 따른 확률로 가끔 이동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국소 최적점에 갇히지 않게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온도는 반복마다 기하급수로 낮아져,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후반엔 사실상 오르막으로만 이동(수렴)</a:t>
            </a:r>
            <a:endParaRPr lang="en-US" sz="9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92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무작위 초기값으로 8번 재시작 → 최고 채택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4892040" y="381304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파라미터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4087368"/>
            <a:ext cx="866394" cy="548640"/>
          </a:xfrm>
          <a:prstGeom prst="roundRect">
            <a:avLst>
              <a:gd name="adj" fmla="val 13333"/>
            </a:avLst>
          </a:prstGeom>
          <a:solidFill>
            <a:srgbClr val="F1E0C9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4160520"/>
            <a:ext cx="86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92040" y="4416552"/>
            <a:ext cx="8663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68162" y="4087368"/>
            <a:ext cx="866394" cy="548640"/>
          </a:xfrm>
          <a:prstGeom prst="roundRect">
            <a:avLst>
              <a:gd name="adj" fmla="val 13333"/>
            </a:avLst>
          </a:prstGeom>
          <a:solidFill>
            <a:srgbClr val="F1E0C9"/>
          </a:solidFill>
          <a:ln/>
        </p:spPr>
      </p:sp>
      <p:sp>
        <p:nvSpPr>
          <p:cNvPr id="30" name="Text 28"/>
          <p:cNvSpPr/>
          <p:nvPr/>
        </p:nvSpPr>
        <p:spPr>
          <a:xfrm>
            <a:off x="5868162" y="4160520"/>
            <a:ext cx="86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68162" y="4416552"/>
            <a:ext cx="8663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재시작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44284" y="4087368"/>
            <a:ext cx="866394" cy="548640"/>
          </a:xfrm>
          <a:prstGeom prst="roundRect">
            <a:avLst>
              <a:gd name="adj" fmla="val 13333"/>
            </a:avLst>
          </a:prstGeom>
          <a:solidFill>
            <a:srgbClr val="F1E0C9"/>
          </a:solidFill>
          <a:ln/>
        </p:spPr>
      </p:sp>
      <p:sp>
        <p:nvSpPr>
          <p:cNvPr id="33" name="Text 31"/>
          <p:cNvSpPr/>
          <p:nvPr/>
        </p:nvSpPr>
        <p:spPr>
          <a:xfrm>
            <a:off x="6844284" y="4160520"/>
            <a:ext cx="86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44284" y="4416552"/>
            <a:ext cx="8663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초기온도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820406" y="4087368"/>
            <a:ext cx="866394" cy="548640"/>
          </a:xfrm>
          <a:prstGeom prst="roundRect">
            <a:avLst>
              <a:gd name="adj" fmla="val 13333"/>
            </a:avLst>
          </a:prstGeom>
          <a:solidFill>
            <a:srgbClr val="F1E0C9"/>
          </a:solidFill>
          <a:ln/>
        </p:spPr>
      </p:sp>
      <p:sp>
        <p:nvSpPr>
          <p:cNvPr id="36" name="Text 34"/>
          <p:cNvSpPr/>
          <p:nvPr/>
        </p:nvSpPr>
        <p:spPr>
          <a:xfrm>
            <a:off x="7820406" y="4160520"/>
            <a:ext cx="86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0.001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20406" y="4416552"/>
            <a:ext cx="8663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종료온도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· 서버 · DB를 연결한 실제 동작 화면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34340" y="288036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1E0C9"/>
          </a:solidFill>
          <a:ln/>
        </p:spPr>
      </p:sp>
      <p:sp>
        <p:nvSpPr>
          <p:cNvPr id="7" name="Text 5"/>
          <p:cNvSpPr/>
          <p:nvPr/>
        </p:nvSpPr>
        <p:spPr>
          <a:xfrm>
            <a:off x="434340" y="28803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React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61972" y="3099816"/>
            <a:ext cx="365760" cy="0"/>
          </a:xfrm>
          <a:prstGeom prst="line">
            <a:avLst/>
          </a:prstGeom>
          <a:noFill/>
          <a:ln w="19050">
            <a:solidFill>
              <a:srgbClr val="9A5B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91740" y="2880360"/>
            <a:ext cx="1993392" cy="438912"/>
          </a:xfrm>
          <a:prstGeom prst="roundRect">
            <a:avLst>
              <a:gd name="adj" fmla="val 50000"/>
            </a:avLst>
          </a:prstGeom>
          <a:solidFill>
            <a:srgbClr val="F1E0C9"/>
          </a:solidFill>
          <a:ln/>
        </p:spPr>
      </p:sp>
      <p:sp>
        <p:nvSpPr>
          <p:cNvPr id="10" name="Text 8"/>
          <p:cNvSpPr/>
          <p:nvPr/>
        </p:nvSpPr>
        <p:spPr>
          <a:xfrm>
            <a:off x="2491740" y="28803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Vite 프록시 :5173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58284" y="3099816"/>
            <a:ext cx="365760" cy="0"/>
          </a:xfrm>
          <a:prstGeom prst="line">
            <a:avLst/>
          </a:prstGeom>
          <a:noFill/>
          <a:ln w="19050">
            <a:solidFill>
              <a:srgbClr val="9A5B2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88052" y="2880360"/>
            <a:ext cx="1883664" cy="438912"/>
          </a:xfrm>
          <a:prstGeom prst="roundRect">
            <a:avLst>
              <a:gd name="adj" fmla="val 50000"/>
            </a:avLst>
          </a:prstGeom>
          <a:solidFill>
            <a:srgbClr val="F1E0C9"/>
          </a:solidFill>
          <a:ln/>
        </p:spPr>
      </p:sp>
      <p:sp>
        <p:nvSpPr>
          <p:cNvPr id="13" name="Text 11"/>
          <p:cNvSpPr/>
          <p:nvPr/>
        </p:nvSpPr>
        <p:spPr>
          <a:xfrm>
            <a:off x="4988052" y="2880360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Express :4000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44868" y="3099816"/>
            <a:ext cx="365760" cy="0"/>
          </a:xfrm>
          <a:prstGeom prst="line">
            <a:avLst/>
          </a:prstGeom>
          <a:noFill/>
          <a:ln w="19050">
            <a:solidFill>
              <a:srgbClr val="9A5B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74636" y="2880360"/>
            <a:ext cx="1335024" cy="438912"/>
          </a:xfrm>
          <a:prstGeom prst="roundRect">
            <a:avLst>
              <a:gd name="adj" fmla="val 50000"/>
            </a:avLst>
          </a:prstGeom>
          <a:solidFill>
            <a:srgbClr val="F1E0C9"/>
          </a:solidFill>
          <a:ln/>
        </p:spPr>
      </p:sp>
      <p:sp>
        <p:nvSpPr>
          <p:cNvPr id="16" name="Text 14"/>
          <p:cNvSpPr/>
          <p:nvPr/>
        </p:nvSpPr>
        <p:spPr>
          <a:xfrm>
            <a:off x="7374636" y="288036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0" y="3657600"/>
            <a:ext cx="4572000" cy="658368"/>
          </a:xfrm>
          <a:prstGeom prst="roundRect">
            <a:avLst>
              <a:gd name="adj" fmla="val 13889"/>
            </a:avLst>
          </a:prstGeom>
          <a:solidFill>
            <a:srgbClr val="201409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0" y="36576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http://localhost:5173/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"계산하기"를 누르면 앞 장의 시퀀스(POST /api/schedule/calculate)가 실제로 실행됩니다 — 발표 중 다른 창에서 직접 시연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4주차 · 다음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 할 일 · 고민되는 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3794760" cy="3607308"/>
          </a:xfrm>
          <a:prstGeom prst="roundRect">
            <a:avLst>
              <a:gd name="adj" fmla="val 2535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4173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518" y="152019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144475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4주차 할 일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240280"/>
            <a:ext cx="73152" cy="7315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1488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기능 (시간 여유 있으면)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731520" y="2715768"/>
            <a:ext cx="73152" cy="7315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26243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테스트 · 버그 수정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31520" y="3191256"/>
            <a:ext cx="73152" cy="7315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309981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자료 · 데모 준비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731520" y="3666744"/>
            <a:ext cx="73152" cy="7315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57530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선택 이슈 정리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960120" y="40507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#27 홈 화면 시험 캘린더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960120" y="4526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#28 FE·BE 타입 통합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617720" y="12801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고민되는 점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617720" y="1664208"/>
            <a:ext cx="4069080" cy="1005840"/>
          </a:xfrm>
          <a:prstGeom prst="roundRect">
            <a:avLst>
              <a:gd name="adj" fmla="val 8182"/>
            </a:avLst>
          </a:prstGeom>
          <a:solidFill>
            <a:srgbClr val="F6F1E9"/>
          </a:solidFill>
          <a:ln/>
        </p:spPr>
      </p:sp>
      <p:sp>
        <p:nvSpPr>
          <p:cNvPr id="21" name="Shape 18"/>
          <p:cNvSpPr/>
          <p:nvPr/>
        </p:nvSpPr>
        <p:spPr>
          <a:xfrm>
            <a:off x="4800600" y="1828800"/>
            <a:ext cx="256032" cy="25603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2" name="Text 19"/>
          <p:cNvSpPr/>
          <p:nvPr/>
        </p:nvSpPr>
        <p:spPr>
          <a:xfrm>
            <a:off x="480060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166360" y="178308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FE·BE 타입을 통합할까 (#28)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166360" y="2066544"/>
            <a:ext cx="3355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client(React)와 server(Express)가 요청·응답</a:t>
            </a:r>
            <a:endParaRPr lang="en-US" sz="8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타입을 각자 정의 중. 공유 폴더로 합쳐 한 곳에서</a:t>
            </a:r>
            <a:endParaRPr lang="en-US" sz="8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관리할지, 계층을 나눠 그대로 둘지 고민</a:t>
            </a:r>
            <a:endParaRPr lang="en-US" sz="860" dirty="0"/>
          </a:p>
        </p:txBody>
      </p:sp>
      <p:sp>
        <p:nvSpPr>
          <p:cNvPr id="25" name="Shape 22"/>
          <p:cNvSpPr/>
          <p:nvPr/>
        </p:nvSpPr>
        <p:spPr>
          <a:xfrm>
            <a:off x="4617720" y="2779776"/>
            <a:ext cx="4069080" cy="1005840"/>
          </a:xfrm>
          <a:prstGeom prst="roundRect">
            <a:avLst>
              <a:gd name="adj" fmla="val 8182"/>
            </a:avLst>
          </a:prstGeom>
          <a:solidFill>
            <a:srgbClr val="F6F1E9"/>
          </a:solidFill>
          <a:ln/>
        </p:spPr>
      </p:sp>
      <p:sp>
        <p:nvSpPr>
          <p:cNvPr id="26" name="Shape 23"/>
          <p:cNvSpPr/>
          <p:nvPr/>
        </p:nvSpPr>
        <p:spPr>
          <a:xfrm>
            <a:off x="4800600" y="2944368"/>
            <a:ext cx="256032" cy="25603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7" name="Text 24"/>
          <p:cNvSpPr/>
          <p:nvPr/>
        </p:nvSpPr>
        <p:spPr>
          <a:xfrm>
            <a:off x="4800600" y="2944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166360" y="289864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화면을 어떻게 마무리할까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166360" y="3182112"/>
            <a:ext cx="3355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각성도 그래프·추천 스케줄·경고·캘린더를</a:t>
            </a:r>
            <a:endParaRPr lang="en-US" sz="8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화면에 어디까지 담고 어떻게 정리해야</a:t>
            </a:r>
            <a:endParaRPr lang="en-US" sz="8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한눈에 이해할지</a:t>
            </a:r>
            <a:endParaRPr lang="en-US" sz="860" dirty="0"/>
          </a:p>
        </p:txBody>
      </p:sp>
      <p:sp>
        <p:nvSpPr>
          <p:cNvPr id="30" name="Shape 27"/>
          <p:cNvSpPr/>
          <p:nvPr/>
        </p:nvSpPr>
        <p:spPr>
          <a:xfrm>
            <a:off x="4617720" y="3895344"/>
            <a:ext cx="4069080" cy="1005840"/>
          </a:xfrm>
          <a:prstGeom prst="roundRect">
            <a:avLst>
              <a:gd name="adj" fmla="val 8182"/>
            </a:avLst>
          </a:prstGeom>
          <a:solidFill>
            <a:srgbClr val="F6F1E9"/>
          </a:solidFill>
          <a:ln/>
        </p:spPr>
      </p:sp>
      <p:sp>
        <p:nvSpPr>
          <p:cNvPr id="31" name="Shape 28"/>
          <p:cNvSpPr/>
          <p:nvPr/>
        </p:nvSpPr>
        <p:spPr>
          <a:xfrm>
            <a:off x="4800600" y="4059936"/>
            <a:ext cx="256032" cy="256032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32" name="Text 29"/>
          <p:cNvSpPr/>
          <p:nvPr/>
        </p:nvSpPr>
        <p:spPr>
          <a:xfrm>
            <a:off x="4800600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166360" y="401421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캘린더의 정보 범위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166360" y="4297680"/>
            <a:ext cx="3355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캘린더에 시험·수면·카페인·공부 중</a:t>
            </a:r>
            <a:endParaRPr lang="en-US" sz="8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어디까지 통합해 보여줄지 —</a:t>
            </a:r>
            <a:endParaRPr lang="en-US" sz="8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많으면 복잡, 적으면 밋밋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시험 벼락치기 스케줄러 — 3주차 진행 공유</dc:title>
  <dc:subject>PptxGenJS Presentation</dc:subject>
  <dc:creator>N110_안정연</dc:creator>
  <cp:lastModifiedBy>N110_안정연</cp:lastModifiedBy>
  <cp:revision>1</cp:revision>
  <dcterms:created xsi:type="dcterms:W3CDTF">2026-07-24T03:18:26Z</dcterms:created>
  <dcterms:modified xsi:type="dcterms:W3CDTF">2026-07-24T03:18:26Z</dcterms:modified>
</cp:coreProperties>
</file>