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hyperlink" Target="https://pmc.ncbi.nlm.nih.gov/articles/PMC5020365/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1E0C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1주차 진행 공유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 벼락치기 스케줄러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시험기간 대학생을 위한 수면·카페인 스케줄 최적화 도구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1097280" cy="0"/>
          </a:xfrm>
          <a:prstGeom prst="line">
            <a:avLst/>
          </a:prstGeom>
          <a:noFill/>
          <a:ln w="19050">
            <a:solidFill>
              <a:srgbClr val="ECE3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N110_안정연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 프로젝트를 시작했나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3154680"/>
          </a:xfrm>
          <a:prstGeom prst="roundRect">
            <a:avLst>
              <a:gd name="adj" fmla="val 2609"/>
            </a:avLst>
          </a:prstGeom>
          <a:solidFill>
            <a:srgbClr val="F6F1E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F1E0C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4744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20574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시험기간이 되면 대학생 대부분은 벼락치기를 하고,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수면·카페인 섭취를 순전히 감과 스트레스에 의존해 조절한다.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8580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경험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5800" y="3090672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스트레스로 매운 음식·결식 반복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카페인 과다 섭취 → 수면 부족 → 위염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정작 시험 당일엔 컨디션 저하로 죽만 먹는 경험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17720" y="12344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문제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617720" y="1755648"/>
            <a:ext cx="237744" cy="23774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755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56048" y="1664208"/>
            <a:ext cx="3730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언제 자고, 언제 일어나고, 카페인을 얼마나 마셔야 할지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과학적 근거 없이 직관에만 의존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17720" y="2414016"/>
            <a:ext cx="237744" cy="23774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7" name="Text 14"/>
          <p:cNvSpPr/>
          <p:nvPr/>
        </p:nvSpPr>
        <p:spPr>
          <a:xfrm>
            <a:off x="4617720" y="2414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956048" y="2322576"/>
            <a:ext cx="3730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결과 수면 부족 누적·위장 장애·시험 당일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컨디션 저하라는 역효과 발생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17720" y="3072384"/>
            <a:ext cx="237744" cy="23774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0" name="Text 17"/>
          <p:cNvSpPr/>
          <p:nvPr/>
        </p:nvSpPr>
        <p:spPr>
          <a:xfrm>
            <a:off x="4617720" y="30723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956048" y="2980944"/>
            <a:ext cx="3730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시험이 하루가 아니라 일주일 내내 겹치는데,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"오늘 밤"만 생각하고 시험 기간 전체 배분은 못 함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617720" y="3730752"/>
            <a:ext cx="237744" cy="23774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3" name="Text 20"/>
          <p:cNvSpPr/>
          <p:nvPr/>
        </p:nvSpPr>
        <p:spPr>
          <a:xfrm>
            <a:off x="4617720" y="3730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956048" y="3639312"/>
            <a:ext cx="3730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일부 학생의 특수 상황이 아니라,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 있는 대학생이라면 학기마다 겪는 보편적 문제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448056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F1E0C9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 여러 개가 겹치는 "시험 주간" 전체를 놓고 컨디션을 배분해주는 기능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로드맵 (4주)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1920240" cy="2606040"/>
          </a:xfrm>
          <a:prstGeom prst="roundRect">
            <a:avLst>
              <a:gd name="adj" fmla="val 4286"/>
            </a:avLst>
          </a:prstGeom>
          <a:solidFill>
            <a:srgbClr val="F1E0C9"/>
          </a:solidFill>
          <a:ln w="19050">
            <a:solidFill>
              <a:srgbClr val="9A5B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081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" y="1975104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105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검증 및 문제 정의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603504" y="2359152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기획서 작성 (v1 → v2)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603504" y="2743200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78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문서·스킬 설정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03504" y="3127248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626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프로토타입 제작 → React 이식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594360" y="3502152"/>
            <a:ext cx="1645920" cy="274320"/>
          </a:xfrm>
          <a:prstGeom prst="roundRect">
            <a:avLst>
              <a:gd name="adj" fmla="val 66667"/>
            </a:avLst>
          </a:prstGeom>
          <a:solidFill>
            <a:srgbClr val="9A5B2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중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77440" y="2583180"/>
            <a:ext cx="228600" cy="0"/>
          </a:xfrm>
          <a:prstGeom prst="line">
            <a:avLst/>
          </a:prstGeom>
          <a:noFill/>
          <a:ln w="19050">
            <a:solidFill>
              <a:srgbClr val="AB9D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06040" y="1280160"/>
            <a:ext cx="1920240" cy="2606040"/>
          </a:xfrm>
          <a:prstGeom prst="roundRect">
            <a:avLst>
              <a:gd name="adj" fmla="val 4286"/>
            </a:avLst>
          </a:prstGeom>
          <a:solidFill>
            <a:srgbClr val="F6F1E9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14081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52344" y="1975104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21" name="Text 19"/>
          <p:cNvSpPr/>
          <p:nvPr/>
        </p:nvSpPr>
        <p:spPr>
          <a:xfrm>
            <a:off x="2880360" y="18105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졸음·각성 리듬 계산 공식 구현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2752344" y="2359152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23" name="Text 21"/>
          <p:cNvSpPr/>
          <p:nvPr/>
        </p:nvSpPr>
        <p:spPr>
          <a:xfrm>
            <a:off x="288036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 효과 계산 방식 만들기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2752344" y="2743200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25" name="Text 23"/>
          <p:cNvSpPr/>
          <p:nvPr/>
        </p:nvSpPr>
        <p:spPr>
          <a:xfrm>
            <a:off x="2880360" y="2578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 안전량 체크 기능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2752344" y="3127248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27" name="Text 25"/>
          <p:cNvSpPr/>
          <p:nvPr/>
        </p:nvSpPr>
        <p:spPr>
          <a:xfrm>
            <a:off x="2880360" y="29626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 여러 개 한번에 고려하기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2743200" y="3502152"/>
            <a:ext cx="1645920" cy="27432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순서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26280" y="2583180"/>
            <a:ext cx="228600" cy="0"/>
          </a:xfrm>
          <a:prstGeom prst="line">
            <a:avLst/>
          </a:prstGeom>
          <a:noFill/>
          <a:ln w="19050">
            <a:solidFill>
              <a:srgbClr val="AB9D8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754880" y="1280160"/>
            <a:ext cx="1920240" cy="2606040"/>
          </a:xfrm>
          <a:prstGeom prst="roundRect">
            <a:avLst>
              <a:gd name="adj" fmla="val 4286"/>
            </a:avLst>
          </a:prstGeom>
          <a:solidFill>
            <a:srgbClr val="F6F1E9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4081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3주차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901184" y="1975104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18105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화면에 계산 기능 실제 연결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4901184" y="2359152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그래프로 결과 보여주기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4901184" y="2743200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2578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· DB 데이터 연동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4892040" y="3502152"/>
            <a:ext cx="1645920" cy="27432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예정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75120" y="2583180"/>
            <a:ext cx="228600" cy="0"/>
          </a:xfrm>
          <a:prstGeom prst="line">
            <a:avLst/>
          </a:prstGeom>
          <a:noFill/>
          <a:ln w="19050">
            <a:solidFill>
              <a:srgbClr val="AB9D8C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903720" y="1280160"/>
            <a:ext cx="1920240" cy="2606040"/>
          </a:xfrm>
          <a:prstGeom prst="roundRect">
            <a:avLst>
              <a:gd name="adj" fmla="val 4286"/>
            </a:avLst>
          </a:prstGeom>
          <a:solidFill>
            <a:srgbClr val="F6F1E9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40880" y="14081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4주차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7050024" y="1975104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45" name="Text 43"/>
          <p:cNvSpPr/>
          <p:nvPr/>
        </p:nvSpPr>
        <p:spPr>
          <a:xfrm>
            <a:off x="7178040" y="18105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기능 (여유 시)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7050024" y="2359152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47" name="Text 45"/>
          <p:cNvSpPr/>
          <p:nvPr/>
        </p:nvSpPr>
        <p:spPr>
          <a:xfrm>
            <a:off x="717804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테스트 · 버그 수정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7050024" y="2743200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49" name="Text 47"/>
          <p:cNvSpPr/>
          <p:nvPr/>
        </p:nvSpPr>
        <p:spPr>
          <a:xfrm>
            <a:off x="7178040" y="2578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자료 · 데모 준비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7040880" y="3502152"/>
            <a:ext cx="1645920" cy="27432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4088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예정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4050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과정: 아이디어 검증 → 전공 지식(수면과학 논문) 기반 설계 → 시나리오·기획서 완성 → 4주 개발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1주차 · 진행 상황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주 진행 상황 (7/6 ~ 7/9)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61872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9A5B2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61872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7/6 (월)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1261872"/>
            <a:ext cx="6858000" cy="749808"/>
          </a:xfrm>
          <a:prstGeom prst="roundRect">
            <a:avLst>
              <a:gd name="adj" fmla="val 9756"/>
            </a:avLst>
          </a:prstGeom>
          <a:solidFill>
            <a:srgbClr val="F6F1E9"/>
          </a:solidFill>
          <a:ln/>
        </p:spPr>
      </p:sp>
      <p:sp>
        <p:nvSpPr>
          <p:cNvPr id="8" name="Shape 6"/>
          <p:cNvSpPr/>
          <p:nvPr/>
        </p:nvSpPr>
        <p:spPr>
          <a:xfrm>
            <a:off x="2057400" y="1449324"/>
            <a:ext cx="73152" cy="7315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9" name="Text 7"/>
          <p:cNvSpPr/>
          <p:nvPr/>
        </p:nvSpPr>
        <p:spPr>
          <a:xfrm>
            <a:off x="2240280" y="1371600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개발 환경 설정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57400" y="1696212"/>
            <a:ext cx="73152" cy="7315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1" name="Text 9"/>
          <p:cNvSpPr/>
          <p:nvPr/>
        </p:nvSpPr>
        <p:spPr>
          <a:xfrm>
            <a:off x="2240280" y="1618488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프로토타입 인터페이스 레이아웃 디자인 착수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093976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9A5B2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93976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7/7 (화)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0" y="2093976"/>
            <a:ext cx="6858000" cy="749808"/>
          </a:xfrm>
          <a:prstGeom prst="roundRect">
            <a:avLst>
              <a:gd name="adj" fmla="val 9756"/>
            </a:avLst>
          </a:prstGeom>
          <a:solidFill>
            <a:srgbClr val="F6F1E9"/>
          </a:solidFill>
          <a:ln/>
        </p:spPr>
      </p:sp>
      <p:sp>
        <p:nvSpPr>
          <p:cNvPr id="15" name="Shape 13"/>
          <p:cNvSpPr/>
          <p:nvPr/>
        </p:nvSpPr>
        <p:spPr>
          <a:xfrm>
            <a:off x="2057400" y="2281428"/>
            <a:ext cx="73152" cy="7315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6" name="Text 14"/>
          <p:cNvSpPr/>
          <p:nvPr/>
        </p:nvSpPr>
        <p:spPr>
          <a:xfrm>
            <a:off x="2240280" y="2203704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exam-cram-scheduler 와이어프레임 프로토타입 제작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57400" y="2528316"/>
            <a:ext cx="73152" cy="7315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8" name="Text 16"/>
          <p:cNvSpPr/>
          <p:nvPr/>
        </p:nvSpPr>
        <p:spPr>
          <a:xfrm>
            <a:off x="2240280" y="2450592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기획서 초안 작성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1234440" cy="996696"/>
          </a:xfrm>
          <a:prstGeom prst="roundRect">
            <a:avLst>
              <a:gd name="adj" fmla="val 7339"/>
            </a:avLst>
          </a:prstGeom>
          <a:solidFill>
            <a:srgbClr val="9A5B2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26080"/>
            <a:ext cx="1234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7/8 (수)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28800" y="2926080"/>
            <a:ext cx="6858000" cy="996696"/>
          </a:xfrm>
          <a:prstGeom prst="roundRect">
            <a:avLst>
              <a:gd name="adj" fmla="val 7339"/>
            </a:avLst>
          </a:prstGeom>
          <a:solidFill>
            <a:srgbClr val="F6F1E9"/>
          </a:solidFill>
          <a:ln/>
        </p:spPr>
      </p:sp>
      <p:sp>
        <p:nvSpPr>
          <p:cNvPr id="22" name="Shape 20"/>
          <p:cNvSpPr/>
          <p:nvPr/>
        </p:nvSpPr>
        <p:spPr>
          <a:xfrm>
            <a:off x="2057400" y="3113532"/>
            <a:ext cx="73152" cy="7315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3" name="Text 21"/>
          <p:cNvSpPr/>
          <p:nvPr/>
        </p:nvSpPr>
        <p:spPr>
          <a:xfrm>
            <a:off x="2240280" y="3035808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기획서(v2) 완성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57400" y="3360420"/>
            <a:ext cx="73152" cy="7315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5" name="Text 23"/>
          <p:cNvSpPr/>
          <p:nvPr/>
        </p:nvSpPr>
        <p:spPr>
          <a:xfrm>
            <a:off x="2240280" y="3282696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HTML/CSS 프로토타입 5개 화면 완성 (prototype_v1)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057400" y="3607308"/>
            <a:ext cx="73152" cy="7315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7" name="Text 25"/>
          <p:cNvSpPr/>
          <p:nvPr/>
        </p:nvSpPr>
        <p:spPr>
          <a:xfrm>
            <a:off x="2240280" y="3529584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Pages 자동 배포 워크플로 연결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005072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9A5B2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005072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7/9 (목)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828800" y="4005072"/>
            <a:ext cx="6858000" cy="749808"/>
          </a:xfrm>
          <a:prstGeom prst="roundRect">
            <a:avLst>
              <a:gd name="adj" fmla="val 9756"/>
            </a:avLst>
          </a:prstGeom>
          <a:solidFill>
            <a:srgbClr val="F6F1E9"/>
          </a:solidFill>
          <a:ln/>
        </p:spPr>
      </p:sp>
      <p:sp>
        <p:nvSpPr>
          <p:cNvPr id="31" name="Shape 29"/>
          <p:cNvSpPr/>
          <p:nvPr/>
        </p:nvSpPr>
        <p:spPr>
          <a:xfrm>
            <a:off x="2057400" y="4192524"/>
            <a:ext cx="73152" cy="7315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32" name="Text 30"/>
          <p:cNvSpPr/>
          <p:nvPr/>
        </p:nvSpPr>
        <p:spPr>
          <a:xfrm>
            <a:off x="2240280" y="4114800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기술 지도 · CLAUDE.md · 디자인 문서 정리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057400" y="4439412"/>
            <a:ext cx="73152" cy="7315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34" name="Text 32"/>
          <p:cNvSpPr/>
          <p:nvPr/>
        </p:nvSpPr>
        <p:spPr>
          <a:xfrm>
            <a:off x="2240280" y="4361688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프로토타입 5개 화면을 React 앱으로 이식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기술 지도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2624328" cy="1417320"/>
          </a:xfrm>
          <a:prstGeom prst="roundRect">
            <a:avLst>
              <a:gd name="adj" fmla="val 6452"/>
            </a:avLst>
          </a:prstGeom>
          <a:solidFill>
            <a:srgbClr val="F6F1E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4744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39903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 — React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1792" y="1947672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폼·캘린더 UI, 각성도 그래프·타임라인 시각화,</a:t>
            </a:r>
            <a:endParaRPr lang="en-US" sz="87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결과는 브라우저 localStorage에 저장</a:t>
            </a:r>
            <a:endParaRPr lang="en-US" sz="870" dirty="0"/>
          </a:p>
        </p:txBody>
      </p:sp>
      <p:sp>
        <p:nvSpPr>
          <p:cNvPr id="10" name="Shape 7"/>
          <p:cNvSpPr/>
          <p:nvPr/>
        </p:nvSpPr>
        <p:spPr>
          <a:xfrm>
            <a:off x="3264408" y="1234440"/>
            <a:ext cx="2624328" cy="1417320"/>
          </a:xfrm>
          <a:prstGeom prst="roundRect">
            <a:avLst>
              <a:gd name="adj" fmla="val 6452"/>
            </a:avLst>
          </a:prstGeom>
          <a:solidFill>
            <a:srgbClr val="F6F1E9"/>
          </a:solidFill>
          <a:ln/>
        </p:spPr>
      </p:sp>
      <p:sp>
        <p:nvSpPr>
          <p:cNvPr id="11" name="Shape 8"/>
          <p:cNvSpPr/>
          <p:nvPr/>
        </p:nvSpPr>
        <p:spPr>
          <a:xfrm>
            <a:off x="3447288" y="1371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158" y="147447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95928" y="139903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 — Express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429000" y="1947672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입력값을 Two-Process + UMP 모델로 계산하는 API,</a:t>
            </a:r>
            <a:endParaRPr lang="en-US" sz="87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음료별 카페인 함량 등 참고 데이터 제공 API</a:t>
            </a:r>
            <a:endParaRPr lang="en-US" sz="870" dirty="0"/>
          </a:p>
        </p:txBody>
      </p:sp>
      <p:sp>
        <p:nvSpPr>
          <p:cNvPr id="15" name="Shape 11"/>
          <p:cNvSpPr/>
          <p:nvPr/>
        </p:nvSpPr>
        <p:spPr>
          <a:xfrm>
            <a:off x="6071616" y="1234440"/>
            <a:ext cx="2624328" cy="1417320"/>
          </a:xfrm>
          <a:prstGeom prst="roundRect">
            <a:avLst>
              <a:gd name="adj" fmla="val 6452"/>
            </a:avLst>
          </a:prstGeom>
          <a:solidFill>
            <a:srgbClr val="F6F1E9"/>
          </a:solidFill>
          <a:ln/>
        </p:spPr>
      </p:sp>
      <p:sp>
        <p:nvSpPr>
          <p:cNvPr id="16" name="Shape 12"/>
          <p:cNvSpPr/>
          <p:nvPr/>
        </p:nvSpPr>
        <p:spPr>
          <a:xfrm>
            <a:off x="6254496" y="1371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366" y="147447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03136" y="139903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— Supabase (Postgres)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236208" y="1947672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 함량표·반감기·안전 섭취 한도 등</a:t>
            </a:r>
            <a:endParaRPr lang="en-US" sz="87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참고용 정적 데이터를 저장</a:t>
            </a:r>
            <a:endParaRPr lang="en-US" sz="870" dirty="0"/>
          </a:p>
        </p:txBody>
      </p:sp>
      <p:sp>
        <p:nvSpPr>
          <p:cNvPr id="20" name="Text 15"/>
          <p:cNvSpPr/>
          <p:nvPr/>
        </p:nvSpPr>
        <p:spPr>
          <a:xfrm>
            <a:off x="457200" y="2907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 하나 — 계산하기 요청 흐름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94360" y="3273552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F1E0C9"/>
          </a:solidFill>
          <a:ln/>
        </p:spPr>
      </p:sp>
      <p:sp>
        <p:nvSpPr>
          <p:cNvPr id="22" name="Text 17"/>
          <p:cNvSpPr/>
          <p:nvPr/>
        </p:nvSpPr>
        <p:spPr>
          <a:xfrm>
            <a:off x="667512" y="3273552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입력 화면</a:t>
            </a:r>
            <a:endParaRPr lang="en-US" sz="87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"계산하기" 클릭</a:t>
            </a:r>
            <a:endParaRPr lang="en-US" sz="870" dirty="0"/>
          </a:p>
        </p:txBody>
      </p:sp>
      <p:sp>
        <p:nvSpPr>
          <p:cNvPr id="23" name="Shape 18"/>
          <p:cNvSpPr/>
          <p:nvPr/>
        </p:nvSpPr>
        <p:spPr>
          <a:xfrm>
            <a:off x="2075688" y="3662172"/>
            <a:ext cx="137160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2212848" y="3273552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F1E0C9"/>
          </a:solidFill>
          <a:ln/>
        </p:spPr>
      </p:sp>
      <p:sp>
        <p:nvSpPr>
          <p:cNvPr id="25" name="Text 20"/>
          <p:cNvSpPr/>
          <p:nvPr/>
        </p:nvSpPr>
        <p:spPr>
          <a:xfrm>
            <a:off x="2286000" y="3273552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</a:t>
            </a:r>
            <a:endParaRPr lang="en-US" sz="87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/api/schedule/calculate</a:t>
            </a:r>
            <a:endParaRPr lang="en-US" sz="870" dirty="0"/>
          </a:p>
        </p:txBody>
      </p:sp>
      <p:sp>
        <p:nvSpPr>
          <p:cNvPr id="26" name="Shape 21"/>
          <p:cNvSpPr/>
          <p:nvPr/>
        </p:nvSpPr>
        <p:spPr>
          <a:xfrm>
            <a:off x="3694176" y="3662172"/>
            <a:ext cx="137160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3831336" y="3273552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F1E0C9"/>
          </a:solidFill>
          <a:ln/>
        </p:spPr>
      </p:sp>
      <p:sp>
        <p:nvSpPr>
          <p:cNvPr id="28" name="Text 23"/>
          <p:cNvSpPr/>
          <p:nvPr/>
        </p:nvSpPr>
        <p:spPr>
          <a:xfrm>
            <a:off x="3904488" y="3273552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Two-Process+UMP</a:t>
            </a:r>
            <a:endParaRPr lang="en-US" sz="87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계산</a:t>
            </a:r>
            <a:endParaRPr lang="en-US" sz="870" dirty="0"/>
          </a:p>
        </p:txBody>
      </p:sp>
      <p:sp>
        <p:nvSpPr>
          <p:cNvPr id="29" name="Shape 24"/>
          <p:cNvSpPr/>
          <p:nvPr/>
        </p:nvSpPr>
        <p:spPr>
          <a:xfrm>
            <a:off x="5312664" y="3662172"/>
            <a:ext cx="137160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5449824" y="3273552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F1E0C9"/>
          </a:solidFill>
          <a:ln/>
        </p:spPr>
      </p:sp>
      <p:sp>
        <p:nvSpPr>
          <p:cNvPr id="31" name="Text 26"/>
          <p:cNvSpPr/>
          <p:nvPr/>
        </p:nvSpPr>
        <p:spPr>
          <a:xfrm>
            <a:off x="5522976" y="3273552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참고 데이터</a:t>
            </a:r>
            <a:endParaRPr lang="en-US" sz="87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조회 (SELECT)</a:t>
            </a:r>
            <a:endParaRPr lang="en-US" sz="870" dirty="0"/>
          </a:p>
        </p:txBody>
      </p:sp>
      <p:sp>
        <p:nvSpPr>
          <p:cNvPr id="32" name="Shape 27"/>
          <p:cNvSpPr/>
          <p:nvPr/>
        </p:nvSpPr>
        <p:spPr>
          <a:xfrm>
            <a:off x="6931152" y="3662172"/>
            <a:ext cx="137160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33" name="Shape 28"/>
          <p:cNvSpPr/>
          <p:nvPr/>
        </p:nvSpPr>
        <p:spPr>
          <a:xfrm>
            <a:off x="7068312" y="3273552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F1E0C9"/>
          </a:solidFill>
          <a:ln/>
        </p:spPr>
      </p:sp>
      <p:sp>
        <p:nvSpPr>
          <p:cNvPr id="34" name="Text 29"/>
          <p:cNvSpPr/>
          <p:nvPr/>
        </p:nvSpPr>
        <p:spPr>
          <a:xfrm>
            <a:off x="7141464" y="3273552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화면</a:t>
            </a:r>
            <a:endParaRPr lang="en-US" sz="87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렌더링</a:t>
            </a:r>
            <a:endParaRPr lang="en-US" sz="8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시스템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— 컬러 &amp; 타이포그래피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컬러 팔레트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9A5B28"/>
          </a:solidFill>
          <a:ln w="9525">
            <a:solidFill>
              <a:srgbClr val="ECE3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276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16276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#9A5B28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0" y="16276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버튼 · 강조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7A4720"/>
          </a:solidFill>
          <a:ln w="9525">
            <a:solidFill>
              <a:srgbClr val="ECE3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9933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brand-strong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19933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#7A4720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0" y="1993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진한 강조 텍스트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5915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F1E0C9"/>
          </a:solidFill>
          <a:ln w="9525">
            <a:solidFill>
              <a:srgbClr val="ECE3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3591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brand-soft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35915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#F1E0C9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26080" y="23591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연한 배경 · 아이콘 배경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2491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201409"/>
          </a:solidFill>
          <a:ln w="9525">
            <a:solidFill>
              <a:srgbClr val="ECE3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7249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ink-900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272491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#201409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26080" y="27249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텍스트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9067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786A5C"/>
          </a:solidFill>
          <a:ln w="9525">
            <a:solidFill>
              <a:srgbClr val="ECE3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0906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ink-600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309067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#786A5C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26080" y="30906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 텍스트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45643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F6F1E9"/>
          </a:solidFill>
          <a:ln w="9525">
            <a:solidFill>
              <a:srgbClr val="ECE3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34564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surface-muted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03120" y="34564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#F6F1E9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926080" y="34564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카드 배경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2219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43290F"/>
          </a:solidFill>
          <a:ln w="9525">
            <a:solidFill>
              <a:srgbClr val="ECE3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38221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tag-sleep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03120" y="38221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#43290F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26080" y="3822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수면 아이콘/범례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18795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B98A55"/>
          </a:solidFill>
          <a:ln w="9525">
            <a:solidFill>
              <a:srgbClr val="ECE3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41879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tag-study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03120" y="418795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#B98A55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926080" y="4187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공부 아이콘/범례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55371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D99A3D"/>
          </a:solidFill>
          <a:ln w="9525">
            <a:solidFill>
              <a:srgbClr val="ECE3D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" y="45537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tag-caffeine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03120" y="455371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#D99A3D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926080" y="45537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 아이콘/범례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63440" y="1234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타이포그래피 (Pretendard / Noto Sans KR)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663440" y="162763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6F1E9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16276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display-num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17920" y="16276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28px / 800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78040" y="16276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"D-2 · 생화학"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208483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6F1E9"/>
          </a:solidFill>
          <a:ln/>
        </p:spPr>
      </p:sp>
      <p:sp>
        <p:nvSpPr>
          <p:cNvPr id="48" name="Text 46"/>
          <p:cNvSpPr/>
          <p:nvPr/>
        </p:nvSpPr>
        <p:spPr>
          <a:xfrm>
            <a:off x="4800600" y="20848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headline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17920" y="20848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19px / 800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178040" y="20848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"상황을 알려주세요"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63440" y="254203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6F1E9"/>
          </a:solidFill>
          <a:ln/>
        </p:spPr>
      </p:sp>
      <p:sp>
        <p:nvSpPr>
          <p:cNvPr id="52" name="Text 50"/>
          <p:cNvSpPr/>
          <p:nvPr/>
        </p:nvSpPr>
        <p:spPr>
          <a:xfrm>
            <a:off x="4800600" y="25420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section-head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17920" y="25420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15px / 700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178040" y="25420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"시험 일정"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63440" y="299923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6F1E9"/>
          </a:solidFill>
          <a:ln/>
        </p:spPr>
      </p:sp>
      <p:sp>
        <p:nvSpPr>
          <p:cNvPr id="56" name="Text 54"/>
          <p:cNvSpPr/>
          <p:nvPr/>
        </p:nvSpPr>
        <p:spPr>
          <a:xfrm>
            <a:off x="4800600" y="29992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row-title / row-sub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217920" y="29992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14.5px·12.5px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178040" y="29992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"세포생물학" / "월 09:00"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663440" y="345643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6F1E9"/>
          </a:solidFill>
          <a:ln/>
        </p:spPr>
      </p:sp>
      <p:sp>
        <p:nvSpPr>
          <p:cNvPr id="60" name="Text 58"/>
          <p:cNvSpPr/>
          <p:nvPr/>
        </p:nvSpPr>
        <p:spPr>
          <a:xfrm>
            <a:off x="4800600" y="34564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btn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217920" y="34564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14.5px / 700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178040" y="34564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"계산하기"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663440" y="3977640"/>
            <a:ext cx="4023360" cy="777240"/>
          </a:xfrm>
          <a:prstGeom prst="roundRect">
            <a:avLst>
              <a:gd name="adj" fmla="val 10588"/>
            </a:avLst>
          </a:prstGeom>
          <a:solidFill>
            <a:srgbClr val="F1E0C9"/>
          </a:solidFill>
          <a:ln/>
        </p:spPr>
      </p:sp>
      <p:sp>
        <p:nvSpPr>
          <p:cNvPr id="64" name="Text 62"/>
          <p:cNvSpPr/>
          <p:nvPr/>
        </p:nvSpPr>
        <p:spPr>
          <a:xfrm>
            <a:off x="4846320" y="39776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여백 · 모서리 규칙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카드/차트 22px · 입력박스 16px · 필드 10px 라운드, 화면 좌우 24px 여백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시스템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변화 — Before / After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Text 3"/>
          <p:cNvSpPr/>
          <p:nvPr/>
        </p:nvSpPr>
        <p:spPr>
          <a:xfrm>
            <a:off x="2228590" y="123444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 · 초기 와이어프레임 (docs/screens/)</a:t>
            </a:r>
            <a:endParaRPr lang="en-US" sz="1050" dirty="0"/>
          </a:p>
        </p:txBody>
      </p:sp>
      <p:pic>
        <p:nvPicPr>
          <p:cNvPr id="6" name="Image 0" descr="../screens/home-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4350" y="1554480"/>
            <a:ext cx="1892808" cy="2880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60310" y="2994660"/>
            <a:ext cx="585216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4852918" y="1234440"/>
            <a:ext cx="2062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 · 현재 client/ 프로토타입 (실제 렌더링)</a:t>
            </a:r>
            <a:endParaRPr lang="en-US" sz="1050" dirty="0"/>
          </a:p>
        </p:txBody>
      </p:sp>
      <p:pic>
        <p:nvPicPr>
          <p:cNvPr id="9" name="Image 1" descr="assets/after-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678" y="1554480"/>
            <a:ext cx="1330972" cy="2880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무엇이 바뀌었나: </a:t>
            </a:r>
            <a:pPr algn="ctr" indent="0" marL="0">
              <a:buNone/>
            </a:pPr>
            <a:r>
              <a:rPr lang="en-US" sz="10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회색 점선 placeholder → 브랜드 컬러(#9A5B28) 적용, 실제 아이콘·카드·둥근 모서리 컴포넌트로 구현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컴포넌트 &amp; 폴더 구성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구현된 컴포넌트 — client/src/components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3931920" cy="3200400"/>
          </a:xfrm>
          <a:prstGeom prst="roundRect">
            <a:avLst>
              <a:gd name="adj" fmla="val 2571"/>
            </a:avLst>
          </a:prstGeom>
          <a:solidFill>
            <a:srgbClr val="F6F1E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373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client/src/components/</a:t>
            </a:r>
            <a:endParaRPr lang="en-US" sz="98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Card/       (Card.tsx + .module.css)</a:t>
            </a:r>
            <a:endParaRPr lang="en-US" sz="98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Row/</a:t>
            </a:r>
            <a:endParaRPr lang="en-US" sz="98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Segmented/</a:t>
            </a:r>
            <a:endParaRPr lang="en-US" sz="98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Switch/</a:t>
            </a:r>
            <a:endParaRPr lang="en-US" sz="98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Slider/</a:t>
            </a:r>
            <a:endParaRPr lang="en-US" sz="98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Button/</a:t>
            </a:r>
            <a:endParaRPr lang="en-US" sz="98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Field/</a:t>
            </a:r>
            <a:endParaRPr lang="en-US" sz="98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WarningBanner/</a:t>
            </a:r>
            <a:endParaRPr lang="en-US" sz="98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BottomSheet/</a:t>
            </a:r>
            <a:endParaRPr lang="en-US" sz="98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icons.tsx</a:t>
            </a:r>
            <a:endParaRPr lang="en-US" sz="98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index.ts   (모아서 export)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685800" y="39776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 컴포넌트 모두 PascalCase.tsx +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이름 .module.css 짝으로 이미 구성됨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63440" y="1234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&amp; 레이아웃 — client/src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572768"/>
            <a:ext cx="4023360" cy="3200400"/>
          </a:xfrm>
          <a:prstGeom prst="roundRect">
            <a:avLst>
              <a:gd name="adj" fmla="val 2571"/>
            </a:avLst>
          </a:prstGeom>
          <a:solidFill>
            <a:srgbClr val="F1E0C9"/>
          </a:solidFill>
          <a:ln/>
        </p:spPr>
      </p:sp>
      <p:sp>
        <p:nvSpPr>
          <p:cNvPr id="11" name="Shape 9"/>
          <p:cNvSpPr/>
          <p:nvPr/>
        </p:nvSpPr>
        <p:spPr>
          <a:xfrm>
            <a:off x="4892040" y="1783080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7830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pages/ (Home·Input·Processing·Result·Adjust)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2350008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2350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layouts/AppShell — 공통 화면 뼈대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2916936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291693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styles/tokens.css — 디자인 토큰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92040" y="3483864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48386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react-router-dom으로 페이지 라우팅 연결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404164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페이지가 실제로 라우팅까지 연결된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동작하는 앱 (react-router-dom)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프로토타입 소개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371600" y="1143000"/>
            <a:ext cx="6400800" cy="3063240"/>
          </a:xfrm>
          <a:prstGeom prst="roundRect">
            <a:avLst>
              <a:gd name="adj" fmla="val 3582"/>
            </a:avLst>
          </a:prstGeom>
          <a:solidFill>
            <a:srgbClr val="F1E0C9"/>
          </a:solidFill>
          <a:ln/>
        </p:spPr>
      </p:sp>
      <p:sp>
        <p:nvSpPr>
          <p:cNvPr id="4" name="Shape 2"/>
          <p:cNvSpPr/>
          <p:nvPr/>
        </p:nvSpPr>
        <p:spPr>
          <a:xfrm>
            <a:off x="4229100" y="1394460"/>
            <a:ext cx="685800" cy="685800"/>
          </a:xfrm>
          <a:prstGeom prst="ellipse">
            <a:avLst/>
          </a:prstGeom>
          <a:solidFill>
            <a:srgbClr val="9A5B2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0550" y="15659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2194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 → 정보 입력 → 처리 중 → 결과 → 스케줄 조정, 5개 화면을 직접 눌러볼 수 있는 목업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737360" y="265176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배포된 프로토타입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737360" y="288950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https://dodeho.github.io/hub/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737360" y="3328416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개발 서버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737360" y="35661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http://localhost:5173/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엔진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계산할까 — 모델 개념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2624328" cy="1965960"/>
          </a:xfrm>
          <a:prstGeom prst="roundRect">
            <a:avLst>
              <a:gd name="adj" fmla="val 4651"/>
            </a:avLst>
          </a:prstGeom>
          <a:solidFill>
            <a:srgbClr val="F6F1E9"/>
          </a:solidFill>
          <a:ln/>
        </p:spPr>
      </p:sp>
      <p:sp>
        <p:nvSpPr>
          <p:cNvPr id="6" name="Shape 4"/>
          <p:cNvSpPr/>
          <p:nvPr/>
        </p:nvSpPr>
        <p:spPr>
          <a:xfrm>
            <a:off x="1472184" y="16230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915" y="1756791"/>
            <a:ext cx="326898" cy="3268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3317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졸음은 쌓인다 (Process 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7706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깨어있는 시간이 길수록 졸음(수면압)이 쌓이고, 자는 동안 풀린다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64408" y="1417320"/>
            <a:ext cx="2624328" cy="1965960"/>
          </a:xfrm>
          <a:prstGeom prst="roundRect">
            <a:avLst>
              <a:gd name="adj" fmla="val 4651"/>
            </a:avLst>
          </a:prstGeom>
          <a:solidFill>
            <a:srgbClr val="F6F1E9"/>
          </a:solidFill>
          <a:ln/>
        </p:spPr>
      </p:sp>
      <p:sp>
        <p:nvSpPr>
          <p:cNvPr id="11" name="Shape 8"/>
          <p:cNvSpPr/>
          <p:nvPr/>
        </p:nvSpPr>
        <p:spPr>
          <a:xfrm>
            <a:off x="4279392" y="16230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123" y="1756791"/>
            <a:ext cx="326898" cy="3268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1568" y="23317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생체시계가 있다 (Process C)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47288" y="27706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 주기로 오르내리는 원래 정해진 각성 리듬이 따로 있다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71616" y="1417320"/>
            <a:ext cx="2624328" cy="1965960"/>
          </a:xfrm>
          <a:prstGeom prst="roundRect">
            <a:avLst>
              <a:gd name="adj" fmla="val 4651"/>
            </a:avLst>
          </a:prstGeom>
          <a:solidFill>
            <a:srgbClr val="F6F1E9"/>
          </a:solidFill>
          <a:ln/>
        </p:spPr>
      </p:sp>
      <p:sp>
        <p:nvSpPr>
          <p:cNvPr id="16" name="Shape 12"/>
          <p:cNvSpPr/>
          <p:nvPr/>
        </p:nvSpPr>
        <p:spPr>
          <a:xfrm>
            <a:off x="7086600" y="16230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331" y="1756791"/>
            <a:ext cx="326898" cy="32689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08776" y="23317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카페인이 일시적으로 억제한다 (UMP)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54496" y="27706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카페인이 졸음 신호를 일시적으로 눌러줘서, 원하는 시각에 각성도를 끌어올릴 수 있다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57200" y="3611880"/>
            <a:ext cx="8229600" cy="685800"/>
          </a:xfrm>
          <a:prstGeom prst="roundRect">
            <a:avLst>
              <a:gd name="adj" fmla="val 12000"/>
            </a:avLst>
          </a:prstGeom>
          <a:solidFill>
            <a:srgbClr val="F1E0C9"/>
          </a:solidFill>
          <a:ln/>
        </p:spPr>
      </p:sp>
      <p:sp>
        <p:nvSpPr>
          <p:cNvPr id="21" name="Text 16"/>
          <p:cNvSpPr/>
          <p:nvPr/>
        </p:nvSpPr>
        <p:spPr>
          <a:xfrm>
            <a:off x="685800" y="36118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결합하면: </a:t>
            </a:r>
            <a:pPr algn="l" indent="0" marL="0">
              <a:buNone/>
            </a:pPr>
            <a:r>
              <a:rPr lang="en-US" sz="105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졸음 + 생체리듬 + 카페인 효과를 합쳐서, "언제 자고 언제 카페인을 마셔야 시험 시작 시각에 각성도가 최고가 되는지"를 역산한다 (Borbély 1982 + Vital-Lopez 2024, UMP)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57200" y="43525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참고: Ramakrishnan et al. (2016), A Unified Model of Performance — </a:t>
            </a:r>
            <a:pPr algn="l" indent="0" marL="0">
              <a:buNone/>
            </a:pPr>
            <a:r>
              <a:rPr lang="en-US" sz="850" u="sng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https://pmc.ncbi.nlm.nih.gov/articles/PMC5020365/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엔진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최적 스케줄을 찾을까 — 계산 과정 3단계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2624328" cy="1371600"/>
          </a:xfrm>
          <a:prstGeom prst="roundRect">
            <a:avLst>
              <a:gd name="adj" fmla="val 6667"/>
            </a:avLst>
          </a:prstGeom>
          <a:solidFill>
            <a:srgbClr val="F6F1E9"/>
          </a:solidFill>
          <a:ln/>
        </p:spPr>
      </p:sp>
      <p:sp>
        <p:nvSpPr>
          <p:cNvPr id="6" name="Shape 4"/>
          <p:cNvSpPr/>
          <p:nvPr/>
        </p:nvSpPr>
        <p:spPr>
          <a:xfrm>
            <a:off x="630936" y="13716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576" y="1466240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37160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시간 그리드 만들기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621792" y="1874520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오늘부터 마지막 시험까지 30분 단위로 쪼개,</a:t>
            </a:r>
            <a:endParaRPr lang="en-US" sz="87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깨어있기/잠자기 × 카페인 섭취/미섭취로 나눔</a:t>
            </a:r>
            <a:endParaRPr lang="en-US" sz="870" dirty="0"/>
          </a:p>
        </p:txBody>
      </p:sp>
      <p:sp>
        <p:nvSpPr>
          <p:cNvPr id="10" name="Shape 7"/>
          <p:cNvSpPr/>
          <p:nvPr/>
        </p:nvSpPr>
        <p:spPr>
          <a:xfrm>
            <a:off x="3081528" y="1920240"/>
            <a:ext cx="182880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264408" y="1234440"/>
            <a:ext cx="2624328" cy="1371600"/>
          </a:xfrm>
          <a:prstGeom prst="roundRect">
            <a:avLst>
              <a:gd name="adj" fmla="val 6667"/>
            </a:avLst>
          </a:prstGeom>
          <a:solidFill>
            <a:srgbClr val="F6F1E9"/>
          </a:solidFill>
          <a:ln/>
        </p:spPr>
      </p:sp>
      <p:sp>
        <p:nvSpPr>
          <p:cNvPr id="12" name="Shape 9"/>
          <p:cNvSpPr/>
          <p:nvPr/>
        </p:nvSpPr>
        <p:spPr>
          <a:xfrm>
            <a:off x="3438144" y="13716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784" y="1466240"/>
            <a:ext cx="231343" cy="2313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22776" y="137160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후보마다 시뮬레이션</a:t>
            </a:r>
            <a:endParaRPr lang="en-US" sz="1080" dirty="0"/>
          </a:p>
        </p:txBody>
      </p:sp>
      <p:sp>
        <p:nvSpPr>
          <p:cNvPr id="15" name="Text 11"/>
          <p:cNvSpPr/>
          <p:nvPr/>
        </p:nvSpPr>
        <p:spPr>
          <a:xfrm>
            <a:off x="3429000" y="1874520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조합을 모델에 대입해 각성도 곡선을 계산,</a:t>
            </a:r>
            <a:endParaRPr lang="en-US" sz="87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 시각 각성도엔 가산점, 제약 위반엔 패널티</a:t>
            </a:r>
            <a:endParaRPr lang="en-US" sz="870" dirty="0"/>
          </a:p>
        </p:txBody>
      </p:sp>
      <p:sp>
        <p:nvSpPr>
          <p:cNvPr id="16" name="Shape 12"/>
          <p:cNvSpPr/>
          <p:nvPr/>
        </p:nvSpPr>
        <p:spPr>
          <a:xfrm>
            <a:off x="5888736" y="1920240"/>
            <a:ext cx="182880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6071616" y="1234440"/>
            <a:ext cx="2624328" cy="1371600"/>
          </a:xfrm>
          <a:prstGeom prst="roundRect">
            <a:avLst>
              <a:gd name="adj" fmla="val 6667"/>
            </a:avLst>
          </a:prstGeom>
          <a:solidFill>
            <a:srgbClr val="F6F1E9"/>
          </a:solidFill>
          <a:ln/>
        </p:spPr>
      </p:sp>
      <p:sp>
        <p:nvSpPr>
          <p:cNvPr id="18" name="Shape 14"/>
          <p:cNvSpPr/>
          <p:nvPr/>
        </p:nvSpPr>
        <p:spPr>
          <a:xfrm>
            <a:off x="6245352" y="13716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992" y="1466240"/>
            <a:ext cx="231343" cy="23134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29984" y="137160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최고점 스케줄 채택</a:t>
            </a:r>
            <a:endParaRPr lang="en-US" sz="1080" dirty="0"/>
          </a:p>
        </p:txBody>
      </p:sp>
      <p:sp>
        <p:nvSpPr>
          <p:cNvPr id="21" name="Text 16"/>
          <p:cNvSpPr/>
          <p:nvPr/>
        </p:nvSpPr>
        <p:spPr>
          <a:xfrm>
            <a:off x="6236208" y="1874520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전수탐색이 아니라 후보를 반복 개선하는 국소 탐색,</a:t>
            </a:r>
            <a:endParaRPr lang="en-US" sz="87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점수가 가장 높은 조합을 추천 스케줄로 제공</a:t>
            </a:r>
            <a:endParaRPr lang="en-US" sz="870" dirty="0"/>
          </a:p>
        </p:txBody>
      </p:sp>
      <p:sp>
        <p:nvSpPr>
          <p:cNvPr id="22" name="Text 17"/>
          <p:cNvSpPr/>
          <p:nvPr/>
        </p:nvSpPr>
        <p:spPr>
          <a:xfrm>
            <a:off x="457200" y="27523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예시: 이 과정을 거쳐 선택된 스케줄의 예측 각성도 곡선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7200" y="3063240"/>
            <a:ext cx="8229600" cy="1824228"/>
          </a:xfrm>
          <a:prstGeom prst="roundRect">
            <a:avLst>
              <a:gd name="adj" fmla="val 5013"/>
            </a:avLst>
          </a:prstGeom>
          <a:solidFill>
            <a:srgbClr val="F6F1E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09871"/>
            <a:ext cx="2788920" cy="127493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32104" y="4503093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취침</a:t>
            </a:r>
            <a:endParaRPr lang="en-US" sz="730" dirty="0"/>
          </a:p>
        </p:txBody>
      </p:sp>
      <p:sp>
        <p:nvSpPr>
          <p:cNvPr id="26" name="Text 20"/>
          <p:cNvSpPr/>
          <p:nvPr/>
        </p:nvSpPr>
        <p:spPr>
          <a:xfrm>
            <a:off x="1469571" y="4503093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기상</a:t>
            </a:r>
            <a:endParaRPr lang="en-US" sz="730" dirty="0"/>
          </a:p>
        </p:txBody>
      </p:sp>
      <p:sp>
        <p:nvSpPr>
          <p:cNvPr id="27" name="Text 21"/>
          <p:cNvSpPr/>
          <p:nvPr/>
        </p:nvSpPr>
        <p:spPr>
          <a:xfrm>
            <a:off x="2505456" y="4503093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시험시작</a:t>
            </a:r>
            <a:endParaRPr lang="en-US" sz="730" dirty="0"/>
          </a:p>
        </p:txBody>
      </p:sp>
      <p:sp>
        <p:nvSpPr>
          <p:cNvPr id="28" name="Shape 22"/>
          <p:cNvSpPr/>
          <p:nvPr/>
        </p:nvSpPr>
        <p:spPr>
          <a:xfrm>
            <a:off x="3749040" y="3209544"/>
            <a:ext cx="237744" cy="82296"/>
          </a:xfrm>
          <a:prstGeom prst="rect">
            <a:avLst/>
          </a:prstGeom>
          <a:solidFill>
            <a:srgbClr val="201409"/>
          </a:solidFill>
          <a:ln/>
        </p:spPr>
      </p:sp>
      <p:sp>
        <p:nvSpPr>
          <p:cNvPr id="29" name="Text 23"/>
          <p:cNvSpPr/>
          <p:nvPr/>
        </p:nvSpPr>
        <p:spPr>
          <a:xfrm>
            <a:off x="4069080" y="31089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깨어있는 동안 예측 각성도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749040" y="3592449"/>
            <a:ext cx="237744" cy="82296"/>
          </a:xfrm>
          <a:prstGeom prst="rect">
            <a:avLst/>
          </a:prstGeom>
          <a:solidFill>
            <a:srgbClr val="AB9D8C"/>
          </a:solidFill>
          <a:ln/>
        </p:spPr>
      </p:sp>
      <p:sp>
        <p:nvSpPr>
          <p:cNvPr id="31" name="Text 25"/>
          <p:cNvSpPr/>
          <p:nvPr/>
        </p:nvSpPr>
        <p:spPr>
          <a:xfrm>
            <a:off x="4069080" y="3491865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수면 중 구간 (모델상 회복)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3749040" y="3975354"/>
            <a:ext cx="237744" cy="82296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3" name="Text 27"/>
          <p:cNvSpPr/>
          <p:nvPr/>
        </p:nvSpPr>
        <p:spPr>
          <a:xfrm>
            <a:off x="4069080" y="387477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 부스트 구간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3749040" y="4358259"/>
            <a:ext cx="237744" cy="82296"/>
          </a:xfrm>
          <a:prstGeom prst="rect">
            <a:avLst/>
          </a:prstGeom>
          <a:solidFill>
            <a:srgbClr val="7A4720"/>
          </a:solidFill>
          <a:ln/>
        </p:spPr>
      </p:sp>
      <p:sp>
        <p:nvSpPr>
          <p:cNvPr id="35" name="Text 29"/>
          <p:cNvSpPr/>
          <p:nvPr/>
        </p:nvSpPr>
        <p:spPr>
          <a:xfrm>
            <a:off x="4069080" y="4257675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정점 = 시험 시작 시각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단계 · 고민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고민되는 것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624328" cy="2743200"/>
          </a:xfrm>
          <a:prstGeom prst="roundRect">
            <a:avLst>
              <a:gd name="adj" fmla="val 3484"/>
            </a:avLst>
          </a:prstGeom>
          <a:solidFill>
            <a:srgbClr val="F6F1E9"/>
          </a:solidFill>
          <a:ln/>
        </p:spPr>
      </p:sp>
      <p:sp>
        <p:nvSpPr>
          <p:cNvPr id="6" name="Shape 4"/>
          <p:cNvSpPr/>
          <p:nvPr/>
        </p:nvSpPr>
        <p:spPr>
          <a:xfrm>
            <a:off x="1495044" y="1554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167792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194560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코드를 완전히 이해하고 있을까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2743200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비전공자라 도메인 지식이 없다 보니,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만들어준 코드를 결과물에 쫓겨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그대로 쓰는 느낌 — 원리를 제대로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이해하고 가는 게 맞을지 고민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64408" y="1371600"/>
            <a:ext cx="2624328" cy="2743200"/>
          </a:xfrm>
          <a:prstGeom prst="roundRect">
            <a:avLst>
              <a:gd name="adj" fmla="val 3484"/>
            </a:avLst>
          </a:prstGeom>
          <a:solidFill>
            <a:srgbClr val="F6F1E9"/>
          </a:solidFill>
          <a:ln/>
        </p:spPr>
      </p:sp>
      <p:sp>
        <p:nvSpPr>
          <p:cNvPr id="11" name="Shape 8"/>
          <p:cNvSpPr/>
          <p:nvPr/>
        </p:nvSpPr>
        <p:spPr>
          <a:xfrm>
            <a:off x="4302252" y="1554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16779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1568" y="2194560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개인화까지 구현할 수 있을까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447288" y="2743200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지금은 집단 평균 파라미터로 계산하는데,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데이터가 쌓이면 더 정확한 결과를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낼 수 있을지, 4주 안에 어디까지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손댈 수 있을지 감이 안 옴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71616" y="1371600"/>
            <a:ext cx="2624328" cy="2743200"/>
          </a:xfrm>
          <a:prstGeom prst="roundRect">
            <a:avLst>
              <a:gd name="adj" fmla="val 3484"/>
            </a:avLst>
          </a:prstGeom>
          <a:solidFill>
            <a:srgbClr val="F6F1E9"/>
          </a:solidFill>
          <a:ln/>
        </p:spPr>
      </p:sp>
      <p:sp>
        <p:nvSpPr>
          <p:cNvPr id="16" name="Shape 12"/>
          <p:cNvSpPr/>
          <p:nvPr/>
        </p:nvSpPr>
        <p:spPr>
          <a:xfrm>
            <a:off x="7109460" y="1554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167792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08776" y="2194560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DB를 어떻게 설계해야 할지 모르겠다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254496" y="2743200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FE(React)·BE(Express)는 정했는데,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Supabase에 실제로 어떤 테이블·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스키마를 둬야 할지 전혀 감이 안 옴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시험 벼락치기 스케줄러 — 1주차 진행 공유</dc:title>
  <dc:subject>PptxGenJS Presentation</dc:subject>
  <dc:creator>N110_안정연</dc:creator>
  <cp:lastModifiedBy>N110_안정연</cp:lastModifiedBy>
  <cp:revision>1</cp:revision>
  <dcterms:created xsi:type="dcterms:W3CDTF">2026-07-10T03:22:32Z</dcterms:created>
  <dcterms:modified xsi:type="dcterms:W3CDTF">2026-07-10T03:22:32Z</dcterms:modified>
</cp:coreProperties>
</file>