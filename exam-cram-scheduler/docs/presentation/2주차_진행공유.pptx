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hyperlink" Target="https://pmc.ncbi.nlm.nih.gov/articles/PMC5020365/" TargetMode="External"/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2331720" cy="384048"/>
          </a:xfrm>
          <a:prstGeom prst="roundRect">
            <a:avLst>
              <a:gd name="adj" fmla="val 19048"/>
            </a:avLst>
          </a:prstGeom>
          <a:solidFill>
            <a:srgbClr val="F1E0C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02920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A47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2주차 진행 공유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9202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시험 벼락치기 스케줄러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457200" y="26974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786A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시험기간 대학생을 위한 수면·카페인 스케줄 최적화 도구 — 계산 엔진 파트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4114800"/>
            <a:ext cx="1097280" cy="0"/>
          </a:xfrm>
          <a:prstGeom prst="line">
            <a:avLst/>
          </a:prstGeom>
          <a:noFill/>
          <a:ln w="19050">
            <a:solidFill>
              <a:srgbClr val="ECE3D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42519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786A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N110_안정연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9A5B2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프로젝트 소개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무엇을, 왜 만드는가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1060704"/>
            <a:ext cx="457200" cy="41148"/>
          </a:xfrm>
          <a:prstGeom prst="rect">
            <a:avLst/>
          </a:prstGeom>
          <a:solidFill>
            <a:srgbClr val="9A5B28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234440"/>
            <a:ext cx="3931920" cy="3291840"/>
          </a:xfrm>
          <a:prstGeom prst="roundRect">
            <a:avLst>
              <a:gd name="adj" fmla="val 2500"/>
            </a:avLst>
          </a:prstGeom>
          <a:solidFill>
            <a:srgbClr val="F6F1E9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41732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상황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85800" y="1783080"/>
            <a:ext cx="34747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시험기간이 되면 대학생 대부분은 벼락치기를 하고,</a:t>
            </a: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수면·카페인 섭취를 순전히 감에 의존해 조절한다.</a:t>
            </a: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 결과 수면 부족·컨디션 저하가 누적되고,</a:t>
            </a: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시험이 여러 개 겹치는 주간 전체는 고려하지</a:t>
            </a: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못한 채 "오늘 밤"만 생각하게 된다.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324612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7A47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만드는 것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3593592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7A47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시험 날짜·공부량·수면패턴·카페인 상태를 입력하면,</a:t>
            </a: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7A47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검증된 생물수학 모델로 "시험 시작 시각에 각성도가</a:t>
            </a: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7A47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최고가 되는" 수면·카페인 스케줄을 계산해주는 도구.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663440" y="1234440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기능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63440" y="1600200"/>
            <a:ext cx="4023360" cy="1234440"/>
          </a:xfrm>
          <a:prstGeom prst="roundRect">
            <a:avLst>
              <a:gd name="adj" fmla="val 7407"/>
            </a:avLst>
          </a:prstGeom>
          <a:solidFill>
            <a:srgbClr val="F1E0C9"/>
          </a:solidFill>
          <a:ln/>
        </p:spPr>
      </p:sp>
      <p:sp>
        <p:nvSpPr>
          <p:cNvPr id="12" name="Text 10"/>
          <p:cNvSpPr/>
          <p:nvPr/>
        </p:nvSpPr>
        <p:spPr>
          <a:xfrm>
            <a:off x="4892040" y="1737360"/>
            <a:ext cx="3566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7A47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하루 단위 스케줄이 아니라, 시험이 여러 개</a:t>
            </a: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7A47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겹치는 "시험기간 전체"를 한 번에 고려해</a:t>
            </a: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7A47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수면·카페인 스케줄을 배분해준다.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663440" y="3017520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사용한 모델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663440" y="3383280"/>
            <a:ext cx="4023360" cy="1143000"/>
          </a:xfrm>
          <a:prstGeom prst="roundRect">
            <a:avLst>
              <a:gd name="adj" fmla="val 8000"/>
            </a:avLst>
          </a:prstGeom>
          <a:solidFill>
            <a:srgbClr val="F6F1E9"/>
          </a:solidFill>
          <a:ln/>
        </p:spPr>
      </p:sp>
      <p:sp>
        <p:nvSpPr>
          <p:cNvPr id="15" name="Text 13"/>
          <p:cNvSpPr/>
          <p:nvPr/>
        </p:nvSpPr>
        <p:spPr>
          <a:xfrm>
            <a:off x="4892040" y="352044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Two-Process Model(수면압+일주기리듬) +</a:t>
            </a: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카페인 약동학·약력학(PK/PD) 상호작용 모델</a:t>
            </a:r>
            <a:endParaRPr lang="en-US" sz="11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수면과학 논문 기반의 검증된 공식 사용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9A5B2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로드맵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프로젝트 로드맵 (4주)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1060704"/>
            <a:ext cx="457200" cy="41148"/>
          </a:xfrm>
          <a:prstGeom prst="rect">
            <a:avLst/>
          </a:prstGeom>
          <a:solidFill>
            <a:srgbClr val="9A5B28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280160"/>
            <a:ext cx="1920240" cy="2606040"/>
          </a:xfrm>
          <a:prstGeom prst="roundRect">
            <a:avLst>
              <a:gd name="adj" fmla="val 4286"/>
            </a:avLst>
          </a:prstGeom>
          <a:solidFill>
            <a:srgbClr val="F6F1E9"/>
          </a:solidFill>
          <a:ln w="12700">
            <a:solidFill>
              <a:srgbClr val="ECE3D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408176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786A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1주차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03504" y="1975104"/>
            <a:ext cx="54864" cy="54864"/>
          </a:xfrm>
          <a:prstGeom prst="ellipse">
            <a:avLst/>
          </a:prstGeom>
          <a:solidFill>
            <a:srgbClr val="AB9D8C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810512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70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아이디어 검증 및 문제 정의</a:t>
            </a:r>
            <a:endParaRPr lang="en-US" sz="870" dirty="0"/>
          </a:p>
        </p:txBody>
      </p:sp>
      <p:sp>
        <p:nvSpPr>
          <p:cNvPr id="9" name="Shape 7"/>
          <p:cNvSpPr/>
          <p:nvPr/>
        </p:nvSpPr>
        <p:spPr>
          <a:xfrm>
            <a:off x="603504" y="2359152"/>
            <a:ext cx="54864" cy="54864"/>
          </a:xfrm>
          <a:prstGeom prst="ellipse">
            <a:avLst/>
          </a:prstGeom>
          <a:solidFill>
            <a:srgbClr val="AB9D8C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194560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70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기획서 작성 (v1 → v2)</a:t>
            </a:r>
            <a:endParaRPr lang="en-US" sz="870" dirty="0"/>
          </a:p>
        </p:txBody>
      </p:sp>
      <p:sp>
        <p:nvSpPr>
          <p:cNvPr id="11" name="Shape 9"/>
          <p:cNvSpPr/>
          <p:nvPr/>
        </p:nvSpPr>
        <p:spPr>
          <a:xfrm>
            <a:off x="603504" y="2743200"/>
            <a:ext cx="54864" cy="54864"/>
          </a:xfrm>
          <a:prstGeom prst="ellipse">
            <a:avLst/>
          </a:prstGeom>
          <a:solidFill>
            <a:srgbClr val="AB9D8C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2578608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70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디자인 문서·스킬 설정</a:t>
            </a:r>
            <a:endParaRPr lang="en-US" sz="870" dirty="0"/>
          </a:p>
        </p:txBody>
      </p:sp>
      <p:sp>
        <p:nvSpPr>
          <p:cNvPr id="13" name="Shape 11"/>
          <p:cNvSpPr/>
          <p:nvPr/>
        </p:nvSpPr>
        <p:spPr>
          <a:xfrm>
            <a:off x="603504" y="3127248"/>
            <a:ext cx="54864" cy="54864"/>
          </a:xfrm>
          <a:prstGeom prst="ellipse">
            <a:avLst/>
          </a:prstGeom>
          <a:solidFill>
            <a:srgbClr val="AB9D8C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2962656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70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프로토타입 제작 → React 이식</a:t>
            </a:r>
            <a:endParaRPr lang="en-US" sz="870" dirty="0"/>
          </a:p>
        </p:txBody>
      </p:sp>
      <p:sp>
        <p:nvSpPr>
          <p:cNvPr id="15" name="Shape 13"/>
          <p:cNvSpPr/>
          <p:nvPr/>
        </p:nvSpPr>
        <p:spPr>
          <a:xfrm>
            <a:off x="594360" y="3502152"/>
            <a:ext cx="1645920" cy="274320"/>
          </a:xfrm>
          <a:prstGeom prst="roundRect">
            <a:avLst>
              <a:gd name="adj" fmla="val 66667"/>
            </a:avLst>
          </a:prstGeom>
          <a:solidFill>
            <a:srgbClr val="FFFFFF"/>
          </a:solidFill>
          <a:ln w="12700">
            <a:solidFill>
              <a:srgbClr val="ECE3D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350215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B9D8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완료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377440" y="2583180"/>
            <a:ext cx="228600" cy="0"/>
          </a:xfrm>
          <a:prstGeom prst="line">
            <a:avLst/>
          </a:prstGeom>
          <a:noFill/>
          <a:ln w="19050">
            <a:solidFill>
              <a:srgbClr val="AB9D8C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2606040" y="1280160"/>
            <a:ext cx="1920240" cy="2606040"/>
          </a:xfrm>
          <a:prstGeom prst="roundRect">
            <a:avLst>
              <a:gd name="adj" fmla="val 4286"/>
            </a:avLst>
          </a:prstGeom>
          <a:solidFill>
            <a:srgbClr val="F1E0C9"/>
          </a:solidFill>
          <a:ln w="19050">
            <a:solidFill>
              <a:srgbClr val="9A5B2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743200" y="1408176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7A47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2주차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2752344" y="1975104"/>
            <a:ext cx="54864" cy="54864"/>
          </a:xfrm>
          <a:prstGeom prst="ellipse">
            <a:avLst/>
          </a:prstGeom>
          <a:solidFill>
            <a:srgbClr val="9A5B28"/>
          </a:solidFill>
          <a:ln/>
        </p:spPr>
      </p:sp>
      <p:sp>
        <p:nvSpPr>
          <p:cNvPr id="21" name="Text 19"/>
          <p:cNvSpPr/>
          <p:nvPr/>
        </p:nvSpPr>
        <p:spPr>
          <a:xfrm>
            <a:off x="2880360" y="1810512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70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Process S/C(수면압·일주기) 구현</a:t>
            </a:r>
            <a:endParaRPr lang="en-US" sz="870" dirty="0"/>
          </a:p>
        </p:txBody>
      </p:sp>
      <p:sp>
        <p:nvSpPr>
          <p:cNvPr id="22" name="Shape 20"/>
          <p:cNvSpPr/>
          <p:nvPr/>
        </p:nvSpPr>
        <p:spPr>
          <a:xfrm>
            <a:off x="2752344" y="2359152"/>
            <a:ext cx="54864" cy="54864"/>
          </a:xfrm>
          <a:prstGeom prst="ellipse">
            <a:avLst/>
          </a:prstGeom>
          <a:solidFill>
            <a:srgbClr val="9A5B28"/>
          </a:solidFill>
          <a:ln/>
        </p:spPr>
      </p:sp>
      <p:sp>
        <p:nvSpPr>
          <p:cNvPr id="23" name="Text 21"/>
          <p:cNvSpPr/>
          <p:nvPr/>
        </p:nvSpPr>
        <p:spPr>
          <a:xfrm>
            <a:off x="2880360" y="2194560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70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카페인 PK/PD 근사 모델 구현</a:t>
            </a:r>
            <a:endParaRPr lang="en-US" sz="870" dirty="0"/>
          </a:p>
        </p:txBody>
      </p:sp>
      <p:sp>
        <p:nvSpPr>
          <p:cNvPr id="24" name="Shape 22"/>
          <p:cNvSpPr/>
          <p:nvPr/>
        </p:nvSpPr>
        <p:spPr>
          <a:xfrm>
            <a:off x="2752344" y="2743200"/>
            <a:ext cx="54864" cy="54864"/>
          </a:xfrm>
          <a:prstGeom prst="ellipse">
            <a:avLst/>
          </a:prstGeom>
          <a:solidFill>
            <a:srgbClr val="9A5B28"/>
          </a:solidFill>
          <a:ln/>
        </p:spPr>
      </p:sp>
      <p:sp>
        <p:nvSpPr>
          <p:cNvPr id="25" name="Text 23"/>
          <p:cNvSpPr/>
          <p:nvPr/>
        </p:nvSpPr>
        <p:spPr>
          <a:xfrm>
            <a:off x="2880360" y="2578608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70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안전 섭취 한도 로직</a:t>
            </a:r>
            <a:endParaRPr lang="en-US" sz="870" dirty="0"/>
          </a:p>
        </p:txBody>
      </p:sp>
      <p:sp>
        <p:nvSpPr>
          <p:cNvPr id="26" name="Shape 24"/>
          <p:cNvSpPr/>
          <p:nvPr/>
        </p:nvSpPr>
        <p:spPr>
          <a:xfrm>
            <a:off x="2752344" y="3127248"/>
            <a:ext cx="54864" cy="54864"/>
          </a:xfrm>
          <a:prstGeom prst="ellipse">
            <a:avLst/>
          </a:prstGeom>
          <a:solidFill>
            <a:srgbClr val="9A5B28"/>
          </a:solidFill>
          <a:ln/>
        </p:spPr>
      </p:sp>
      <p:sp>
        <p:nvSpPr>
          <p:cNvPr id="27" name="Text 25"/>
          <p:cNvSpPr/>
          <p:nvPr/>
        </p:nvSpPr>
        <p:spPr>
          <a:xfrm>
            <a:off x="2880360" y="2962656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70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목표 각성 시각 역산(그리드 탐색)</a:t>
            </a:r>
            <a:endParaRPr lang="en-US" sz="870" dirty="0"/>
          </a:p>
        </p:txBody>
      </p:sp>
      <p:sp>
        <p:nvSpPr>
          <p:cNvPr id="28" name="Shape 26"/>
          <p:cNvSpPr/>
          <p:nvPr/>
        </p:nvSpPr>
        <p:spPr>
          <a:xfrm>
            <a:off x="2743200" y="3502152"/>
            <a:ext cx="1645920" cy="274320"/>
          </a:xfrm>
          <a:prstGeom prst="roundRect">
            <a:avLst>
              <a:gd name="adj" fmla="val 66667"/>
            </a:avLst>
          </a:prstGeom>
          <a:solidFill>
            <a:srgbClr val="9A5B28"/>
          </a:solidFill>
          <a:ln/>
        </p:spPr>
      </p:sp>
      <p:sp>
        <p:nvSpPr>
          <p:cNvPr id="29" name="Text 27"/>
          <p:cNvSpPr/>
          <p:nvPr/>
        </p:nvSpPr>
        <p:spPr>
          <a:xfrm>
            <a:off x="2743200" y="350215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진행 중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526280" y="2583180"/>
            <a:ext cx="228600" cy="0"/>
          </a:xfrm>
          <a:prstGeom prst="line">
            <a:avLst/>
          </a:prstGeom>
          <a:noFill/>
          <a:ln w="19050">
            <a:solidFill>
              <a:srgbClr val="AB9D8C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4754880" y="1280160"/>
            <a:ext cx="1920240" cy="2606040"/>
          </a:xfrm>
          <a:prstGeom prst="roundRect">
            <a:avLst>
              <a:gd name="adj" fmla="val 4286"/>
            </a:avLst>
          </a:prstGeom>
          <a:solidFill>
            <a:srgbClr val="F6F1E9"/>
          </a:solidFill>
          <a:ln w="12700">
            <a:solidFill>
              <a:srgbClr val="ECE3D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92040" y="1408176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786A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3주차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4901184" y="1975104"/>
            <a:ext cx="54864" cy="54864"/>
          </a:xfrm>
          <a:prstGeom prst="ellipse">
            <a:avLst/>
          </a:prstGeom>
          <a:solidFill>
            <a:srgbClr val="AB9D8C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0" y="1810512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70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다중 시험 통합 최적화</a:t>
            </a:r>
            <a:endParaRPr lang="en-US" sz="870" dirty="0"/>
          </a:p>
        </p:txBody>
      </p:sp>
      <p:sp>
        <p:nvSpPr>
          <p:cNvPr id="35" name="Shape 33"/>
          <p:cNvSpPr/>
          <p:nvPr/>
        </p:nvSpPr>
        <p:spPr>
          <a:xfrm>
            <a:off x="4901184" y="2359152"/>
            <a:ext cx="54864" cy="54864"/>
          </a:xfrm>
          <a:prstGeom prst="ellipse">
            <a:avLst/>
          </a:prstGeom>
          <a:solidFill>
            <a:srgbClr val="AB9D8C"/>
          </a:solidFill>
          <a:ln/>
        </p:spPr>
      </p:sp>
      <p:sp>
        <p:nvSpPr>
          <p:cNvPr id="36" name="Text 34"/>
          <p:cNvSpPr/>
          <p:nvPr/>
        </p:nvSpPr>
        <p:spPr>
          <a:xfrm>
            <a:off x="5029200" y="2194560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70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Supabase 연동</a:t>
            </a:r>
            <a:endParaRPr lang="en-US" sz="870" dirty="0"/>
          </a:p>
        </p:txBody>
      </p:sp>
      <p:sp>
        <p:nvSpPr>
          <p:cNvPr id="37" name="Shape 35"/>
          <p:cNvSpPr/>
          <p:nvPr/>
        </p:nvSpPr>
        <p:spPr>
          <a:xfrm>
            <a:off x="4901184" y="2743200"/>
            <a:ext cx="54864" cy="54864"/>
          </a:xfrm>
          <a:prstGeom prst="ellipse">
            <a:avLst/>
          </a:prstGeom>
          <a:solidFill>
            <a:srgbClr val="AB9D8C"/>
          </a:solidFill>
          <a:ln/>
        </p:spPr>
      </p:sp>
      <p:sp>
        <p:nvSpPr>
          <p:cNvPr id="38" name="Text 36"/>
          <p:cNvSpPr/>
          <p:nvPr/>
        </p:nvSpPr>
        <p:spPr>
          <a:xfrm>
            <a:off x="5029200" y="2578608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70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화면에 계산 기능 실제 연결</a:t>
            </a:r>
            <a:endParaRPr lang="en-US" sz="870" dirty="0"/>
          </a:p>
        </p:txBody>
      </p:sp>
      <p:sp>
        <p:nvSpPr>
          <p:cNvPr id="39" name="Shape 37"/>
          <p:cNvSpPr/>
          <p:nvPr/>
        </p:nvSpPr>
        <p:spPr>
          <a:xfrm>
            <a:off x="4892040" y="3502152"/>
            <a:ext cx="1645920" cy="274320"/>
          </a:xfrm>
          <a:prstGeom prst="roundRect">
            <a:avLst>
              <a:gd name="adj" fmla="val 66667"/>
            </a:avLst>
          </a:prstGeom>
          <a:solidFill>
            <a:srgbClr val="FFFFFF"/>
          </a:solidFill>
          <a:ln w="12700">
            <a:solidFill>
              <a:srgbClr val="ECE3D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92040" y="350215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B9D8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순서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675120" y="2583180"/>
            <a:ext cx="228600" cy="0"/>
          </a:xfrm>
          <a:prstGeom prst="line">
            <a:avLst/>
          </a:prstGeom>
          <a:noFill/>
          <a:ln w="19050">
            <a:solidFill>
              <a:srgbClr val="AB9D8C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6903720" y="1280160"/>
            <a:ext cx="1920240" cy="2606040"/>
          </a:xfrm>
          <a:prstGeom prst="roundRect">
            <a:avLst>
              <a:gd name="adj" fmla="val 4286"/>
            </a:avLst>
          </a:prstGeom>
          <a:solidFill>
            <a:srgbClr val="F6F1E9"/>
          </a:solidFill>
          <a:ln w="12700">
            <a:solidFill>
              <a:srgbClr val="ECE3D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040880" y="1408176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786A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4주차</a:t>
            </a:r>
            <a:endParaRPr lang="en-US" sz="1500" dirty="0"/>
          </a:p>
        </p:txBody>
      </p:sp>
      <p:sp>
        <p:nvSpPr>
          <p:cNvPr id="44" name="Shape 42"/>
          <p:cNvSpPr/>
          <p:nvPr/>
        </p:nvSpPr>
        <p:spPr>
          <a:xfrm>
            <a:off x="7050024" y="1975104"/>
            <a:ext cx="54864" cy="54864"/>
          </a:xfrm>
          <a:prstGeom prst="ellipse">
            <a:avLst/>
          </a:prstGeom>
          <a:solidFill>
            <a:srgbClr val="AB9D8C"/>
          </a:solidFill>
          <a:ln/>
        </p:spPr>
      </p:sp>
      <p:sp>
        <p:nvSpPr>
          <p:cNvPr id="45" name="Text 43"/>
          <p:cNvSpPr/>
          <p:nvPr/>
        </p:nvSpPr>
        <p:spPr>
          <a:xfrm>
            <a:off x="7178040" y="1810512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70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 기능 (여유 시)</a:t>
            </a:r>
            <a:endParaRPr lang="en-US" sz="870" dirty="0"/>
          </a:p>
        </p:txBody>
      </p:sp>
      <p:sp>
        <p:nvSpPr>
          <p:cNvPr id="46" name="Shape 44"/>
          <p:cNvSpPr/>
          <p:nvPr/>
        </p:nvSpPr>
        <p:spPr>
          <a:xfrm>
            <a:off x="7050024" y="2359152"/>
            <a:ext cx="54864" cy="54864"/>
          </a:xfrm>
          <a:prstGeom prst="ellipse">
            <a:avLst/>
          </a:prstGeom>
          <a:solidFill>
            <a:srgbClr val="AB9D8C"/>
          </a:solidFill>
          <a:ln/>
        </p:spPr>
      </p:sp>
      <p:sp>
        <p:nvSpPr>
          <p:cNvPr id="47" name="Text 45"/>
          <p:cNvSpPr/>
          <p:nvPr/>
        </p:nvSpPr>
        <p:spPr>
          <a:xfrm>
            <a:off x="7178040" y="2194560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70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전체 테스트 · 버그 수정</a:t>
            </a:r>
            <a:endParaRPr lang="en-US" sz="870" dirty="0"/>
          </a:p>
        </p:txBody>
      </p:sp>
      <p:sp>
        <p:nvSpPr>
          <p:cNvPr id="48" name="Shape 46"/>
          <p:cNvSpPr/>
          <p:nvPr/>
        </p:nvSpPr>
        <p:spPr>
          <a:xfrm>
            <a:off x="7050024" y="2743200"/>
            <a:ext cx="54864" cy="54864"/>
          </a:xfrm>
          <a:prstGeom prst="ellipse">
            <a:avLst/>
          </a:prstGeom>
          <a:solidFill>
            <a:srgbClr val="AB9D8C"/>
          </a:solidFill>
          <a:ln/>
        </p:spPr>
      </p:sp>
      <p:sp>
        <p:nvSpPr>
          <p:cNvPr id="49" name="Text 47"/>
          <p:cNvSpPr/>
          <p:nvPr/>
        </p:nvSpPr>
        <p:spPr>
          <a:xfrm>
            <a:off x="7178040" y="2578608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70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발표 자료 · 데모 준비</a:t>
            </a:r>
            <a:endParaRPr lang="en-US" sz="870" dirty="0"/>
          </a:p>
        </p:txBody>
      </p:sp>
      <p:sp>
        <p:nvSpPr>
          <p:cNvPr id="50" name="Shape 48"/>
          <p:cNvSpPr/>
          <p:nvPr/>
        </p:nvSpPr>
        <p:spPr>
          <a:xfrm>
            <a:off x="7040880" y="3502152"/>
            <a:ext cx="1645920" cy="274320"/>
          </a:xfrm>
          <a:prstGeom prst="roundRect">
            <a:avLst>
              <a:gd name="adj" fmla="val 66667"/>
            </a:avLst>
          </a:prstGeom>
          <a:solidFill>
            <a:srgbClr val="FFFFFF"/>
          </a:solidFill>
          <a:ln w="12700">
            <a:solidFill>
              <a:srgbClr val="ECE3D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040880" y="350215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B9D8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예정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457200" y="405079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86A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지금 여기: 2주차 — 화면 없이도 계산 로직이 순수 함수로 끝까지 완성된 상태를 목표로 함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9A5B2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2주차 · 진행 상황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2주차 목표 · 진행 상황 (07/13 ~ 07/16)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1060704"/>
            <a:ext cx="457200" cy="41148"/>
          </a:xfrm>
          <a:prstGeom prst="rect">
            <a:avLst/>
          </a:prstGeom>
          <a:solidFill>
            <a:srgbClr val="9A5B28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23444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F1E0C9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A47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목표: 화면 없이도 "입력 → 시험 시작 시각에 각성도가 최고가 되는 스케줄"까지 순수 함수로 계산되게 만들기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19202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완료 (2주차 범위)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02920" y="2267712"/>
            <a:ext cx="237744" cy="237744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525" y="2309317"/>
            <a:ext cx="154534" cy="15453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22960" y="2249424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70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Express 서버 스캐폴딩</a:t>
            </a:r>
            <a:endParaRPr lang="en-US" sz="970" dirty="0"/>
          </a:p>
        </p:txBody>
      </p:sp>
      <p:sp>
        <p:nvSpPr>
          <p:cNvPr id="11" name="Shape 8"/>
          <p:cNvSpPr/>
          <p:nvPr/>
        </p:nvSpPr>
        <p:spPr>
          <a:xfrm>
            <a:off x="502920" y="2670048"/>
            <a:ext cx="237744" cy="237744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525" y="2711653"/>
            <a:ext cx="154534" cy="15453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822960" y="26517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70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Process S(수면압) · Process C(일주기리듬)</a:t>
            </a:r>
            <a:endParaRPr lang="en-US" sz="970" dirty="0"/>
          </a:p>
        </p:txBody>
      </p:sp>
      <p:sp>
        <p:nvSpPr>
          <p:cNvPr id="14" name="Shape 10"/>
          <p:cNvSpPr/>
          <p:nvPr/>
        </p:nvSpPr>
        <p:spPr>
          <a:xfrm>
            <a:off x="502920" y="3072384"/>
            <a:ext cx="237744" cy="237744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525" y="3113989"/>
            <a:ext cx="154534" cy="15453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22960" y="3054096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70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수면관성 · 오후슬럼프 보정</a:t>
            </a:r>
            <a:endParaRPr lang="en-US" sz="970" dirty="0"/>
          </a:p>
        </p:txBody>
      </p:sp>
      <p:sp>
        <p:nvSpPr>
          <p:cNvPr id="17" name="Shape 12"/>
          <p:cNvSpPr/>
          <p:nvPr/>
        </p:nvSpPr>
        <p:spPr>
          <a:xfrm>
            <a:off x="502920" y="3474720"/>
            <a:ext cx="237744" cy="237744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525" y="3516325"/>
            <a:ext cx="154534" cy="154534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822960" y="345643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70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카페인 근사 모델 (PK + PD + 결합)</a:t>
            </a:r>
            <a:endParaRPr lang="en-US" sz="970" dirty="0"/>
          </a:p>
        </p:txBody>
      </p:sp>
      <p:sp>
        <p:nvSpPr>
          <p:cNvPr id="20" name="Shape 14"/>
          <p:cNvSpPr/>
          <p:nvPr/>
        </p:nvSpPr>
        <p:spPr>
          <a:xfrm>
            <a:off x="502920" y="3877056"/>
            <a:ext cx="237744" cy="237744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4525" y="3918661"/>
            <a:ext cx="154534" cy="154534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822960" y="385876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70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안전 섭취 한도 로직</a:t>
            </a:r>
            <a:endParaRPr lang="en-US" sz="970" dirty="0"/>
          </a:p>
        </p:txBody>
      </p:sp>
      <p:sp>
        <p:nvSpPr>
          <p:cNvPr id="23" name="Shape 16"/>
          <p:cNvSpPr/>
          <p:nvPr/>
        </p:nvSpPr>
        <p:spPr>
          <a:xfrm>
            <a:off x="502920" y="4279392"/>
            <a:ext cx="237744" cy="237744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4525" y="4320997"/>
            <a:ext cx="154534" cy="154534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822960" y="4261104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70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목표 각성 시각 역산 (시험 시작 시각 그대로 + 후보 그리드 탐색)</a:t>
            </a:r>
            <a:endParaRPr lang="en-US" sz="970" dirty="0"/>
          </a:p>
        </p:txBody>
      </p:sp>
      <p:sp>
        <p:nvSpPr>
          <p:cNvPr id="26" name="Text 18"/>
          <p:cNvSpPr/>
          <p:nvPr/>
        </p:nvSpPr>
        <p:spPr>
          <a:xfrm>
            <a:off x="4663440" y="19202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786A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3주차로 이동</a:t>
            </a:r>
            <a:endParaRPr lang="en-US" sz="1150" dirty="0"/>
          </a:p>
        </p:txBody>
      </p:sp>
      <p:sp>
        <p:nvSpPr>
          <p:cNvPr id="27" name="Shape 19"/>
          <p:cNvSpPr/>
          <p:nvPr/>
        </p:nvSpPr>
        <p:spPr>
          <a:xfrm>
            <a:off x="4663440" y="2249424"/>
            <a:ext cx="4023360" cy="658368"/>
          </a:xfrm>
          <a:prstGeom prst="roundRect">
            <a:avLst>
              <a:gd name="adj" fmla="val 11111"/>
            </a:avLst>
          </a:prstGeom>
          <a:solidFill>
            <a:srgbClr val="F6F1E9"/>
          </a:solidFill>
          <a:ln/>
        </p:spPr>
      </p:sp>
      <p:sp>
        <p:nvSpPr>
          <p:cNvPr id="28" name="Shape 20"/>
          <p:cNvSpPr/>
          <p:nvPr/>
        </p:nvSpPr>
        <p:spPr>
          <a:xfrm>
            <a:off x="4791456" y="2432304"/>
            <a:ext cx="292608" cy="29260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49978" y="2490826"/>
            <a:ext cx="175565" cy="175565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5193792" y="2322576"/>
            <a:ext cx="3383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70" dirty="0">
                <a:solidFill>
                  <a:srgbClr val="786A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다중 시험 통합 최적화</a:t>
            </a:r>
            <a:endParaRPr lang="en-US" sz="97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70" dirty="0">
                <a:solidFill>
                  <a:srgbClr val="786A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(그리드 결정변수 정의 — #10)</a:t>
            </a:r>
            <a:endParaRPr lang="en-US" sz="970" dirty="0"/>
          </a:p>
        </p:txBody>
      </p:sp>
      <p:sp>
        <p:nvSpPr>
          <p:cNvPr id="31" name="Shape 22"/>
          <p:cNvSpPr/>
          <p:nvPr/>
        </p:nvSpPr>
        <p:spPr>
          <a:xfrm>
            <a:off x="4663440" y="3026664"/>
            <a:ext cx="4023360" cy="658368"/>
          </a:xfrm>
          <a:prstGeom prst="roundRect">
            <a:avLst>
              <a:gd name="adj" fmla="val 11111"/>
            </a:avLst>
          </a:prstGeom>
          <a:solidFill>
            <a:srgbClr val="F6F1E9"/>
          </a:solidFill>
          <a:ln/>
        </p:spPr>
      </p:sp>
      <p:sp>
        <p:nvSpPr>
          <p:cNvPr id="32" name="Shape 23"/>
          <p:cNvSpPr/>
          <p:nvPr/>
        </p:nvSpPr>
        <p:spPr>
          <a:xfrm>
            <a:off x="4791456" y="3209544"/>
            <a:ext cx="292608" cy="29260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49978" y="3268066"/>
            <a:ext cx="175565" cy="175565"/>
          </a:xfrm>
          <a:prstGeom prst="rect">
            <a:avLst/>
          </a:prstGeom>
        </p:spPr>
      </p:pic>
      <p:sp>
        <p:nvSpPr>
          <p:cNvPr id="34" name="Text 24"/>
          <p:cNvSpPr/>
          <p:nvPr/>
        </p:nvSpPr>
        <p:spPr>
          <a:xfrm>
            <a:off x="5193792" y="3099816"/>
            <a:ext cx="3383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70" dirty="0">
                <a:solidFill>
                  <a:srgbClr val="786A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Supabase 프로젝트 생성 및 마이그레이션</a:t>
            </a:r>
            <a:endParaRPr lang="en-US" sz="97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70" dirty="0">
                <a:solidFill>
                  <a:srgbClr val="786A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(#14)</a:t>
            </a:r>
            <a:endParaRPr lang="en-US" sz="97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9A5B2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기술 스택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서비스 기술 지도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1060704"/>
            <a:ext cx="457200" cy="41148"/>
          </a:xfrm>
          <a:prstGeom prst="rect">
            <a:avLst/>
          </a:prstGeom>
          <a:solidFill>
            <a:srgbClr val="9A5B28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234440"/>
            <a:ext cx="2624328" cy="1508760"/>
          </a:xfrm>
          <a:prstGeom prst="roundRect">
            <a:avLst>
              <a:gd name="adj" fmla="val 6061"/>
            </a:avLst>
          </a:prstGeom>
          <a:solidFill>
            <a:srgbClr val="F6F1E9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137160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2950" y="1474470"/>
            <a:ext cx="251460" cy="2514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88720" y="1399032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FE — React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621792" y="1947672"/>
            <a:ext cx="22951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786A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입력 폼·캘린더 UI, 각성도 그래프·타임라인 시각화.</a:t>
            </a:r>
            <a:endParaRPr lang="en-US" sz="8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786A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5개 화면 모두 구현됐지만 아직 mock 데이터로 동작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3264408" y="1234440"/>
            <a:ext cx="2624328" cy="1508760"/>
          </a:xfrm>
          <a:prstGeom prst="roundRect">
            <a:avLst>
              <a:gd name="adj" fmla="val 6061"/>
            </a:avLst>
          </a:prstGeom>
          <a:solidFill>
            <a:srgbClr val="F6F1E9"/>
          </a:solidFill>
          <a:ln/>
        </p:spPr>
      </p:sp>
      <p:sp>
        <p:nvSpPr>
          <p:cNvPr id="11" name="Shape 8"/>
          <p:cNvSpPr/>
          <p:nvPr/>
        </p:nvSpPr>
        <p:spPr>
          <a:xfrm>
            <a:off x="3447288" y="137160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0158" y="1474470"/>
            <a:ext cx="251460" cy="25146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995928" y="1399032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BE — Express</a:t>
            </a:r>
            <a:endParaRPr lang="en-US" sz="1150" dirty="0"/>
          </a:p>
        </p:txBody>
      </p:sp>
      <p:sp>
        <p:nvSpPr>
          <p:cNvPr id="14" name="Text 10"/>
          <p:cNvSpPr/>
          <p:nvPr/>
        </p:nvSpPr>
        <p:spPr>
          <a:xfrm>
            <a:off x="3429000" y="1947672"/>
            <a:ext cx="22951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786A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2주차에 계산 엔진(Two-Process+카페인) 순수 함수를</a:t>
            </a:r>
            <a:endParaRPr lang="en-US" sz="8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786A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완성. 아직 화면과 연결하는 API는 3주차 작업</a:t>
            </a:r>
            <a:endParaRPr lang="en-US" sz="850" dirty="0"/>
          </a:p>
        </p:txBody>
      </p:sp>
      <p:sp>
        <p:nvSpPr>
          <p:cNvPr id="15" name="Shape 11"/>
          <p:cNvSpPr/>
          <p:nvPr/>
        </p:nvSpPr>
        <p:spPr>
          <a:xfrm>
            <a:off x="6071616" y="1234440"/>
            <a:ext cx="2624328" cy="1508760"/>
          </a:xfrm>
          <a:prstGeom prst="roundRect">
            <a:avLst>
              <a:gd name="adj" fmla="val 6061"/>
            </a:avLst>
          </a:prstGeom>
          <a:solidFill>
            <a:srgbClr val="F6F1E9"/>
          </a:solidFill>
          <a:ln/>
        </p:spPr>
      </p:sp>
      <p:sp>
        <p:nvSpPr>
          <p:cNvPr id="16" name="Shape 12"/>
          <p:cNvSpPr/>
          <p:nvPr/>
        </p:nvSpPr>
        <p:spPr>
          <a:xfrm>
            <a:off x="6254496" y="137160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7366" y="1474470"/>
            <a:ext cx="251460" cy="25146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803136" y="1399032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DB — Supabase (Postgres)</a:t>
            </a:r>
            <a:endParaRPr lang="en-US" sz="1150" dirty="0"/>
          </a:p>
        </p:txBody>
      </p:sp>
      <p:sp>
        <p:nvSpPr>
          <p:cNvPr id="19" name="Text 14"/>
          <p:cNvSpPr/>
          <p:nvPr/>
        </p:nvSpPr>
        <p:spPr>
          <a:xfrm>
            <a:off x="6236208" y="1947672"/>
            <a:ext cx="22951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786A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카페인 함량표·반감기·안전 섭취 한도 등</a:t>
            </a:r>
            <a:endParaRPr lang="en-US" sz="8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786A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참고용 정적 데이터 저장 — 테이블 설계만 완료</a:t>
            </a:r>
            <a:endParaRPr lang="en-US" sz="850" dirty="0"/>
          </a:p>
        </p:txBody>
      </p:sp>
      <p:sp>
        <p:nvSpPr>
          <p:cNvPr id="20" name="Text 15"/>
          <p:cNvSpPr/>
          <p:nvPr/>
        </p:nvSpPr>
        <p:spPr>
          <a:xfrm>
            <a:off x="457200" y="299923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계산 엔진 — server/src/calc/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457200" y="3346704"/>
            <a:ext cx="8229600" cy="1540764"/>
          </a:xfrm>
          <a:prstGeom prst="roundRect">
            <a:avLst>
              <a:gd name="adj" fmla="val 5341"/>
            </a:avLst>
          </a:prstGeom>
          <a:solidFill>
            <a:srgbClr val="F1E0C9"/>
          </a:solidFill>
          <a:ln/>
        </p:spPr>
      </p:sp>
      <p:sp>
        <p:nvSpPr>
          <p:cNvPr id="22" name="Text 17"/>
          <p:cNvSpPr/>
          <p:nvPr/>
        </p:nvSpPr>
        <p:spPr>
          <a:xfrm>
            <a:off x="685800" y="3346704"/>
            <a:ext cx="7772400" cy="1540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80" dirty="0">
                <a:solidFill>
                  <a:srgbClr val="7A47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processS · processC · sleepInertia · lunchDip · caffeineConcentration · caffeineEffect · alertness · dailyCaffeineLimit · candidateSleepSegments · singleExamScheduleSearch  (총 11개 순수 함수 파일)</a:t>
            </a:r>
            <a:endParaRPr lang="en-US" sz="9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9A5B2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프론트엔드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React 프로토타입 소개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1060704"/>
            <a:ext cx="457200" cy="41148"/>
          </a:xfrm>
          <a:prstGeom prst="rect">
            <a:avLst/>
          </a:prstGeom>
          <a:solidFill>
            <a:srgbClr val="9A5B28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234440"/>
            <a:ext cx="7315200" cy="1508760"/>
          </a:xfrm>
          <a:prstGeom prst="roundRect">
            <a:avLst>
              <a:gd name="adj" fmla="val 7273"/>
            </a:avLst>
          </a:prstGeom>
          <a:solidFill>
            <a:srgbClr val="F1E0C9"/>
          </a:solidFill>
          <a:ln/>
        </p:spPr>
      </p:sp>
      <p:sp>
        <p:nvSpPr>
          <p:cNvPr id="6" name="Shape 4"/>
          <p:cNvSpPr/>
          <p:nvPr/>
        </p:nvSpPr>
        <p:spPr>
          <a:xfrm>
            <a:off x="1371600" y="137160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31620" y="1531620"/>
            <a:ext cx="320040" cy="3200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148840" y="1435608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7A47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홈 → 정보 입력 → 처리 중 → 결과 → 스케줄 조정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2148840" y="1819656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7A47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5개 화면이 실제로 라우팅까지 연결된 동작하는 React 앱 (client/)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2148840" y="2258568"/>
            <a:ext cx="80833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Text 8"/>
          <p:cNvSpPr/>
          <p:nvPr/>
        </p:nvSpPr>
        <p:spPr>
          <a:xfrm>
            <a:off x="2148840" y="2258568"/>
            <a:ext cx="80833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A5B2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React 19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066898" y="2258568"/>
            <a:ext cx="969264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3" name="Text 10"/>
          <p:cNvSpPr/>
          <p:nvPr/>
        </p:nvSpPr>
        <p:spPr>
          <a:xfrm>
            <a:off x="3066898" y="2258568"/>
            <a:ext cx="9692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A5B2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TypeScript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4145890" y="2258568"/>
            <a:ext cx="486461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5" name="Text 12"/>
          <p:cNvSpPr/>
          <p:nvPr/>
        </p:nvSpPr>
        <p:spPr>
          <a:xfrm>
            <a:off x="4145890" y="2258568"/>
            <a:ext cx="48646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A5B2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Vite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4742078" y="2258568"/>
            <a:ext cx="1452067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7" name="Text 14"/>
          <p:cNvSpPr/>
          <p:nvPr/>
        </p:nvSpPr>
        <p:spPr>
          <a:xfrm>
            <a:off x="4742078" y="2258568"/>
            <a:ext cx="145206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A5B2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react-router-dom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6303874" y="2258568"/>
            <a:ext cx="1049731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9" name="Text 16"/>
          <p:cNvSpPr/>
          <p:nvPr/>
        </p:nvSpPr>
        <p:spPr>
          <a:xfrm>
            <a:off x="6303874" y="2258568"/>
            <a:ext cx="104973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A5B2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CSS Modules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457200" y="297180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F6F1E9"/>
          </a:solidFill>
          <a:ln/>
        </p:spPr>
      </p:sp>
      <p:sp>
        <p:nvSpPr>
          <p:cNvPr id="21" name="Text 18"/>
          <p:cNvSpPr/>
          <p:nvPr/>
        </p:nvSpPr>
        <p:spPr>
          <a:xfrm>
            <a:off x="685800" y="312724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786A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로컬 개발 서버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685800" y="3364992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A5B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http://localhost:5173/   (npm run dev --prefix client)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685800" y="363931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70" b="1" dirty="0">
                <a:solidFill>
                  <a:srgbClr val="786A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아직 배포 전: </a:t>
            </a:r>
            <a:pPr algn="l" indent="0" marL="0">
              <a:buNone/>
            </a:pPr>
            <a:r>
              <a:rPr lang="en-US" sz="870" dirty="0">
                <a:solidFill>
                  <a:srgbClr val="786A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GitHub Pages(dodeho.github.io/hub/)엔 예전 정적 HTML 목업이 그대로 떠 있다 — React 앱 배포는 화면·계산 엔진이 연결되는 3주차에 맞출 예정</a:t>
            </a:r>
            <a:endParaRPr lang="en-US" sz="87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9A5B2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계산 엔진 · 개념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어떻게 계산할까 — 모델 개념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1060704"/>
            <a:ext cx="457200" cy="41148"/>
          </a:xfrm>
          <a:prstGeom prst="rect">
            <a:avLst/>
          </a:prstGeom>
          <a:solidFill>
            <a:srgbClr val="9A5B28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417320"/>
            <a:ext cx="2624328" cy="1874520"/>
          </a:xfrm>
          <a:prstGeom prst="roundRect">
            <a:avLst>
              <a:gd name="adj" fmla="val 4878"/>
            </a:avLst>
          </a:prstGeom>
          <a:solidFill>
            <a:srgbClr val="F6F1E9"/>
          </a:solidFill>
          <a:ln/>
        </p:spPr>
      </p:sp>
      <p:sp>
        <p:nvSpPr>
          <p:cNvPr id="6" name="Shape 4"/>
          <p:cNvSpPr/>
          <p:nvPr/>
        </p:nvSpPr>
        <p:spPr>
          <a:xfrm>
            <a:off x="1495044" y="160020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18488" y="1723644"/>
            <a:ext cx="301752" cy="30175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94360" y="2240280"/>
            <a:ext cx="2350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졸음은 쌓인다 (Process S)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640080" y="2679192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20" dirty="0">
                <a:solidFill>
                  <a:srgbClr val="786A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깨어있는 시간이 길수록 졸음(수면압)이 쌓이고, 자는 동안 풀린다</a:t>
            </a:r>
            <a:endParaRPr lang="en-US" sz="920" dirty="0"/>
          </a:p>
        </p:txBody>
      </p:sp>
      <p:sp>
        <p:nvSpPr>
          <p:cNvPr id="10" name="Shape 7"/>
          <p:cNvSpPr/>
          <p:nvPr/>
        </p:nvSpPr>
        <p:spPr>
          <a:xfrm>
            <a:off x="3264408" y="1417320"/>
            <a:ext cx="2624328" cy="1874520"/>
          </a:xfrm>
          <a:prstGeom prst="roundRect">
            <a:avLst>
              <a:gd name="adj" fmla="val 4878"/>
            </a:avLst>
          </a:prstGeom>
          <a:solidFill>
            <a:srgbClr val="F6F1E9"/>
          </a:solidFill>
          <a:ln/>
        </p:spPr>
      </p:sp>
      <p:sp>
        <p:nvSpPr>
          <p:cNvPr id="11" name="Shape 8"/>
          <p:cNvSpPr/>
          <p:nvPr/>
        </p:nvSpPr>
        <p:spPr>
          <a:xfrm>
            <a:off x="4302252" y="160020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5696" y="1723644"/>
            <a:ext cx="301752" cy="30175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401568" y="2240280"/>
            <a:ext cx="2350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생체시계가 있다 (Process C)</a:t>
            </a:r>
            <a:endParaRPr lang="en-US" sz="1150" dirty="0"/>
          </a:p>
        </p:txBody>
      </p:sp>
      <p:sp>
        <p:nvSpPr>
          <p:cNvPr id="14" name="Text 10"/>
          <p:cNvSpPr/>
          <p:nvPr/>
        </p:nvSpPr>
        <p:spPr>
          <a:xfrm>
            <a:off x="3447288" y="2679192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20" dirty="0">
                <a:solidFill>
                  <a:srgbClr val="786A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하루 주기로 오르내리는 원래 정해진 각성 리듬이 따로 있다</a:t>
            </a:r>
            <a:endParaRPr lang="en-US" sz="920" dirty="0"/>
          </a:p>
        </p:txBody>
      </p:sp>
      <p:sp>
        <p:nvSpPr>
          <p:cNvPr id="15" name="Shape 11"/>
          <p:cNvSpPr/>
          <p:nvPr/>
        </p:nvSpPr>
        <p:spPr>
          <a:xfrm>
            <a:off x="6071616" y="1417320"/>
            <a:ext cx="2624328" cy="1874520"/>
          </a:xfrm>
          <a:prstGeom prst="roundRect">
            <a:avLst>
              <a:gd name="adj" fmla="val 4878"/>
            </a:avLst>
          </a:prstGeom>
          <a:solidFill>
            <a:srgbClr val="F6F1E9"/>
          </a:solidFill>
          <a:ln/>
        </p:spPr>
      </p:sp>
      <p:sp>
        <p:nvSpPr>
          <p:cNvPr id="16" name="Shape 12"/>
          <p:cNvSpPr/>
          <p:nvPr/>
        </p:nvSpPr>
        <p:spPr>
          <a:xfrm>
            <a:off x="7109460" y="160020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2904" y="1723644"/>
            <a:ext cx="301752" cy="30175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208776" y="2240280"/>
            <a:ext cx="2350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카페인이 일시적으로 억제한다</a:t>
            </a:r>
            <a:endParaRPr lang="en-US" sz="1150" dirty="0"/>
          </a:p>
        </p:txBody>
      </p:sp>
      <p:sp>
        <p:nvSpPr>
          <p:cNvPr id="19" name="Text 14"/>
          <p:cNvSpPr/>
          <p:nvPr/>
        </p:nvSpPr>
        <p:spPr>
          <a:xfrm>
            <a:off x="6254496" y="2679192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20" dirty="0">
                <a:solidFill>
                  <a:srgbClr val="786A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카페인이 졸음 신호를 일시적으로 눌러줘서, 원하는 시각에 각성도를 끌어올릴 수 있다</a:t>
            </a:r>
            <a:endParaRPr lang="en-US" sz="920" dirty="0"/>
          </a:p>
        </p:txBody>
      </p:sp>
      <p:sp>
        <p:nvSpPr>
          <p:cNvPr id="20" name="Text 15"/>
          <p:cNvSpPr/>
          <p:nvPr/>
        </p:nvSpPr>
        <p:spPr>
          <a:xfrm>
            <a:off x="457200" y="3474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2주차에 세 개를 전부 순수 함수로 구현하고, 결합·검증까지 마쳤다</a:t>
            </a:r>
            <a:endParaRPr lang="en-US" sz="1150" dirty="0"/>
          </a:p>
        </p:txBody>
      </p:sp>
      <p:sp>
        <p:nvSpPr>
          <p:cNvPr id="21" name="Shape 16"/>
          <p:cNvSpPr/>
          <p:nvPr/>
        </p:nvSpPr>
        <p:spPr>
          <a:xfrm>
            <a:off x="457200" y="3803904"/>
            <a:ext cx="8229600" cy="640080"/>
          </a:xfrm>
          <a:prstGeom prst="roundRect">
            <a:avLst>
              <a:gd name="adj" fmla="val 12857"/>
            </a:avLst>
          </a:prstGeom>
          <a:solidFill>
            <a:srgbClr val="F1E0C9"/>
          </a:solidFill>
          <a:ln/>
        </p:spPr>
      </p:sp>
      <p:sp>
        <p:nvSpPr>
          <p:cNvPr id="22" name="Text 17"/>
          <p:cNvSpPr/>
          <p:nvPr/>
        </p:nvSpPr>
        <p:spPr>
          <a:xfrm>
            <a:off x="685800" y="3803904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7A47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결합 공식: </a:t>
            </a:r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7A47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P(t) = P0(t) × gPD(t)  — 수면압+일주기리듬으로 만든 기본 각성도(P0)에, 카페인 보정 계수(gPD)를 곱해 최종 각성도를 구한다</a:t>
            </a:r>
            <a:endParaRPr lang="en-US" sz="1050" dirty="0"/>
          </a:p>
        </p:txBody>
      </p:sp>
      <p:sp>
        <p:nvSpPr>
          <p:cNvPr id="23" name="Text 18"/>
          <p:cNvSpPr/>
          <p:nvPr/>
        </p:nvSpPr>
        <p:spPr>
          <a:xfrm>
            <a:off x="457200" y="44988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AB9D8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참고: Two-Process Model(Borbély 1982) + Ramakrishnan et al.(2016) UMP — </a:t>
            </a:r>
            <a:pPr algn="l" indent="0" marL="0">
              <a:buNone/>
            </a:pPr>
            <a:r>
              <a:rPr lang="en-US" sz="850" u="sng" dirty="0">
                <a:solidFill>
                  <a:srgbClr val="AB9D8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https://pmc.ncbi.nlm.nih.gov/articles/PMC5020365/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9A5B2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2주차 · 계산 엔진 (1/8)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Process S — 수면압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1060704"/>
            <a:ext cx="457200" cy="41148"/>
          </a:xfrm>
          <a:prstGeom prst="rect">
            <a:avLst/>
          </a:prstGeom>
          <a:solidFill>
            <a:srgbClr val="9A5B28"/>
          </a:solidFill>
          <a:ln/>
        </p:spPr>
      </p:sp>
      <p:sp>
        <p:nvSpPr>
          <p:cNvPr id="5" name="Shape 3"/>
          <p:cNvSpPr/>
          <p:nvPr/>
        </p:nvSpPr>
        <p:spPr>
          <a:xfrm>
            <a:off x="475488" y="1234440"/>
            <a:ext cx="438912" cy="438912"/>
          </a:xfrm>
          <a:prstGeom prst="ellipse">
            <a:avLst/>
          </a:prstGeom>
          <a:solidFill>
            <a:srgbClr val="F6F1E9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4243" y="1333195"/>
            <a:ext cx="241402" cy="24140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87552" y="1234440"/>
            <a:ext cx="34015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0140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processS.ts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1746504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930" dirty="0">
                <a:solidFill>
                  <a:srgbClr val="7A47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깨어있는 동안: H(t) = μ + (H₀−μ)·e^(−(t−t₀)/χw)</a:t>
            </a:r>
            <a:endParaRPr lang="en-US" sz="93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930" dirty="0">
                <a:solidFill>
                  <a:srgbClr val="7A47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자는 동안:    H(t) = H₀·e^(−(t−t₀)/χs)</a:t>
            </a:r>
            <a:endParaRPr lang="en-US" sz="93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930" dirty="0">
                <a:solidFill>
                  <a:srgbClr val="7A47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χs = 4.2h(방전), χw = 18.2h(충전), μ = 1(상한)</a:t>
            </a:r>
            <a:endParaRPr lang="en-US" sz="930" dirty="0"/>
          </a:p>
        </p:txBody>
      </p:sp>
      <p:sp>
        <p:nvSpPr>
          <p:cNvPr id="9" name="Shape 6"/>
          <p:cNvSpPr/>
          <p:nvPr/>
        </p:nvSpPr>
        <p:spPr>
          <a:xfrm>
            <a:off x="457200" y="2423160"/>
            <a:ext cx="3931920" cy="2464308"/>
          </a:xfrm>
          <a:prstGeom prst="roundRect">
            <a:avLst>
              <a:gd name="adj" fmla="val 2968"/>
            </a:avLst>
          </a:prstGeom>
          <a:solidFill>
            <a:srgbClr val="F6F1E9"/>
          </a:solidFill>
          <a:ln w="15875">
            <a:solidFill>
              <a:srgbClr val="AB9D8C"/>
            </a:solidFill>
            <a:prstDash val="dash"/>
          </a:ln>
        </p:spPr>
      </p:sp>
      <p:sp>
        <p:nvSpPr>
          <p:cNvPr id="10" name="Text 7"/>
          <p:cNvSpPr/>
          <p:nvPr/>
        </p:nvSpPr>
        <p:spPr>
          <a:xfrm>
            <a:off x="457200" y="2423160"/>
            <a:ext cx="3931920" cy="2464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i="1" dirty="0">
                <a:solidFill>
                  <a:srgbClr val="AB9D8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코드 스크린샷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i="1" dirty="0">
                <a:solidFill>
                  <a:srgbClr val="AB9D8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붙여넣기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663440" y="12344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이렇게 작성했나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4663440" y="1618488"/>
            <a:ext cx="4023360" cy="1463040"/>
          </a:xfrm>
          <a:prstGeom prst="roundRect">
            <a:avLst>
              <a:gd name="adj" fmla="val 5625"/>
            </a:avLst>
          </a:prstGeom>
          <a:solidFill>
            <a:srgbClr val="F1E0C9"/>
          </a:solidFill>
          <a:ln/>
        </p:spPr>
      </p:sp>
      <p:sp>
        <p:nvSpPr>
          <p:cNvPr id="13" name="Text 10"/>
          <p:cNvSpPr/>
          <p:nvPr/>
        </p:nvSpPr>
        <p:spPr>
          <a:xfrm>
            <a:off x="4864608" y="1773936"/>
            <a:ext cx="362102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30" dirty="0">
                <a:solidFill>
                  <a:srgbClr val="7A47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계산_모델_리서치.md 1장 수식을 그대로</a:t>
            </a:r>
            <a:endParaRPr lang="en-US" sz="103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030" dirty="0">
                <a:solidFill>
                  <a:srgbClr val="7A47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옮겼다. χs(방전 4.2h)·χw(충전 18.2h)·</a:t>
            </a:r>
            <a:endParaRPr lang="en-US" sz="103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030" dirty="0">
                <a:solidFill>
                  <a:srgbClr val="7A47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μ(상한 1)는 Two-Process Model 표준값</a:t>
            </a:r>
            <a:endParaRPr lang="en-US" sz="103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030" dirty="0">
                <a:solidFill>
                  <a:srgbClr val="7A47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(Borbély 1982, Daan·Beersma·Borbély</a:t>
            </a:r>
            <a:endParaRPr lang="en-US" sz="103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030" dirty="0">
                <a:solidFill>
                  <a:srgbClr val="7A47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1984)을 그대로 썼다 — 이 함수는 임의로</a:t>
            </a:r>
            <a:endParaRPr lang="en-US" sz="103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030" dirty="0">
                <a:solidFill>
                  <a:srgbClr val="7A47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튜닝한 값이 하나도 없는 구간이다.</a:t>
            </a:r>
            <a:endParaRPr lang="en-US" sz="1030" dirty="0"/>
          </a:p>
        </p:txBody>
      </p:sp>
      <p:sp>
        <p:nvSpPr>
          <p:cNvPr id="14" name="Text 11"/>
          <p:cNvSpPr/>
          <p:nvPr/>
        </p:nvSpPr>
        <p:spPr>
          <a:xfrm>
            <a:off x="4663440" y="322783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30" i="1" dirty="0">
                <a:solidFill>
                  <a:srgbClr val="AB9D8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출처: arXiv 1311.1734</a:t>
            </a:r>
            <a:endParaRPr lang="en-US" sz="83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9A5B2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2주차 · 계산 엔진 (2/8)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Process C — 일주기리듬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1060704"/>
            <a:ext cx="457200" cy="41148"/>
          </a:xfrm>
          <a:prstGeom prst="rect">
            <a:avLst/>
          </a:prstGeom>
          <a:solidFill>
            <a:srgbClr val="9A5B28"/>
          </a:solidFill>
          <a:ln/>
        </p:spPr>
      </p:sp>
      <p:sp>
        <p:nvSpPr>
          <p:cNvPr id="5" name="Shape 3"/>
          <p:cNvSpPr/>
          <p:nvPr/>
        </p:nvSpPr>
        <p:spPr>
          <a:xfrm>
            <a:off x="475488" y="1234440"/>
            <a:ext cx="438912" cy="438912"/>
          </a:xfrm>
          <a:prstGeom prst="ellipse">
            <a:avLst/>
          </a:prstGeom>
          <a:solidFill>
            <a:srgbClr val="F6F1E9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4243" y="1333195"/>
            <a:ext cx="241402" cy="24140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87552" y="1234440"/>
            <a:ext cx="34015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0140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processC.ts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1746504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930" dirty="0">
                <a:solidFill>
                  <a:srgbClr val="7A47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C(t) = Σ aₙ·sin(2πn·t/24 + Φ)   (n = 1~5, 5-하모닉)</a:t>
            </a:r>
            <a:endParaRPr lang="en-US" sz="93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930" dirty="0">
                <a:solidFill>
                  <a:srgbClr val="7A47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[0.97, 0.22, 0.07, 0.03, 0.001]</a:t>
            </a:r>
            <a:endParaRPr lang="en-US" sz="930" dirty="0"/>
          </a:p>
        </p:txBody>
      </p:sp>
      <p:sp>
        <p:nvSpPr>
          <p:cNvPr id="9" name="Shape 6"/>
          <p:cNvSpPr/>
          <p:nvPr/>
        </p:nvSpPr>
        <p:spPr>
          <a:xfrm>
            <a:off x="457200" y="2423160"/>
            <a:ext cx="3931920" cy="2464308"/>
          </a:xfrm>
          <a:prstGeom prst="roundRect">
            <a:avLst>
              <a:gd name="adj" fmla="val 2968"/>
            </a:avLst>
          </a:prstGeom>
          <a:solidFill>
            <a:srgbClr val="F6F1E9"/>
          </a:solidFill>
          <a:ln w="15875">
            <a:solidFill>
              <a:srgbClr val="AB9D8C"/>
            </a:solidFill>
            <a:prstDash val="dash"/>
          </a:ln>
        </p:spPr>
      </p:sp>
      <p:sp>
        <p:nvSpPr>
          <p:cNvPr id="10" name="Text 7"/>
          <p:cNvSpPr/>
          <p:nvPr/>
        </p:nvSpPr>
        <p:spPr>
          <a:xfrm>
            <a:off x="457200" y="2423160"/>
            <a:ext cx="3931920" cy="2464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i="1" dirty="0">
                <a:solidFill>
                  <a:srgbClr val="AB9D8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코드 스크린샷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i="1" dirty="0">
                <a:solidFill>
                  <a:srgbClr val="AB9D8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붙여넣기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663440" y="12344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이렇게 작성했나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4663440" y="1618488"/>
            <a:ext cx="4023360" cy="1655064"/>
          </a:xfrm>
          <a:prstGeom prst="roundRect">
            <a:avLst>
              <a:gd name="adj" fmla="val 4972"/>
            </a:avLst>
          </a:prstGeom>
          <a:solidFill>
            <a:srgbClr val="F1E0C9"/>
          </a:solidFill>
          <a:ln/>
        </p:spPr>
      </p:sp>
      <p:sp>
        <p:nvSpPr>
          <p:cNvPr id="13" name="Text 10"/>
          <p:cNvSpPr/>
          <p:nvPr/>
        </p:nvSpPr>
        <p:spPr>
          <a:xfrm>
            <a:off x="4864608" y="1773936"/>
            <a:ext cx="3621024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30" dirty="0">
                <a:solidFill>
                  <a:srgbClr val="7A47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일주기 리듬은 사인파 하나로는 실제</a:t>
            </a:r>
            <a:endParaRPr lang="en-US" sz="103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030" dirty="0">
                <a:solidFill>
                  <a:srgbClr val="7A47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곡선과 잘 안 맞아서, 진폭이 다른 5개</a:t>
            </a:r>
            <a:endParaRPr lang="en-US" sz="103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030" dirty="0">
                <a:solidFill>
                  <a:srgbClr val="7A47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하모닉을 그대로 더하는 표준형을 썼다.</a:t>
            </a:r>
            <a:endParaRPr lang="en-US" sz="103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030" dirty="0">
                <a:solidFill>
                  <a:srgbClr val="7A47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위상(Φ)은 논문에 고정값이 없어서,</a:t>
            </a:r>
            <a:endParaRPr lang="en-US" sz="103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030" dirty="0">
                <a:solidFill>
                  <a:srgbClr val="7A47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최저점이 새벽 4시경에 오도록 5개</a:t>
            </a:r>
            <a:endParaRPr lang="en-US" sz="103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030" dirty="0">
                <a:solidFill>
                  <a:srgbClr val="7A47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하모닉을 다 더한 채로 직접 탐색해서</a:t>
            </a:r>
            <a:endParaRPr lang="en-US" sz="103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030" dirty="0">
                <a:solidFill>
                  <a:srgbClr val="7A47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맞춘 값이다(2026-07-13).</a:t>
            </a:r>
            <a:endParaRPr lang="en-US" sz="103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9A5B2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2주차 · 계산 엔진 (3/8)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수면관성 · 오후슬럼프 보정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1060704"/>
            <a:ext cx="457200" cy="41148"/>
          </a:xfrm>
          <a:prstGeom prst="rect">
            <a:avLst/>
          </a:prstGeom>
          <a:solidFill>
            <a:srgbClr val="9A5B28"/>
          </a:solidFill>
          <a:ln/>
        </p:spPr>
      </p:sp>
      <p:sp>
        <p:nvSpPr>
          <p:cNvPr id="5" name="Shape 3"/>
          <p:cNvSpPr/>
          <p:nvPr/>
        </p:nvSpPr>
        <p:spPr>
          <a:xfrm>
            <a:off x="475488" y="1234440"/>
            <a:ext cx="438912" cy="438912"/>
          </a:xfrm>
          <a:prstGeom prst="ellipse">
            <a:avLst/>
          </a:prstGeom>
          <a:solidFill>
            <a:srgbClr val="F6F1E9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4243" y="1333195"/>
            <a:ext cx="241402" cy="24140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87552" y="1234440"/>
            <a:ext cx="34015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0140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sleepInertia.ts  ·  lunchDip.ts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1746504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930" dirty="0">
                <a:solidFill>
                  <a:srgbClr val="7A47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수면관성:   −0.3·e^(−경과시간/0.67h)   (기상 직후만)</a:t>
            </a:r>
            <a:endParaRPr lang="en-US" sz="93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930" dirty="0">
                <a:solidFill>
                  <a:srgbClr val="7A47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오후슬럼프: −0.15·e^(−(시각−14)²/2)   (매일 14시 중심)</a:t>
            </a:r>
            <a:endParaRPr lang="en-US" sz="930" dirty="0"/>
          </a:p>
        </p:txBody>
      </p:sp>
      <p:sp>
        <p:nvSpPr>
          <p:cNvPr id="9" name="Shape 6"/>
          <p:cNvSpPr/>
          <p:nvPr/>
        </p:nvSpPr>
        <p:spPr>
          <a:xfrm>
            <a:off x="457200" y="2423160"/>
            <a:ext cx="3931920" cy="2464308"/>
          </a:xfrm>
          <a:prstGeom prst="roundRect">
            <a:avLst>
              <a:gd name="adj" fmla="val 2968"/>
            </a:avLst>
          </a:prstGeom>
          <a:solidFill>
            <a:srgbClr val="F6F1E9"/>
          </a:solidFill>
          <a:ln w="15875">
            <a:solidFill>
              <a:srgbClr val="AB9D8C"/>
            </a:solidFill>
            <a:prstDash val="dash"/>
          </a:ln>
        </p:spPr>
      </p:sp>
      <p:sp>
        <p:nvSpPr>
          <p:cNvPr id="10" name="Text 7"/>
          <p:cNvSpPr/>
          <p:nvPr/>
        </p:nvSpPr>
        <p:spPr>
          <a:xfrm>
            <a:off x="457200" y="2423160"/>
            <a:ext cx="3931920" cy="2464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i="1" dirty="0">
                <a:solidFill>
                  <a:srgbClr val="AB9D8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코드 스크린샷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i="1" dirty="0">
                <a:solidFill>
                  <a:srgbClr val="AB9D8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붙여넣기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663440" y="12344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이렇게 작성했나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4663440" y="1618488"/>
            <a:ext cx="4023360" cy="1847088"/>
          </a:xfrm>
          <a:prstGeom prst="roundRect">
            <a:avLst>
              <a:gd name="adj" fmla="val 4455"/>
            </a:avLst>
          </a:prstGeom>
          <a:solidFill>
            <a:srgbClr val="F1E0C9"/>
          </a:solidFill>
          <a:ln/>
        </p:spPr>
      </p:sp>
      <p:sp>
        <p:nvSpPr>
          <p:cNvPr id="13" name="Text 10"/>
          <p:cNvSpPr/>
          <p:nvPr/>
        </p:nvSpPr>
        <p:spPr>
          <a:xfrm>
            <a:off x="4864608" y="1773936"/>
            <a:ext cx="3621024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30" dirty="0">
                <a:solidFill>
                  <a:srgbClr val="7A47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S+C만 더해서 곡선을 뽑아보니 기상</a:t>
            </a:r>
            <a:endParaRPr lang="en-US" sz="103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030" dirty="0">
                <a:solidFill>
                  <a:srgbClr val="7A47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직후 각성도가 비현실적으로 높게</a:t>
            </a:r>
            <a:endParaRPr lang="en-US" sz="103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030" dirty="0">
                <a:solidFill>
                  <a:srgbClr val="7A47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나왔다 — 검증 스크립트로 눈으로</a:t>
            </a:r>
            <a:endParaRPr lang="en-US" sz="103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030" dirty="0">
                <a:solidFill>
                  <a:srgbClr val="7A47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확인하다가 발견한 누락이라, 원 수식엔</a:t>
            </a:r>
            <a:endParaRPr lang="en-US" sz="103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030" dirty="0">
                <a:solidFill>
                  <a:srgbClr val="7A47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없던 두 보정 항을 추가로 반영했다.</a:t>
            </a:r>
            <a:endParaRPr lang="en-US" sz="103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030" dirty="0">
                <a:solidFill>
                  <a:srgbClr val="7A47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계수(0.3·0.15 등)는 대부분 근거 없는</a:t>
            </a:r>
            <a:endParaRPr lang="en-US" sz="103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030" dirty="0">
                <a:solidFill>
                  <a:srgbClr val="7A47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근사치이고, 수면관성 시간상수(0.67h)만</a:t>
            </a:r>
            <a:endParaRPr lang="en-US" sz="103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030" dirty="0">
                <a:solidFill>
                  <a:srgbClr val="7A47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Jewett &amp; Kronauer(1999) 값을 썼다.</a:t>
            </a:r>
            <a:endParaRPr lang="en-US" sz="103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9A5B2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2주차 · 계산 엔진 (4/8)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카페인 PK — 혈중농도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1060704"/>
            <a:ext cx="457200" cy="41148"/>
          </a:xfrm>
          <a:prstGeom prst="rect">
            <a:avLst/>
          </a:prstGeom>
          <a:solidFill>
            <a:srgbClr val="9A5B28"/>
          </a:solidFill>
          <a:ln/>
        </p:spPr>
      </p:sp>
      <p:sp>
        <p:nvSpPr>
          <p:cNvPr id="5" name="Shape 3"/>
          <p:cNvSpPr/>
          <p:nvPr/>
        </p:nvSpPr>
        <p:spPr>
          <a:xfrm>
            <a:off x="475488" y="1234440"/>
            <a:ext cx="438912" cy="438912"/>
          </a:xfrm>
          <a:prstGeom prst="ellipse">
            <a:avLst/>
          </a:prstGeom>
          <a:solidFill>
            <a:srgbClr val="F6F1E9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4243" y="1333195"/>
            <a:ext cx="241402" cy="24140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87552" y="1234440"/>
            <a:ext cx="34015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0140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caffeineConcentration.ts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1746504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930" dirty="0">
                <a:solidFill>
                  <a:srgbClr val="7A47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C(t) = F·Dose·ka / (Vd·(ka−ke)) · (e^(−ke·Δt) − e^(−ka·Δt))</a:t>
            </a:r>
            <a:endParaRPr lang="en-US" sz="93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930" dirty="0">
                <a:solidFill>
                  <a:srgbClr val="7A47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 = 1, ka = 5/h, Vd = 0.7 L/kg</a:t>
            </a:r>
            <a:endParaRPr lang="en-US" sz="930" dirty="0"/>
          </a:p>
        </p:txBody>
      </p:sp>
      <p:sp>
        <p:nvSpPr>
          <p:cNvPr id="9" name="Shape 6"/>
          <p:cNvSpPr/>
          <p:nvPr/>
        </p:nvSpPr>
        <p:spPr>
          <a:xfrm>
            <a:off x="457200" y="2423160"/>
            <a:ext cx="3931920" cy="2464308"/>
          </a:xfrm>
          <a:prstGeom prst="roundRect">
            <a:avLst>
              <a:gd name="adj" fmla="val 2968"/>
            </a:avLst>
          </a:prstGeom>
          <a:solidFill>
            <a:srgbClr val="F6F1E9"/>
          </a:solidFill>
          <a:ln w="15875">
            <a:solidFill>
              <a:srgbClr val="AB9D8C"/>
            </a:solidFill>
            <a:prstDash val="dash"/>
          </a:ln>
        </p:spPr>
      </p:sp>
      <p:sp>
        <p:nvSpPr>
          <p:cNvPr id="10" name="Text 7"/>
          <p:cNvSpPr/>
          <p:nvPr/>
        </p:nvSpPr>
        <p:spPr>
          <a:xfrm>
            <a:off x="457200" y="2423160"/>
            <a:ext cx="3931920" cy="2464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i="1" dirty="0">
                <a:solidFill>
                  <a:srgbClr val="AB9D8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코드 스크린샷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i="1" dirty="0">
                <a:solidFill>
                  <a:srgbClr val="AB9D8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붙여넣기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663440" y="12344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이렇게 작성했나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4663440" y="1618488"/>
            <a:ext cx="4023360" cy="1655064"/>
          </a:xfrm>
          <a:prstGeom prst="roundRect">
            <a:avLst>
              <a:gd name="adj" fmla="val 4972"/>
            </a:avLst>
          </a:prstGeom>
          <a:solidFill>
            <a:srgbClr val="F1E0C9"/>
          </a:solidFill>
          <a:ln/>
        </p:spPr>
      </p:sp>
      <p:sp>
        <p:nvSpPr>
          <p:cNvPr id="13" name="Text 10"/>
          <p:cNvSpPr/>
          <p:nvPr/>
        </p:nvSpPr>
        <p:spPr>
          <a:xfrm>
            <a:off x="4864608" y="1773936"/>
            <a:ext cx="3621024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30" dirty="0">
                <a:solidFill>
                  <a:srgbClr val="7A47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경구 섭취 표준 1차 흡수/제거</a:t>
            </a:r>
            <a:endParaRPr lang="en-US" sz="103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030" dirty="0">
                <a:solidFill>
                  <a:srgbClr val="7A47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약동학(PK) 모델이다. F(생체이용률)=1,</a:t>
            </a:r>
            <a:endParaRPr lang="en-US" sz="103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030" dirty="0">
                <a:solidFill>
                  <a:srgbClr val="7A47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Vd=0.7L/kg는 공개 자료(NCBI) 기준값을</a:t>
            </a:r>
            <a:endParaRPr lang="en-US" sz="103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030" dirty="0">
                <a:solidFill>
                  <a:srgbClr val="7A47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그대로 썼고, ka(흡수속도)=5는 음료</a:t>
            </a:r>
            <a:endParaRPr lang="en-US" sz="103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030" dirty="0">
                <a:solidFill>
                  <a:srgbClr val="7A47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기준 최고혈중농도 도달 시간</a:t>
            </a:r>
            <a:endParaRPr lang="en-US" sz="103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030" dirty="0">
                <a:solidFill>
                  <a:srgbClr val="7A47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(39~42분)을 거꾸로 계산해서</a:t>
            </a:r>
            <a:endParaRPr lang="en-US" sz="103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030" dirty="0">
                <a:solidFill>
                  <a:srgbClr val="7A47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역산한 값이다.</a:t>
            </a:r>
            <a:endParaRPr lang="en-US" sz="103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9A5B2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2주차 · 계산 엔진 (5/8)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카페인 PD — 각성도 보정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1060704"/>
            <a:ext cx="457200" cy="41148"/>
          </a:xfrm>
          <a:prstGeom prst="rect">
            <a:avLst/>
          </a:prstGeom>
          <a:solidFill>
            <a:srgbClr val="9A5B28"/>
          </a:solidFill>
          <a:ln/>
        </p:spPr>
      </p:sp>
      <p:sp>
        <p:nvSpPr>
          <p:cNvPr id="5" name="Shape 3"/>
          <p:cNvSpPr/>
          <p:nvPr/>
        </p:nvSpPr>
        <p:spPr>
          <a:xfrm>
            <a:off x="475488" y="1234440"/>
            <a:ext cx="438912" cy="438912"/>
          </a:xfrm>
          <a:prstGeom prst="ellipse">
            <a:avLst/>
          </a:prstGeom>
          <a:solidFill>
            <a:srgbClr val="F6F1E9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4243" y="1333195"/>
            <a:ext cx="241402" cy="24140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87552" y="1234440"/>
            <a:ext cx="34015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0140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caffeineEffect.ts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1746504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930" dirty="0">
                <a:solidFill>
                  <a:srgbClr val="7A47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gPD(t) = 1 + Gmax·C(t)ⁿ / (EC50ⁿ + C(t)ⁿ)   (n = 1)</a:t>
            </a:r>
            <a:endParaRPr lang="en-US" sz="93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930" dirty="0">
                <a:solidFill>
                  <a:srgbClr val="7A47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Gmax = 0.05 ~ 0.25 (피로도에 따라 가변), EC50 = 2mg/L</a:t>
            </a:r>
            <a:endParaRPr lang="en-US" sz="930" dirty="0"/>
          </a:p>
        </p:txBody>
      </p:sp>
      <p:sp>
        <p:nvSpPr>
          <p:cNvPr id="9" name="Shape 6"/>
          <p:cNvSpPr/>
          <p:nvPr/>
        </p:nvSpPr>
        <p:spPr>
          <a:xfrm>
            <a:off x="457200" y="2423160"/>
            <a:ext cx="3931920" cy="2464308"/>
          </a:xfrm>
          <a:prstGeom prst="roundRect">
            <a:avLst>
              <a:gd name="adj" fmla="val 2968"/>
            </a:avLst>
          </a:prstGeom>
          <a:solidFill>
            <a:srgbClr val="F6F1E9"/>
          </a:solidFill>
          <a:ln w="15875">
            <a:solidFill>
              <a:srgbClr val="AB9D8C"/>
            </a:solidFill>
            <a:prstDash val="dash"/>
          </a:ln>
        </p:spPr>
      </p:sp>
      <p:sp>
        <p:nvSpPr>
          <p:cNvPr id="10" name="Text 7"/>
          <p:cNvSpPr/>
          <p:nvPr/>
        </p:nvSpPr>
        <p:spPr>
          <a:xfrm>
            <a:off x="457200" y="2423160"/>
            <a:ext cx="3931920" cy="2464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i="1" dirty="0">
                <a:solidFill>
                  <a:srgbClr val="AB9D8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코드 스크린샷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i="1" dirty="0">
                <a:solidFill>
                  <a:srgbClr val="AB9D8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붙여넣기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663440" y="12344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이렇게 작성했나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4663440" y="1618488"/>
            <a:ext cx="4023360" cy="1847088"/>
          </a:xfrm>
          <a:prstGeom prst="roundRect">
            <a:avLst>
              <a:gd name="adj" fmla="val 4455"/>
            </a:avLst>
          </a:prstGeom>
          <a:solidFill>
            <a:srgbClr val="F1E0C9"/>
          </a:solidFill>
          <a:ln/>
        </p:spPr>
      </p:sp>
      <p:sp>
        <p:nvSpPr>
          <p:cNvPr id="13" name="Text 10"/>
          <p:cNvSpPr/>
          <p:nvPr/>
        </p:nvSpPr>
        <p:spPr>
          <a:xfrm>
            <a:off x="4864608" y="1773936"/>
            <a:ext cx="3621024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30" dirty="0">
                <a:solidFill>
                  <a:srgbClr val="7A47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논문에서 정확한 Hill 계수를 못 구해서,</a:t>
            </a:r>
            <a:endParaRPr lang="en-US" sz="103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030" dirty="0">
                <a:solidFill>
                  <a:srgbClr val="7A47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공개된 표준 포화형 용량-반응 곡선</a:t>
            </a:r>
            <a:endParaRPr lang="en-US" sz="103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030" dirty="0">
                <a:solidFill>
                  <a:srgbClr val="7A47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(Hill/Michaelis-Menten)으로 근사하기로</a:t>
            </a:r>
            <a:endParaRPr lang="en-US" sz="103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030" dirty="0">
                <a:solidFill>
                  <a:srgbClr val="7A47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2주차 월요일에 방향을 확정했다.</a:t>
            </a:r>
            <a:endParaRPr lang="en-US" sz="103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030" dirty="0">
                <a:solidFill>
                  <a:srgbClr val="7A47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Gmax(최대 부스트)는 코드에 '근거 없는</a:t>
            </a:r>
            <a:endParaRPr lang="en-US" sz="103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030" dirty="0">
                <a:solidFill>
                  <a:srgbClr val="7A47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근사치'라고 명시해뒀고, EC50=2mg/L은</a:t>
            </a:r>
            <a:endParaRPr lang="en-US" sz="103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030" dirty="0">
                <a:solidFill>
                  <a:srgbClr val="7A47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200mg 섭취 시 최대혈중농도의 절반</a:t>
            </a:r>
            <a:endParaRPr lang="en-US" sz="103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030" dirty="0">
                <a:solidFill>
                  <a:srgbClr val="7A47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지점으로 잡았다.</a:t>
            </a:r>
            <a:endParaRPr lang="en-US" sz="103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9A5B2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2주차 · 계산 엔진 (6/8)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최종 결합 — P(t)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1060704"/>
            <a:ext cx="457200" cy="41148"/>
          </a:xfrm>
          <a:prstGeom prst="rect">
            <a:avLst/>
          </a:prstGeom>
          <a:solidFill>
            <a:srgbClr val="9A5B28"/>
          </a:solidFill>
          <a:ln/>
        </p:spPr>
      </p:sp>
      <p:sp>
        <p:nvSpPr>
          <p:cNvPr id="5" name="Shape 3"/>
          <p:cNvSpPr/>
          <p:nvPr/>
        </p:nvSpPr>
        <p:spPr>
          <a:xfrm>
            <a:off x="475488" y="1234440"/>
            <a:ext cx="438912" cy="438912"/>
          </a:xfrm>
          <a:prstGeom prst="ellipse">
            <a:avLst/>
          </a:prstGeom>
          <a:solidFill>
            <a:srgbClr val="F6F1E9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4243" y="1333195"/>
            <a:ext cx="241402" cy="24140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87552" y="1234440"/>
            <a:ext cx="34015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0140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baselineAlertness.ts  ·  alertness.ts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1746504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930" dirty="0">
                <a:solidFill>
                  <a:srgbClr val="7A47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P0(t) = (1−H(t)) + κ·C(t) + 수면관성 + 오후슬럼프</a:t>
            </a:r>
            <a:endParaRPr lang="en-US" sz="93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930" dirty="0">
                <a:solidFill>
                  <a:srgbClr val="7A47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P(t)  = P0(t) × gPD(t)      (κ = 0.2)</a:t>
            </a:r>
            <a:endParaRPr lang="en-US" sz="930" dirty="0"/>
          </a:p>
        </p:txBody>
      </p:sp>
      <p:sp>
        <p:nvSpPr>
          <p:cNvPr id="9" name="Shape 6"/>
          <p:cNvSpPr/>
          <p:nvPr/>
        </p:nvSpPr>
        <p:spPr>
          <a:xfrm>
            <a:off x="457200" y="2423160"/>
            <a:ext cx="3931920" cy="2464308"/>
          </a:xfrm>
          <a:prstGeom prst="roundRect">
            <a:avLst>
              <a:gd name="adj" fmla="val 2968"/>
            </a:avLst>
          </a:prstGeom>
          <a:solidFill>
            <a:srgbClr val="F6F1E9"/>
          </a:solidFill>
          <a:ln w="15875">
            <a:solidFill>
              <a:srgbClr val="AB9D8C"/>
            </a:solidFill>
            <a:prstDash val="dash"/>
          </a:ln>
        </p:spPr>
      </p:sp>
      <p:sp>
        <p:nvSpPr>
          <p:cNvPr id="10" name="Text 7"/>
          <p:cNvSpPr/>
          <p:nvPr/>
        </p:nvSpPr>
        <p:spPr>
          <a:xfrm>
            <a:off x="457200" y="2423160"/>
            <a:ext cx="3931920" cy="2464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i="1" dirty="0">
                <a:solidFill>
                  <a:srgbClr val="AB9D8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코드 스크린샷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i="1" dirty="0">
                <a:solidFill>
                  <a:srgbClr val="AB9D8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붙여넣기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663440" y="12344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이렇게 작성했나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4663440" y="1618488"/>
            <a:ext cx="4023360" cy="1655064"/>
          </a:xfrm>
          <a:prstGeom prst="roundRect">
            <a:avLst>
              <a:gd name="adj" fmla="val 4972"/>
            </a:avLst>
          </a:prstGeom>
          <a:solidFill>
            <a:srgbClr val="F1E0C9"/>
          </a:solidFill>
          <a:ln/>
        </p:spPr>
      </p:sp>
      <p:sp>
        <p:nvSpPr>
          <p:cNvPr id="13" name="Text 10"/>
          <p:cNvSpPr/>
          <p:nvPr/>
        </p:nvSpPr>
        <p:spPr>
          <a:xfrm>
            <a:off x="4864608" y="1773936"/>
            <a:ext cx="3621024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30" dirty="0">
                <a:solidFill>
                  <a:srgbClr val="7A47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sleepPressure는 '피로도'라서 각성도로</a:t>
            </a:r>
            <a:endParaRPr lang="en-US" sz="103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030" dirty="0">
                <a:solidFill>
                  <a:srgbClr val="7A47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쓰려면 뒤집어야(1−H) 하는데, 처음엔</a:t>
            </a:r>
            <a:endParaRPr lang="en-US" sz="103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030" dirty="0">
                <a:solidFill>
                  <a:srgbClr val="7A47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안 뒤집어서 '깨어있을수록 각성도가</a:t>
            </a:r>
            <a:endParaRPr lang="en-US" sz="103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030" dirty="0">
                <a:solidFill>
                  <a:srgbClr val="7A47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높다'는 반대 결과가 나온 걸 검증 중</a:t>
            </a:r>
            <a:endParaRPr lang="en-US" sz="103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030" dirty="0">
                <a:solidFill>
                  <a:srgbClr val="7A47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발견해서 고쳤다(코드 주석에 기록).</a:t>
            </a:r>
            <a:endParaRPr lang="en-US" sz="103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030" dirty="0">
                <a:solidFill>
                  <a:srgbClr val="7A47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κ(일주기 진폭 계수)=0.2는 원 논문값을</a:t>
            </a:r>
            <a:endParaRPr lang="en-US" sz="103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030" dirty="0">
                <a:solidFill>
                  <a:srgbClr val="7A47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못 구해 근사치로 잡은 값이다.</a:t>
            </a:r>
            <a:endParaRPr lang="en-US" sz="103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9A5B2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2주차 · 계산 엔진 (7/8)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안전 섭취 한도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1060704"/>
            <a:ext cx="457200" cy="41148"/>
          </a:xfrm>
          <a:prstGeom prst="rect">
            <a:avLst/>
          </a:prstGeom>
          <a:solidFill>
            <a:srgbClr val="9A5B28"/>
          </a:solidFill>
          <a:ln/>
        </p:spPr>
      </p:sp>
      <p:sp>
        <p:nvSpPr>
          <p:cNvPr id="5" name="Shape 3"/>
          <p:cNvSpPr/>
          <p:nvPr/>
        </p:nvSpPr>
        <p:spPr>
          <a:xfrm>
            <a:off x="475488" y="1234440"/>
            <a:ext cx="438912" cy="438912"/>
          </a:xfrm>
          <a:prstGeom prst="ellipse">
            <a:avLst/>
          </a:prstGeom>
          <a:solidFill>
            <a:srgbClr val="F6F1E9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4243" y="1333195"/>
            <a:ext cx="241402" cy="24140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87552" y="1234440"/>
            <a:ext cx="34015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0140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dailyCaffeineLimit.ts  ·  remainingCaffeineBudget.ts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1746504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930" dirty="0">
                <a:solidFill>
                  <a:srgbClr val="7A47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연령·건강상태별 한도 중 가장 낮은 값 적용</a:t>
            </a:r>
            <a:endParaRPr lang="en-US" sz="93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930" dirty="0">
                <a:solidFill>
                  <a:srgbClr val="7A47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20세 미만: min(100mg, 체중 × 2.5mg/kg)</a:t>
            </a:r>
            <a:endParaRPr lang="en-US" sz="930" dirty="0"/>
          </a:p>
        </p:txBody>
      </p:sp>
      <p:sp>
        <p:nvSpPr>
          <p:cNvPr id="9" name="Shape 6"/>
          <p:cNvSpPr/>
          <p:nvPr/>
        </p:nvSpPr>
        <p:spPr>
          <a:xfrm>
            <a:off x="457200" y="2423160"/>
            <a:ext cx="3931920" cy="2464308"/>
          </a:xfrm>
          <a:prstGeom prst="roundRect">
            <a:avLst>
              <a:gd name="adj" fmla="val 2968"/>
            </a:avLst>
          </a:prstGeom>
          <a:solidFill>
            <a:srgbClr val="F6F1E9"/>
          </a:solidFill>
          <a:ln w="15875">
            <a:solidFill>
              <a:srgbClr val="AB9D8C"/>
            </a:solidFill>
            <a:prstDash val="dash"/>
          </a:ln>
        </p:spPr>
      </p:sp>
      <p:sp>
        <p:nvSpPr>
          <p:cNvPr id="10" name="Text 7"/>
          <p:cNvSpPr/>
          <p:nvPr/>
        </p:nvSpPr>
        <p:spPr>
          <a:xfrm>
            <a:off x="457200" y="2423160"/>
            <a:ext cx="3931920" cy="2464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i="1" dirty="0">
                <a:solidFill>
                  <a:srgbClr val="AB9D8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코드 스크린샷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i="1" dirty="0">
                <a:solidFill>
                  <a:srgbClr val="AB9D8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붙여넣기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663440" y="12344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이렇게 작성했나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4663440" y="1618488"/>
            <a:ext cx="4023360" cy="1655064"/>
          </a:xfrm>
          <a:prstGeom prst="roundRect">
            <a:avLst>
              <a:gd name="adj" fmla="val 4972"/>
            </a:avLst>
          </a:prstGeom>
          <a:solidFill>
            <a:srgbClr val="F1E0C9"/>
          </a:solidFill>
          <a:ln/>
        </p:spPr>
      </p:sp>
      <p:sp>
        <p:nvSpPr>
          <p:cNvPr id="13" name="Text 10"/>
          <p:cNvSpPr/>
          <p:nvPr/>
        </p:nvSpPr>
        <p:spPr>
          <a:xfrm>
            <a:off x="4864608" y="1773936"/>
            <a:ext cx="3621024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30" dirty="0">
                <a:solidFill>
                  <a:srgbClr val="7A47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성인은 FDA 기준 고정 400mg 한도를</a:t>
            </a:r>
            <a:endParaRPr lang="en-US" sz="103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030" dirty="0">
                <a:solidFill>
                  <a:srgbClr val="7A47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쓰지만, 12~19세는 체중당 상한(mg/kg)</a:t>
            </a:r>
            <a:endParaRPr lang="en-US" sz="103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030" dirty="0">
                <a:solidFill>
                  <a:srgbClr val="7A47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권고가 일반적이라 나이 구간별로 계산</a:t>
            </a:r>
            <a:endParaRPr lang="en-US" sz="103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030" dirty="0">
                <a:solidFill>
                  <a:srgbClr val="7A47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방식을 다르게 뒀다. 임신·심장질환·</a:t>
            </a:r>
            <a:endParaRPr lang="en-US" sz="103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030" dirty="0">
                <a:solidFill>
                  <a:srgbClr val="7A47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불안불면처럼 여러 조건이 겹치면,</a:t>
            </a:r>
            <a:endParaRPr lang="en-US" sz="103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030" dirty="0">
                <a:solidFill>
                  <a:srgbClr val="7A47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그중 가장 엄격한(가장 낮은) 한도</a:t>
            </a:r>
            <a:endParaRPr lang="en-US" sz="103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030" dirty="0">
                <a:solidFill>
                  <a:srgbClr val="7A47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하나만 적용하도록 설계했다.</a:t>
            </a:r>
            <a:endParaRPr lang="en-US" sz="103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9A5B2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2주차 · 계산 엔진 (8/8)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후보 그리드 탐색 — 목표 시각 역산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1060704"/>
            <a:ext cx="457200" cy="41148"/>
          </a:xfrm>
          <a:prstGeom prst="rect">
            <a:avLst/>
          </a:prstGeom>
          <a:solidFill>
            <a:srgbClr val="9A5B28"/>
          </a:solidFill>
          <a:ln/>
        </p:spPr>
      </p:sp>
      <p:sp>
        <p:nvSpPr>
          <p:cNvPr id="5" name="Shape 3"/>
          <p:cNvSpPr/>
          <p:nvPr/>
        </p:nvSpPr>
        <p:spPr>
          <a:xfrm>
            <a:off x="475488" y="1234440"/>
            <a:ext cx="438912" cy="438912"/>
          </a:xfrm>
          <a:prstGeom prst="ellipse">
            <a:avLst/>
          </a:prstGeom>
          <a:solidFill>
            <a:srgbClr val="F6F1E9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4243" y="1333195"/>
            <a:ext cx="241402" cy="24140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87552" y="1234440"/>
            <a:ext cx="34015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0140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candidateSleepSegments.ts  ·  singleExamScheduleSearch.ts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1746504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930" dirty="0">
                <a:solidFill>
                  <a:srgbClr val="7A47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평소/원래 시각 ±1시간, 15분 간격 그리드에서</a:t>
            </a:r>
            <a:endParaRPr lang="en-US" sz="93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930" dirty="0">
                <a:solidFill>
                  <a:srgbClr val="7A47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시험 시작 시각의 P(t)를 최대화하는 취침·기상·카페인 조합 탐색</a:t>
            </a:r>
            <a:endParaRPr lang="en-US" sz="930" dirty="0"/>
          </a:p>
        </p:txBody>
      </p:sp>
      <p:sp>
        <p:nvSpPr>
          <p:cNvPr id="9" name="Shape 6"/>
          <p:cNvSpPr/>
          <p:nvPr/>
        </p:nvSpPr>
        <p:spPr>
          <a:xfrm>
            <a:off x="457200" y="2423160"/>
            <a:ext cx="3931920" cy="2464308"/>
          </a:xfrm>
          <a:prstGeom prst="roundRect">
            <a:avLst>
              <a:gd name="adj" fmla="val 2968"/>
            </a:avLst>
          </a:prstGeom>
          <a:solidFill>
            <a:srgbClr val="F6F1E9"/>
          </a:solidFill>
          <a:ln w="15875">
            <a:solidFill>
              <a:srgbClr val="AB9D8C"/>
            </a:solidFill>
            <a:prstDash val="dash"/>
          </a:ln>
        </p:spPr>
      </p:sp>
      <p:sp>
        <p:nvSpPr>
          <p:cNvPr id="10" name="Text 7"/>
          <p:cNvSpPr/>
          <p:nvPr/>
        </p:nvSpPr>
        <p:spPr>
          <a:xfrm>
            <a:off x="457200" y="2423160"/>
            <a:ext cx="3931920" cy="2464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i="1" dirty="0">
                <a:solidFill>
                  <a:srgbClr val="AB9D8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코드 스크린샷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i="1" dirty="0">
                <a:solidFill>
                  <a:srgbClr val="AB9D8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붙여넣기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663440" y="12344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이렇게 작성했나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4663440" y="1618488"/>
            <a:ext cx="4023360" cy="2615184"/>
          </a:xfrm>
          <a:prstGeom prst="roundRect">
            <a:avLst>
              <a:gd name="adj" fmla="val 3147"/>
            </a:avLst>
          </a:prstGeom>
          <a:solidFill>
            <a:srgbClr val="F1E0C9"/>
          </a:solidFill>
          <a:ln/>
        </p:spPr>
      </p:sp>
      <p:sp>
        <p:nvSpPr>
          <p:cNvPr id="13" name="Text 10"/>
          <p:cNvSpPr/>
          <p:nvPr/>
        </p:nvSpPr>
        <p:spPr>
          <a:xfrm>
            <a:off x="4864608" y="1773936"/>
            <a:ext cx="3621024" cy="2304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30" dirty="0">
                <a:solidFill>
                  <a:srgbClr val="7A47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패널티·가중치 없는 단순 탐색으로 먼저</a:t>
            </a:r>
            <a:endParaRPr lang="en-US" sz="103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030" dirty="0">
                <a:solidFill>
                  <a:srgbClr val="7A47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만들었다 — 아직 검증 안 된 S/C/카페인</a:t>
            </a:r>
            <a:endParaRPr lang="en-US" sz="103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030" dirty="0">
                <a:solidFill>
                  <a:srgbClr val="7A47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함수 위에 무거운 최적화 로직까지 한</a:t>
            </a:r>
            <a:endParaRPr lang="en-US" sz="103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030" dirty="0">
                <a:solidFill>
                  <a:srgbClr val="7A47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번에 얹으면, 버그가 생체수학 계산</a:t>
            </a:r>
            <a:endParaRPr lang="en-US" sz="103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030" dirty="0">
                <a:solidFill>
                  <a:srgbClr val="7A47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문제인지 최적화 로직 문제인지 구분이</a:t>
            </a:r>
            <a:endParaRPr lang="en-US" sz="103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030" dirty="0">
                <a:solidFill>
                  <a:srgbClr val="7A47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안 되기 때문이다(2주차_계획.md 3.2).</a:t>
            </a:r>
            <a:endParaRPr lang="en-US" sz="103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030" dirty="0">
                <a:solidFill>
                  <a:srgbClr val="7A47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목표 시각은 여유시간을 빼지 않은</a:t>
            </a:r>
            <a:endParaRPr lang="en-US" sz="103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030" dirty="0">
                <a:solidFill>
                  <a:srgbClr val="7A47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시험 시작 시각 그대로 쓴다 — 여유시간은</a:t>
            </a:r>
            <a:endParaRPr lang="en-US" sz="103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030" dirty="0">
                <a:solidFill>
                  <a:srgbClr val="7A47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사람마다 편차가 커서 계산에 넣지 않고</a:t>
            </a:r>
            <a:endParaRPr lang="en-US" sz="103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030" dirty="0">
                <a:solidFill>
                  <a:srgbClr val="7A47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화면 안내 문구로 대체(2026-07-16 결정).</a:t>
            </a:r>
            <a:endParaRPr lang="en-US" sz="103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030" dirty="0">
                <a:solidFill>
                  <a:srgbClr val="7A47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채점 구조를 3주차 다중 시험</a:t>
            </a:r>
            <a:endParaRPr lang="en-US" sz="103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030" dirty="0">
                <a:solidFill>
                  <a:srgbClr val="7A47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최적화가 그대로 재사용할 예정이다.</a:t>
            </a:r>
            <a:endParaRPr lang="en-US" sz="103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9A5B2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2주차 · 핵심 결과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이번 주 핵심 결과 — 목표 각성 시각 역산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1060704"/>
            <a:ext cx="457200" cy="41148"/>
          </a:xfrm>
          <a:prstGeom prst="rect">
            <a:avLst/>
          </a:prstGeom>
          <a:solidFill>
            <a:srgbClr val="9A5B28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23444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786A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예시: 체중 65kg · 카페인 민감도 "보통" · 08시 커피 200mg · 09시 시험 — 목표 시각은 09시(시험 시작) 그대로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3520440" cy="2011680"/>
          </a:xfrm>
          <a:prstGeom prst="roundRect">
            <a:avLst>
              <a:gd name="adj" fmla="val 4545"/>
            </a:avLst>
          </a:prstGeom>
          <a:solidFill>
            <a:srgbClr val="F6F1E9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874520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786A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평소 스케줄 그대로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85800" y="2221992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786A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0.7196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685800" y="2880360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B9D8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시험 시작 시각 P(t) 점수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85800" y="3227832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786A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취침 23:00 · 기상 07:00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14800" y="2697480"/>
            <a:ext cx="640080" cy="0"/>
          </a:xfrm>
          <a:prstGeom prst="line">
            <a:avLst/>
          </a:prstGeom>
          <a:noFill/>
          <a:ln w="19050">
            <a:solidFill>
              <a:srgbClr val="9A5B28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892040" y="1691640"/>
            <a:ext cx="3520440" cy="2011680"/>
          </a:xfrm>
          <a:prstGeom prst="roundRect">
            <a:avLst>
              <a:gd name="adj" fmla="val 4545"/>
            </a:avLst>
          </a:prstGeom>
          <a:solidFill>
            <a:srgbClr val="F1E0C9"/>
          </a:solidFill>
          <a:ln w="19050">
            <a:solidFill>
              <a:srgbClr val="9A5B2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20640" y="1874520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7A47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탐색으로 찾은 최적 스케줄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120640" y="2221992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7A47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0.7486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5120640" y="2880360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9A5B2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시험 시작 시각 P(t) 점수  (+4.0%)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120640" y="3227832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7A47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취침 22:00 · 기상 07:30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57200" y="39044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80" i="1" dirty="0">
                <a:solidFill>
                  <a:srgbClr val="786A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 스크립트(verifySingleExamSchedule.ts)로 확인 — 취침·기상·카페인 후보를 ±1시간 그리드에서 탐색한 결과,</a:t>
            </a:r>
            <a:endParaRPr lang="en-US" sz="98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980" i="1" dirty="0">
                <a:solidFill>
                  <a:srgbClr val="786A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1시간 더 일찍 자고 30분 늦게 일어나는 조합이 시험 시작 시각의 각성도를 더 높인다는 걸 수치로 확인했다.</a:t>
            </a:r>
            <a:endParaRPr lang="en-US" sz="98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9A5B2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2주차 · 의사결정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이번 주 의사결정 · 이슈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1060704"/>
            <a:ext cx="457200" cy="41148"/>
          </a:xfrm>
          <a:prstGeom prst="rect">
            <a:avLst/>
          </a:prstGeom>
          <a:solidFill>
            <a:srgbClr val="9A5B28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234440"/>
            <a:ext cx="8229600" cy="3653028"/>
          </a:xfrm>
          <a:prstGeom prst="roundRect">
            <a:avLst>
              <a:gd name="adj" fmla="val 2503"/>
            </a:avLst>
          </a:prstGeom>
          <a:solidFill>
            <a:srgbClr val="F6F1E9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1296162"/>
            <a:ext cx="237744" cy="237744"/>
          </a:xfrm>
          <a:prstGeom prst="ellipse">
            <a:avLst/>
          </a:prstGeom>
          <a:solidFill>
            <a:srgbClr val="9A5B28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29616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188720" y="1204722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카페인 근사 모델 확정 — 표준 포화형 곡선(Hill n=1)</a:t>
            </a:r>
            <a:endParaRPr lang="en-US" sz="108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으로 근사, Gmax는 근거 없는 근사치로 명시(월요일)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822960" y="1899666"/>
            <a:ext cx="237744" cy="237744"/>
          </a:xfrm>
          <a:prstGeom prst="ellipse">
            <a:avLst/>
          </a:prstGeom>
          <a:solidFill>
            <a:srgbClr val="9A5B28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189966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188720" y="1808226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 중 발견한 보정 항 추가 — 수면관성 ·</a:t>
            </a:r>
            <a:endParaRPr lang="en-US" sz="108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오후슬럼프 딥을 원 수식에 보완(화요일)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822960" y="2503170"/>
            <a:ext cx="237744" cy="237744"/>
          </a:xfrm>
          <a:prstGeom prst="ellipse">
            <a:avLst/>
          </a:prstGeom>
          <a:solidFill>
            <a:srgbClr val="9A5B28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250317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188720" y="241173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sleepPressure 부호 버그 수정 — 각성도 계산 시</a:t>
            </a:r>
            <a:endParaRPr lang="en-US" sz="108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뒤집어야 함을 검증 스크립트로 확인 후 수정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822960" y="3106674"/>
            <a:ext cx="237744" cy="237744"/>
          </a:xfrm>
          <a:prstGeom prst="ellipse">
            <a:avLst/>
          </a:prstGeom>
          <a:solidFill>
            <a:srgbClr val="9A5B28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310667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188720" y="3015234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목표 각성 시각에서 이동시간 제외 — 통학 방식이</a:t>
            </a:r>
            <a:endParaRPr lang="en-US" sz="108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제각각이라 일반화 어려워 안내 문구로 대체(수요일)</a:t>
            </a:r>
            <a:endParaRPr lang="en-US" sz="1080" dirty="0"/>
          </a:p>
        </p:txBody>
      </p:sp>
      <p:sp>
        <p:nvSpPr>
          <p:cNvPr id="18" name="Shape 16"/>
          <p:cNvSpPr/>
          <p:nvPr/>
        </p:nvSpPr>
        <p:spPr>
          <a:xfrm>
            <a:off x="822960" y="3710178"/>
            <a:ext cx="237744" cy="237744"/>
          </a:xfrm>
          <a:prstGeom prst="ellipse">
            <a:avLst/>
          </a:prstGeom>
          <a:solidFill>
            <a:srgbClr val="9A5B28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" y="371017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188720" y="3618738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후보 탐색 그리드 확정 — ±1시간·15분 간격,</a:t>
            </a:r>
            <a:endParaRPr lang="en-US" sz="108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카페인은 시각만 후보로 흔들고 용량은 고정(오늘)</a:t>
            </a:r>
            <a:endParaRPr lang="en-US" sz="1080" dirty="0"/>
          </a:p>
        </p:txBody>
      </p:sp>
      <p:sp>
        <p:nvSpPr>
          <p:cNvPr id="21" name="Shape 19"/>
          <p:cNvSpPr/>
          <p:nvPr/>
        </p:nvSpPr>
        <p:spPr>
          <a:xfrm>
            <a:off x="822960" y="4313682"/>
            <a:ext cx="237744" cy="237744"/>
          </a:xfrm>
          <a:prstGeom prst="ellipse">
            <a:avLst/>
          </a:prstGeom>
          <a:solidFill>
            <a:srgbClr val="9A5B28"/>
          </a:solidFill>
          <a:ln/>
        </p:spPr>
      </p:sp>
      <p:sp>
        <p:nvSpPr>
          <p:cNvPr id="22" name="Text 20"/>
          <p:cNvSpPr/>
          <p:nvPr/>
        </p:nvSpPr>
        <p:spPr>
          <a:xfrm>
            <a:off x="822960" y="431368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1188720" y="4222242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여유시간도 계산에서 제외 — 목표는 그냥</a:t>
            </a:r>
            <a:endParaRPr lang="en-US" sz="108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"시험 시작 시각에 각성도 최고", 안내 문구만 유지(오늘)</a:t>
            </a:r>
            <a:endParaRPr lang="en-US" sz="108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9A5B2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2주차 · 이슈 정리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3주차로 넘어가는 것 — GitHub 마일스톤 정리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1060704"/>
            <a:ext cx="457200" cy="41148"/>
          </a:xfrm>
          <a:prstGeom prst="rect">
            <a:avLst/>
          </a:prstGeom>
          <a:solidFill>
            <a:srgbClr val="9A5B28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23444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786A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GitHub 마일스톤 "2주차"에 남아있던 이슈 3개를 오늘 정리했다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8229600" cy="640080"/>
          </a:xfrm>
          <a:prstGeom prst="roundRect">
            <a:avLst>
              <a:gd name="adj" fmla="val 12857"/>
            </a:avLst>
          </a:prstGeom>
          <a:solidFill>
            <a:srgbClr val="E8F0E3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828800"/>
            <a:ext cx="365760" cy="3657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" y="1911096"/>
            <a:ext cx="201168" cy="20116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88720" y="17830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786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#8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874520" y="1691640"/>
            <a:ext cx="4617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목표 각성 시각 역산 (단순 탐색, 시험 1개)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583680" y="1837944"/>
            <a:ext cx="1920240" cy="347472"/>
          </a:xfrm>
          <a:prstGeom prst="roundRect">
            <a:avLst>
              <a:gd name="adj" fmla="val 50000"/>
            </a:avLst>
          </a:prstGeom>
          <a:solidFill>
            <a:srgbClr val="3A6B2E"/>
          </a:solidFill>
          <a:ln/>
        </p:spPr>
      </p:sp>
      <p:sp>
        <p:nvSpPr>
          <p:cNvPr id="12" name="Text 9"/>
          <p:cNvSpPr/>
          <p:nvPr/>
        </p:nvSpPr>
        <p:spPr>
          <a:xfrm>
            <a:off x="6583680" y="1837944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완료 — 닫음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2468880"/>
            <a:ext cx="8229600" cy="640080"/>
          </a:xfrm>
          <a:prstGeom prst="roundRect">
            <a:avLst>
              <a:gd name="adj" fmla="val 12857"/>
            </a:avLst>
          </a:prstGeom>
          <a:solidFill>
            <a:srgbClr val="F6F1E9"/>
          </a:solidFill>
          <a:ln/>
        </p:spPr>
      </p:sp>
      <p:sp>
        <p:nvSpPr>
          <p:cNvPr id="14" name="Shape 11"/>
          <p:cNvSpPr/>
          <p:nvPr/>
        </p:nvSpPr>
        <p:spPr>
          <a:xfrm>
            <a:off x="658368" y="2606040"/>
            <a:ext cx="365760" cy="3657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" y="2688336"/>
            <a:ext cx="201168" cy="201168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188720" y="25603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786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#10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1874520" y="2468880"/>
            <a:ext cx="4617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다중 시험 최적화 — 그리드 결정변수 정의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6583680" y="2615184"/>
            <a:ext cx="1920240" cy="347472"/>
          </a:xfrm>
          <a:prstGeom prst="roundRect">
            <a:avLst>
              <a:gd name="adj" fmla="val 50000"/>
            </a:avLst>
          </a:prstGeom>
          <a:solidFill>
            <a:srgbClr val="9A5B28"/>
          </a:solidFill>
          <a:ln/>
        </p:spPr>
      </p:sp>
      <p:sp>
        <p:nvSpPr>
          <p:cNvPr id="19" name="Text 15"/>
          <p:cNvSpPr/>
          <p:nvPr/>
        </p:nvSpPr>
        <p:spPr>
          <a:xfrm>
            <a:off x="6583680" y="2615184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3주차로 이동</a:t>
            </a:r>
            <a:endParaRPr lang="en-US" sz="950" dirty="0"/>
          </a:p>
        </p:txBody>
      </p:sp>
      <p:sp>
        <p:nvSpPr>
          <p:cNvPr id="20" name="Shape 16"/>
          <p:cNvSpPr/>
          <p:nvPr/>
        </p:nvSpPr>
        <p:spPr>
          <a:xfrm>
            <a:off x="457200" y="3246120"/>
            <a:ext cx="8229600" cy="640080"/>
          </a:xfrm>
          <a:prstGeom prst="roundRect">
            <a:avLst>
              <a:gd name="adj" fmla="val 12857"/>
            </a:avLst>
          </a:prstGeom>
          <a:solidFill>
            <a:srgbClr val="F6F1E9"/>
          </a:solidFill>
          <a:ln/>
        </p:spPr>
      </p:sp>
      <p:sp>
        <p:nvSpPr>
          <p:cNvPr id="21" name="Shape 17"/>
          <p:cNvSpPr/>
          <p:nvPr/>
        </p:nvSpPr>
        <p:spPr>
          <a:xfrm>
            <a:off x="658368" y="3383280"/>
            <a:ext cx="365760" cy="3657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" y="3465576"/>
            <a:ext cx="201168" cy="201168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1188720" y="333756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786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#14</a:t>
            </a:r>
            <a:endParaRPr lang="en-US" sz="1200" dirty="0"/>
          </a:p>
        </p:txBody>
      </p:sp>
      <p:sp>
        <p:nvSpPr>
          <p:cNvPr id="24" name="Text 19"/>
          <p:cNvSpPr/>
          <p:nvPr/>
        </p:nvSpPr>
        <p:spPr>
          <a:xfrm>
            <a:off x="1874520" y="3246120"/>
            <a:ext cx="4617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Supabase 프로젝트 생성 및 마이그레이션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6583680" y="3392424"/>
            <a:ext cx="1920240" cy="347472"/>
          </a:xfrm>
          <a:prstGeom prst="roundRect">
            <a:avLst>
              <a:gd name="adj" fmla="val 50000"/>
            </a:avLst>
          </a:prstGeom>
          <a:solidFill>
            <a:srgbClr val="9A5B28"/>
          </a:solidFill>
          <a:ln/>
        </p:spPr>
      </p:sp>
      <p:sp>
        <p:nvSpPr>
          <p:cNvPr id="26" name="Text 21"/>
          <p:cNvSpPr/>
          <p:nvPr/>
        </p:nvSpPr>
        <p:spPr>
          <a:xfrm>
            <a:off x="6583680" y="3392424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3주차로 이동</a:t>
            </a:r>
            <a:endParaRPr lang="en-US" sz="950" dirty="0"/>
          </a:p>
        </p:txBody>
      </p:sp>
      <p:sp>
        <p:nvSpPr>
          <p:cNvPr id="27" name="Text 22"/>
          <p:cNvSpPr/>
          <p:nvPr/>
        </p:nvSpPr>
        <p:spPr>
          <a:xfrm>
            <a:off x="457200" y="41605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80" i="1" dirty="0">
                <a:solidFill>
                  <a:srgbClr val="786A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#10 · #14는 원래 3주차 범위(다중 시험 최적화 · Supabase 연동)에 속하는 작업이라 마일스톤만 옮겼고,</a:t>
            </a:r>
            <a:endParaRPr lang="en-US" sz="98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980" i="1" dirty="0">
                <a:solidFill>
                  <a:srgbClr val="786A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#8은 오늘 candidateSleepSegments.ts + singleExamScheduleSearch.ts로 실제 구현을 마쳐서 닫았다.</a:t>
            </a:r>
            <a:endParaRPr lang="en-US" sz="98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9A5B2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3주차 · 다음 단계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주 예고 · 고민되는 점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1060704"/>
            <a:ext cx="457200" cy="41148"/>
          </a:xfrm>
          <a:prstGeom prst="rect">
            <a:avLst/>
          </a:prstGeom>
          <a:solidFill>
            <a:srgbClr val="9A5B28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371600"/>
            <a:ext cx="2624328" cy="2880360"/>
          </a:xfrm>
          <a:prstGeom prst="roundRect">
            <a:avLst>
              <a:gd name="adj" fmla="val 3484"/>
            </a:avLst>
          </a:prstGeom>
          <a:solidFill>
            <a:srgbClr val="F6F1E9"/>
          </a:solidFill>
          <a:ln/>
        </p:spPr>
      </p:sp>
      <p:sp>
        <p:nvSpPr>
          <p:cNvPr id="6" name="Shape 4"/>
          <p:cNvSpPr/>
          <p:nvPr/>
        </p:nvSpPr>
        <p:spPr>
          <a:xfrm>
            <a:off x="1495044" y="155448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18488" y="1677924"/>
            <a:ext cx="301752" cy="30175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94360" y="2194560"/>
            <a:ext cx="2350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3주차 목표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640080" y="2651760"/>
            <a:ext cx="225856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786A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"계산하기" 누르면 진짜</a:t>
            </a:r>
            <a:endParaRPr lang="en-US" sz="9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786A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계산돼서 결과가 나오는</a:t>
            </a:r>
            <a:endParaRPr lang="en-US" sz="9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786A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상태를 만드는 게 목표.</a:t>
            </a:r>
            <a:endParaRPr lang="en-US" sz="9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786A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다중 시험 최적화 + API +</a:t>
            </a:r>
            <a:endParaRPr lang="en-US" sz="9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786A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화면 연동까지 한 번에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3264408" y="1371600"/>
            <a:ext cx="2624328" cy="2880360"/>
          </a:xfrm>
          <a:prstGeom prst="roundRect">
            <a:avLst>
              <a:gd name="adj" fmla="val 3484"/>
            </a:avLst>
          </a:prstGeom>
          <a:solidFill>
            <a:srgbClr val="F6F1E9"/>
          </a:solidFill>
          <a:ln/>
        </p:spPr>
      </p:sp>
      <p:sp>
        <p:nvSpPr>
          <p:cNvPr id="11" name="Shape 8"/>
          <p:cNvSpPr/>
          <p:nvPr/>
        </p:nvSpPr>
        <p:spPr>
          <a:xfrm>
            <a:off x="4302252" y="155448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5696" y="1677924"/>
            <a:ext cx="301752" cy="30175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401568" y="2194560"/>
            <a:ext cx="2350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가장 큰 과제</a:t>
            </a:r>
            <a:endParaRPr lang="en-US" sz="1150" dirty="0"/>
          </a:p>
        </p:txBody>
      </p:sp>
      <p:sp>
        <p:nvSpPr>
          <p:cNvPr id="14" name="Text 10"/>
          <p:cNvSpPr/>
          <p:nvPr/>
        </p:nvSpPr>
        <p:spPr>
          <a:xfrm>
            <a:off x="3447288" y="2651760"/>
            <a:ext cx="225856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786A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시험 1개용 그리드 탐색을</a:t>
            </a:r>
            <a:endParaRPr lang="en-US" sz="9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786A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여러 시험 동시 배분으로</a:t>
            </a:r>
            <a:endParaRPr lang="en-US" sz="9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786A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확장해야 하는데, 패널티·</a:t>
            </a:r>
            <a:endParaRPr lang="en-US" sz="9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786A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가중치 설계를 어떻게 할지</a:t>
            </a:r>
            <a:endParaRPr lang="en-US" sz="9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786A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아직 구체화 안 됨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6071616" y="1371600"/>
            <a:ext cx="2624328" cy="2880360"/>
          </a:xfrm>
          <a:prstGeom prst="roundRect">
            <a:avLst>
              <a:gd name="adj" fmla="val 3484"/>
            </a:avLst>
          </a:prstGeom>
          <a:solidFill>
            <a:srgbClr val="F6F1E9"/>
          </a:solidFill>
          <a:ln/>
        </p:spPr>
      </p:sp>
      <p:sp>
        <p:nvSpPr>
          <p:cNvPr id="16" name="Shape 12"/>
          <p:cNvSpPr/>
          <p:nvPr/>
        </p:nvSpPr>
        <p:spPr>
          <a:xfrm>
            <a:off x="7109460" y="155448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2904" y="1677924"/>
            <a:ext cx="301752" cy="30175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208776" y="2194560"/>
            <a:ext cx="2350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014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아직 안 정한 것들</a:t>
            </a:r>
            <a:endParaRPr lang="en-US" sz="1150" dirty="0"/>
          </a:p>
        </p:txBody>
      </p:sp>
      <p:sp>
        <p:nvSpPr>
          <p:cNvPr id="19" name="Text 14"/>
          <p:cNvSpPr/>
          <p:nvPr/>
        </p:nvSpPr>
        <p:spPr>
          <a:xfrm>
            <a:off x="6254496" y="2651760"/>
            <a:ext cx="225856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786A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카페인 mg 직접 입력 폼,</a:t>
            </a:r>
            <a:endParaRPr lang="en-US" sz="9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786A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스케줄 조정 화면 날짜 선택</a:t>
            </a:r>
            <a:endParaRPr lang="en-US" sz="9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786A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UI, 공통 컴포넌트(Chart 등)</a:t>
            </a:r>
            <a:endParaRPr lang="en-US" sz="9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786A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분리 범위 — spec.md "열려</a:t>
            </a:r>
            <a:endParaRPr lang="en-US" sz="9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786A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있는 질문"에 정리해둠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시험 벼락치기 스케줄러 — 2주차 진행 공유</dc:title>
  <dc:subject>PptxGenJS Presentation</dc:subject>
  <dc:creator>N110_안정연</dc:creator>
  <cp:lastModifiedBy>N110_안정연</cp:lastModifiedBy>
  <cp:revision>1</cp:revision>
  <dcterms:created xsi:type="dcterms:W3CDTF">2026-07-16T07:41:34Z</dcterms:created>
  <dcterms:modified xsi:type="dcterms:W3CDTF">2026-07-16T07:41:34Z</dcterms:modified>
</cp:coreProperties>
</file>