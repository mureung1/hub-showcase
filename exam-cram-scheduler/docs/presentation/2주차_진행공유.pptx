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90" r:id="rId6"/>
    <p:sldId id="260" r:id="rId7"/>
    <p:sldId id="261" r:id="rId8"/>
    <p:sldId id="262" r:id="rId9"/>
    <p:sldId id="287" r:id="rId10"/>
    <p:sldId id="288" r:id="rId11"/>
    <p:sldId id="263" r:id="rId12"/>
    <p:sldId id="289" r:id="rId13"/>
    <p:sldId id="264" r:id="rId14"/>
    <p:sldId id="276" r:id="rId15"/>
    <p:sldId id="265" r:id="rId16"/>
    <p:sldId id="277" r:id="rId17"/>
    <p:sldId id="266" r:id="rId18"/>
    <p:sldId id="278" r:id="rId19"/>
    <p:sldId id="279" r:id="rId20"/>
    <p:sldId id="267" r:id="rId21"/>
    <p:sldId id="280" r:id="rId22"/>
    <p:sldId id="268" r:id="rId23"/>
    <p:sldId id="281" r:id="rId24"/>
    <p:sldId id="269" r:id="rId25"/>
    <p:sldId id="282" r:id="rId26"/>
    <p:sldId id="285" r:id="rId27"/>
    <p:sldId id="270" r:id="rId28"/>
    <p:sldId id="283" r:id="rId29"/>
    <p:sldId id="286" r:id="rId30"/>
    <p:sldId id="271" r:id="rId31"/>
    <p:sldId id="291" r:id="rId32"/>
    <p:sldId id="292" r:id="rId33"/>
    <p:sldId id="284" r:id="rId34"/>
    <p:sldId id="272" r:id="rId35"/>
    <p:sldId id="273" r:id="rId36"/>
    <p:sldId id="274" r:id="rId37"/>
    <p:sldId id="275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837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mc.ncbi.nlm.nih.gov/articles/PMC5020365/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1E0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진행 공유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벼락치기 스케줄러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시험기간 대학생을 위한 수면·카페인 스케줄 최적화 도구 — 계산 엔진 파트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1097280" cy="0"/>
          </a:xfrm>
          <a:prstGeom prst="line">
            <a:avLst/>
          </a:prstGeom>
          <a:noFill/>
          <a:ln w="19050">
            <a:solidFill>
              <a:srgbClr val="ECE3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N110_안정연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소개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무엇을, 왜 만드는가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2500"/>
            </a:avLst>
          </a:prstGeom>
          <a:solidFill>
            <a:srgbClr val="F6F1E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시험기간이 되면 대학생 대부분은 벼락치기를 하고,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수면·카페인 섭취를 순전히 감에 의존해 조절한다.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결과 수면 부족·컨디션 저하가 누적되고,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시험이 여러 개 겹치는 주간 전체는 고려하지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못한 채 "오늘 밤"만 생각하게 된다.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만드는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59359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날짜·공부량·수면패턴·카페인 상태를 입력하면,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생물수학 모델로 "시험 시작 시각에 각성도가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최고가 되는" 수면·카페인 스케줄을 계산해주는 도구.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1E0C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7373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단위 스케줄이 아니라, 시험이 여러 개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겹치는 "시험기간 전체"를 한 번에 고려해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수면·카페인 스케줄을 배분해준다.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사용한 모델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3832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6F1E9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Two-Process Model(수면압+일주기리듬) +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약동학·약력학(PK/PD) 상호작용 모델</a:t>
            </a:r>
            <a:endParaRPr lang="en-US" sz="11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수면과학 논문 기반의 검증된 공식 사용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로드맵 (4주)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" y="1975104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검증 및 문제 정의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603504" y="2359152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기획서 작성 (v1 → v2)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03504" y="2743200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문서·스킬 설정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03504" y="3127248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제작 → React 이식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9436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0604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1E0C9"/>
          </a:solidFill>
          <a:ln w="19050">
            <a:solidFill>
              <a:srgbClr val="9A5B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52344" y="1975104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1" name="Text 19"/>
          <p:cNvSpPr/>
          <p:nvPr/>
        </p:nvSpPr>
        <p:spPr>
          <a:xfrm>
            <a:off x="288036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S/C(수면압·일주기) 구현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2752344" y="2359152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PK/PD 근사 모델 구현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2752344" y="2743200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5" name="Text 23"/>
          <p:cNvSpPr/>
          <p:nvPr/>
        </p:nvSpPr>
        <p:spPr>
          <a:xfrm>
            <a:off x="288036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섭취 한도 로직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2752344" y="3127248"/>
            <a:ext cx="54864" cy="5486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29626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각성 시각 역산(그리드 탐색)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274320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9A5B28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2628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5488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901184" y="1975104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시험 통합 최적화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4901184" y="2359152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연동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4901184" y="2743200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화면에 계산 기능 실제 연결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489204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순서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2583180"/>
            <a:ext cx="228600" cy="0"/>
          </a:xfrm>
          <a:prstGeom prst="line">
            <a:avLst/>
          </a:prstGeom>
          <a:noFill/>
          <a:ln w="19050">
            <a:solidFill>
              <a:srgbClr val="AB9D8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903720" y="1280160"/>
            <a:ext cx="1920240" cy="2606040"/>
          </a:xfrm>
          <a:prstGeom prst="roundRect">
            <a:avLst>
              <a:gd name="adj" fmla="val 4286"/>
            </a:avLst>
          </a:prstGeom>
          <a:solidFill>
            <a:srgbClr val="F6F1E9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1408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4주차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050024" y="1975104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45" name="Text 43"/>
          <p:cNvSpPr/>
          <p:nvPr/>
        </p:nvSpPr>
        <p:spPr>
          <a:xfrm>
            <a:off x="7178040" y="18105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기능 (여유 시)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7050024" y="2359152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2194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테스트 · 버그 수정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7050024" y="2743200"/>
            <a:ext cx="54864" cy="54864"/>
          </a:xfrm>
          <a:prstGeom prst="ellipse">
            <a:avLst/>
          </a:prstGeom>
          <a:solidFill>
            <a:srgbClr val="AB9D8C"/>
          </a:solidFill>
          <a:ln/>
        </p:spPr>
      </p:sp>
      <p:sp>
        <p:nvSpPr>
          <p:cNvPr id="49" name="Text 47"/>
          <p:cNvSpPr/>
          <p:nvPr/>
        </p:nvSpPr>
        <p:spPr>
          <a:xfrm>
            <a:off x="7178040" y="2578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자료 · 데모 준비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7040880" y="3502152"/>
            <a:ext cx="1645920" cy="274320"/>
          </a:xfrm>
          <a:prstGeom prst="roundRect">
            <a:avLst>
              <a:gd name="adj" fmla="val 66667"/>
            </a:avLst>
          </a:prstGeom>
          <a:solidFill>
            <a:srgbClr val="FFFFFF"/>
          </a:solidFill>
          <a:ln w="12700">
            <a:solidFill>
              <a:srgbClr val="ECE3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0" y="3502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050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여기: 2주차 — 화면 없이도 계산 로직이 순수 함수로 끝까지 완성된 상태를 목표로 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진행 상황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목표 · 진행 상황 (07/13 ~ 07/16)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1E0C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화면 없이도 "입력 → 시험 시작 시각에 각성도가 최고가 되는 스케줄"까지 순수 함수로 계산되게 만들기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(2주차 범위)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" y="2309317"/>
            <a:ext cx="154534" cy="1545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2494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서버 스캐폴딩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502920" y="2670048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" y="2711653"/>
            <a:ext cx="154534" cy="1545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S(수면압) · Process C(일주기리듬)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502920" y="3072384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" y="3113989"/>
            <a:ext cx="154534" cy="1545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30540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수면관성 · 오후슬럼프 보정</a:t>
            </a:r>
            <a:endParaRPr lang="en-US" sz="970" dirty="0"/>
          </a:p>
        </p:txBody>
      </p:sp>
      <p:sp>
        <p:nvSpPr>
          <p:cNvPr id="17" name="Shape 12"/>
          <p:cNvSpPr/>
          <p:nvPr/>
        </p:nvSpPr>
        <p:spPr>
          <a:xfrm>
            <a:off x="502920" y="347472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" y="3516325"/>
            <a:ext cx="154534" cy="1545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근사 모델 (PK + PD + 결합)</a:t>
            </a:r>
            <a:endParaRPr lang="en-US" sz="970" dirty="0"/>
          </a:p>
        </p:txBody>
      </p:sp>
      <p:sp>
        <p:nvSpPr>
          <p:cNvPr id="20" name="Shape 14"/>
          <p:cNvSpPr/>
          <p:nvPr/>
        </p:nvSpPr>
        <p:spPr>
          <a:xfrm>
            <a:off x="502920" y="3877056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" y="3918661"/>
            <a:ext cx="154534" cy="1545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섭취 한도 로직</a:t>
            </a:r>
            <a:endParaRPr lang="en-US" sz="970" dirty="0"/>
          </a:p>
        </p:txBody>
      </p:sp>
      <p:sp>
        <p:nvSpPr>
          <p:cNvPr id="23" name="Shape 16"/>
          <p:cNvSpPr/>
          <p:nvPr/>
        </p:nvSpPr>
        <p:spPr>
          <a:xfrm>
            <a:off x="502920" y="4279392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" y="4320997"/>
            <a:ext cx="154534" cy="15453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2960" y="42611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각성 시각 역산 (시험 시작 시각 그대로 + 후보 그리드 탐색)</a:t>
            </a:r>
            <a:endParaRPr lang="en-US" sz="970" dirty="0"/>
          </a:p>
        </p:txBody>
      </p:sp>
      <p:sp>
        <p:nvSpPr>
          <p:cNvPr id="26" name="Text 18"/>
          <p:cNvSpPr/>
          <p:nvPr/>
        </p:nvSpPr>
        <p:spPr>
          <a:xfrm>
            <a:off x="46634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3주차로 이동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663440" y="224942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6F1E9"/>
          </a:solidFill>
          <a:ln/>
        </p:spPr>
      </p:sp>
      <p:sp>
        <p:nvSpPr>
          <p:cNvPr id="28" name="Shape 20"/>
          <p:cNvSpPr/>
          <p:nvPr/>
        </p:nvSpPr>
        <p:spPr>
          <a:xfrm>
            <a:off x="4791456" y="243230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978" y="2490826"/>
            <a:ext cx="175565" cy="17556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93792" y="23225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시험 통합 최적화</a:t>
            </a:r>
            <a:endParaRPr lang="en-US" sz="97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(그리드 결정변수 정의 — #10)</a:t>
            </a:r>
            <a:endParaRPr lang="en-US" sz="970" dirty="0"/>
          </a:p>
        </p:txBody>
      </p:sp>
      <p:sp>
        <p:nvSpPr>
          <p:cNvPr id="31" name="Shape 22"/>
          <p:cNvSpPr/>
          <p:nvPr/>
        </p:nvSpPr>
        <p:spPr>
          <a:xfrm>
            <a:off x="4663440" y="3026664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6F1E9"/>
          </a:solidFill>
          <a:ln/>
        </p:spPr>
      </p:sp>
      <p:sp>
        <p:nvSpPr>
          <p:cNvPr id="32" name="Shape 23"/>
          <p:cNvSpPr/>
          <p:nvPr/>
        </p:nvSpPr>
        <p:spPr>
          <a:xfrm>
            <a:off x="4791456" y="32095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9978" y="3268066"/>
            <a:ext cx="175565" cy="17556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193792" y="309981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프로젝트 생성 및 마이그레이션</a:t>
            </a:r>
            <a:endParaRPr lang="en-US" sz="97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(#14)</a:t>
            </a:r>
            <a:endParaRPr lang="en-US" sz="9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1E94DB7-F36D-3A5D-0581-813D68B43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46" y="0"/>
            <a:ext cx="882530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기술 지도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4744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990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 — React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194767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폼·캘린더 UI, 각성도 </a:t>
            </a:r>
            <a:r>
              <a:rPr lang="en-US" sz="850" dirty="0" err="1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그래프·타임라인</a:t>
            </a: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50" dirty="0" err="1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</a:t>
            </a:r>
            <a:endParaRPr lang="en-US" sz="850" dirty="0">
              <a:solidFill>
                <a:srgbClr val="786A5C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화면 </a:t>
            </a:r>
            <a:r>
              <a:rPr lang="en-US" sz="850" dirty="0" err="1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</a:t>
            </a: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50" dirty="0" err="1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구현됐지만</a:t>
            </a:r>
            <a:endParaRPr lang="en-US" sz="850" dirty="0">
              <a:solidFill>
                <a:srgbClr val="786A5C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 err="1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</a:t>
            </a: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mock 데이터로 동작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64408" y="1234440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6F1E9"/>
          </a:solidFill>
          <a:ln/>
        </p:spPr>
      </p:sp>
      <p:sp>
        <p:nvSpPr>
          <p:cNvPr id="11" name="Shape 8"/>
          <p:cNvSpPr/>
          <p:nvPr/>
        </p:nvSpPr>
        <p:spPr>
          <a:xfrm>
            <a:off x="3447288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158" y="147447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95928" y="13990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 — Express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429000" y="1947672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2주차에 계산 엔진(Two-Process+카페인)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 err="1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순수</a:t>
            </a: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50" dirty="0" err="1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함수를</a:t>
            </a:r>
            <a:r>
              <a:rPr lang="en-US" sz="850" dirty="0"/>
              <a:t> </a:t>
            </a:r>
            <a:r>
              <a:rPr lang="en-US" sz="850" dirty="0" err="1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</a:t>
            </a: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 err="1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</a:t>
            </a: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화면과 연결하는 API는 3주차 작업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071616" y="1234440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6F1E9"/>
          </a:solidFill>
          <a:ln/>
        </p:spPr>
      </p:sp>
      <p:sp>
        <p:nvSpPr>
          <p:cNvPr id="16" name="Shape 12"/>
          <p:cNvSpPr/>
          <p:nvPr/>
        </p:nvSpPr>
        <p:spPr>
          <a:xfrm>
            <a:off x="6254496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366" y="147447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03136" y="139903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— Supabase (Postgres)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36208" y="1947672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함량표·반감기·안전 섭취 한도 등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참고용 정적 데이터 저장 — 테이블 설계만 완료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57200" y="2999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엔진 — server/src/calc/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3346704"/>
            <a:ext cx="8229600" cy="1540764"/>
          </a:xfrm>
          <a:prstGeom prst="roundRect">
            <a:avLst>
              <a:gd name="adj" fmla="val 5341"/>
            </a:avLst>
          </a:prstGeom>
          <a:solidFill>
            <a:srgbClr val="F1E0C9"/>
          </a:solidFill>
          <a:ln/>
        </p:spPr>
      </p:sp>
      <p:sp>
        <p:nvSpPr>
          <p:cNvPr id="22" name="Text 17"/>
          <p:cNvSpPr/>
          <p:nvPr/>
        </p:nvSpPr>
        <p:spPr>
          <a:xfrm>
            <a:off x="685800" y="3346704"/>
            <a:ext cx="777240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8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processS · processC · sleepInertia · lunchDip · caffeineConcentration · caffeineEffect · alertness · dailyCaffeineLimit · candidateSleepSegments · singleExamScheduleSearch  (총 11개 순수 함수 파일)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프로토타입 소개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234440"/>
            <a:ext cx="7315200" cy="1508760"/>
          </a:xfrm>
          <a:prstGeom prst="roundRect">
            <a:avLst>
              <a:gd name="adj" fmla="val 7273"/>
            </a:avLst>
          </a:prstGeom>
          <a:solidFill>
            <a:srgbClr val="F1E0C9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15316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14356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→ 정보 입력 → 처리 중 → 결과 → 스케줄 조정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148840" y="181965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화면이 실제로 라우팅까지 연결된 동작하는 React 앱 (client/)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148840" y="2258568"/>
            <a:ext cx="80833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2148840" y="2258568"/>
            <a:ext cx="8083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66898" y="2258568"/>
            <a:ext cx="9692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066898" y="2258568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45890" y="2258568"/>
            <a:ext cx="48646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4145890" y="2258568"/>
            <a:ext cx="4864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42078" y="2258568"/>
            <a:ext cx="145206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742078" y="2258568"/>
            <a:ext cx="14520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react-router-dom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03874" y="2258568"/>
            <a:ext cx="104973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303874" y="2258568"/>
            <a:ext cx="10497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CSS Modules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29718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6F1E9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1272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개발 서버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5800" y="33649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A5B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http://localhost:5173/   (npm run dev --prefix client)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" y="3639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배포 전: </a:t>
            </a: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Pages(dodeho.github.io/hub/)엔 예전 정적 HTML 목업이 그대로 떠 있다 — React 앱 배포는 화면·계산 엔진이 연결되는 3주차에 맞출 예정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·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컴포넌트 &amp; 폴더 구성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구현된 컴포넌트 — client/src/components/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3931920" cy="3200400"/>
          </a:xfrm>
          <a:prstGeom prst="roundRect">
            <a:avLst>
              <a:gd name="adj" fmla="val 2571"/>
            </a:avLst>
          </a:prstGeom>
          <a:solidFill>
            <a:srgbClr val="F6F1E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client/src/components/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BottomSheet/  (BottomSheet.tsx + .module.css)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Button/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Card/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Field/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Row/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Segmented/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Slider/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Switch/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WarningBanner/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icons.tsx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index.ts   (모아서 export)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4160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3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컴포넌트 모두 PascalCase.tsx +</a:t>
            </a:r>
            <a:endParaRPr lang="en-US" sz="93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3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이름 .module.css 짝으로 구성됨(CLAUDE.md 컨벤션)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4663440" y="1234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&amp; 그 외 구성 — client/src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572768"/>
            <a:ext cx="4023360" cy="3200400"/>
          </a:xfrm>
          <a:prstGeom prst="roundRect">
            <a:avLst>
              <a:gd name="adj" fmla="val 2571"/>
            </a:avLst>
          </a:prstGeom>
          <a:solidFill>
            <a:srgbClr val="F1E0C9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709928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7556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74920" y="195681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Home · Input · Processing · Result · Adjust (5개)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2304288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23500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layouts/AppShell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25511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화면 뼈대(헤더·진행바 등)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2898648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94436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styles/tokens.css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4920" y="314553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토큰(컬러·타이포그래피)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3493008"/>
            <a:ext cx="35661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53872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utils/time.ts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74920" y="373989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표시·변환 유틸 함수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41330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30" i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페이지가 실제로 라우팅까지 연결된</a:t>
            </a:r>
            <a:endParaRPr lang="en-US" sz="93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30" i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동작하는 앱(react-router-dom)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A83C05A-8DAD-C06B-FF8A-AC544643C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15" y="0"/>
            <a:ext cx="656617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15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E1363D-5A9D-FB3A-5587-6363D21A6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857" y="0"/>
            <a:ext cx="39602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191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 err="1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</a:t>
            </a: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계산할까 — 모델 개념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17236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24028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졸음은 쌓인다 (Process S)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267919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깨어있는 시간이 길수록 졸음(수면압)이 쌓이고, 자는 동안 풀린다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3264408" y="14173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6F1E9"/>
          </a:solidFill>
          <a:ln/>
        </p:spPr>
      </p:sp>
      <p:sp>
        <p:nvSpPr>
          <p:cNvPr id="11" name="Shape 8"/>
          <p:cNvSpPr/>
          <p:nvPr/>
        </p:nvSpPr>
        <p:spPr>
          <a:xfrm>
            <a:off x="4302252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72364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24028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생체시계가 있다 (Process C)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447288" y="267919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주기로 오르내리는 원래 정해진 각성 리듬이 따로 있다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6071616" y="14173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6F1E9"/>
          </a:solidFill>
          <a:ln/>
        </p:spPr>
      </p:sp>
      <p:sp>
        <p:nvSpPr>
          <p:cNvPr id="16" name="Shape 12"/>
          <p:cNvSpPr/>
          <p:nvPr/>
        </p:nvSpPr>
        <p:spPr>
          <a:xfrm>
            <a:off x="710946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172364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08776" y="224028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카페인이 일시적으로 억제한다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54496" y="267919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2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카페인이 졸음 신호를 일시적으로 눌러줘서, 원하는 시각에 각성도를 끌어올릴 수 있다</a:t>
            </a:r>
            <a:endParaRPr lang="en-US" sz="920" dirty="0"/>
          </a:p>
        </p:txBody>
      </p:sp>
      <p:sp>
        <p:nvSpPr>
          <p:cNvPr id="20" name="Text 1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2주차에 세 개를 전부 순수 함수로 구현하고, 결합·검증까지 마쳤다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3803904"/>
            <a:ext cx="8229600" cy="640080"/>
          </a:xfrm>
          <a:prstGeom prst="roundRect">
            <a:avLst>
              <a:gd name="adj" fmla="val 12857"/>
            </a:avLst>
          </a:prstGeom>
          <a:solidFill>
            <a:srgbClr val="F1E0C9"/>
          </a:solidFill>
          <a:ln/>
        </p:spPr>
      </p:sp>
      <p:sp>
        <p:nvSpPr>
          <p:cNvPr id="22" name="Text 17"/>
          <p:cNvSpPr/>
          <p:nvPr/>
        </p:nvSpPr>
        <p:spPr>
          <a:xfrm>
            <a:off x="685800" y="380390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공식: </a:t>
            </a:r>
            <a:r>
              <a:rPr lang="en-US" sz="105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P(t) = P0(t) × gPD(t)  — 수면압+일주기리듬으로 만든 기본 각성도(P0)에, 카페인 보정 계수(gPD)를 곱해 최종 각성도를 구한다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참고: Two-Process Model(Borbély 1982) + Ramakrishnan et al.(2016) UMP — </a:t>
            </a:r>
            <a:r>
              <a:rPr lang="en-US" sz="850" u="sng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https://pmc.ncbi.nlm.nih.gov/articles/PMC5020365/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엔진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최적 스케줄을 찾을까 — 계산 과정 3단계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2624328" cy="1371600"/>
          </a:xfrm>
          <a:prstGeom prst="roundRect">
            <a:avLst>
              <a:gd name="adj" fmla="val 6667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630936" y="13716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" y="1466240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716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시간 그리드 만들기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21792" y="187452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오늘부터 마지막 시험까지 30분 단위로 쪼개,</a:t>
            </a:r>
            <a:endParaRPr lang="en-US" sz="87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깨어있기/잠자기 × 카페인 섭취/미섭취로 나눔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3081528" y="1920240"/>
            <a:ext cx="18288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64408" y="1234440"/>
            <a:ext cx="2624328" cy="1371600"/>
          </a:xfrm>
          <a:prstGeom prst="roundRect">
            <a:avLst>
              <a:gd name="adj" fmla="val 6667"/>
            </a:avLst>
          </a:prstGeom>
          <a:solidFill>
            <a:srgbClr val="F6F1E9"/>
          </a:solidFill>
          <a:ln/>
        </p:spPr>
      </p:sp>
      <p:sp>
        <p:nvSpPr>
          <p:cNvPr id="12" name="Shape 9"/>
          <p:cNvSpPr/>
          <p:nvPr/>
        </p:nvSpPr>
        <p:spPr>
          <a:xfrm>
            <a:off x="3438144" y="13716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784" y="1466240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22776" y="13716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후보마다 시뮬레이션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3429000" y="187452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조합을 모델에 대입해 각성도 곡선을 계산,</a:t>
            </a:r>
            <a:endParaRPr lang="en-US" sz="87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시각 각성도엔 가산점, 제약 위반엔 패널티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5888736" y="1920240"/>
            <a:ext cx="18288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071616" y="1234440"/>
            <a:ext cx="2624328" cy="1371600"/>
          </a:xfrm>
          <a:prstGeom prst="roundRect">
            <a:avLst>
              <a:gd name="adj" fmla="val 6667"/>
            </a:avLst>
          </a:prstGeom>
          <a:solidFill>
            <a:srgbClr val="F6F1E9"/>
          </a:solidFill>
          <a:ln/>
        </p:spPr>
      </p:sp>
      <p:sp>
        <p:nvSpPr>
          <p:cNvPr id="18" name="Shape 14"/>
          <p:cNvSpPr/>
          <p:nvPr/>
        </p:nvSpPr>
        <p:spPr>
          <a:xfrm>
            <a:off x="6245352" y="137160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992" y="1466240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9984" y="137160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최고점 스케줄 채택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6236208" y="1874520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전수탐색이 아니라 후보를 반복 개선하는 국소 탐색,</a:t>
            </a:r>
            <a:endParaRPr lang="en-US" sz="87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7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점수가 가장 높은 조합을 추천 스케줄로 제공</a:t>
            </a:r>
            <a:endParaRPr lang="en-US" sz="870" dirty="0"/>
          </a:p>
        </p:txBody>
      </p:sp>
      <p:sp>
        <p:nvSpPr>
          <p:cNvPr id="22" name="Text 17"/>
          <p:cNvSpPr/>
          <p:nvPr/>
        </p:nvSpPr>
        <p:spPr>
          <a:xfrm>
            <a:off x="457200" y="27523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이 과정을 거쳐 선택된 스케줄의 예측 각성도 곡선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3063240"/>
            <a:ext cx="8229600" cy="1824228"/>
          </a:xfrm>
          <a:prstGeom prst="roundRect">
            <a:avLst>
              <a:gd name="adj" fmla="val 5013"/>
            </a:avLst>
          </a:prstGeom>
          <a:solidFill>
            <a:srgbClr val="F6F1E9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09871"/>
            <a:ext cx="2788920" cy="12749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32104" y="4503093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취침</a:t>
            </a:r>
            <a:endParaRPr lang="en-US" sz="730" dirty="0"/>
          </a:p>
        </p:txBody>
      </p:sp>
      <p:sp>
        <p:nvSpPr>
          <p:cNvPr id="26" name="Text 20"/>
          <p:cNvSpPr/>
          <p:nvPr/>
        </p:nvSpPr>
        <p:spPr>
          <a:xfrm>
            <a:off x="1469571" y="4503093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</a:t>
            </a:r>
            <a:endParaRPr lang="en-US" sz="730" dirty="0"/>
          </a:p>
        </p:txBody>
      </p:sp>
      <p:sp>
        <p:nvSpPr>
          <p:cNvPr id="27" name="Text 21"/>
          <p:cNvSpPr/>
          <p:nvPr/>
        </p:nvSpPr>
        <p:spPr>
          <a:xfrm>
            <a:off x="2505456" y="4503093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시험시작</a:t>
            </a:r>
            <a:endParaRPr lang="en-US" sz="730" dirty="0"/>
          </a:p>
        </p:txBody>
      </p:sp>
      <p:sp>
        <p:nvSpPr>
          <p:cNvPr id="28" name="Shape 22"/>
          <p:cNvSpPr/>
          <p:nvPr/>
        </p:nvSpPr>
        <p:spPr>
          <a:xfrm>
            <a:off x="3749040" y="3209544"/>
            <a:ext cx="237744" cy="82296"/>
          </a:xfrm>
          <a:prstGeom prst="rect">
            <a:avLst/>
          </a:prstGeom>
          <a:solidFill>
            <a:srgbClr val="201409"/>
          </a:solidFill>
          <a:ln/>
        </p:spPr>
      </p:sp>
      <p:sp>
        <p:nvSpPr>
          <p:cNvPr id="29" name="Text 23"/>
          <p:cNvSpPr/>
          <p:nvPr/>
        </p:nvSpPr>
        <p:spPr>
          <a:xfrm>
            <a:off x="4069080" y="3108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깨어있는 동안 예측 각성도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749040" y="3592449"/>
            <a:ext cx="237744" cy="82296"/>
          </a:xfrm>
          <a:prstGeom prst="rect">
            <a:avLst/>
          </a:prstGeom>
          <a:solidFill>
            <a:srgbClr val="AB9D8C"/>
          </a:solidFill>
          <a:ln/>
        </p:spPr>
      </p:sp>
      <p:sp>
        <p:nvSpPr>
          <p:cNvPr id="31" name="Text 25"/>
          <p:cNvSpPr/>
          <p:nvPr/>
        </p:nvSpPr>
        <p:spPr>
          <a:xfrm>
            <a:off x="4069080" y="3491865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 중 구간 (모델상 회복)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749040" y="3975354"/>
            <a:ext cx="237744" cy="82296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3" name="Text 27"/>
          <p:cNvSpPr/>
          <p:nvPr/>
        </p:nvSpPr>
        <p:spPr>
          <a:xfrm>
            <a:off x="4069080" y="387477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부스트 구간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749040" y="4358259"/>
            <a:ext cx="237744" cy="82296"/>
          </a:xfrm>
          <a:prstGeom prst="rect">
            <a:avLst/>
          </a:prstGeom>
          <a:solidFill>
            <a:srgbClr val="7A4720"/>
          </a:solidFill>
          <a:ln/>
        </p:spPr>
      </p:sp>
      <p:sp>
        <p:nvSpPr>
          <p:cNvPr id="35" name="Text 29"/>
          <p:cNvSpPr/>
          <p:nvPr/>
        </p:nvSpPr>
        <p:spPr>
          <a:xfrm>
            <a:off x="4069080" y="4257675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정점 = 시험 시작 시각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계산 엔진 (1/8)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S — 수면압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234440"/>
            <a:ext cx="438912" cy="438912"/>
          </a:xfrm>
          <a:prstGeom prst="ellipse">
            <a:avLst/>
          </a:prstGeom>
          <a:solidFill>
            <a:srgbClr val="F6F1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13331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34440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processS.ts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46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깨어있는 동안: H(t) = μ + (H₀−μ)·e^(−(t−t₀)/χw)</a:t>
            </a:r>
            <a:endParaRPr lang="en-US" sz="9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자는 동안:    H(t) = H₀·e^(−(t−t₀)/χs)</a:t>
            </a:r>
            <a:endParaRPr lang="en-US" sz="9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χs = 4.2h(방전), χw = 18.2h(충전), μ = 1(상한)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457200" y="24597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 작성했나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843784"/>
            <a:ext cx="8112557" cy="1463040"/>
          </a:xfrm>
          <a:prstGeom prst="roundRect">
            <a:avLst>
              <a:gd name="adj" fmla="val 5625"/>
            </a:avLst>
          </a:prstGeom>
          <a:solidFill>
            <a:srgbClr val="F1E0C9"/>
          </a:solidFill>
          <a:ln/>
        </p:spPr>
      </p:sp>
      <p:sp>
        <p:nvSpPr>
          <p:cNvPr id="13" name="Text 10"/>
          <p:cNvSpPr/>
          <p:nvPr/>
        </p:nvSpPr>
        <p:spPr>
          <a:xfrm>
            <a:off x="574243" y="2966085"/>
            <a:ext cx="7858557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계산_모델_리서치.md 1장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수식을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옮겼다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χs(방전 4.2h)·χw(충전 18.2h)·μ(상한 1)는 Two-Process Model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표준값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(Borbély 1982,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Daan·Beersma·Borbély</a:t>
            </a:r>
            <a:r>
              <a:rPr lang="en-US" sz="1030" dirty="0"/>
              <a:t> 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1984)을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썼다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이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함수는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임의로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튜닝한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값이 하나도 없는 구간이다.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457200" y="4453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30" i="1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arXiv 1311.1734</a:t>
            </a:r>
            <a:endParaRPr lang="en-US" sz="8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5F0B0A2-5842-513A-41DF-68B0B721C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00" y="134403"/>
            <a:ext cx="7702199" cy="48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899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계산 엔진 (2/8)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C — 일주기리듬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234440"/>
            <a:ext cx="438912" cy="438912"/>
          </a:xfrm>
          <a:prstGeom prst="ellipse">
            <a:avLst/>
          </a:prstGeom>
          <a:solidFill>
            <a:srgbClr val="F6F1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13331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34440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processC.ts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46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C(t) = Σ aₙ·sin(2πn·t/24 + Φ)   (n = 1~5, 5-하모닉)</a:t>
            </a:r>
            <a:endParaRPr lang="en-US" sz="9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[0.97, 0.22, 0.07, 0.03, 0.001]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457200" y="24140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 작성했나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798064"/>
            <a:ext cx="8123682" cy="1655064"/>
          </a:xfrm>
          <a:prstGeom prst="roundRect">
            <a:avLst>
              <a:gd name="adj" fmla="val 4972"/>
            </a:avLst>
          </a:prstGeom>
          <a:solidFill>
            <a:srgbClr val="F1E0C9"/>
          </a:solidFill>
          <a:ln/>
        </p:spPr>
      </p:sp>
      <p:sp>
        <p:nvSpPr>
          <p:cNvPr id="13" name="Text 10"/>
          <p:cNvSpPr/>
          <p:nvPr/>
        </p:nvSpPr>
        <p:spPr>
          <a:xfrm>
            <a:off x="563118" y="2953512"/>
            <a:ext cx="781888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일주기 리듬은 사인파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하나로는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곡선과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잘 안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맞아서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진폭이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다른 5개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하모닉을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그대로 더하는 표준형을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썼다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위상(Φ)은 논문에 고정값이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없어서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최저점이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새벽 4시경에 오도록 5개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하모닉을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 더한 채로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탐색해서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맞춘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값이다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ㅡ</a:t>
            </a: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 따라서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위상 값이 과학적 근거가 있다고 장담할 수 없다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C67A8B-BD04-7B5D-3D04-BD96087B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577849"/>
            <a:ext cx="7934326" cy="393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78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계산 엔진 (3/8)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수면관성 · 오후슬럼프 보정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234440"/>
            <a:ext cx="438912" cy="438912"/>
          </a:xfrm>
          <a:prstGeom prst="ellipse">
            <a:avLst/>
          </a:prstGeom>
          <a:solidFill>
            <a:srgbClr val="F6F1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13331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34440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sleepInertia.ts  ·  lunchDip.ts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46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수면관성:   −0.3·e^(−경과시간/0.67h)   (기상 직후만)</a:t>
            </a:r>
            <a:endParaRPr lang="en-US" sz="9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오후슬럼프: −0.15·e^(−(시각−14)²/2)   (매일 14시 중심)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457200" y="2372869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 작성했나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756917"/>
            <a:ext cx="8028432" cy="1847088"/>
          </a:xfrm>
          <a:prstGeom prst="roundRect">
            <a:avLst>
              <a:gd name="adj" fmla="val 4455"/>
            </a:avLst>
          </a:prstGeom>
          <a:solidFill>
            <a:srgbClr val="F1E0C9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912365"/>
            <a:ext cx="760298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S+C만 더해서 곡선을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뽑아보니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기상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직후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각성도가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비현실적으로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높게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나왔다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그리고 </a:t>
            </a:r>
            <a:r>
              <a:rPr lang="ko-KR" alt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오후슬럼프도</a:t>
            </a: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과학적으로 여러 연구가 이루어지고 있는데 고려하지 않았다는 생각이 들었다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검증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눈으로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확인하다가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발견한 누락이라, 원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수식엔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없던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두 보정 항을 추가로 반영했다.</a:t>
            </a:r>
            <a:endParaRPr lang="en-US" sz="1030" dirty="0"/>
          </a:p>
          <a:p>
            <a:pPr marL="0" indent="0" algn="l">
              <a:lnSpc>
                <a:spcPct val="135000"/>
              </a:lnSpc>
              <a:buNone/>
            </a:pP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계수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(0.3·0.15 등)는 대부분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없는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근사치이고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수면관성 시간상수(0.67h)만</a:t>
            </a:r>
            <a:r>
              <a:rPr lang="en-US" sz="1030" dirty="0"/>
              <a:t> 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Jewett &amp; Kronauer(1999) 값을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썼다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근사치는 여러 기사 자료를 참고해 설정한 값이다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EE780A3-7285-F4B7-C579-FF862A3EA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58" y="704615"/>
            <a:ext cx="8521283" cy="37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30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30DC20-931C-0122-A462-91E47369C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62" y="1252353"/>
            <a:ext cx="8602275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15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계산 엔진 (4/8)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PK — 혈중농도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234440"/>
            <a:ext cx="438912" cy="438912"/>
          </a:xfrm>
          <a:prstGeom prst="ellipse">
            <a:avLst/>
          </a:prstGeom>
          <a:solidFill>
            <a:srgbClr val="F6F1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13331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34440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caffeineConcentration.ts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46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C(t) = F·Dose·ka / (Vd·(ka−ke)) · (e^(−ke·Δt) − e^(−ka·Δt))</a:t>
            </a:r>
            <a:endParaRPr lang="en-US" sz="9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1, ka = 5/h, Vd = 0.7 L/kg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457200" y="2465451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 작성했나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849499"/>
            <a:ext cx="8028432" cy="1655064"/>
          </a:xfrm>
          <a:prstGeom prst="roundRect">
            <a:avLst>
              <a:gd name="adj" fmla="val 4972"/>
            </a:avLst>
          </a:prstGeom>
          <a:solidFill>
            <a:srgbClr val="F1E0C9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3004947"/>
            <a:ext cx="757123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경구 섭취 표준 1차 흡수/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제거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약동학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(PK) 모델이다.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F(생체이용률)=1,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Vd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=0.7L/kg는 공개 자료(NCBI)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기준값을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썼고,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ka(흡수속도)=5는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음료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최고혈중농도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도달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r>
              <a:rPr lang="en-US" sz="1030" dirty="0"/>
              <a:t> 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(39~42분)을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거꾸로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계산해서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역산한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값이다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해당 역산은 자연로그를 이용했는데 아직 이해가 부족해서 원리에 대해서는 설명하지 못한다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5F69BC-8838-8CCB-4FA2-2E7BDE88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55" y="0"/>
            <a:ext cx="67156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83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계산 엔진 (5/8)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PD — 각성도 보정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234440"/>
            <a:ext cx="438912" cy="438912"/>
          </a:xfrm>
          <a:prstGeom prst="ellipse">
            <a:avLst/>
          </a:prstGeom>
          <a:solidFill>
            <a:srgbClr val="F6F1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13331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34440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caffeineEffect.ts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46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gPD(t) = 1 + Gmax·C(t)ⁿ / (EC50ⁿ + C(t)ⁿ)   (n = 1)</a:t>
            </a:r>
            <a:endParaRPr lang="en-US" sz="9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Gmax = 0.05 ~ 0.25 (피로도에 따라 가변), EC50 = 2mg/L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457200" y="22997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 작성했나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683764"/>
            <a:ext cx="8028432" cy="1847088"/>
          </a:xfrm>
          <a:prstGeom prst="roundRect">
            <a:avLst>
              <a:gd name="adj" fmla="val 4455"/>
            </a:avLst>
          </a:prstGeom>
          <a:solidFill>
            <a:srgbClr val="F1E0C9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839212"/>
            <a:ext cx="755218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논문에서 정확한 Hill 계수를 못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구해서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표준 포화형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용량-반응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곡선</a:t>
            </a:r>
            <a:r>
              <a:rPr lang="en-US" sz="1030" dirty="0"/>
              <a:t> 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(Hill/Michaelis-Menten)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근사했다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Gmax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부스트)는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코드에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＇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없는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근사치'라고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명시해뒀고,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EC50=2mg/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L은</a:t>
            </a:r>
            <a:r>
              <a:rPr lang="en-US" sz="1030" dirty="0"/>
              <a:t> 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200mg 섭취 시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최대혈중농도의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절반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지점으로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잡았다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원래는 카페인의 각성 정도만 고려할 예정이었으나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피로도에 따라서 카페인의 각성 능력이 달라질 수 있는 점을 고려해</a:t>
            </a:r>
            <a:endParaRPr lang="en-US" altLang="ko-KR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수면압</a:t>
            </a: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 함수를 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import </a:t>
            </a: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해 계산된다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. (</a:t>
            </a: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과학적 근거 부족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10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3D9CA2-57B3-69C2-482F-85E80D603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74" y="0"/>
            <a:ext cx="76216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42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계산 엔진 (6/8)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결합 — P(t)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234440"/>
            <a:ext cx="438912" cy="438912"/>
          </a:xfrm>
          <a:prstGeom prst="ellipse">
            <a:avLst/>
          </a:prstGeom>
          <a:solidFill>
            <a:srgbClr val="F6F1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13331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34440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baselineAlertness.ts  ·  alertness.ts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46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P0(t) = (1−H(t)) + κ·C(t) + 수면관성 + 오후슬럼프</a:t>
            </a:r>
            <a:endParaRPr lang="en-US" sz="9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P(t)  = P0(t) × gPD(t)      (κ = 0.2)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457200" y="24597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 작성했나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843784"/>
            <a:ext cx="8028432" cy="1655064"/>
          </a:xfrm>
          <a:prstGeom prst="roundRect">
            <a:avLst>
              <a:gd name="adj" fmla="val 4972"/>
            </a:avLst>
          </a:prstGeom>
          <a:solidFill>
            <a:srgbClr val="F1E0C9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999232"/>
            <a:ext cx="755218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sleepPressure는 '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피로도'라서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각성도로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쓰려면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뒤집어야(1−H) 하는데,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처음엔</a:t>
            </a:r>
            <a:r>
              <a:rPr lang="en-US" sz="1030" dirty="0"/>
              <a:t> 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뒤집어서 '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깨어있을수록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각성도가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높다'는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반대 결과가 나온 걸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발견해서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고쳤다(코드 주석에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).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κ(일주기 진폭 계수)=0.2는 원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논문값을</a:t>
            </a:r>
            <a:r>
              <a:rPr lang="en-US" sz="1030" dirty="0"/>
              <a:t> 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못 구해 근사치로 잡은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값이다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해당 계수는 유료 논문을 더 열람하면 값을 구할 수 있을 것으로 생각된다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B89D04-C6C2-842A-3159-D0C8BFAA4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15" y="499773"/>
            <a:ext cx="8745170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43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4D7681-4B6B-E64A-B97F-C57967727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67" y="266378"/>
            <a:ext cx="8707065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51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계산 엔진 (7/8)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섭취 한도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234440"/>
            <a:ext cx="438912" cy="438912"/>
          </a:xfrm>
          <a:prstGeom prst="ellipse">
            <a:avLst/>
          </a:prstGeom>
          <a:solidFill>
            <a:srgbClr val="F6F1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13331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34440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dailyCaffeineLimit.ts  ·  remainingCaffeineBudget.ts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46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연령·건강상태별 한도 중 가장 낮은 값 적용</a:t>
            </a:r>
            <a:endParaRPr lang="en-US" sz="9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20세 미만: min(100mg, 체중 × 2.5mg/kg)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475488" y="245592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 작성했나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" y="2839974"/>
            <a:ext cx="7991856" cy="1655064"/>
          </a:xfrm>
          <a:prstGeom prst="roundRect">
            <a:avLst>
              <a:gd name="adj" fmla="val 4972"/>
            </a:avLst>
          </a:prstGeom>
          <a:solidFill>
            <a:srgbClr val="F1E0C9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" y="2995422"/>
            <a:ext cx="759739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성인은 FDA 기준 고정 400mg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한도를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쓰지만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12~19세는 체중당 상한(mg/kg)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권고가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일반적이라 나이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구간별로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방식을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다르게 뒀다.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임신·심장질환·불안불면처럼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여러 조건이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겹치면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그중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가장 엄격한(가장 낮은)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한도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하나만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적용하도록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설계했다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리액트</a:t>
            </a: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FE</a:t>
            </a:r>
            <a:r>
              <a:rPr lang="ko-KR" alt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에도 몸무게 입력란을 새로 설계했다</a:t>
            </a:r>
            <a:r>
              <a:rPr lang="en-US" altLang="ko-KR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8C8132-099E-ACE4-1E31-741C748F1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98" y="0"/>
            <a:ext cx="72212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25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FFF1C6-8F02-143C-5825-9DD7CBF82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6088"/>
            <a:ext cx="9144000" cy="169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57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계산 엔진 (8/8)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그리드 탐색 — 목표 시각 역산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234440"/>
            <a:ext cx="438912" cy="438912"/>
          </a:xfrm>
          <a:prstGeom prst="ellipse">
            <a:avLst/>
          </a:prstGeom>
          <a:solidFill>
            <a:srgbClr val="F6F1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" y="133319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34440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014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candidateSleepSegments.ts  ·  singleExamScheduleSearch.ts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4650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평소/원래 시각 ±1시간, 15분 간격 그리드에서</a:t>
            </a:r>
            <a:endParaRPr lang="en-US" sz="9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930" dirty="0">
                <a:solidFill>
                  <a:srgbClr val="7A47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시험 시작 시각의 P(t)를 최대화하는 취침·기상·카페인 조합 탐색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457200" y="222656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이렇게 작성했나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610612"/>
            <a:ext cx="8089900" cy="2304288"/>
          </a:xfrm>
          <a:prstGeom prst="roundRect">
            <a:avLst>
              <a:gd name="adj" fmla="val 3147"/>
            </a:avLst>
          </a:prstGeom>
          <a:solidFill>
            <a:srgbClr val="F1E0C9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766060"/>
            <a:ext cx="7679182" cy="2002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패널티·가중치 없는 단순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탐색으로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만들었다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아직 검증 안 된 S/C/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위에 무거운 최적화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로직까지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번에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얹으면,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버그가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생체수학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문제인지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최적화 로직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문제인지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구분이</a:t>
            </a:r>
            <a:r>
              <a:rPr lang="en-US" sz="1030" dirty="0"/>
              <a:t> 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 되기 때문이다(2주차_계획.md 3.2).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03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시각은 여유시간을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빼지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않은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시작 시각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여유시간은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사람마다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편차가 커서 계산에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넣지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않고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안내 문구로 대체(2026-07-16 결정).</a:t>
            </a:r>
            <a:endParaRPr lang="en-US" sz="1030" dirty="0"/>
          </a:p>
          <a:p>
            <a:pPr marL="0" indent="0" algn="l">
              <a:lnSpc>
                <a:spcPct val="135000"/>
              </a:lnSpc>
              <a:buNone/>
            </a:pPr>
            <a:endParaRPr lang="en-US" sz="1030" dirty="0">
              <a:solidFill>
                <a:srgbClr val="7A4720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채점 구조를 3주차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</a:t>
            </a:r>
            <a:r>
              <a:rPr lang="en-US" sz="1030" dirty="0"/>
              <a:t> </a:t>
            </a:r>
            <a:r>
              <a:rPr lang="en-US" sz="1030" dirty="0" err="1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최적화가</a:t>
            </a:r>
            <a:r>
              <a:rPr lang="en-US" sz="1030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그대로 재사용할 예정이다.</a:t>
            </a:r>
            <a:endParaRPr lang="en-US" sz="10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3E2713-D22B-E027-CC80-8BCB07823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50" y="0"/>
            <a:ext cx="55316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428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3C42C0DF-63BD-9009-4FFE-E2BAE2266FEF}"/>
              </a:ext>
            </a:extLst>
          </p:cNvPr>
          <p:cNvGrpSpPr/>
          <p:nvPr/>
        </p:nvGrpSpPr>
        <p:grpSpPr>
          <a:xfrm>
            <a:off x="1898457" y="52110"/>
            <a:ext cx="5347086" cy="5039280"/>
            <a:chOff x="1542279" y="0"/>
            <a:chExt cx="4801371" cy="456043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7864EFD-772D-9E88-C0AD-C676E77EF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6905" y="0"/>
              <a:ext cx="4282915" cy="362585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BEFE426-BDB7-D9CD-FE56-868134894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2279" y="3625851"/>
              <a:ext cx="4801371" cy="9345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7090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F4D0DDA-6F20-EE5A-1007-06B50D98E777}"/>
              </a:ext>
            </a:extLst>
          </p:cNvPr>
          <p:cNvGrpSpPr/>
          <p:nvPr/>
        </p:nvGrpSpPr>
        <p:grpSpPr>
          <a:xfrm>
            <a:off x="2153187" y="148837"/>
            <a:ext cx="4837626" cy="4845826"/>
            <a:chOff x="1312036" y="0"/>
            <a:chExt cx="4837626" cy="484582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2E7DA81-6655-B2B0-32CA-8D4D6B15C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2036" y="0"/>
              <a:ext cx="4837626" cy="381635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D877F54-E822-3E35-870F-5F9CD912C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2036" y="3816350"/>
              <a:ext cx="4837626" cy="1029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66076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핵심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핵심 결과 — 목표 각성 시각 역산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체중 65kg · 카페인 민감도 "보통" · 08시 커피 200mg · 09시 시험 — 목표 시각은 09시(시험 시작) 그대로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6F1E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7452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평소 스케줄 그대로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219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0.7196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B9D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시작 시각 P(t) 점수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227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취침 23:00 · 기상 07:00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2697480"/>
            <a:ext cx="640080" cy="0"/>
          </a:xfrm>
          <a:prstGeom prst="line">
            <a:avLst/>
          </a:prstGeom>
          <a:noFill/>
          <a:ln w="19050">
            <a:solidFill>
              <a:srgbClr val="9A5B2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92040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F1E0C9"/>
          </a:solidFill>
          <a:ln w="19050">
            <a:solidFill>
              <a:srgbClr val="9A5B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87452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탐색으로 찾은 최적 스케줄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2219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0.7486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120640" y="2880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시작 시각 P(t) 점수  (+4.0%)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3227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4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취침 22:00 · 기상 07:30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904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8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스크립트(verifySingleExamSchedule.ts)로 확인 — 취침·기상·카페인 후보를 ±1시간 그리드에서 탐색한 결과,</a:t>
            </a:r>
            <a:endParaRPr lang="en-US" sz="98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8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1시간 더 일찍 자고 30분 늦게 일어나는 조합이 시험 시작 시각의 각성도를 더 높인다는 걸 수치로 확인했다.</a:t>
            </a:r>
            <a:endParaRPr lang="en-US" sz="9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의사결정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의사결정 · </a:t>
            </a:r>
            <a:r>
              <a:rPr lang="en-US" sz="2500" b="1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</a:t>
            </a:r>
            <a:r>
              <a:rPr lang="en-US" altLang="ko-KR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</a:t>
            </a:r>
            <a:r>
              <a:rPr lang="ko-KR" alt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22756"/>
            <a:ext cx="8229600" cy="3653028"/>
          </a:xfrm>
          <a:prstGeom prst="roundRect">
            <a:avLst>
              <a:gd name="adj" fmla="val 2503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404112"/>
            <a:ext cx="237744" cy="23774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04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88720" y="141427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근사 모델 확정 — 표준 포화형 곡선(Hill n=1)</a:t>
            </a:r>
            <a:r>
              <a:rPr lang="en-US" sz="1080" dirty="0"/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근사, Gmax는 근거 없는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근사치로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22960" y="2007616"/>
            <a:ext cx="237744" cy="23774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07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8720" y="201777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중 발견한 보정 항 추가 —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수면관성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오후슬럼프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딥을 원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수식에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22960" y="2611120"/>
            <a:ext cx="237744" cy="23774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11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2621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sleepPressure 부호 버그 수정 — 각성도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</a:t>
            </a:r>
            <a:r>
              <a:rPr lang="en-US" sz="1080" dirty="0"/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뒤집어야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함을 검증 스크립트로 확인 후 수정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3214624"/>
            <a:ext cx="237744" cy="23774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14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8720" y="32247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각성 시각에서 이동시간 제외 —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통학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방식이</a:t>
            </a:r>
            <a:r>
              <a:rPr lang="en-US" sz="1080" dirty="0"/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제각각이라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일반화 어려워 안내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문구로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대체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22960" y="3818128"/>
            <a:ext cx="237744" cy="23774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18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88720" y="38282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후보 탐색 그리드 확정 — ±1시간·15분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간격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1080" dirty="0"/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카페인은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시각만 후보로 흔들고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용량은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22960" y="4421632"/>
            <a:ext cx="237744" cy="237744"/>
          </a:xfrm>
          <a:prstGeom prst="ellipse">
            <a:avLst/>
          </a:prstGeom>
          <a:solidFill>
            <a:srgbClr val="9A5B2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421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8720" y="443179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여유시간도 계산에서 제외 —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목표는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그냥</a:t>
            </a:r>
            <a:r>
              <a:rPr lang="en-US" sz="1080" dirty="0"/>
              <a:t> 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"시험 시작 시각에 각성도 최고", 안내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문구만</a:t>
            </a:r>
            <a:r>
              <a:rPr lang="en-US" sz="108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80" dirty="0" err="1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</a:t>
            </a:r>
            <a:endParaRPr lang="en-US" sz="10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2주차 · 이슈 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3주차로 넘어가는 것 — GitHub 마일스톤 정리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마일스톤 "2주차"에 남아있던 이슈 3개를 오늘 정리했다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640080"/>
          </a:xfrm>
          <a:prstGeom prst="roundRect">
            <a:avLst>
              <a:gd name="adj" fmla="val 12857"/>
            </a:avLst>
          </a:prstGeom>
          <a:solidFill>
            <a:srgbClr val="E8F0E3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8288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91109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86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74520" y="16916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각성 시각 역산 (단순 탐색, 시험 1개)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0" y="1837944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3A6B2E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18379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— 닫음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468880"/>
            <a:ext cx="8229600" cy="640080"/>
          </a:xfrm>
          <a:prstGeom prst="roundRect">
            <a:avLst>
              <a:gd name="adj" fmla="val 12857"/>
            </a:avLst>
          </a:prstGeom>
          <a:solidFill>
            <a:srgbClr val="F6F1E9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" y="26060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688336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86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874520" y="24688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시험 최적화 — 그리드 결정변수 정의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583680" y="2615184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9A5B28"/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26151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3주차로 이동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57200" y="3246120"/>
            <a:ext cx="8229600" cy="640080"/>
          </a:xfrm>
          <a:prstGeom prst="roundRect">
            <a:avLst>
              <a:gd name="adj" fmla="val 12857"/>
            </a:avLst>
          </a:prstGeom>
          <a:solidFill>
            <a:srgbClr val="F6F1E9"/>
          </a:solidFill>
          <a:ln/>
        </p:spPr>
      </p:sp>
      <p:sp>
        <p:nvSpPr>
          <p:cNvPr id="21" name="Shape 17"/>
          <p:cNvSpPr/>
          <p:nvPr/>
        </p:nvSpPr>
        <p:spPr>
          <a:xfrm>
            <a:off x="658368" y="33832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465576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8872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86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874520" y="32461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프로젝트 생성 및 마이그레이션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583680" y="3392424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9A5B28"/>
          </a:solidFill>
          <a:ln/>
        </p:spPr>
      </p:sp>
      <p:sp>
        <p:nvSpPr>
          <p:cNvPr id="26" name="Text 21"/>
          <p:cNvSpPr/>
          <p:nvPr/>
        </p:nvSpPr>
        <p:spPr>
          <a:xfrm>
            <a:off x="6583680" y="33924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3주차로 이동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8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#10 · #14는 원래 3주차 범위(다중 시험 최적화 · Supabase 연동)에 속하는 작업이라 마일스톤만 옮겼고,</a:t>
            </a:r>
            <a:endParaRPr lang="en-US" sz="98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80" i="1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#8은 오늘 candidateSleepSegments.ts + singleExamScheduleSearch.ts로 실제 구현을 마쳐서 닫았다.</a:t>
            </a:r>
            <a:endParaRPr lang="en-US" sz="9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9A5B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 · 다음 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 예고 · 고민되는 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457200" cy="41148"/>
          </a:xfrm>
          <a:prstGeom prst="rect">
            <a:avLst/>
          </a:prstGeom>
          <a:solidFill>
            <a:srgbClr val="9A5B2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624328" cy="2880360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16779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19456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3주차 목표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22585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"계산하기" 누르면 진짜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계산돼서 결과가 나오는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상태를 만드는 게 목표.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시험 최적화 + API +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연동까지 한 번에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1371600"/>
            <a:ext cx="2624328" cy="2880360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11" name="Shape 8"/>
          <p:cNvSpPr/>
          <p:nvPr/>
        </p:nvSpPr>
        <p:spPr>
          <a:xfrm>
            <a:off x="4302252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16779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19456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과제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447288" y="2651760"/>
            <a:ext cx="22585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1개용 그리드 탐색을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시험 동시 배분으로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확장해야 하는데, 패널티·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 설계를 어떻게 할지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구체화 안 됨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71616" y="1371600"/>
            <a:ext cx="2624328" cy="2880360"/>
          </a:xfrm>
          <a:prstGeom prst="roundRect">
            <a:avLst>
              <a:gd name="adj" fmla="val 3484"/>
            </a:avLst>
          </a:prstGeom>
          <a:solidFill>
            <a:srgbClr val="F6F1E9"/>
          </a:solidFill>
          <a:ln/>
        </p:spPr>
      </p:sp>
      <p:sp>
        <p:nvSpPr>
          <p:cNvPr id="16" name="Shape 12"/>
          <p:cNvSpPr/>
          <p:nvPr/>
        </p:nvSpPr>
        <p:spPr>
          <a:xfrm>
            <a:off x="7109460" y="15544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167792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08776" y="219456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14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안 정한 것들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54496" y="2651760"/>
            <a:ext cx="22585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카페인 mg 직접 입력 폼,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스케줄 조정 화면 날짜 선택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UI, 공통 컴포넌트(Chart 등)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분리 범위 — spec.md "열려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786A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있는 질문"에 정리해둠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2502</Words>
  <Application>Microsoft Office PowerPoint</Application>
  <PresentationFormat>화면 슬라이드 쇼(16:9)</PresentationFormat>
  <Paragraphs>329</Paragraphs>
  <Slides>37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1" baseType="lpstr">
      <vt:lpstr>Noto Sans KR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시험 벼락치기 스케줄러 — 2주차 진행 공유</dc:title>
  <dc:subject>PptxGenJS Presentation</dc:subject>
  <dc:creator>N110_안정연</dc:creator>
  <cp:lastModifiedBy>정연 안</cp:lastModifiedBy>
  <cp:revision>9</cp:revision>
  <dcterms:created xsi:type="dcterms:W3CDTF">2026-07-16T08:06:39Z</dcterms:created>
  <dcterms:modified xsi:type="dcterms:W3CDTF">2026-07-16T09:27:23Z</dcterms:modified>
</cp:coreProperties>
</file>