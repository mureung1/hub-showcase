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685800"/>
            <a:ext cx="1005840" cy="1005840"/>
          </a:xfrm>
          <a:prstGeom prst="ellipse">
            <a:avLst/>
          </a:prstGeom>
          <a:solidFill>
            <a:srgbClr val="24130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5968" y="932688"/>
            <a:ext cx="512064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965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DE0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시험 벼락치기 스케줄러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2788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시험기간 대학생의 벼락치기 수면·카페인 스케줄을 최적화하는 도구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B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N110_안정연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무엇을, 어떻게 해결하는가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417320"/>
            <a:ext cx="3611880" cy="2971800"/>
          </a:xfrm>
          <a:prstGeom prst="roundRect">
            <a:avLst>
              <a:gd name="adj" fmla="val 3077"/>
            </a:avLst>
          </a:prstGeom>
          <a:solidFill>
            <a:srgbClr val="FBF5EB"/>
          </a:solidFill>
          <a:ln/>
        </p:spPr>
      </p:sp>
      <p:sp>
        <p:nvSpPr>
          <p:cNvPr id="5" name="Shape 3"/>
          <p:cNvSpPr/>
          <p:nvPr/>
        </p:nvSpPr>
        <p:spPr>
          <a:xfrm>
            <a:off x="2308860" y="1691640"/>
            <a:ext cx="640080" cy="640080"/>
          </a:xfrm>
          <a:prstGeom prst="ellipse">
            <a:avLst/>
          </a:prstGeom>
          <a:solidFill>
            <a:srgbClr val="C17F3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9736" y="183794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468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문제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92608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수면·카페인을 감으로 조절하다가 컨디션이 무너지고, 정작 시험 당일 상태가 안 좋아짐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611880" cy="2971800"/>
          </a:xfrm>
          <a:prstGeom prst="roundRect">
            <a:avLst>
              <a:gd name="adj" fmla="val 3077"/>
            </a:avLst>
          </a:prstGeom>
          <a:solidFill>
            <a:srgbClr val="FBF5EB"/>
          </a:solidFill>
          <a:ln/>
        </p:spPr>
      </p:sp>
      <p:sp>
        <p:nvSpPr>
          <p:cNvPr id="10" name="Shape 7"/>
          <p:cNvSpPr/>
          <p:nvPr/>
        </p:nvSpPr>
        <p:spPr>
          <a:xfrm>
            <a:off x="6195060" y="1691640"/>
            <a:ext cx="640080" cy="640080"/>
          </a:xfrm>
          <a:prstGeom prst="ellipse">
            <a:avLst/>
          </a:prstGeom>
          <a:solidFill>
            <a:srgbClr val="C17F3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83794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2468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해결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83480" y="292608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자연어로 상황을 설명하면, 검증된 수면과학 모델로 시험 시작 시각 각성도를 최대화하는 스케줄을 계산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BF5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258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2679192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소개, 시작하기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03120" y="2537460"/>
            <a:ext cx="274320" cy="0"/>
          </a:xfrm>
          <a:prstGeom prst="line">
            <a:avLst/>
          </a:prstGeom>
          <a:noFill/>
          <a:ln w="19050">
            <a:solidFill>
              <a:srgbClr val="2E1A0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77440" y="187452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BF5EB"/>
          </a:solidFill>
          <a:ln/>
        </p:spPr>
      </p:sp>
      <p:sp>
        <p:nvSpPr>
          <p:cNvPr id="10" name="Text 8"/>
          <p:cNvSpPr/>
          <p:nvPr/>
        </p:nvSpPr>
        <p:spPr>
          <a:xfrm>
            <a:off x="237744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2258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정보 입력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50592" y="2679192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+ 조건 입력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2537460"/>
            <a:ext cx="274320" cy="0"/>
          </a:xfrm>
          <a:prstGeom prst="line">
            <a:avLst/>
          </a:prstGeom>
          <a:noFill/>
          <a:ln w="19050">
            <a:solidFill>
              <a:srgbClr val="2E1A0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931920" y="187452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BF5EB"/>
          </a:solidFill>
          <a:ln/>
        </p:spPr>
      </p:sp>
      <p:sp>
        <p:nvSpPr>
          <p:cNvPr id="15" name="Text 13"/>
          <p:cNvSpPr/>
          <p:nvPr/>
        </p:nvSpPr>
        <p:spPr>
          <a:xfrm>
            <a:off x="393192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77640" y="2258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처리 중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05072" y="2679192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계산 진행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212080" y="2537460"/>
            <a:ext cx="274320" cy="0"/>
          </a:xfrm>
          <a:prstGeom prst="line">
            <a:avLst/>
          </a:prstGeom>
          <a:noFill/>
          <a:ln w="19050">
            <a:solidFill>
              <a:srgbClr val="2E1A0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0" y="187452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BF5E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32120" y="2258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59552" y="2679192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각성도 그래프 + 추천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66560" y="2537460"/>
            <a:ext cx="274320" cy="0"/>
          </a:xfrm>
          <a:prstGeom prst="line">
            <a:avLst/>
          </a:prstGeom>
          <a:noFill/>
          <a:ln w="19050">
            <a:solidFill>
              <a:srgbClr val="2E1A0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40880" y="1874520"/>
            <a:ext cx="1280160" cy="1325880"/>
          </a:xfrm>
          <a:prstGeom prst="roundRect">
            <a:avLst>
              <a:gd name="adj" fmla="val 5714"/>
            </a:avLst>
          </a:prstGeom>
          <a:solidFill>
            <a:srgbClr val="FBF5EB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0" y="1965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2258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스케줄 조정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14032" y="2679192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슬라이더로 직접 조정</a:t>
            </a:r>
            <a:endParaRPr lang="en-US" sz="9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3273552"/>
            <a:ext cx="3474720" cy="78181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41010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스케줄 조정에서 조건을 바꾸면 처리 중으로 돌아가 재계산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목록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417320"/>
            <a:ext cx="7040880" cy="502920"/>
          </a:xfrm>
          <a:prstGeom prst="roundRect">
            <a:avLst>
              <a:gd name="adj" fmla="val 14545"/>
            </a:avLst>
          </a:prstGeom>
          <a:solidFill>
            <a:srgbClr val="FBF5EB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1499616"/>
            <a:ext cx="338328" cy="338328"/>
          </a:xfrm>
          <a:prstGeom prst="ellipse">
            <a:avLst/>
          </a:prstGeom>
          <a:solidFill>
            <a:srgbClr val="C17F3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49961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1417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14173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소개, 시작하기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029968"/>
            <a:ext cx="7040880" cy="502920"/>
          </a:xfrm>
          <a:prstGeom prst="roundRect">
            <a:avLst>
              <a:gd name="adj" fmla="val 14545"/>
            </a:avLst>
          </a:prstGeom>
          <a:solidFill>
            <a:srgbClr val="FBF5EB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560" y="2112264"/>
            <a:ext cx="338328" cy="338328"/>
          </a:xfrm>
          <a:prstGeom prst="ellipse">
            <a:avLst/>
          </a:prstGeom>
          <a:solidFill>
            <a:srgbClr val="C17F3E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2029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정보 입력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0" y="202996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+ 조건 입력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642616"/>
            <a:ext cx="7040880" cy="502920"/>
          </a:xfrm>
          <a:prstGeom prst="roundRect">
            <a:avLst>
              <a:gd name="adj" fmla="val 14545"/>
            </a:avLst>
          </a:prstGeom>
          <a:solidFill>
            <a:srgbClr val="FBF5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" y="2724912"/>
            <a:ext cx="338328" cy="338328"/>
          </a:xfrm>
          <a:prstGeom prst="ellipse">
            <a:avLst/>
          </a:prstGeom>
          <a:solidFill>
            <a:srgbClr val="C17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272491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26426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처리 중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264261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계산 진행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255264"/>
            <a:ext cx="7040880" cy="502920"/>
          </a:xfrm>
          <a:prstGeom prst="roundRect">
            <a:avLst>
              <a:gd name="adj" fmla="val 14545"/>
            </a:avLst>
          </a:prstGeom>
          <a:solidFill>
            <a:srgbClr val="FBF5E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1560" y="3337560"/>
            <a:ext cx="338328" cy="338328"/>
          </a:xfrm>
          <a:prstGeom prst="ellipse">
            <a:avLst/>
          </a:prstGeom>
          <a:solidFill>
            <a:srgbClr val="C17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33756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32552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325526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각성도 그래프 + 추천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3867912"/>
            <a:ext cx="7040880" cy="502920"/>
          </a:xfrm>
          <a:prstGeom prst="roundRect">
            <a:avLst>
              <a:gd name="adj" fmla="val 14545"/>
            </a:avLst>
          </a:prstGeom>
          <a:solidFill>
            <a:srgbClr val="FBF5EB"/>
          </a:solidFill>
          <a:ln/>
        </p:spPr>
      </p:sp>
      <p:sp>
        <p:nvSpPr>
          <p:cNvPr id="25" name="Shape 23"/>
          <p:cNvSpPr/>
          <p:nvPr/>
        </p:nvSpPr>
        <p:spPr>
          <a:xfrm>
            <a:off x="1051560" y="3950208"/>
            <a:ext cx="338328" cy="338328"/>
          </a:xfrm>
          <a:prstGeom prst="ellipse">
            <a:avLst/>
          </a:prstGeom>
          <a:solidFill>
            <a:srgbClr val="C17F3E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395020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54480" y="386791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스케줄 조정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657600" y="386791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슬라이더로 직접 조정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와이어프레임 · 홈 / 정보 입력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홈</a:t>
            </a:r>
            <a:endParaRPr lang="en-US" sz="1600" dirty="0"/>
          </a:p>
        </p:txBody>
      </p:sp>
      <p:pic>
        <p:nvPicPr>
          <p:cNvPr id="5" name="Image 0" descr="../screens/home-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378" y="1691640"/>
            <a:ext cx="1862763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정보 입력</a:t>
            </a:r>
            <a:endParaRPr lang="en-US" sz="1600" dirty="0"/>
          </a:p>
        </p:txBody>
      </p:sp>
      <p:pic>
        <p:nvPicPr>
          <p:cNvPr id="7" name="Image 1" descr="../screens/input-sc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858" y="1691640"/>
            <a:ext cx="1862763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와이어프레임 · 처리 중 / 결과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처리 중</a:t>
            </a:r>
            <a:endParaRPr lang="en-US" sz="1600" dirty="0"/>
          </a:p>
        </p:txBody>
      </p:sp>
      <p:pic>
        <p:nvPicPr>
          <p:cNvPr id="5" name="Image 0" descr="../screens/processing-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378" y="1691640"/>
            <a:ext cx="1862763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 결과</a:t>
            </a:r>
            <a:endParaRPr lang="en-US" sz="1600" dirty="0"/>
          </a:p>
        </p:txBody>
      </p:sp>
      <p:pic>
        <p:nvPicPr>
          <p:cNvPr id="7" name="Image 1" descr="../screens/result-sc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858" y="1691640"/>
            <a:ext cx="1862763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와이어프레임 · 스케줄 조정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⑤ 스케줄 조정</a:t>
            </a:r>
            <a:endParaRPr lang="en-US" sz="1800" dirty="0"/>
          </a:p>
        </p:txBody>
      </p:sp>
      <p:pic>
        <p:nvPicPr>
          <p:cNvPr id="5" name="Image 0" descr="../screens/adjust-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0485" y="1737360"/>
            <a:ext cx="2043031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과정 요약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2344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17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지금까지 — 기획 완료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BF5E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1691640"/>
            <a:ext cx="292608" cy="292608"/>
          </a:xfrm>
          <a:prstGeom prst="ellipse">
            <a:avLst/>
          </a:prstGeom>
          <a:solidFill>
            <a:srgbClr val="C17F3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75564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6642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아이디어 검증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205740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후보를 실현가능성·차별성 기준으로 좁혀감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953512" y="2034540"/>
            <a:ext cx="274320" cy="0"/>
          </a:xfrm>
          <a:prstGeom prst="line">
            <a:avLst/>
          </a:prstGeom>
          <a:noFill/>
          <a:ln w="19050">
            <a:solidFill>
              <a:srgbClr val="C17F3E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227832" y="15544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BF5EB"/>
          </a:solidFill>
          <a:ln/>
        </p:spPr>
      </p:sp>
      <p:sp>
        <p:nvSpPr>
          <p:cNvPr id="12" name="Shape 9"/>
          <p:cNvSpPr/>
          <p:nvPr/>
        </p:nvSpPr>
        <p:spPr>
          <a:xfrm>
            <a:off x="3364992" y="1691640"/>
            <a:ext cx="292608" cy="292608"/>
          </a:xfrm>
          <a:prstGeom prst="ellipse">
            <a:avLst/>
          </a:prstGeom>
          <a:solidFill>
            <a:srgbClr val="C17F3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55648"/>
            <a:ext cx="164592" cy="1645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30752" y="16642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전공 지식 기반 설계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64992" y="205740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수면과학 논문을 계산 근거로 채택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358384" y="2034540"/>
            <a:ext cx="274320" cy="0"/>
          </a:xfrm>
          <a:prstGeom prst="line">
            <a:avLst/>
          </a:prstGeom>
          <a:noFill/>
          <a:ln w="19050">
            <a:solidFill>
              <a:srgbClr val="C17F3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632704" y="15544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BF5EB"/>
          </a:solidFill>
          <a:ln/>
        </p:spPr>
      </p:sp>
      <p:sp>
        <p:nvSpPr>
          <p:cNvPr id="18" name="Shape 14"/>
          <p:cNvSpPr/>
          <p:nvPr/>
        </p:nvSpPr>
        <p:spPr>
          <a:xfrm>
            <a:off x="5769864" y="1691640"/>
            <a:ext cx="292608" cy="292608"/>
          </a:xfrm>
          <a:prstGeom prst="ellipse">
            <a:avLst/>
          </a:prstGeom>
          <a:solidFill>
            <a:srgbClr val="C17F3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2" y="1755648"/>
            <a:ext cx="164592" cy="16459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35624" y="16642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시나리오·기획서 완성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769864" y="205740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흐름 중심으로 화면·기획서 설계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822960" y="26974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앞으로 — 4주 개발 계획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22960" y="3017520"/>
            <a:ext cx="1563624" cy="1234440"/>
          </a:xfrm>
          <a:prstGeom prst="roundRect">
            <a:avLst>
              <a:gd name="adj" fmla="val 5926"/>
            </a:avLst>
          </a:prstGeom>
          <a:solidFill>
            <a:srgbClr val="FBF7F2"/>
          </a:solidFill>
          <a:ln w="12700">
            <a:solidFill>
              <a:srgbClr val="C9B8A4"/>
            </a:solidFill>
            <a:prstDash val="dash"/>
          </a:ln>
        </p:spPr>
      </p:sp>
      <p:sp>
        <p:nvSpPr>
          <p:cNvPr id="24" name="Text 19"/>
          <p:cNvSpPr/>
          <p:nvPr/>
        </p:nvSpPr>
        <p:spPr>
          <a:xfrm>
            <a:off x="822960" y="31546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1주차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914400" y="3547872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 엔진 구현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2386584" y="3634740"/>
            <a:ext cx="228600" cy="0"/>
          </a:xfrm>
          <a:prstGeom prst="line">
            <a:avLst/>
          </a:prstGeom>
          <a:noFill/>
          <a:ln w="19050">
            <a:solidFill>
              <a:srgbClr val="8A6C52"/>
            </a:solidFill>
            <a:prstDash val="dash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2615184" y="3017520"/>
            <a:ext cx="1563624" cy="1234440"/>
          </a:xfrm>
          <a:prstGeom prst="roundRect">
            <a:avLst>
              <a:gd name="adj" fmla="val 5926"/>
            </a:avLst>
          </a:prstGeom>
          <a:solidFill>
            <a:srgbClr val="FBF7F2"/>
          </a:solidFill>
          <a:ln w="12700">
            <a:solidFill>
              <a:srgbClr val="C9B8A4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2615184" y="31546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2주차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2706624" y="3547872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처리 + 화면 개발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4178808" y="3634740"/>
            <a:ext cx="228600" cy="0"/>
          </a:xfrm>
          <a:prstGeom prst="line">
            <a:avLst/>
          </a:prstGeom>
          <a:noFill/>
          <a:ln w="19050">
            <a:solidFill>
              <a:srgbClr val="8A6C52"/>
            </a:solidFill>
            <a:prstDash val="dash"/>
            <a:tailEnd type="triangle"/>
          </a:ln>
        </p:spPr>
      </p:sp>
      <p:sp>
        <p:nvSpPr>
          <p:cNvPr id="31" name="Shape 26"/>
          <p:cNvSpPr/>
          <p:nvPr/>
        </p:nvSpPr>
        <p:spPr>
          <a:xfrm>
            <a:off x="4407408" y="3017520"/>
            <a:ext cx="1563624" cy="1234440"/>
          </a:xfrm>
          <a:prstGeom prst="roundRect">
            <a:avLst>
              <a:gd name="adj" fmla="val 5926"/>
            </a:avLst>
          </a:prstGeom>
          <a:solidFill>
            <a:srgbClr val="FBF7F2"/>
          </a:solidFill>
          <a:ln w="12700">
            <a:solidFill>
              <a:srgbClr val="C9B8A4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4407408" y="31546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3주차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4498848" y="3547872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시각화 연동 + 추가 기능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5971032" y="3634740"/>
            <a:ext cx="228600" cy="0"/>
          </a:xfrm>
          <a:prstGeom prst="line">
            <a:avLst/>
          </a:prstGeom>
          <a:noFill/>
          <a:ln w="19050">
            <a:solidFill>
              <a:srgbClr val="8A6C52"/>
            </a:solidFill>
            <a:prstDash val="dash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6199632" y="3017520"/>
            <a:ext cx="1563624" cy="1234440"/>
          </a:xfrm>
          <a:prstGeom prst="roundRect">
            <a:avLst>
              <a:gd name="adj" fmla="val 5926"/>
            </a:avLst>
          </a:prstGeom>
          <a:solidFill>
            <a:srgbClr val="FBF7F2"/>
          </a:solidFill>
          <a:ln w="12700">
            <a:solidFill>
              <a:srgbClr val="C9B8A4"/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6199632" y="3154680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4주차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6291072" y="3547872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및 마무리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향후 고려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703320"/>
          </a:xfrm>
          <a:prstGeom prst="roundRect">
            <a:avLst>
              <a:gd name="adj" fmla="val 2963"/>
            </a:avLst>
          </a:prstGeom>
          <a:solidFill>
            <a:srgbClr val="F3E7D6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371600"/>
            <a:ext cx="2133295" cy="3063240"/>
          </a:xfrm>
          <a:prstGeom prst="roundRect">
            <a:avLst>
              <a:gd name="adj" fmla="val 4286"/>
            </a:avLst>
          </a:prstGeom>
          <a:solidFill>
            <a:srgbClr val="FBF5EB"/>
          </a:solidFill>
          <a:ln/>
        </p:spPr>
      </p:sp>
      <p:sp>
        <p:nvSpPr>
          <p:cNvPr id="5" name="Shape 3"/>
          <p:cNvSpPr/>
          <p:nvPr/>
        </p:nvSpPr>
        <p:spPr>
          <a:xfrm>
            <a:off x="1638148" y="1572768"/>
            <a:ext cx="502920" cy="502920"/>
          </a:xfrm>
          <a:prstGeom prst="ellipse">
            <a:avLst/>
          </a:prstGeom>
          <a:solidFill>
            <a:srgbClr val="FBF7F2"/>
          </a:solidFill>
          <a:ln w="19050">
            <a:solidFill>
              <a:srgbClr val="C17F3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2448" y="16916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40280"/>
            <a:ext cx="2133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시나리오 비교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2651760"/>
            <a:ext cx="1767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공부·수면 시간 조합별 각성도 차이를 비교해서 보여줌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05840" y="3749040"/>
            <a:ext cx="1767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이유: 기존 계산 엔진 재사용 가능, 여유 있으면 추가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30575" y="1371600"/>
            <a:ext cx="2133295" cy="3063240"/>
          </a:xfrm>
          <a:prstGeom prst="roundRect">
            <a:avLst>
              <a:gd name="adj" fmla="val 4286"/>
            </a:avLst>
          </a:prstGeom>
          <a:solidFill>
            <a:srgbClr val="FBF5EB"/>
          </a:solidFill>
          <a:ln/>
        </p:spPr>
      </p:sp>
      <p:sp>
        <p:nvSpPr>
          <p:cNvPr id="11" name="Shape 8"/>
          <p:cNvSpPr/>
          <p:nvPr/>
        </p:nvSpPr>
        <p:spPr>
          <a:xfrm>
            <a:off x="4045763" y="1572768"/>
            <a:ext cx="502920" cy="502920"/>
          </a:xfrm>
          <a:prstGeom prst="ellipse">
            <a:avLst/>
          </a:prstGeom>
          <a:solidFill>
            <a:srgbClr val="FBF7F2"/>
          </a:solidFill>
          <a:ln w="19050">
            <a:solidFill>
              <a:srgbClr val="C17F3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063" y="16916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30575" y="2240280"/>
            <a:ext cx="2133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공부 기록 캘린더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413455" y="2651760"/>
            <a:ext cx="1767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공부 시간을 기록하고, 수면압·카페인을 고려해 최적 시작 시각 추천 (예: "내일 오전 10시부터 시작하면 최상의 컨디션")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413455" y="3749040"/>
            <a:ext cx="1767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이유: 캘린더·기록 저장 등 별도 데이터 구조가 필요해 범위 밖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38190" y="1371600"/>
            <a:ext cx="2133295" cy="3063240"/>
          </a:xfrm>
          <a:prstGeom prst="roundRect">
            <a:avLst>
              <a:gd name="adj" fmla="val 4286"/>
            </a:avLst>
          </a:prstGeom>
          <a:solidFill>
            <a:srgbClr val="FBF5EB"/>
          </a:solidFill>
          <a:ln/>
        </p:spPr>
      </p:sp>
      <p:sp>
        <p:nvSpPr>
          <p:cNvPr id="17" name="Shape 13"/>
          <p:cNvSpPr/>
          <p:nvPr/>
        </p:nvSpPr>
        <p:spPr>
          <a:xfrm>
            <a:off x="6453378" y="1572768"/>
            <a:ext cx="502920" cy="502920"/>
          </a:xfrm>
          <a:prstGeom prst="ellipse">
            <a:avLst/>
          </a:prstGeom>
          <a:solidFill>
            <a:srgbClr val="FBF7F2"/>
          </a:solidFill>
          <a:ln w="19050">
            <a:solidFill>
              <a:srgbClr val="C17F3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678" y="16916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638190" y="2240280"/>
            <a:ext cx="2133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1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개인화 모델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821070" y="2651760"/>
            <a:ext cx="1767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E1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6개월 데이터가 쌓이면 집단 평균이 아닌 개인별 수면리듬·카페인 민감도로 보정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821070" y="3749040"/>
            <a:ext cx="1767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6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이유: 아직 데이터가 없어 불가능, 그 전까진 정확도 저하 경고 필요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시험 벼락치기 스케줄러</dc:title>
  <dc:subject>PptxGenJS Presentation</dc:subject>
  <dc:creator>N110_안정연</dc:creator>
  <cp:lastModifiedBy>N110_안정연</cp:lastModifiedBy>
  <cp:revision>1</cp:revision>
  <dcterms:created xsi:type="dcterms:W3CDTF">2026-07-08T04:20:01Z</dcterms:created>
  <dcterms:modified xsi:type="dcterms:W3CDTF">2026-07-08T04:20:01Z</dcterms:modified>
</cp:coreProperties>
</file>