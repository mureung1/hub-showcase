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9A4811-8A14-708F-36C4-BE697CFDD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47515A-3E63-259B-2227-A1F79F8B0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79B66B-F561-8CCA-4DB2-B09A99ED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B4AC-3BE0-489F-A59F-CE6D816F98D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3FEA84-0E16-3B06-E850-F56926D8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B9BD02-6D62-81E7-BD9C-CA1EBF32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9348D-2BE5-4B24-AD0B-19A8675BD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483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7EFF7B-0243-765B-6CAD-C78487E3F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18D4CB-9F3C-2D0A-2B03-1F573C369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F7197F-7706-5ECE-5D8C-3E110A85B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B4AC-3BE0-489F-A59F-CE6D816F98D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2CBB5A-F3D9-BA58-F9AF-AF77D6557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4DCD60-CA3D-9928-E8E8-9EFCE7E21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9348D-2BE5-4B24-AD0B-19A8675BD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C6321-38BD-7FEC-8EA0-27595EFB6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807CFA-8EAD-D078-0C97-EA2FE3D6A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41D0EE-D08C-D968-821D-405056A00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B4AC-3BE0-489F-A59F-CE6D816F98D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EA5E48-6CCC-EEC8-0DD8-A982AB073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826532-2B7A-FC3D-ADEB-283F3175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9348D-2BE5-4B24-AD0B-19A8675BD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448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9B926C-A07C-B945-A214-9CAED5003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4E6D2E-93A9-CCEF-C00E-D6140A2B70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CC29FE-DB37-FB44-3C26-8CAF89792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302ADA-9CA8-A68E-DDDE-DE3731DC3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B4AC-3BE0-489F-A59F-CE6D816F98D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AABE50-D554-096D-8271-0B1529AA7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21C1D9-DC1F-2B52-000F-B5ADAC76F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9348D-2BE5-4B24-AD0B-19A8675BD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4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F63FA-9B43-B7F3-4570-1FA9BF47E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62C735-8283-D574-BDFB-A0540CF78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382905-72D3-AC21-20E9-B06785321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5A21809-7EBD-0EF5-EB41-32FB40AB54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FF4EE8-339B-4257-A1DD-7348FC8CE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F06301-7607-1AB3-F371-BB92A4652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B4AC-3BE0-489F-A59F-CE6D816F98D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45A565-BF83-EA51-2A5F-61A1637A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2B8AC9-811F-5BAD-CA9D-40A5B9A7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9348D-2BE5-4B24-AD0B-19A8675BD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6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D139E-11C4-5405-C3B0-FDC9E0F4A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2282DC-989B-0CAF-6F04-84F94515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B4AC-3BE0-489F-A59F-CE6D816F98D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6EDB04-5738-B78E-1F1A-33E1D72A4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1178F7-D246-D568-301D-7FBD8A4B5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9348D-2BE5-4B24-AD0B-19A8675BD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211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3A590A-55B3-F772-B1F3-6387512B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B4AC-3BE0-489F-A59F-CE6D816F98D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7BB2E3E-BD49-B71A-678A-7EBC3DDB3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340EA6-5FCF-BE7C-B808-AFC8E3C2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9348D-2BE5-4B24-AD0B-19A8675BD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611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56BE9-E78C-767E-7B35-BE1071198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1AB4A1-547E-44C0-E160-693A38D92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CB9006-3680-A35E-BE7A-350B68D87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6923F4-5ACB-D7F9-FDA2-CF329AD4D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B4AC-3BE0-489F-A59F-CE6D816F98D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A05D38-8F4D-9A9C-5EF5-6CD1CBCA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F1D318-C36E-872E-D47A-2DB9BEBE8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9348D-2BE5-4B24-AD0B-19A8675BD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766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50047A-10C4-BD9B-FF49-5A2B074F9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835AEF6-6249-69AE-5866-C9B7EFBF60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3CE778-A537-29F9-95ED-F795A50A4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D9A926-E1E4-CB91-BBDD-B2C91F086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B4AC-3BE0-489F-A59F-CE6D816F98D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94D108-384F-A50A-73F8-BDAF04216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7824B9-8E86-E06A-5871-B2B1E46E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9348D-2BE5-4B24-AD0B-19A8675BD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985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F77725-28A5-07AE-7652-3C1EDF1AD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5410A1-AC48-AA14-9C2E-5B7FEA9C4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4BF144-3133-8E8D-32CA-635A2255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B4AC-3BE0-489F-A59F-CE6D816F98D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CFE0E1-9819-B3AD-D73B-79E6D7DBC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0769B6-7620-3BD4-2546-7DBE6D56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9348D-2BE5-4B24-AD0B-19A8675BD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966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E23A121-9591-9A3E-1FCA-D54D98F431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1F5895-7788-B667-F421-94F8896E7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53A7F5-2E50-5FE8-8B9D-32CB6E5BD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B4AC-3BE0-489F-A59F-CE6D816F98D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D8F616-B512-5DDC-E5A3-5D5B4B98D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5C2A3C-E13A-1026-3895-A5C61E1D4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9348D-2BE5-4B24-AD0B-19A8675BD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874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3D699A-0C44-FC26-FC34-7C730FF71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6620E6-7DEB-787D-14E5-6458D97D5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C72395-C8D0-0253-741D-6EA4DF4518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8B4AC-3BE0-489F-A59F-CE6D816F98D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7108D7-0D99-E114-40DE-B1E5FE3CB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C13AD1-5AB7-1685-DCA4-13777A0C8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9348D-2BE5-4B24-AD0B-19A8675BD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040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ED1EC4-B994-2F84-E09B-6B5E804E0F7A}"/>
              </a:ext>
            </a:extLst>
          </p:cNvPr>
          <p:cNvSpPr txBox="1"/>
          <p:nvPr/>
        </p:nvSpPr>
        <p:spPr>
          <a:xfrm>
            <a:off x="736600" y="609600"/>
            <a:ext cx="1066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 b="1">
                <a:solidFill>
                  <a:srgbClr val="0F1716"/>
                </a:solidFill>
                <a:latin typeface="맑은 고딕" panose="020B0503020000020004" pitchFamily="50" charset="-127"/>
              </a:rPr>
              <a:t>Career Mission AI </a:t>
            </a:r>
            <a:r>
              <a:rPr lang="ko-KR" altLang="en-US" sz="3000" b="1">
                <a:solidFill>
                  <a:srgbClr val="0F1716"/>
                </a:solidFill>
                <a:latin typeface="맑은 고딕" panose="020B0503020000020004" pitchFamily="50" charset="-127"/>
              </a:rPr>
              <a:t>데모 발표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379F9-B9B5-1407-F1EE-B9B8C3C54434}"/>
              </a:ext>
            </a:extLst>
          </p:cNvPr>
          <p:cNvSpPr txBox="1"/>
          <p:nvPr/>
        </p:nvSpPr>
        <p:spPr>
          <a:xfrm>
            <a:off x="787400" y="1409700"/>
            <a:ext cx="1041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>
                <a:solidFill>
                  <a:srgbClr val="228317"/>
                </a:solidFill>
                <a:latin typeface="맑은 고딕" panose="020B0503020000020004" pitchFamily="50" charset="-127"/>
              </a:rPr>
              <a:t>회원가입부터 이메일 인증</a:t>
            </a:r>
            <a:r>
              <a:rPr lang="en-US" altLang="ko-KR" sz="1600">
                <a:solidFill>
                  <a:srgbClr val="22831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28317"/>
                </a:solidFill>
                <a:latin typeface="맑은 고딕" panose="020B0503020000020004" pitchFamily="50" charset="-127"/>
              </a:rPr>
              <a:t>로그인</a:t>
            </a:r>
            <a:r>
              <a:rPr lang="en-US" altLang="ko-KR" sz="1600">
                <a:solidFill>
                  <a:srgbClr val="22831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28317"/>
                </a:solidFill>
                <a:latin typeface="맑은 고딕" panose="020B0503020000020004" pitchFamily="50" charset="-127"/>
              </a:rPr>
              <a:t>마이페이지 </a:t>
            </a:r>
            <a:r>
              <a:rPr lang="en-US" altLang="ko-KR" sz="1600">
                <a:solidFill>
                  <a:srgbClr val="228317"/>
                </a:solidFill>
                <a:latin typeface="맑은 고딕" panose="020B0503020000020004" pitchFamily="50" charset="-127"/>
              </a:rPr>
              <a:t>DB </a:t>
            </a:r>
            <a:r>
              <a:rPr lang="ko-KR" altLang="en-US" sz="1600">
                <a:solidFill>
                  <a:srgbClr val="228317"/>
                </a:solidFill>
                <a:latin typeface="맑은 고딕" panose="020B0503020000020004" pitchFamily="50" charset="-127"/>
              </a:rPr>
              <a:t>저장까지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661C0B-8DCE-9979-C4D0-06A2B9921660}"/>
              </a:ext>
            </a:extLst>
          </p:cNvPr>
          <p:cNvSpPr/>
          <p:nvPr/>
        </p:nvSpPr>
        <p:spPr>
          <a:xfrm>
            <a:off x="736600" y="2260600"/>
            <a:ext cx="10718800" cy="32385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C5C17-909B-30E9-D5DB-FAB4210D4098}"/>
              </a:ext>
            </a:extLst>
          </p:cNvPr>
          <p:cNvSpPr txBox="1"/>
          <p:nvPr/>
        </p:nvSpPr>
        <p:spPr>
          <a:xfrm>
            <a:off x="1168400" y="2692400"/>
            <a:ext cx="9906000" cy="77457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프로젝트 핵심 인증 흐름 정리</a:t>
            </a:r>
          </a:p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API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명세서와 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ADR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문서화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43EA7-23F9-5D23-79F2-82503927648F}"/>
              </a:ext>
            </a:extLst>
          </p:cNvPr>
          <p:cNvSpPr txBox="1"/>
          <p:nvPr/>
        </p:nvSpPr>
        <p:spPr>
          <a:xfrm>
            <a:off x="812800" y="6350000"/>
            <a:ext cx="457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86472"/>
                </a:solidFill>
                <a:latin typeface="Arial" panose="020B0604020202020204" pitchFamily="34" charset="0"/>
              </a:rPr>
              <a:t>Career Mission AI · 1/6</a:t>
            </a:r>
            <a:endParaRPr lang="ko-KR" altLang="en-US" sz="900">
              <a:solidFill>
                <a:srgbClr val="68647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726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A89420-5AC9-013D-0DD3-BBA3004DD81D}"/>
              </a:ext>
            </a:extLst>
          </p:cNvPr>
          <p:cNvSpPr txBox="1"/>
          <p:nvPr/>
        </p:nvSpPr>
        <p:spPr>
          <a:xfrm>
            <a:off x="736600" y="609600"/>
            <a:ext cx="1066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3000" b="1">
                <a:solidFill>
                  <a:srgbClr val="0F1716"/>
                </a:solidFill>
                <a:latin typeface="맑은 고딕" panose="020B0503020000020004" pitchFamily="50" charset="-127"/>
              </a:rPr>
              <a:t>오늘까지 구현한 핵심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EC2C1E6-BB74-544A-A78C-3EE7B1A02914}"/>
              </a:ext>
            </a:extLst>
          </p:cNvPr>
          <p:cNvSpPr/>
          <p:nvPr/>
        </p:nvSpPr>
        <p:spPr>
          <a:xfrm>
            <a:off x="736600" y="1752600"/>
            <a:ext cx="10718800" cy="32385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84714-9F1D-F1F6-149E-3379C4FAB0FB}"/>
              </a:ext>
            </a:extLst>
          </p:cNvPr>
          <p:cNvSpPr txBox="1"/>
          <p:nvPr/>
        </p:nvSpPr>
        <p:spPr>
          <a:xfrm>
            <a:off x="1168400" y="2184400"/>
            <a:ext cx="9906000" cy="158504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회원가입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로그인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로그아웃 흐름 정리</a:t>
            </a:r>
          </a:p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이메일 인증 전 로그인 차단</a:t>
            </a:r>
          </a:p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보호 페이지 접근 차단 처리</a:t>
            </a:r>
          </a:p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마이페이지 프로필 수정 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DB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저장 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API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추가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AFBE5-13F0-2C8B-8214-81334FBD05EC}"/>
              </a:ext>
            </a:extLst>
          </p:cNvPr>
          <p:cNvSpPr txBox="1"/>
          <p:nvPr/>
        </p:nvSpPr>
        <p:spPr>
          <a:xfrm>
            <a:off x="812800" y="6350000"/>
            <a:ext cx="457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86472"/>
                </a:solidFill>
                <a:latin typeface="Arial" panose="020B0604020202020204" pitchFamily="34" charset="0"/>
              </a:rPr>
              <a:t>Career Mission AI · 2/6</a:t>
            </a:r>
            <a:endParaRPr lang="ko-KR" altLang="en-US" sz="900">
              <a:solidFill>
                <a:srgbClr val="68647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730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6AB763-0CC8-0665-3DC2-18A7A2074447}"/>
              </a:ext>
            </a:extLst>
          </p:cNvPr>
          <p:cNvSpPr txBox="1"/>
          <p:nvPr/>
        </p:nvSpPr>
        <p:spPr>
          <a:xfrm>
            <a:off x="736600" y="609600"/>
            <a:ext cx="1066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3000" b="1">
                <a:solidFill>
                  <a:srgbClr val="0F1716"/>
                </a:solidFill>
                <a:latin typeface="맑은 고딕" panose="020B0503020000020004" pitchFamily="50" charset="-127"/>
              </a:rPr>
              <a:t>회원가입과 이메일 인증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B5C322-29D4-5CDB-4EBD-6B878069CA36}"/>
              </a:ext>
            </a:extLst>
          </p:cNvPr>
          <p:cNvSpPr/>
          <p:nvPr/>
        </p:nvSpPr>
        <p:spPr>
          <a:xfrm>
            <a:off x="736600" y="1752600"/>
            <a:ext cx="10718800" cy="32385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5A72A3-8254-CC76-0FF4-91C484EC4752}"/>
              </a:ext>
            </a:extLst>
          </p:cNvPr>
          <p:cNvSpPr txBox="1"/>
          <p:nvPr/>
        </p:nvSpPr>
        <p:spPr>
          <a:xfrm>
            <a:off x="1168400" y="2184400"/>
            <a:ext cx="9906000" cy="158504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회원가입 요청은 백엔드 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/api/auth/register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로 전달</a:t>
            </a:r>
          </a:p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백엔드는 사용자 정보를 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DB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에 저장하고 인증 토큰 생성</a:t>
            </a:r>
          </a:p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SMTP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설정을 사용해 인증 메일 발송</a:t>
            </a:r>
          </a:p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인증 링크 클릭 시 이메일 인증 완료 처리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01AA48-7A6A-EDEB-A023-B2EAFD6BA4D2}"/>
              </a:ext>
            </a:extLst>
          </p:cNvPr>
          <p:cNvSpPr txBox="1"/>
          <p:nvPr/>
        </p:nvSpPr>
        <p:spPr>
          <a:xfrm>
            <a:off x="812800" y="6350000"/>
            <a:ext cx="457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86472"/>
                </a:solidFill>
                <a:latin typeface="Arial" panose="020B0604020202020204" pitchFamily="34" charset="0"/>
              </a:rPr>
              <a:t>Career Mission AI · 3/6</a:t>
            </a:r>
            <a:endParaRPr lang="ko-KR" altLang="en-US" sz="900">
              <a:solidFill>
                <a:srgbClr val="68647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43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97FB05-55AE-55D9-22FA-0C9AB3D4DB46}"/>
              </a:ext>
            </a:extLst>
          </p:cNvPr>
          <p:cNvSpPr txBox="1"/>
          <p:nvPr/>
        </p:nvSpPr>
        <p:spPr>
          <a:xfrm>
            <a:off x="736600" y="609600"/>
            <a:ext cx="1066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3000" b="1">
                <a:solidFill>
                  <a:srgbClr val="0F1716"/>
                </a:solidFill>
                <a:latin typeface="맑은 고딕" panose="020B0503020000020004" pitchFamily="50" charset="-127"/>
              </a:rPr>
              <a:t>로그인과 보호 페이지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89D1B3-930A-A879-F564-0876289D1534}"/>
              </a:ext>
            </a:extLst>
          </p:cNvPr>
          <p:cNvSpPr/>
          <p:nvPr/>
        </p:nvSpPr>
        <p:spPr>
          <a:xfrm>
            <a:off x="736600" y="1752600"/>
            <a:ext cx="10718800" cy="32385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F83F7-F0A7-F9E6-E441-D9243C3C251E}"/>
              </a:ext>
            </a:extLst>
          </p:cNvPr>
          <p:cNvSpPr txBox="1"/>
          <p:nvPr/>
        </p:nvSpPr>
        <p:spPr>
          <a:xfrm>
            <a:off x="1168400" y="2184400"/>
            <a:ext cx="9906000" cy="158504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이메일 인증이 끝난 사용자만 로그인 가능</a:t>
            </a:r>
          </a:p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로그인 성공 시 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JWT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토큰 발급</a:t>
            </a:r>
          </a:p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프론트는 토큰을 저장하고 보호 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API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요청에 사용</a:t>
            </a:r>
          </a:p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ProtectedRoute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로 미로그인 사용자의 보호 페이지 접근 차단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C403A-79B6-BD07-7994-950153F57855}"/>
              </a:ext>
            </a:extLst>
          </p:cNvPr>
          <p:cNvSpPr txBox="1"/>
          <p:nvPr/>
        </p:nvSpPr>
        <p:spPr>
          <a:xfrm>
            <a:off x="812800" y="6350000"/>
            <a:ext cx="457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86472"/>
                </a:solidFill>
                <a:latin typeface="Arial" panose="020B0604020202020204" pitchFamily="34" charset="0"/>
              </a:rPr>
              <a:t>Career Mission AI · 4/6</a:t>
            </a:r>
            <a:endParaRPr lang="ko-KR" altLang="en-US" sz="900">
              <a:solidFill>
                <a:srgbClr val="68647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851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9846F5-BD85-D2D1-4B2D-732D8F7E6BF2}"/>
              </a:ext>
            </a:extLst>
          </p:cNvPr>
          <p:cNvSpPr txBox="1"/>
          <p:nvPr/>
        </p:nvSpPr>
        <p:spPr>
          <a:xfrm>
            <a:off x="736600" y="609600"/>
            <a:ext cx="1066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3000" b="1">
                <a:solidFill>
                  <a:srgbClr val="0F1716"/>
                </a:solidFill>
                <a:latin typeface="맑은 고딕" panose="020B0503020000020004" pitchFamily="50" charset="-127"/>
              </a:rPr>
              <a:t>마이페이지 </a:t>
            </a:r>
            <a:r>
              <a:rPr lang="en-US" altLang="ko-KR" sz="3000" b="1">
                <a:solidFill>
                  <a:srgbClr val="0F1716"/>
                </a:solidFill>
                <a:latin typeface="맑은 고딕" panose="020B0503020000020004" pitchFamily="50" charset="-127"/>
              </a:rPr>
              <a:t>DB </a:t>
            </a:r>
            <a:r>
              <a:rPr lang="ko-KR" altLang="en-US" sz="3000" b="1">
                <a:solidFill>
                  <a:srgbClr val="0F1716"/>
                </a:solidFill>
                <a:latin typeface="맑은 고딕" panose="020B0503020000020004" pitchFamily="50" charset="-127"/>
              </a:rPr>
              <a:t>저장 개선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5A8B4B1-69FA-6183-BB31-B51887A2E284}"/>
              </a:ext>
            </a:extLst>
          </p:cNvPr>
          <p:cNvSpPr/>
          <p:nvPr/>
        </p:nvSpPr>
        <p:spPr>
          <a:xfrm>
            <a:off x="736600" y="1752600"/>
            <a:ext cx="10718800" cy="32385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B425C-A327-51DD-264D-0A6287DFA7E3}"/>
              </a:ext>
            </a:extLst>
          </p:cNvPr>
          <p:cNvSpPr txBox="1"/>
          <p:nvPr/>
        </p:nvSpPr>
        <p:spPr>
          <a:xfrm>
            <a:off x="1168400" y="2184400"/>
            <a:ext cx="9906000" cy="158504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기존에는 프로필 수정값이 브라우저 세션에만 반영됨</a:t>
            </a:r>
          </a:p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PATCH /api/auth/me API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를 추가해 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DB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에 저장하도록 변경</a:t>
            </a:r>
          </a:p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이름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이메일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학교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전공 수정 가능</a:t>
            </a:r>
          </a:p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중복 이메일과 잘못된 입력값은 백엔드에서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8F1177-92BA-2E56-EAAF-8F3B24969BB9}"/>
              </a:ext>
            </a:extLst>
          </p:cNvPr>
          <p:cNvSpPr txBox="1"/>
          <p:nvPr/>
        </p:nvSpPr>
        <p:spPr>
          <a:xfrm>
            <a:off x="812800" y="6350000"/>
            <a:ext cx="457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86472"/>
                </a:solidFill>
                <a:latin typeface="Arial" panose="020B0604020202020204" pitchFamily="34" charset="0"/>
              </a:rPr>
              <a:t>Career Mission AI · 5/6</a:t>
            </a:r>
            <a:endParaRPr lang="ko-KR" altLang="en-US" sz="900">
              <a:solidFill>
                <a:srgbClr val="68647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587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4781B6-DA0E-D7EE-567A-F34875328C4A}"/>
              </a:ext>
            </a:extLst>
          </p:cNvPr>
          <p:cNvSpPr txBox="1"/>
          <p:nvPr/>
        </p:nvSpPr>
        <p:spPr>
          <a:xfrm>
            <a:off x="736600" y="609600"/>
            <a:ext cx="1066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3000" b="1">
                <a:solidFill>
                  <a:srgbClr val="0F1716"/>
                </a:solidFill>
                <a:latin typeface="맑은 고딕" panose="020B0503020000020004" pitchFamily="50" charset="-127"/>
              </a:rPr>
              <a:t>데모 순서와 다음 과제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F206F41-66F4-DBC7-6B11-41B22097DB9C}"/>
              </a:ext>
            </a:extLst>
          </p:cNvPr>
          <p:cNvSpPr/>
          <p:nvPr/>
        </p:nvSpPr>
        <p:spPr>
          <a:xfrm>
            <a:off x="736600" y="1752600"/>
            <a:ext cx="10718800" cy="32385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047DBB-09ED-F937-4DF0-2FB3D2668D3D}"/>
              </a:ext>
            </a:extLst>
          </p:cNvPr>
          <p:cNvSpPr txBox="1"/>
          <p:nvPr/>
        </p:nvSpPr>
        <p:spPr>
          <a:xfrm>
            <a:off x="1168400" y="2184400"/>
            <a:ext cx="9906000" cy="158504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회원가입 → 인증 메일 안내 → 로그인 → 마이페이지 수정 시연</a:t>
            </a:r>
          </a:p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로그아웃 후 보호 페이지 접근 차단 확인</a:t>
            </a:r>
          </a:p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다음 과제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실제 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SMTP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발송 검증</a:t>
            </a:r>
          </a:p>
          <a:p>
            <a:pPr>
              <a:spcAft>
                <a:spcPts val="1000"/>
              </a:spcAft>
            </a:pP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다음 과제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미션 진행과 결과물 업로드 </a:t>
            </a:r>
            <a:r>
              <a:rPr lang="en-US" altLang="ko-KR">
                <a:solidFill>
                  <a:srgbClr val="343434"/>
                </a:solidFill>
                <a:latin typeface="맑은 고딕" panose="020B0503020000020004" pitchFamily="50" charset="-127"/>
              </a:rPr>
              <a:t>API </a:t>
            </a:r>
            <a:r>
              <a:rPr lang="ko-KR" altLang="en-US">
                <a:solidFill>
                  <a:srgbClr val="343434"/>
                </a:solidFill>
                <a:latin typeface="맑은 고딕" panose="020B0503020000020004" pitchFamily="50" charset="-127"/>
              </a:rPr>
              <a:t>구현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580D93-71EE-B491-9F8F-5FCCB98C6FFA}"/>
              </a:ext>
            </a:extLst>
          </p:cNvPr>
          <p:cNvSpPr txBox="1"/>
          <p:nvPr/>
        </p:nvSpPr>
        <p:spPr>
          <a:xfrm>
            <a:off x="812800" y="6350000"/>
            <a:ext cx="457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86472"/>
                </a:solidFill>
                <a:latin typeface="Arial" panose="020B0604020202020204" pitchFamily="34" charset="0"/>
              </a:rPr>
              <a:t>Career Mission AI · 6/6</a:t>
            </a:r>
            <a:endParaRPr lang="ko-KR" altLang="en-US" sz="900">
              <a:solidFill>
                <a:srgbClr val="68647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809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E48F1C-97A4-F68D-ECEA-1AE3F17FE347}"/>
              </a:ext>
            </a:extLst>
          </p:cNvPr>
          <p:cNvSpPr txBox="1"/>
          <p:nvPr/>
        </p:nvSpPr>
        <p:spPr>
          <a:xfrm>
            <a:off x="609600" y="4064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 b="1">
                <a:solidFill>
                  <a:srgbClr val="0F1716"/>
                </a:solidFill>
                <a:latin typeface="맑은 고딕" panose="020B0503020000020004" pitchFamily="50" charset="-127"/>
              </a:rPr>
              <a:t>인증 흐름도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EF33B35-035D-A394-50B6-5BB65BA483F6}"/>
              </a:ext>
            </a:extLst>
          </p:cNvPr>
          <p:cNvSpPr/>
          <p:nvPr/>
        </p:nvSpPr>
        <p:spPr>
          <a:xfrm>
            <a:off x="571500" y="2349500"/>
            <a:ext cx="1333500" cy="889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ko-KR" altLang="en-US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회원가입 입력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317B4170-C362-9649-4D7F-5900E174E367}"/>
              </a:ext>
            </a:extLst>
          </p:cNvPr>
          <p:cNvCxnSpPr/>
          <p:nvPr/>
        </p:nvCxnSpPr>
        <p:spPr>
          <a:xfrm>
            <a:off x="1905000" y="2794000"/>
            <a:ext cx="317500" cy="0"/>
          </a:xfrm>
          <a:prstGeom prst="straightConnector1">
            <a:avLst/>
          </a:prstGeom>
          <a:ln w="27940">
            <a:solidFill>
              <a:srgbClr val="22831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8E88C1A-20AE-CCF7-0897-C678AA395845}"/>
              </a:ext>
            </a:extLst>
          </p:cNvPr>
          <p:cNvSpPr/>
          <p:nvPr/>
        </p:nvSpPr>
        <p:spPr>
          <a:xfrm>
            <a:off x="2222500" y="2349500"/>
            <a:ext cx="1333500" cy="889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DB </a:t>
            </a:r>
            <a:r>
              <a:rPr lang="ko-KR" altLang="en-US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저장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CC47DC6-A868-FFD5-C8F4-6D33D0107815}"/>
              </a:ext>
            </a:extLst>
          </p:cNvPr>
          <p:cNvCxnSpPr/>
          <p:nvPr/>
        </p:nvCxnSpPr>
        <p:spPr>
          <a:xfrm>
            <a:off x="3556000" y="2794000"/>
            <a:ext cx="317500" cy="0"/>
          </a:xfrm>
          <a:prstGeom prst="straightConnector1">
            <a:avLst/>
          </a:prstGeom>
          <a:ln w="27940">
            <a:solidFill>
              <a:srgbClr val="22831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A8BD842-48DE-C655-355D-DC908ACC7914}"/>
              </a:ext>
            </a:extLst>
          </p:cNvPr>
          <p:cNvSpPr/>
          <p:nvPr/>
        </p:nvSpPr>
        <p:spPr>
          <a:xfrm>
            <a:off x="3873500" y="2349500"/>
            <a:ext cx="1333500" cy="889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ko-KR" altLang="en-US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인증 메일 발송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1553CF1-DD1C-AFE3-8DD4-7513D2457E37}"/>
              </a:ext>
            </a:extLst>
          </p:cNvPr>
          <p:cNvCxnSpPr/>
          <p:nvPr/>
        </p:nvCxnSpPr>
        <p:spPr>
          <a:xfrm>
            <a:off x="5207000" y="2794000"/>
            <a:ext cx="317500" cy="0"/>
          </a:xfrm>
          <a:prstGeom prst="straightConnector1">
            <a:avLst/>
          </a:prstGeom>
          <a:ln w="27940">
            <a:solidFill>
              <a:srgbClr val="22831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A0D759B-72C9-2BB7-D2C2-DEAD1408A5F2}"/>
              </a:ext>
            </a:extLst>
          </p:cNvPr>
          <p:cNvSpPr/>
          <p:nvPr/>
        </p:nvSpPr>
        <p:spPr>
          <a:xfrm>
            <a:off x="5524500" y="2349500"/>
            <a:ext cx="1333500" cy="889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ko-KR" altLang="en-US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이메일 인증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C4F6919-8E1A-ED4D-95D0-81566ABBF8E4}"/>
              </a:ext>
            </a:extLst>
          </p:cNvPr>
          <p:cNvCxnSpPr/>
          <p:nvPr/>
        </p:nvCxnSpPr>
        <p:spPr>
          <a:xfrm>
            <a:off x="6858000" y="2794000"/>
            <a:ext cx="317500" cy="0"/>
          </a:xfrm>
          <a:prstGeom prst="straightConnector1">
            <a:avLst/>
          </a:prstGeom>
          <a:ln w="27940">
            <a:solidFill>
              <a:srgbClr val="22831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9E654B9-272D-E12D-5BEF-39558E106AE0}"/>
              </a:ext>
            </a:extLst>
          </p:cNvPr>
          <p:cNvSpPr/>
          <p:nvPr/>
        </p:nvSpPr>
        <p:spPr>
          <a:xfrm>
            <a:off x="7175500" y="2349500"/>
            <a:ext cx="1333500" cy="889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ko-KR" altLang="en-US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로그인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923C259-0FC2-EF4B-3B9E-3E28E6E6D87B}"/>
              </a:ext>
            </a:extLst>
          </p:cNvPr>
          <p:cNvCxnSpPr/>
          <p:nvPr/>
        </p:nvCxnSpPr>
        <p:spPr>
          <a:xfrm>
            <a:off x="8509000" y="2794000"/>
            <a:ext cx="317500" cy="0"/>
          </a:xfrm>
          <a:prstGeom prst="straightConnector1">
            <a:avLst/>
          </a:prstGeom>
          <a:ln w="27940">
            <a:solidFill>
              <a:srgbClr val="22831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645B250-5398-D5F2-FDBB-439B8D8C13D8}"/>
              </a:ext>
            </a:extLst>
          </p:cNvPr>
          <p:cNvSpPr/>
          <p:nvPr/>
        </p:nvSpPr>
        <p:spPr>
          <a:xfrm>
            <a:off x="8826500" y="2349500"/>
            <a:ext cx="1333500" cy="889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JWT </a:t>
            </a:r>
            <a:r>
              <a:rPr lang="ko-KR" altLang="en-US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발급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5462BF2-8590-1029-F61C-3FA8AF961D1F}"/>
              </a:ext>
            </a:extLst>
          </p:cNvPr>
          <p:cNvCxnSpPr/>
          <p:nvPr/>
        </p:nvCxnSpPr>
        <p:spPr>
          <a:xfrm>
            <a:off x="10160000" y="2794000"/>
            <a:ext cx="317500" cy="0"/>
          </a:xfrm>
          <a:prstGeom prst="straightConnector1">
            <a:avLst/>
          </a:prstGeom>
          <a:ln w="27940">
            <a:solidFill>
              <a:srgbClr val="22831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4296210-0938-3E55-B273-5F3BDE19EEA6}"/>
              </a:ext>
            </a:extLst>
          </p:cNvPr>
          <p:cNvSpPr/>
          <p:nvPr/>
        </p:nvSpPr>
        <p:spPr>
          <a:xfrm>
            <a:off x="10477500" y="2349500"/>
            <a:ext cx="1333500" cy="889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ko-KR" altLang="en-US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보호 페이지 접근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857C14-AB50-77E5-5A89-2DA075491007}"/>
              </a:ext>
            </a:extLst>
          </p:cNvPr>
          <p:cNvSpPr txBox="1"/>
          <p:nvPr/>
        </p:nvSpPr>
        <p:spPr>
          <a:xfrm>
            <a:off x="1117600" y="4064000"/>
            <a:ext cx="990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핵심</a:t>
            </a:r>
            <a:r>
              <a:rPr lang="en-US" altLang="ko-KR" sz="1200">
                <a:solidFill>
                  <a:srgbClr val="4C4C4C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인증 전 사용자는 로그인할 수 없고</a:t>
            </a:r>
            <a:r>
              <a:rPr lang="en-US" altLang="ko-KR" sz="1200">
                <a:solidFill>
                  <a:srgbClr val="4C4C4C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로그인 후 받은 </a:t>
            </a:r>
            <a:r>
              <a:rPr lang="en-US" altLang="ko-KR" sz="1200">
                <a:solidFill>
                  <a:srgbClr val="4C4C4C"/>
                </a:solidFill>
                <a:latin typeface="맑은 고딕" panose="020B0503020000020004" pitchFamily="50" charset="-127"/>
              </a:rPr>
              <a:t>JWT</a:t>
            </a:r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로 보호 페이지와 보호 </a:t>
            </a:r>
            <a:r>
              <a:rPr lang="en-US" altLang="ko-KR" sz="1200">
                <a:solidFill>
                  <a:srgbClr val="4C4C4C"/>
                </a:solidFill>
                <a:latin typeface="맑은 고딕" panose="020B0503020000020004" pitchFamily="50" charset="-127"/>
              </a:rPr>
              <a:t>API</a:t>
            </a:r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에 접근합니다</a:t>
            </a:r>
            <a:r>
              <a:rPr lang="en-US" altLang="ko-KR" sz="1200">
                <a:solidFill>
                  <a:srgbClr val="4C4C4C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4C4C4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1A2F58-80E9-66A7-2ABA-137A5690A822}"/>
              </a:ext>
            </a:extLst>
          </p:cNvPr>
          <p:cNvSpPr txBox="1"/>
          <p:nvPr/>
        </p:nvSpPr>
        <p:spPr>
          <a:xfrm>
            <a:off x="1117600" y="4724400"/>
            <a:ext cx="990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프론트</a:t>
            </a:r>
            <a:r>
              <a:rPr lang="en-US" altLang="ko-KR" sz="1200">
                <a:solidFill>
                  <a:srgbClr val="4C4C4C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화면 전환과 토큰 저장 </a:t>
            </a:r>
            <a:r>
              <a:rPr lang="en-US" altLang="ko-KR" sz="1200">
                <a:solidFill>
                  <a:srgbClr val="4C4C4C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백엔드</a:t>
            </a:r>
            <a:r>
              <a:rPr lang="en-US" altLang="ko-KR" sz="1200">
                <a:solidFill>
                  <a:srgbClr val="4C4C4C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입력 검증</a:t>
            </a:r>
            <a:r>
              <a:rPr lang="en-US" altLang="ko-KR" sz="1200">
                <a:solidFill>
                  <a:srgbClr val="4C4C4C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이메일 인증</a:t>
            </a:r>
            <a:r>
              <a:rPr lang="en-US" altLang="ko-KR" sz="1200">
                <a:solidFill>
                  <a:srgbClr val="4C4C4C"/>
                </a:solidFill>
                <a:latin typeface="맑은 고딕" panose="020B0503020000020004" pitchFamily="50" charset="-127"/>
              </a:rPr>
              <a:t>, JWT </a:t>
            </a:r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검증</a:t>
            </a:r>
            <a:r>
              <a:rPr lang="en-US" altLang="ko-KR" sz="1200">
                <a:solidFill>
                  <a:srgbClr val="4C4C4C"/>
                </a:solidFill>
                <a:latin typeface="맑은 고딕" panose="020B0503020000020004" pitchFamily="50" charset="-127"/>
              </a:rPr>
              <a:t>, DB </a:t>
            </a:r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처리</a:t>
            </a:r>
          </a:p>
        </p:txBody>
      </p:sp>
    </p:spTree>
    <p:extLst>
      <p:ext uri="{BB962C8B-B14F-4D97-AF65-F5344CB8AC3E}">
        <p14:creationId xmlns:p14="http://schemas.microsoft.com/office/powerpoint/2010/main" val="2308402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A82B3A-115A-4310-F58A-4F47A2B413A3}"/>
              </a:ext>
            </a:extLst>
          </p:cNvPr>
          <p:cNvSpPr txBox="1"/>
          <p:nvPr/>
        </p:nvSpPr>
        <p:spPr>
          <a:xfrm>
            <a:off x="609600" y="4064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 b="1">
                <a:solidFill>
                  <a:srgbClr val="0F1716"/>
                </a:solidFill>
                <a:latin typeface="맑은 고딕" panose="020B0503020000020004" pitchFamily="50" charset="-127"/>
              </a:rPr>
              <a:t>프론트</a:t>
            </a:r>
            <a:r>
              <a:rPr lang="en-US" altLang="ko-KR" sz="2800" b="1">
                <a:solidFill>
                  <a:srgbClr val="0F1716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2800" b="1">
                <a:solidFill>
                  <a:srgbClr val="0F1716"/>
                </a:solidFill>
                <a:latin typeface="맑은 고딕" panose="020B0503020000020004" pitchFamily="50" charset="-127"/>
              </a:rPr>
              <a:t>백엔드</a:t>
            </a:r>
            <a:r>
              <a:rPr lang="en-US" altLang="ko-KR" sz="2800" b="1">
                <a:solidFill>
                  <a:srgbClr val="0F1716"/>
                </a:solidFill>
                <a:latin typeface="맑은 고딕" panose="020B0503020000020004" pitchFamily="50" charset="-127"/>
              </a:rPr>
              <a:t>-DB </a:t>
            </a:r>
            <a:r>
              <a:rPr lang="ko-KR" altLang="en-US" sz="2800" b="1">
                <a:solidFill>
                  <a:srgbClr val="0F1716"/>
                </a:solidFill>
                <a:latin typeface="맑은 고딕" panose="020B0503020000020004" pitchFamily="50" charset="-127"/>
              </a:rPr>
              <a:t>구조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D0F0071-0067-5FC4-15B0-3D15EBFB812D}"/>
              </a:ext>
            </a:extLst>
          </p:cNvPr>
          <p:cNvSpPr/>
          <p:nvPr/>
        </p:nvSpPr>
        <p:spPr>
          <a:xfrm>
            <a:off x="889000" y="2095500"/>
            <a:ext cx="1968500" cy="990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React </a:t>
            </a:r>
            <a:r>
              <a:rPr lang="ko-KR" altLang="en-US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화면</a:t>
            </a:r>
            <a:r>
              <a:rPr lang="en-US" altLang="ko-KR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`nSignup / Login / MyPage</a:t>
            </a:r>
            <a:endParaRPr lang="ko-KR" altLang="en-US" sz="1400" b="1">
              <a:solidFill>
                <a:srgbClr val="0F17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A9DB7FA-6BF3-8E6D-7485-056E110749A1}"/>
              </a:ext>
            </a:extLst>
          </p:cNvPr>
          <p:cNvSpPr/>
          <p:nvPr/>
        </p:nvSpPr>
        <p:spPr>
          <a:xfrm>
            <a:off x="3683000" y="2095500"/>
            <a:ext cx="1968500" cy="990600"/>
          </a:xfrm>
          <a:prstGeom prst="roundRect">
            <a:avLst/>
          </a:prstGeom>
          <a:solidFill>
            <a:srgbClr val="FFF8F0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authService.js`nAPI </a:t>
            </a:r>
            <a:r>
              <a:rPr lang="ko-KR" altLang="en-US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요청 함수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EA4461-C583-F659-DE62-68AAC3D28D54}"/>
              </a:ext>
            </a:extLst>
          </p:cNvPr>
          <p:cNvSpPr/>
          <p:nvPr/>
        </p:nvSpPr>
        <p:spPr>
          <a:xfrm>
            <a:off x="6477000" y="2095500"/>
            <a:ext cx="1968500" cy="990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Express API`n/api/auth/*</a:t>
            </a:r>
            <a:endParaRPr lang="ko-KR" altLang="en-US" sz="1400" b="1">
              <a:solidFill>
                <a:srgbClr val="0F17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94DAC81-C08C-D681-8769-7562738677D9}"/>
              </a:ext>
            </a:extLst>
          </p:cNvPr>
          <p:cNvSpPr/>
          <p:nvPr/>
        </p:nvSpPr>
        <p:spPr>
          <a:xfrm>
            <a:off x="9271000" y="2095500"/>
            <a:ext cx="1968500" cy="990600"/>
          </a:xfrm>
          <a:prstGeom prst="roundRect">
            <a:avLst/>
          </a:prstGeom>
          <a:solidFill>
            <a:srgbClr val="FFF8F0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Prisma + DB`nUser </a:t>
            </a:r>
            <a:r>
              <a:rPr lang="ko-KR" altLang="en-US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테이블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BF593CB-1CDE-BC8F-40D0-F8BE6EA885CE}"/>
              </a:ext>
            </a:extLst>
          </p:cNvPr>
          <p:cNvCxnSpPr/>
          <p:nvPr/>
        </p:nvCxnSpPr>
        <p:spPr>
          <a:xfrm>
            <a:off x="2857500" y="2590800"/>
            <a:ext cx="825500" cy="0"/>
          </a:xfrm>
          <a:prstGeom prst="straightConnector1">
            <a:avLst/>
          </a:prstGeom>
          <a:ln w="27940">
            <a:solidFill>
              <a:srgbClr val="22831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525243A-AA39-416F-E8AE-D010C7CEC59A}"/>
              </a:ext>
            </a:extLst>
          </p:cNvPr>
          <p:cNvCxnSpPr/>
          <p:nvPr/>
        </p:nvCxnSpPr>
        <p:spPr>
          <a:xfrm>
            <a:off x="5651500" y="2590800"/>
            <a:ext cx="825500" cy="0"/>
          </a:xfrm>
          <a:prstGeom prst="straightConnector1">
            <a:avLst/>
          </a:prstGeom>
          <a:ln w="27940">
            <a:solidFill>
              <a:srgbClr val="22831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073C804-DA1D-45EB-7C65-7B7D882E313C}"/>
              </a:ext>
            </a:extLst>
          </p:cNvPr>
          <p:cNvCxnSpPr/>
          <p:nvPr/>
        </p:nvCxnSpPr>
        <p:spPr>
          <a:xfrm>
            <a:off x="8445500" y="2590800"/>
            <a:ext cx="825500" cy="0"/>
          </a:xfrm>
          <a:prstGeom prst="straightConnector1">
            <a:avLst/>
          </a:prstGeom>
          <a:ln w="27940">
            <a:solidFill>
              <a:srgbClr val="22831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3A8640D-8E50-C57B-AA54-FEADBFA50BE2}"/>
              </a:ext>
            </a:extLst>
          </p:cNvPr>
          <p:cNvSpPr/>
          <p:nvPr/>
        </p:nvSpPr>
        <p:spPr>
          <a:xfrm>
            <a:off x="2921000" y="4254500"/>
            <a:ext cx="2603500" cy="889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SMTP </a:t>
            </a:r>
            <a:r>
              <a:rPr lang="ko-KR" altLang="en-US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설정</a:t>
            </a:r>
            <a:r>
              <a:rPr lang="en-US" altLang="ko-KR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`nbackend/.env</a:t>
            </a:r>
            <a:endParaRPr lang="ko-KR" altLang="en-US" sz="1400" b="1">
              <a:solidFill>
                <a:srgbClr val="0F17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DD87110-5B28-FC14-7A10-369D4D9F0BFE}"/>
              </a:ext>
            </a:extLst>
          </p:cNvPr>
          <p:cNvSpPr/>
          <p:nvPr/>
        </p:nvSpPr>
        <p:spPr>
          <a:xfrm>
            <a:off x="6667500" y="4254500"/>
            <a:ext cx="2603500" cy="889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ko-KR" altLang="en-US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외부 </a:t>
            </a:r>
            <a:r>
              <a:rPr lang="en-US" altLang="ko-KR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API </a:t>
            </a:r>
            <a:r>
              <a:rPr lang="ko-KR" altLang="en-US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키</a:t>
            </a:r>
            <a:r>
              <a:rPr lang="en-US" altLang="ko-KR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`n</a:t>
            </a:r>
            <a:r>
              <a:rPr lang="ko-KR" altLang="en-US" sz="1400" b="1">
                <a:solidFill>
                  <a:srgbClr val="0F1716"/>
                </a:solidFill>
                <a:latin typeface="맑은 고딕" panose="020B0503020000020004" pitchFamily="50" charset="-127"/>
              </a:rPr>
              <a:t>프론트에 노출하지 않음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727580B-78BC-630C-C495-2F8EE5C65968}"/>
              </a:ext>
            </a:extLst>
          </p:cNvPr>
          <p:cNvCxnSpPr/>
          <p:nvPr/>
        </p:nvCxnSpPr>
        <p:spPr>
          <a:xfrm flipH="1">
            <a:off x="4572000" y="3086100"/>
            <a:ext cx="2857500" cy="1168400"/>
          </a:xfrm>
          <a:prstGeom prst="straightConnector1">
            <a:avLst/>
          </a:prstGeom>
          <a:ln w="27940">
            <a:solidFill>
              <a:srgbClr val="22831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F10B5EF-0134-5396-3E0E-EA15AD77B14A}"/>
              </a:ext>
            </a:extLst>
          </p:cNvPr>
          <p:cNvCxnSpPr/>
          <p:nvPr/>
        </p:nvCxnSpPr>
        <p:spPr>
          <a:xfrm>
            <a:off x="7429500" y="3086100"/>
            <a:ext cx="508000" cy="1168400"/>
          </a:xfrm>
          <a:prstGeom prst="straightConnector1">
            <a:avLst/>
          </a:prstGeom>
          <a:ln w="27940">
            <a:solidFill>
              <a:srgbClr val="22831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F9C2465-156B-B29F-A46B-799A19EA7555}"/>
              </a:ext>
            </a:extLst>
          </p:cNvPr>
          <p:cNvSpPr txBox="1"/>
          <p:nvPr/>
        </p:nvSpPr>
        <p:spPr>
          <a:xfrm>
            <a:off x="1422400" y="5778500"/>
            <a:ext cx="965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핵심</a:t>
            </a:r>
            <a:r>
              <a:rPr lang="en-US" altLang="ko-KR" sz="1200">
                <a:solidFill>
                  <a:srgbClr val="4C4C4C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화면은 </a:t>
            </a:r>
            <a:r>
              <a:rPr lang="en-US" altLang="ko-KR" sz="1200">
                <a:solidFill>
                  <a:srgbClr val="4C4C4C"/>
                </a:solidFill>
                <a:latin typeface="맑은 고딕" panose="020B0503020000020004" pitchFamily="50" charset="-127"/>
              </a:rPr>
              <a:t>API </a:t>
            </a:r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함수만 호출하고</a:t>
            </a:r>
            <a:r>
              <a:rPr lang="en-US" altLang="ko-KR" sz="1200">
                <a:solidFill>
                  <a:srgbClr val="4C4C4C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민감한 설정과 </a:t>
            </a:r>
            <a:r>
              <a:rPr lang="en-US" altLang="ko-KR" sz="1200">
                <a:solidFill>
                  <a:srgbClr val="4C4C4C"/>
                </a:solidFill>
                <a:latin typeface="맑은 고딕" panose="020B0503020000020004" pitchFamily="50" charset="-127"/>
              </a:rPr>
              <a:t>DB </a:t>
            </a:r>
            <a:r>
              <a:rPr lang="ko-KR" altLang="en-US" sz="1200">
                <a:solidFill>
                  <a:srgbClr val="4C4C4C"/>
                </a:solidFill>
                <a:latin typeface="맑은 고딕" panose="020B0503020000020004" pitchFamily="50" charset="-127"/>
              </a:rPr>
              <a:t>접근은 백엔드에서 처리합니다</a:t>
            </a:r>
            <a:r>
              <a:rPr lang="en-US" altLang="ko-KR" sz="1200">
                <a:solidFill>
                  <a:srgbClr val="4C4C4C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4C4C4C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7264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</Words>
  <Application>Microsoft Office PowerPoint</Application>
  <PresentationFormat>와이드스크린</PresentationFormat>
  <Paragraphs>53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정사임</dc:creator>
  <cp:lastModifiedBy>정사임</cp:lastModifiedBy>
  <cp:revision>2</cp:revision>
  <dcterms:created xsi:type="dcterms:W3CDTF">2026-07-15T08:07:38Z</dcterms:created>
  <dcterms:modified xsi:type="dcterms:W3CDTF">2026-07-15T08:10:46Z</dcterms:modified>
</cp:coreProperties>
</file>