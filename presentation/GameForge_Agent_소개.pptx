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소개해드릴 프로젝트는 GameForge Agent입니다. Unity 게임을 만드는 과정을 여러 AI 에이전트가 단계별로 도와주는 개발 지원 도구예요. 요구사항 분석부터 최종 문서화까지, 9단계 워크플로우로 프로젝트 컨텍스트를 계속 유지하면서 진행하는 게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게임 개발은 기획서, 설계 문서, 실제 코드까지 여러 단계를 거치는데, 그 사이의 맥락이 쉽게 흩어집니다. 워크플로우가 파편화되고, 프로젝트 배경을 매번 다시 설명해야 하고, 코드 리뷰도 사람이 일일이 반복해야 하죠. 이 문제를 풀기 위해 프로젝트 전체 컨텍스트를 Markdown으로 유지하는 구조를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컨셉은 9단계 워터폴 워크플로우입니다. 요구사항 분석, 게임 기획, 게임 시스템 설계, 클래스 설계, 프로젝트 구조 설계, ScriptableObject 설계, 코드 생성, 리팩토링과 코드 리뷰, 마지막으로 문서화까지 순서대로 진행되고, 완료되거나 진행 중인 단계만 열람할 수 있고 아직 오지 않은 단계는 잠겨 있습니다. 순서를 건너뛸 수 없다는 게 설계 원칙이에요.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이렇습니다. React와 Vite, TypeScript로 만든 클라이언트가 REST API로 Node Express 서버와 통신하고, 서버는 다시 세 곳과 연동됩니다. GitHub API로 OAuth 로그인과 저장소/브랜치 정보를 가져오고, .NET 기반 Roslyn 분석기를 child_process로 실행해서 코드를 분석하고, Anthropic Claude API로 단계별 코드와 문서를 생성합니다. 별도 DB 없이 서버의 JSON 파일로 데이터를 관리하는 가벼운 구조예요.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실제로 동작하는 부분을 보여드리면, GitHub 계정으로 로그인하고, 내 저장소 목록에서 하나를 고르고, 그 저장소의 브랜치까지 선택할 수 있습니다. OAuth는 Authorization Code Flow로 구현했고, 액세스 토큰은 서버에만 저장돼서 브라우저에는 노출되지 않습니다. 오른쪽이 실제 화면 구조를 재현한 목업이에요.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진행 상황을 정리하면, GitHub 로그인부터 저장소·브랜치 조회까지 1단계 인프라는 완성됐고, 9단계 워크플로우 API, Roslyn 분석기 연동, Claude 연동, 문서화·커밋 플로우는 다음 단계로 남아 있습니다. 초기 스캐폴딩 단계에서 인증과 데이터 흐름의 기본 뼈대를 먼저 탄탄하게 잡았다고 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앞으로의 계획은 이렇습니다. 이번 주에는 OAuth 마무리와 분석기 연동을 진행하고, 다음 주에는 9단계 워크플로우 API와 코드 생성 기능을, 마지막 주에는 문서화와 커밋 리뷰 플로우를 완성해서 전체 파이프라인을 마무리할 예정입니다. 지금까지 GameForge Agent 소개를 마치겠습니다.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8"/>
        </a:solidFill>
      </p:bgPr>
    </p:bg>
    <p:spTree>
      <p:nvGrpSpPr>
        <p:cNvPr id="1" name=""/>
        <p:cNvGrpSpPr/>
        <p:nvPr/>
      </p:nvGrpSpPr>
      <p:grpSpPr>
        <a:xfrm>
          <a:off x="0" y="0"/>
          <a:ext cx="0" cy="0"/>
          <a:chOff x="0" y="0"/>
          <a:chExt cx="0" cy="0"/>
        </a:xfrm>
      </p:grpSpPr>
      <p:sp>
        <p:nvSpPr>
          <p:cNvPr id="2" name="Shape 0"/>
          <p:cNvSpPr/>
          <p:nvPr/>
        </p:nvSpPr>
        <p:spPr>
          <a:xfrm>
            <a:off x="9418320" y="-2011680"/>
            <a:ext cx="5486400" cy="5486400"/>
          </a:xfrm>
          <a:prstGeom prst="ellipse">
            <a:avLst/>
          </a:prstGeom>
          <a:solidFill>
            <a:srgbClr val="3ECF9A">
              <a:alpha val="8000"/>
            </a:srgbClr>
          </a:solidFill>
          <a:ln/>
        </p:spPr>
      </p:sp>
      <p:sp>
        <p:nvSpPr>
          <p:cNvPr id="3" name="Shape 1"/>
          <p:cNvSpPr/>
          <p:nvPr/>
        </p:nvSpPr>
        <p:spPr>
          <a:xfrm>
            <a:off x="-2377440" y="4206240"/>
            <a:ext cx="5029200" cy="5029200"/>
          </a:xfrm>
          <a:prstGeom prst="ellipse">
            <a:avLst/>
          </a:prstGeom>
          <a:solidFill>
            <a:srgbClr val="F0A942">
              <a:alpha val="6000"/>
            </a:srgbClr>
          </a:solidFill>
          <a:ln/>
        </p:spPr>
      </p:sp>
      <p:sp>
        <p:nvSpPr>
          <p:cNvPr id="4" name="Shape 2"/>
          <p:cNvSpPr/>
          <p:nvPr/>
        </p:nvSpPr>
        <p:spPr>
          <a:xfrm>
            <a:off x="5364785" y="1051560"/>
            <a:ext cx="1463040" cy="1463040"/>
          </a:xfrm>
          <a:prstGeom prst="ellipse">
            <a:avLst/>
          </a:prstGeom>
          <a:solidFill>
            <a:srgbClr val="3ECF9A"/>
          </a:solidFill>
          <a:ln/>
        </p:spPr>
      </p:sp>
      <p:pic>
        <p:nvPicPr>
          <p:cNvPr id="5" name="Image 0" descr="C:\Users\Absolute Sexy\AppData\Local\Temp\claude\C--Users-Absolute-Sexy-Desktop-GameForgeAgent\11113590-93f3-4442-a177-b6373aa8c0e2\scratchpad\pptx_deck\icons\gamepad.png">    </p:cNvPr>
          <p:cNvPicPr>
            <a:picLocks noChangeAspect="1"/>
          </p:cNvPicPr>
          <p:nvPr/>
        </p:nvPicPr>
        <p:blipFill>
          <a:blip r:embed="rId1"/>
          <a:stretch>
            <a:fillRect/>
          </a:stretch>
        </p:blipFill>
        <p:spPr>
          <a:xfrm>
            <a:off x="5730545" y="1417320"/>
            <a:ext cx="731520" cy="731520"/>
          </a:xfrm>
          <a:prstGeom prst="rect">
            <a:avLst/>
          </a:prstGeom>
        </p:spPr>
      </p:pic>
      <p:sp>
        <p:nvSpPr>
          <p:cNvPr id="6" name="Text 3"/>
          <p:cNvSpPr/>
          <p:nvPr/>
        </p:nvSpPr>
        <p:spPr>
          <a:xfrm>
            <a:off x="914400" y="2788920"/>
            <a:ext cx="103628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맑은 고딕" pitchFamily="34" charset="0"/>
                <a:ea typeface="맑은 고딕" pitchFamily="34" charset="-122"/>
                <a:cs typeface="맑은 고딕" pitchFamily="34" charset="-120"/>
              </a:rPr>
              <a:t>GameForge Agent</a:t>
            </a:r>
            <a:endParaRPr lang="en-US" sz="4400" dirty="0"/>
          </a:p>
        </p:txBody>
      </p:sp>
      <p:sp>
        <p:nvSpPr>
          <p:cNvPr id="7" name="Text 4"/>
          <p:cNvSpPr/>
          <p:nvPr/>
        </p:nvSpPr>
        <p:spPr>
          <a:xfrm>
            <a:off x="914400" y="3657600"/>
            <a:ext cx="10362895" cy="502920"/>
          </a:xfrm>
          <a:prstGeom prst="rect">
            <a:avLst/>
          </a:prstGeom>
          <a:noFill/>
          <a:ln/>
        </p:spPr>
        <p:txBody>
          <a:bodyPr wrap="square" lIns="0" tIns="0" rIns="0" bIns="0" rtlCol="0" anchor="ctr"/>
          <a:lstStyle/>
          <a:p>
            <a:pPr algn="ctr" indent="0" marL="0">
              <a:buNone/>
            </a:pPr>
            <a:r>
              <a:rPr lang="en-US" sz="1800" dirty="0">
                <a:solidFill>
                  <a:srgbClr val="9C9CA4"/>
                </a:solidFill>
                <a:latin typeface="맑은 고딕" pitchFamily="34" charset="0"/>
                <a:ea typeface="맑은 고딕" pitchFamily="34" charset="-122"/>
                <a:cs typeface="맑은 고딕" pitchFamily="34" charset="-120"/>
              </a:rPr>
              <a:t>Unity 게임 개발을 지원하는 Multi-Agent 기반 AI 개발 지원 도구</a:t>
            </a:r>
            <a:endParaRPr lang="en-US" sz="1800" dirty="0"/>
          </a:p>
        </p:txBody>
      </p:sp>
      <p:sp>
        <p:nvSpPr>
          <p:cNvPr id="8" name="Text 5"/>
          <p:cNvSpPr/>
          <p:nvPr/>
        </p:nvSpPr>
        <p:spPr>
          <a:xfrm>
            <a:off x="914400" y="4160520"/>
            <a:ext cx="10362895" cy="411480"/>
          </a:xfrm>
          <a:prstGeom prst="rect">
            <a:avLst/>
          </a:prstGeom>
          <a:noFill/>
          <a:ln/>
        </p:spPr>
        <p:txBody>
          <a:bodyPr wrap="square" lIns="0" tIns="0" rIns="0" bIns="0" rtlCol="0" anchor="ctr"/>
          <a:lstStyle/>
          <a:p>
            <a:pPr algn="ctr" indent="0" marL="0">
              <a:buNone/>
            </a:pPr>
            <a:r>
              <a:rPr lang="en-US" sz="1400" i="1" dirty="0">
                <a:solidFill>
                  <a:srgbClr val="3ECF9A"/>
                </a:solidFill>
                <a:latin typeface="맑은 고딕" pitchFamily="34" charset="0"/>
                <a:ea typeface="맑은 고딕" pitchFamily="34" charset="-122"/>
                <a:cs typeface="맑은 고딕" pitchFamily="34" charset="-120"/>
              </a:rPr>
              <a:t>요구사항 분석부터 문서화까지, 9단계로 이어지는 AI 협업 워크플로우</a:t>
            </a:r>
            <a:endParaRPr lang="en-US" sz="1400" dirty="0"/>
          </a:p>
        </p:txBody>
      </p:sp>
      <p:sp>
        <p:nvSpPr>
          <p:cNvPr id="9" name="Text 6"/>
          <p:cNvSpPr/>
          <p:nvPr/>
        </p:nvSpPr>
        <p:spPr>
          <a:xfrm>
            <a:off x="914400" y="6172200"/>
            <a:ext cx="10362895" cy="320040"/>
          </a:xfrm>
          <a:prstGeom prst="rect">
            <a:avLst/>
          </a:prstGeom>
          <a:noFill/>
          <a:ln/>
        </p:spPr>
        <p:txBody>
          <a:bodyPr wrap="square" lIns="0" tIns="0" rIns="0" bIns="0" rtlCol="0" anchor="ctr"/>
          <a:lstStyle/>
          <a:p>
            <a:pPr algn="ctr" indent="0" marL="0">
              <a:buNone/>
            </a:pPr>
            <a:r>
              <a:rPr lang="en-US" sz="1100" spc="200" kern="0" dirty="0">
                <a:solidFill>
                  <a:srgbClr val="6C6C74"/>
                </a:solidFill>
                <a:latin typeface="맑은 고딕" pitchFamily="34" charset="0"/>
                <a:ea typeface="맑은 고딕" pitchFamily="34" charset="-122"/>
                <a:cs typeface="맑은 고딕" pitchFamily="34" charset="-120"/>
              </a:rPr>
              <a:t>AI AGENT CHALLENGE  ·  PROJECT INTRO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618"/>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맑은 고딕" pitchFamily="34" charset="0"/>
                <a:ea typeface="맑은 고딕" pitchFamily="34" charset="-122"/>
                <a:cs typeface="맑은 고딕" pitchFamily="34" charset="-120"/>
              </a:rPr>
              <a:t>왜 GameForge Agent인가?</a:t>
            </a:r>
            <a:endParaRPr lang="en-US" sz="3200" dirty="0"/>
          </a:p>
        </p:txBody>
      </p:sp>
      <p:sp>
        <p:nvSpPr>
          <p:cNvPr id="3" name="Text 1"/>
          <p:cNvSpPr/>
          <p:nvPr/>
        </p:nvSpPr>
        <p:spPr>
          <a:xfrm>
            <a:off x="640080" y="1554480"/>
            <a:ext cx="5029200" cy="4206240"/>
          </a:xfrm>
          <a:prstGeom prst="rect">
            <a:avLst/>
          </a:prstGeom>
          <a:noFill/>
          <a:ln/>
        </p:spPr>
        <p:txBody>
          <a:bodyPr wrap="square" lIns="0" tIns="0" rIns="0" bIns="0" rtlCol="0" anchor="t"/>
          <a:lstStyle/>
          <a:p>
            <a:pPr algn="l" indent="0" marL="0">
              <a:lnSpc>
                <a:spcPct val="135000"/>
              </a:lnSpc>
              <a:buNone/>
            </a:pPr>
            <a:r>
              <a:rPr lang="en-US" sz="1500" dirty="0">
                <a:solidFill>
                  <a:srgbClr val="9C9CA4"/>
                </a:solidFill>
                <a:latin typeface="맑은 고딕" pitchFamily="34" charset="0"/>
                <a:ea typeface="맑은 고딕" pitchFamily="34" charset="-122"/>
                <a:cs typeface="맑은 고딕" pitchFamily="34" charset="-120"/>
              </a:rPr>
              <a:t>Unity 게임 하나를 만드는 과정은 기획, 설계, 코드 생성, 리뷰까지 여러 단계로 쪼개져 있습니다. 그런데 그 사이를 이어주는 맥락(context)은 문서와 대화 속에 흩어진 채로 쉽게 사라지고, 매번 처음부터 다시 설명해야 하는 경우가 많습니다.</a:t>
            </a:r>
            <a:endParaRPr lang="en-US" sz="1500" dirty="0"/>
          </a:p>
          <a:p>
            <a:pPr algn="l" indent="0" marL="0">
              <a:lnSpc>
                <a:spcPct val="135000"/>
              </a:lnSpc>
              <a:buNone/>
            </a:pPr>
            <a:endParaRPr lang="en-US" sz="1500" dirty="0"/>
          </a:p>
          <a:p>
            <a:pPr algn="l" indent="0" marL="0">
              <a:lnSpc>
                <a:spcPct val="135000"/>
              </a:lnSpc>
              <a:buNone/>
            </a:pPr>
            <a:r>
              <a:rPr lang="en-US" sz="1500" dirty="0">
                <a:solidFill>
                  <a:srgbClr val="9C9CA4"/>
                </a:solidFill>
                <a:latin typeface="맑은 고딕" pitchFamily="34" charset="0"/>
                <a:ea typeface="맑은 고딕" pitchFamily="34" charset="-122"/>
                <a:cs typeface="맑은 고딕" pitchFamily="34" charset="-120"/>
              </a:rPr>
              <a:t>GameForge Agent는 이 전체 흐름을 하나의 프로젝트 Context(Markdown)로 묶어, Multi-Agent가 단계마다 이어받아 작업하도록 설계했습니다.</a:t>
            </a:r>
            <a:endParaRPr lang="en-US" sz="1500" dirty="0"/>
          </a:p>
        </p:txBody>
      </p:sp>
      <p:sp>
        <p:nvSpPr>
          <p:cNvPr id="4" name="Shape 2"/>
          <p:cNvSpPr/>
          <p:nvPr/>
        </p:nvSpPr>
        <p:spPr>
          <a:xfrm>
            <a:off x="6126480" y="1600200"/>
            <a:ext cx="566928" cy="566928"/>
          </a:xfrm>
          <a:prstGeom prst="ellipse">
            <a:avLst/>
          </a:prstGeom>
          <a:solidFill>
            <a:srgbClr val="F0A942"/>
          </a:solidFill>
          <a:ln/>
        </p:spPr>
      </p:sp>
      <p:pic>
        <p:nvPicPr>
          <p:cNvPr id="5" name="Image 0" descr="C:\Users\Absolute Sexy\AppData\Local\Temp\claude\C--Users-Absolute-Sexy-Desktop-GameForgeAgent\11113590-93f3-4442-a177-b6373aa8c0e2\scratchpad\pptx_deck\icons\sitemap.png">    </p:cNvPr>
          <p:cNvPicPr>
            <a:picLocks noChangeAspect="1"/>
          </p:cNvPicPr>
          <p:nvPr/>
        </p:nvPicPr>
        <p:blipFill>
          <a:blip r:embed="rId1"/>
          <a:stretch>
            <a:fillRect/>
          </a:stretch>
        </p:blipFill>
        <p:spPr>
          <a:xfrm>
            <a:off x="6268212" y="1741932"/>
            <a:ext cx="283464" cy="283464"/>
          </a:xfrm>
          <a:prstGeom prst="rect">
            <a:avLst/>
          </a:prstGeom>
        </p:spPr>
      </p:pic>
      <p:sp>
        <p:nvSpPr>
          <p:cNvPr id="6" name="Text 3"/>
          <p:cNvSpPr/>
          <p:nvPr/>
        </p:nvSpPr>
        <p:spPr>
          <a:xfrm>
            <a:off x="6903720" y="1572768"/>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파편화된 워크플로우</a:t>
            </a:r>
            <a:endParaRPr lang="en-US" sz="1600" dirty="0"/>
          </a:p>
        </p:txBody>
      </p:sp>
      <p:sp>
        <p:nvSpPr>
          <p:cNvPr id="7" name="Text 4"/>
          <p:cNvSpPr/>
          <p:nvPr/>
        </p:nvSpPr>
        <p:spPr>
          <a:xfrm>
            <a:off x="6903720" y="1929384"/>
            <a:ext cx="4572000" cy="502920"/>
          </a:xfrm>
          <a:prstGeom prst="rect">
            <a:avLst/>
          </a:prstGeom>
          <a:noFill/>
          <a:ln/>
        </p:spPr>
        <p:txBody>
          <a:bodyPr wrap="square" lIns="0" tIns="0" rIns="0" bIns="0" rtlCol="0" anchor="ctr"/>
          <a:lstStyle/>
          <a:p>
            <a:pPr indent="0" marL="0">
              <a:lnSpc>
                <a:spcPct val="120000"/>
              </a:lnSpc>
              <a:buNone/>
            </a:pPr>
            <a:r>
              <a:rPr lang="en-US" sz="1250" dirty="0">
                <a:solidFill>
                  <a:srgbClr val="9C9CA4"/>
                </a:solidFill>
                <a:latin typeface="맑은 고딕" pitchFamily="34" charset="0"/>
                <a:ea typeface="맑은 고딕" pitchFamily="34" charset="-122"/>
                <a:cs typeface="맑은 고딕" pitchFamily="34" charset="-120"/>
              </a:rPr>
              <a:t>기획 · 설계 · 코드가 서로 다른 문서와 대화에 흩어짐</a:t>
            </a:r>
            <a:endParaRPr lang="en-US" sz="1250" dirty="0"/>
          </a:p>
        </p:txBody>
      </p:sp>
      <p:sp>
        <p:nvSpPr>
          <p:cNvPr id="8" name="Shape 5"/>
          <p:cNvSpPr/>
          <p:nvPr/>
        </p:nvSpPr>
        <p:spPr>
          <a:xfrm>
            <a:off x="6126480" y="3017520"/>
            <a:ext cx="566928" cy="566928"/>
          </a:xfrm>
          <a:prstGeom prst="ellipse">
            <a:avLst/>
          </a:prstGeom>
          <a:solidFill>
            <a:srgbClr val="3ECF9A"/>
          </a:solidFill>
          <a:ln/>
        </p:spPr>
      </p:sp>
      <p:pic>
        <p:nvPicPr>
          <p:cNvPr id="9" name="Image 1" descr="C:\Users\Absolute Sexy\AppData\Local\Temp\claude\C--Users-Absolute-Sexy-Desktop-GameForgeAgent\11113590-93f3-4442-a177-b6373aa8c0e2\scratchpad\pptx_deck\icons\file.png">    </p:cNvPr>
          <p:cNvPicPr>
            <a:picLocks noChangeAspect="1"/>
          </p:cNvPicPr>
          <p:nvPr/>
        </p:nvPicPr>
        <p:blipFill>
          <a:blip r:embed="rId2"/>
          <a:stretch>
            <a:fillRect/>
          </a:stretch>
        </p:blipFill>
        <p:spPr>
          <a:xfrm>
            <a:off x="6268212" y="3159252"/>
            <a:ext cx="283464" cy="283464"/>
          </a:xfrm>
          <a:prstGeom prst="rect">
            <a:avLst/>
          </a:prstGeom>
        </p:spPr>
      </p:pic>
      <p:sp>
        <p:nvSpPr>
          <p:cNvPr id="10" name="Text 6"/>
          <p:cNvSpPr/>
          <p:nvPr/>
        </p:nvSpPr>
        <p:spPr>
          <a:xfrm>
            <a:off x="6903720" y="2990088"/>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휘발되는 프로젝트 컨텍스트</a:t>
            </a:r>
            <a:endParaRPr lang="en-US" sz="1600" dirty="0"/>
          </a:p>
        </p:txBody>
      </p:sp>
      <p:sp>
        <p:nvSpPr>
          <p:cNvPr id="11" name="Text 7"/>
          <p:cNvSpPr/>
          <p:nvPr/>
        </p:nvSpPr>
        <p:spPr>
          <a:xfrm>
            <a:off x="6903720" y="3346704"/>
            <a:ext cx="4572000" cy="502920"/>
          </a:xfrm>
          <a:prstGeom prst="rect">
            <a:avLst/>
          </a:prstGeom>
          <a:noFill/>
          <a:ln/>
        </p:spPr>
        <p:txBody>
          <a:bodyPr wrap="square" lIns="0" tIns="0" rIns="0" bIns="0" rtlCol="0" anchor="ctr"/>
          <a:lstStyle/>
          <a:p>
            <a:pPr indent="0" marL="0">
              <a:lnSpc>
                <a:spcPct val="120000"/>
              </a:lnSpc>
              <a:buNone/>
            </a:pPr>
            <a:r>
              <a:rPr lang="en-US" sz="1250" dirty="0">
                <a:solidFill>
                  <a:srgbClr val="9C9CA4"/>
                </a:solidFill>
                <a:latin typeface="맑은 고딕" pitchFamily="34" charset="0"/>
                <a:ea typeface="맑은 고딕" pitchFamily="34" charset="-122"/>
                <a:cs typeface="맑은 고딕" pitchFamily="34" charset="-120"/>
              </a:rPr>
              <a:t>매번 처음부터 다시 설명해야 하는 배경 지식</a:t>
            </a:r>
            <a:endParaRPr lang="en-US" sz="1250" dirty="0"/>
          </a:p>
        </p:txBody>
      </p:sp>
      <p:sp>
        <p:nvSpPr>
          <p:cNvPr id="12" name="Shape 8"/>
          <p:cNvSpPr/>
          <p:nvPr/>
        </p:nvSpPr>
        <p:spPr>
          <a:xfrm>
            <a:off x="6126480" y="4434840"/>
            <a:ext cx="566928" cy="566928"/>
          </a:xfrm>
          <a:prstGeom prst="ellipse">
            <a:avLst/>
          </a:prstGeom>
          <a:solidFill>
            <a:srgbClr val="E5615F"/>
          </a:solidFill>
          <a:ln/>
        </p:spPr>
      </p:sp>
      <p:pic>
        <p:nvPicPr>
          <p:cNvPr id="13" name="Image 2" descr="C:\Users\Absolute Sexy\AppData\Local\Temp\claude\C--Users-Absolute-Sexy-Desktop-GameForgeAgent\11113590-93f3-4442-a177-b6373aa8c0e2\scratchpad\pptx_deck\icons\search.png">    </p:cNvPr>
          <p:cNvPicPr>
            <a:picLocks noChangeAspect="1"/>
          </p:cNvPicPr>
          <p:nvPr/>
        </p:nvPicPr>
        <p:blipFill>
          <a:blip r:embed="rId3"/>
          <a:stretch>
            <a:fillRect/>
          </a:stretch>
        </p:blipFill>
        <p:spPr>
          <a:xfrm>
            <a:off x="6268212" y="4576572"/>
            <a:ext cx="283464" cy="283464"/>
          </a:xfrm>
          <a:prstGeom prst="rect">
            <a:avLst/>
          </a:prstGeom>
        </p:spPr>
      </p:pic>
      <p:sp>
        <p:nvSpPr>
          <p:cNvPr id="14" name="Text 9"/>
          <p:cNvSpPr/>
          <p:nvPr/>
        </p:nvSpPr>
        <p:spPr>
          <a:xfrm>
            <a:off x="6903720" y="4407408"/>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반복되는 리뷰 부담</a:t>
            </a:r>
            <a:endParaRPr lang="en-US" sz="1600" dirty="0"/>
          </a:p>
        </p:txBody>
      </p:sp>
      <p:sp>
        <p:nvSpPr>
          <p:cNvPr id="15" name="Text 10"/>
          <p:cNvSpPr/>
          <p:nvPr/>
        </p:nvSpPr>
        <p:spPr>
          <a:xfrm>
            <a:off x="6903720" y="4764024"/>
            <a:ext cx="4572000" cy="502920"/>
          </a:xfrm>
          <a:prstGeom prst="rect">
            <a:avLst/>
          </a:prstGeom>
          <a:noFill/>
          <a:ln/>
        </p:spPr>
        <p:txBody>
          <a:bodyPr wrap="square" lIns="0" tIns="0" rIns="0" bIns="0" rtlCol="0" anchor="ctr"/>
          <a:lstStyle/>
          <a:p>
            <a:pPr indent="0" marL="0">
              <a:lnSpc>
                <a:spcPct val="120000"/>
              </a:lnSpc>
              <a:buNone/>
            </a:pPr>
            <a:r>
              <a:rPr lang="en-US" sz="1250" dirty="0">
                <a:solidFill>
                  <a:srgbClr val="9C9CA4"/>
                </a:solidFill>
                <a:latin typeface="맑은 고딕" pitchFamily="34" charset="0"/>
                <a:ea typeface="맑은 고딕" pitchFamily="34" charset="-122"/>
                <a:cs typeface="맑은 고딕" pitchFamily="34" charset="-120"/>
              </a:rPr>
              <a:t>코드 품질 · 중복 체크를 사람이 매번 수작업으로</a:t>
            </a:r>
            <a:endParaRPr lang="en-US" sz="1250" dirty="0"/>
          </a:p>
        </p:txBody>
      </p:sp>
      <p:sp>
        <p:nvSpPr>
          <p:cNvPr id="16" name="Text 11"/>
          <p:cNvSpPr/>
          <p:nvPr/>
        </p:nvSpPr>
        <p:spPr>
          <a:xfrm>
            <a:off x="11247120" y="6355080"/>
            <a:ext cx="731520" cy="365760"/>
          </a:xfrm>
          <a:prstGeom prst="rect">
            <a:avLst/>
          </a:prstGeom>
          <a:noFill/>
          <a:ln/>
        </p:spPr>
        <p:txBody>
          <a:bodyPr wrap="square" lIns="0" tIns="0" rIns="0" bIns="0" rtlCol="0" anchor="ctr"/>
          <a:lstStyle/>
          <a:p>
            <a:pPr algn="r" indent="0" marL="0">
              <a:buNone/>
            </a:pPr>
            <a:r>
              <a:rPr lang="en-US" sz="1100" dirty="0">
                <a:solidFill>
                  <a:srgbClr val="6C6C74"/>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8"/>
        </a:solidFill>
      </p:bgPr>
    </p:bg>
    <p:spTree>
      <p:nvGrpSpPr>
        <p:cNvPr id="1" name=""/>
        <p:cNvGrpSpPr/>
        <p:nvPr/>
      </p:nvGrpSpPr>
      <p:grpSpPr>
        <a:xfrm>
          <a:off x="0" y="0"/>
          <a:ext cx="0" cy="0"/>
          <a:chOff x="0" y="0"/>
          <a:chExt cx="0" cy="0"/>
        </a:xfrm>
      </p:grpSpPr>
      <p:sp>
        <p:nvSpPr>
          <p:cNvPr id="2" name="Text 0"/>
          <p:cNvSpPr/>
          <p:nvPr/>
        </p:nvSpPr>
        <p:spPr>
          <a:xfrm>
            <a:off x="640080" y="457200"/>
            <a:ext cx="9144000" cy="594360"/>
          </a:xfrm>
          <a:prstGeom prst="rect">
            <a:avLst/>
          </a:prstGeom>
          <a:noFill/>
          <a:ln/>
        </p:spPr>
        <p:txBody>
          <a:bodyPr wrap="square" lIns="0" tIns="0" rIns="0" bIns="0" rtlCol="0" anchor="ctr"/>
          <a:lstStyle/>
          <a:p>
            <a:pPr indent="0" marL="0">
              <a:buNone/>
            </a:pPr>
            <a:r>
              <a:rPr lang="en-US" sz="3000" b="1" dirty="0">
                <a:solidFill>
                  <a:srgbClr val="FFFFFF"/>
                </a:solidFill>
                <a:latin typeface="맑은 고딕" pitchFamily="34" charset="0"/>
                <a:ea typeface="맑은 고딕" pitchFamily="34" charset="-122"/>
                <a:cs typeface="맑은 고딕" pitchFamily="34" charset="-120"/>
              </a:rPr>
              <a:t>9단계 워터폴 워크플로우</a:t>
            </a:r>
            <a:endParaRPr lang="en-US" sz="3000" dirty="0"/>
          </a:p>
        </p:txBody>
      </p:sp>
      <p:sp>
        <p:nvSpPr>
          <p:cNvPr id="3" name="Text 1"/>
          <p:cNvSpPr/>
          <p:nvPr/>
        </p:nvSpPr>
        <p:spPr>
          <a:xfrm>
            <a:off x="640080" y="1024128"/>
            <a:ext cx="10058400" cy="365760"/>
          </a:xfrm>
          <a:prstGeom prst="rect">
            <a:avLst/>
          </a:prstGeom>
          <a:noFill/>
          <a:ln/>
        </p:spPr>
        <p:txBody>
          <a:bodyPr wrap="square" lIns="0" tIns="0" rIns="0" bIns="0" rtlCol="0" anchor="ctr"/>
          <a:lstStyle/>
          <a:p>
            <a:pPr indent="0" marL="0">
              <a:buNone/>
            </a:pPr>
            <a:r>
              <a:rPr lang="en-US" sz="1400" dirty="0">
                <a:solidFill>
                  <a:srgbClr val="9C9CA4"/>
                </a:solidFill>
                <a:latin typeface="맑은 고딕" pitchFamily="34" charset="0"/>
                <a:ea typeface="맑은 고딕" pitchFamily="34" charset="-122"/>
                <a:cs typeface="맑은 고딕" pitchFamily="34" charset="-120"/>
              </a:rPr>
              <a:t>요구사항 분석부터 문서화까지, 프로젝트 Context를 유지하며 순서대로 진행합니다</a:t>
            </a:r>
            <a:endParaRPr lang="en-US" sz="1400" dirty="0"/>
          </a:p>
        </p:txBody>
      </p:sp>
      <p:sp>
        <p:nvSpPr>
          <p:cNvPr id="4" name="Shape 2"/>
          <p:cNvSpPr/>
          <p:nvPr/>
        </p:nvSpPr>
        <p:spPr>
          <a:xfrm>
            <a:off x="640080" y="1783080"/>
            <a:ext cx="3465576" cy="1170432"/>
          </a:xfrm>
          <a:prstGeom prst="roundRect">
            <a:avLst>
              <a:gd name="adj" fmla="val 7813"/>
            </a:avLst>
          </a:prstGeom>
          <a:solidFill>
            <a:srgbClr val="242428"/>
          </a:solidFill>
          <a:ln w="12700">
            <a:solidFill>
              <a:srgbClr val="38383E"/>
            </a:solidFill>
            <a:prstDash val="solid"/>
          </a:ln>
        </p:spPr>
      </p:sp>
      <p:sp>
        <p:nvSpPr>
          <p:cNvPr id="5" name="Shape 3"/>
          <p:cNvSpPr/>
          <p:nvPr/>
        </p:nvSpPr>
        <p:spPr>
          <a:xfrm>
            <a:off x="841248" y="2130552"/>
            <a:ext cx="475488" cy="475488"/>
          </a:xfrm>
          <a:prstGeom prst="ellipse">
            <a:avLst/>
          </a:prstGeom>
          <a:solidFill>
            <a:srgbClr val="3ECF9A"/>
          </a:solidFill>
          <a:ln/>
        </p:spPr>
      </p:sp>
      <p:sp>
        <p:nvSpPr>
          <p:cNvPr id="6" name="Text 4"/>
          <p:cNvSpPr/>
          <p:nvPr/>
        </p:nvSpPr>
        <p:spPr>
          <a:xfrm>
            <a:off x="841248" y="2130552"/>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1</a:t>
            </a:r>
            <a:endParaRPr lang="en-US" sz="1600" dirty="0"/>
          </a:p>
        </p:txBody>
      </p:sp>
      <p:sp>
        <p:nvSpPr>
          <p:cNvPr id="7" name="Text 5"/>
          <p:cNvSpPr/>
          <p:nvPr/>
        </p:nvSpPr>
        <p:spPr>
          <a:xfrm>
            <a:off x="1463040" y="1783080"/>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요구사항 분석</a:t>
            </a:r>
            <a:endParaRPr lang="en-US" sz="1500" dirty="0"/>
          </a:p>
        </p:txBody>
      </p:sp>
      <p:sp>
        <p:nvSpPr>
          <p:cNvPr id="8" name="Shape 6"/>
          <p:cNvSpPr/>
          <p:nvPr/>
        </p:nvSpPr>
        <p:spPr>
          <a:xfrm>
            <a:off x="4361688" y="1783080"/>
            <a:ext cx="3465576" cy="1170432"/>
          </a:xfrm>
          <a:prstGeom prst="roundRect">
            <a:avLst>
              <a:gd name="adj" fmla="val 7813"/>
            </a:avLst>
          </a:prstGeom>
          <a:solidFill>
            <a:srgbClr val="242428"/>
          </a:solidFill>
          <a:ln w="12700">
            <a:solidFill>
              <a:srgbClr val="38383E"/>
            </a:solidFill>
            <a:prstDash val="solid"/>
          </a:ln>
        </p:spPr>
      </p:sp>
      <p:sp>
        <p:nvSpPr>
          <p:cNvPr id="9" name="Shape 7"/>
          <p:cNvSpPr/>
          <p:nvPr/>
        </p:nvSpPr>
        <p:spPr>
          <a:xfrm>
            <a:off x="4562856" y="2130552"/>
            <a:ext cx="475488" cy="475488"/>
          </a:xfrm>
          <a:prstGeom prst="ellipse">
            <a:avLst/>
          </a:prstGeom>
          <a:solidFill>
            <a:srgbClr val="F0A942"/>
          </a:solidFill>
          <a:ln/>
        </p:spPr>
      </p:sp>
      <p:sp>
        <p:nvSpPr>
          <p:cNvPr id="10" name="Text 8"/>
          <p:cNvSpPr/>
          <p:nvPr/>
        </p:nvSpPr>
        <p:spPr>
          <a:xfrm>
            <a:off x="4562856" y="2130552"/>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2</a:t>
            </a:r>
            <a:endParaRPr lang="en-US" sz="1600" dirty="0"/>
          </a:p>
        </p:txBody>
      </p:sp>
      <p:sp>
        <p:nvSpPr>
          <p:cNvPr id="11" name="Text 9"/>
          <p:cNvSpPr/>
          <p:nvPr/>
        </p:nvSpPr>
        <p:spPr>
          <a:xfrm>
            <a:off x="5184648" y="1783080"/>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게임 기획</a:t>
            </a:r>
            <a:endParaRPr lang="en-US" sz="1500" dirty="0"/>
          </a:p>
        </p:txBody>
      </p:sp>
      <p:sp>
        <p:nvSpPr>
          <p:cNvPr id="12" name="Shape 10"/>
          <p:cNvSpPr/>
          <p:nvPr/>
        </p:nvSpPr>
        <p:spPr>
          <a:xfrm>
            <a:off x="8083296" y="1783080"/>
            <a:ext cx="3465576" cy="1170432"/>
          </a:xfrm>
          <a:prstGeom prst="roundRect">
            <a:avLst>
              <a:gd name="adj" fmla="val 7813"/>
            </a:avLst>
          </a:prstGeom>
          <a:solidFill>
            <a:srgbClr val="242428"/>
          </a:solidFill>
          <a:ln w="12700">
            <a:solidFill>
              <a:srgbClr val="38383E"/>
            </a:solidFill>
            <a:prstDash val="solid"/>
          </a:ln>
        </p:spPr>
      </p:sp>
      <p:sp>
        <p:nvSpPr>
          <p:cNvPr id="13" name="Shape 11"/>
          <p:cNvSpPr/>
          <p:nvPr/>
        </p:nvSpPr>
        <p:spPr>
          <a:xfrm>
            <a:off x="8284464" y="2130552"/>
            <a:ext cx="475488" cy="475488"/>
          </a:xfrm>
          <a:prstGeom prst="ellipse">
            <a:avLst/>
          </a:prstGeom>
          <a:solidFill>
            <a:srgbClr val="3ECF9A"/>
          </a:solidFill>
          <a:ln/>
        </p:spPr>
      </p:sp>
      <p:sp>
        <p:nvSpPr>
          <p:cNvPr id="14" name="Text 12"/>
          <p:cNvSpPr/>
          <p:nvPr/>
        </p:nvSpPr>
        <p:spPr>
          <a:xfrm>
            <a:off x="8284464" y="2130552"/>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3</a:t>
            </a:r>
            <a:endParaRPr lang="en-US" sz="1600" dirty="0"/>
          </a:p>
        </p:txBody>
      </p:sp>
      <p:sp>
        <p:nvSpPr>
          <p:cNvPr id="15" name="Text 13"/>
          <p:cNvSpPr/>
          <p:nvPr/>
        </p:nvSpPr>
        <p:spPr>
          <a:xfrm>
            <a:off x="8906256" y="1783080"/>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게임 시스템 설계</a:t>
            </a:r>
            <a:endParaRPr lang="en-US" sz="1500" dirty="0"/>
          </a:p>
        </p:txBody>
      </p:sp>
      <p:sp>
        <p:nvSpPr>
          <p:cNvPr id="16" name="Shape 14"/>
          <p:cNvSpPr/>
          <p:nvPr/>
        </p:nvSpPr>
        <p:spPr>
          <a:xfrm>
            <a:off x="640080" y="3191256"/>
            <a:ext cx="3465576" cy="1170432"/>
          </a:xfrm>
          <a:prstGeom prst="roundRect">
            <a:avLst>
              <a:gd name="adj" fmla="val 7813"/>
            </a:avLst>
          </a:prstGeom>
          <a:solidFill>
            <a:srgbClr val="242428"/>
          </a:solidFill>
          <a:ln w="12700">
            <a:solidFill>
              <a:srgbClr val="38383E"/>
            </a:solidFill>
            <a:prstDash val="solid"/>
          </a:ln>
        </p:spPr>
      </p:sp>
      <p:sp>
        <p:nvSpPr>
          <p:cNvPr id="17" name="Shape 15"/>
          <p:cNvSpPr/>
          <p:nvPr/>
        </p:nvSpPr>
        <p:spPr>
          <a:xfrm>
            <a:off x="841248" y="3538728"/>
            <a:ext cx="475488" cy="475488"/>
          </a:xfrm>
          <a:prstGeom prst="ellipse">
            <a:avLst/>
          </a:prstGeom>
          <a:solidFill>
            <a:srgbClr val="F0A942"/>
          </a:solidFill>
          <a:ln/>
        </p:spPr>
      </p:sp>
      <p:sp>
        <p:nvSpPr>
          <p:cNvPr id="18" name="Text 16"/>
          <p:cNvSpPr/>
          <p:nvPr/>
        </p:nvSpPr>
        <p:spPr>
          <a:xfrm>
            <a:off x="841248" y="3538728"/>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4</a:t>
            </a:r>
            <a:endParaRPr lang="en-US" sz="1600" dirty="0"/>
          </a:p>
        </p:txBody>
      </p:sp>
      <p:sp>
        <p:nvSpPr>
          <p:cNvPr id="19" name="Text 17"/>
          <p:cNvSpPr/>
          <p:nvPr/>
        </p:nvSpPr>
        <p:spPr>
          <a:xfrm>
            <a:off x="1463040" y="3191256"/>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클래스 설계</a:t>
            </a:r>
            <a:endParaRPr lang="en-US" sz="1500" dirty="0"/>
          </a:p>
        </p:txBody>
      </p:sp>
      <p:sp>
        <p:nvSpPr>
          <p:cNvPr id="20" name="Shape 18"/>
          <p:cNvSpPr/>
          <p:nvPr/>
        </p:nvSpPr>
        <p:spPr>
          <a:xfrm>
            <a:off x="4361688" y="3191256"/>
            <a:ext cx="3465576" cy="1170432"/>
          </a:xfrm>
          <a:prstGeom prst="roundRect">
            <a:avLst>
              <a:gd name="adj" fmla="val 7813"/>
            </a:avLst>
          </a:prstGeom>
          <a:solidFill>
            <a:srgbClr val="242428"/>
          </a:solidFill>
          <a:ln w="12700">
            <a:solidFill>
              <a:srgbClr val="38383E"/>
            </a:solidFill>
            <a:prstDash val="solid"/>
          </a:ln>
        </p:spPr>
      </p:sp>
      <p:sp>
        <p:nvSpPr>
          <p:cNvPr id="21" name="Shape 19"/>
          <p:cNvSpPr/>
          <p:nvPr/>
        </p:nvSpPr>
        <p:spPr>
          <a:xfrm>
            <a:off x="4562856" y="3538728"/>
            <a:ext cx="475488" cy="475488"/>
          </a:xfrm>
          <a:prstGeom prst="ellipse">
            <a:avLst/>
          </a:prstGeom>
          <a:solidFill>
            <a:srgbClr val="3ECF9A"/>
          </a:solidFill>
          <a:ln/>
        </p:spPr>
      </p:sp>
      <p:sp>
        <p:nvSpPr>
          <p:cNvPr id="22" name="Text 20"/>
          <p:cNvSpPr/>
          <p:nvPr/>
        </p:nvSpPr>
        <p:spPr>
          <a:xfrm>
            <a:off x="4562856" y="3538728"/>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5</a:t>
            </a:r>
            <a:endParaRPr lang="en-US" sz="1600" dirty="0"/>
          </a:p>
        </p:txBody>
      </p:sp>
      <p:sp>
        <p:nvSpPr>
          <p:cNvPr id="23" name="Text 21"/>
          <p:cNvSpPr/>
          <p:nvPr/>
        </p:nvSpPr>
        <p:spPr>
          <a:xfrm>
            <a:off x="5184648" y="3191256"/>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프로젝트 구조 설계</a:t>
            </a:r>
            <a:endParaRPr lang="en-US" sz="1500" dirty="0"/>
          </a:p>
        </p:txBody>
      </p:sp>
      <p:sp>
        <p:nvSpPr>
          <p:cNvPr id="24" name="Shape 22"/>
          <p:cNvSpPr/>
          <p:nvPr/>
        </p:nvSpPr>
        <p:spPr>
          <a:xfrm>
            <a:off x="8083296" y="3191256"/>
            <a:ext cx="3465576" cy="1170432"/>
          </a:xfrm>
          <a:prstGeom prst="roundRect">
            <a:avLst>
              <a:gd name="adj" fmla="val 7813"/>
            </a:avLst>
          </a:prstGeom>
          <a:solidFill>
            <a:srgbClr val="242428"/>
          </a:solidFill>
          <a:ln w="12700">
            <a:solidFill>
              <a:srgbClr val="38383E"/>
            </a:solidFill>
            <a:prstDash val="solid"/>
          </a:ln>
        </p:spPr>
      </p:sp>
      <p:sp>
        <p:nvSpPr>
          <p:cNvPr id="25" name="Shape 23"/>
          <p:cNvSpPr/>
          <p:nvPr/>
        </p:nvSpPr>
        <p:spPr>
          <a:xfrm>
            <a:off x="8284464" y="3538728"/>
            <a:ext cx="475488" cy="475488"/>
          </a:xfrm>
          <a:prstGeom prst="ellipse">
            <a:avLst/>
          </a:prstGeom>
          <a:solidFill>
            <a:srgbClr val="F0A942"/>
          </a:solidFill>
          <a:ln/>
        </p:spPr>
      </p:sp>
      <p:sp>
        <p:nvSpPr>
          <p:cNvPr id="26" name="Text 24"/>
          <p:cNvSpPr/>
          <p:nvPr/>
        </p:nvSpPr>
        <p:spPr>
          <a:xfrm>
            <a:off x="8284464" y="3538728"/>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6</a:t>
            </a:r>
            <a:endParaRPr lang="en-US" sz="1600" dirty="0"/>
          </a:p>
        </p:txBody>
      </p:sp>
      <p:sp>
        <p:nvSpPr>
          <p:cNvPr id="27" name="Text 25"/>
          <p:cNvSpPr/>
          <p:nvPr/>
        </p:nvSpPr>
        <p:spPr>
          <a:xfrm>
            <a:off x="8906256" y="3191256"/>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ScriptableObject 설계</a:t>
            </a:r>
            <a:endParaRPr lang="en-US" sz="1500" dirty="0"/>
          </a:p>
        </p:txBody>
      </p:sp>
      <p:sp>
        <p:nvSpPr>
          <p:cNvPr id="28" name="Shape 26"/>
          <p:cNvSpPr/>
          <p:nvPr/>
        </p:nvSpPr>
        <p:spPr>
          <a:xfrm>
            <a:off x="640080" y="4599432"/>
            <a:ext cx="3465576" cy="1170432"/>
          </a:xfrm>
          <a:prstGeom prst="roundRect">
            <a:avLst>
              <a:gd name="adj" fmla="val 7813"/>
            </a:avLst>
          </a:prstGeom>
          <a:solidFill>
            <a:srgbClr val="242428"/>
          </a:solidFill>
          <a:ln w="12700">
            <a:solidFill>
              <a:srgbClr val="38383E"/>
            </a:solidFill>
            <a:prstDash val="solid"/>
          </a:ln>
        </p:spPr>
      </p:sp>
      <p:sp>
        <p:nvSpPr>
          <p:cNvPr id="29" name="Shape 27"/>
          <p:cNvSpPr/>
          <p:nvPr/>
        </p:nvSpPr>
        <p:spPr>
          <a:xfrm>
            <a:off x="841248" y="4946904"/>
            <a:ext cx="475488" cy="475488"/>
          </a:xfrm>
          <a:prstGeom prst="ellipse">
            <a:avLst/>
          </a:prstGeom>
          <a:solidFill>
            <a:srgbClr val="3ECF9A"/>
          </a:solidFill>
          <a:ln/>
        </p:spPr>
      </p:sp>
      <p:sp>
        <p:nvSpPr>
          <p:cNvPr id="30" name="Text 28"/>
          <p:cNvSpPr/>
          <p:nvPr/>
        </p:nvSpPr>
        <p:spPr>
          <a:xfrm>
            <a:off x="841248" y="4946904"/>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7</a:t>
            </a:r>
            <a:endParaRPr lang="en-US" sz="1600" dirty="0"/>
          </a:p>
        </p:txBody>
      </p:sp>
      <p:sp>
        <p:nvSpPr>
          <p:cNvPr id="31" name="Text 29"/>
          <p:cNvSpPr/>
          <p:nvPr/>
        </p:nvSpPr>
        <p:spPr>
          <a:xfrm>
            <a:off x="1463040" y="4599432"/>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코드 생성</a:t>
            </a:r>
            <a:endParaRPr lang="en-US" sz="1500" dirty="0"/>
          </a:p>
        </p:txBody>
      </p:sp>
      <p:sp>
        <p:nvSpPr>
          <p:cNvPr id="32" name="Shape 30"/>
          <p:cNvSpPr/>
          <p:nvPr/>
        </p:nvSpPr>
        <p:spPr>
          <a:xfrm>
            <a:off x="4361688" y="4599432"/>
            <a:ext cx="3465576" cy="1170432"/>
          </a:xfrm>
          <a:prstGeom prst="roundRect">
            <a:avLst>
              <a:gd name="adj" fmla="val 7813"/>
            </a:avLst>
          </a:prstGeom>
          <a:solidFill>
            <a:srgbClr val="242428"/>
          </a:solidFill>
          <a:ln w="12700">
            <a:solidFill>
              <a:srgbClr val="38383E"/>
            </a:solidFill>
            <a:prstDash val="solid"/>
          </a:ln>
        </p:spPr>
      </p:sp>
      <p:sp>
        <p:nvSpPr>
          <p:cNvPr id="33" name="Shape 31"/>
          <p:cNvSpPr/>
          <p:nvPr/>
        </p:nvSpPr>
        <p:spPr>
          <a:xfrm>
            <a:off x="4562856" y="4946904"/>
            <a:ext cx="475488" cy="475488"/>
          </a:xfrm>
          <a:prstGeom prst="ellipse">
            <a:avLst/>
          </a:prstGeom>
          <a:solidFill>
            <a:srgbClr val="F0A942"/>
          </a:solidFill>
          <a:ln/>
        </p:spPr>
      </p:sp>
      <p:sp>
        <p:nvSpPr>
          <p:cNvPr id="34" name="Text 32"/>
          <p:cNvSpPr/>
          <p:nvPr/>
        </p:nvSpPr>
        <p:spPr>
          <a:xfrm>
            <a:off x="4562856" y="4946904"/>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8</a:t>
            </a:r>
            <a:endParaRPr lang="en-US" sz="1600" dirty="0"/>
          </a:p>
        </p:txBody>
      </p:sp>
      <p:sp>
        <p:nvSpPr>
          <p:cNvPr id="35" name="Text 33"/>
          <p:cNvSpPr/>
          <p:nvPr/>
        </p:nvSpPr>
        <p:spPr>
          <a:xfrm>
            <a:off x="5184648" y="4599432"/>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리팩토링 · 코드 리뷰</a:t>
            </a:r>
            <a:endParaRPr lang="en-US" sz="1500" dirty="0"/>
          </a:p>
        </p:txBody>
      </p:sp>
      <p:sp>
        <p:nvSpPr>
          <p:cNvPr id="36" name="Shape 34"/>
          <p:cNvSpPr/>
          <p:nvPr/>
        </p:nvSpPr>
        <p:spPr>
          <a:xfrm>
            <a:off x="8083296" y="4599432"/>
            <a:ext cx="3465576" cy="1170432"/>
          </a:xfrm>
          <a:prstGeom prst="roundRect">
            <a:avLst>
              <a:gd name="adj" fmla="val 7813"/>
            </a:avLst>
          </a:prstGeom>
          <a:solidFill>
            <a:srgbClr val="242428"/>
          </a:solidFill>
          <a:ln w="12700">
            <a:solidFill>
              <a:srgbClr val="38383E"/>
            </a:solidFill>
            <a:prstDash val="solid"/>
          </a:ln>
        </p:spPr>
      </p:sp>
      <p:sp>
        <p:nvSpPr>
          <p:cNvPr id="37" name="Shape 35"/>
          <p:cNvSpPr/>
          <p:nvPr/>
        </p:nvSpPr>
        <p:spPr>
          <a:xfrm>
            <a:off x="8284464" y="4946904"/>
            <a:ext cx="475488" cy="475488"/>
          </a:xfrm>
          <a:prstGeom prst="ellipse">
            <a:avLst/>
          </a:prstGeom>
          <a:solidFill>
            <a:srgbClr val="3ECF9A"/>
          </a:solidFill>
          <a:ln/>
        </p:spPr>
      </p:sp>
      <p:sp>
        <p:nvSpPr>
          <p:cNvPr id="38" name="Text 36"/>
          <p:cNvSpPr/>
          <p:nvPr/>
        </p:nvSpPr>
        <p:spPr>
          <a:xfrm>
            <a:off x="8284464" y="4946904"/>
            <a:ext cx="475488" cy="475488"/>
          </a:xfrm>
          <a:prstGeom prst="rect">
            <a:avLst/>
          </a:prstGeom>
          <a:noFill/>
          <a:ln/>
        </p:spPr>
        <p:txBody>
          <a:bodyPr wrap="square" lIns="0" tIns="0" rIns="0" bIns="0" rtlCol="0" anchor="ctr"/>
          <a:lstStyle/>
          <a:p>
            <a:pPr algn="ctr" indent="0" marL="0">
              <a:buNone/>
            </a:pPr>
            <a:r>
              <a:rPr lang="en-US" sz="1600" b="1" dirty="0">
                <a:solidFill>
                  <a:srgbClr val="161618"/>
                </a:solidFill>
                <a:latin typeface="맑은 고딕" pitchFamily="34" charset="0"/>
                <a:ea typeface="맑은 고딕" pitchFamily="34" charset="-122"/>
                <a:cs typeface="맑은 고딕" pitchFamily="34" charset="-120"/>
              </a:rPr>
              <a:t>9</a:t>
            </a:r>
            <a:endParaRPr lang="en-US" sz="1600" dirty="0"/>
          </a:p>
        </p:txBody>
      </p:sp>
      <p:sp>
        <p:nvSpPr>
          <p:cNvPr id="39" name="Text 37"/>
          <p:cNvSpPr/>
          <p:nvPr/>
        </p:nvSpPr>
        <p:spPr>
          <a:xfrm>
            <a:off x="8906256" y="4599432"/>
            <a:ext cx="2459736" cy="1170432"/>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문서화</a:t>
            </a:r>
            <a:endParaRPr lang="en-US" sz="1500" dirty="0"/>
          </a:p>
        </p:txBody>
      </p:sp>
      <p:sp>
        <p:nvSpPr>
          <p:cNvPr id="40" name="Text 38"/>
          <p:cNvSpPr/>
          <p:nvPr/>
        </p:nvSpPr>
        <p:spPr>
          <a:xfrm>
            <a:off x="11247120" y="6355080"/>
            <a:ext cx="731520" cy="365760"/>
          </a:xfrm>
          <a:prstGeom prst="rect">
            <a:avLst/>
          </a:prstGeom>
          <a:noFill/>
          <a:ln/>
        </p:spPr>
        <p:txBody>
          <a:bodyPr wrap="square" lIns="0" tIns="0" rIns="0" bIns="0" rtlCol="0" anchor="ctr"/>
          <a:lstStyle/>
          <a:p>
            <a:pPr algn="r" indent="0" marL="0">
              <a:buNone/>
            </a:pPr>
            <a:r>
              <a:rPr lang="en-US" sz="1100" dirty="0">
                <a:solidFill>
                  <a:srgbClr val="6C6C74"/>
                </a:solidFill>
                <a:latin typeface="맑은 고딕" pitchFamily="34" charset="0"/>
                <a:ea typeface="맑은 고딕" pitchFamily="34" charset="-122"/>
                <a:cs typeface="맑은 고딕"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8"/>
        </a:solidFill>
      </p:bgPr>
    </p:bg>
    <p:spTree>
      <p:nvGrpSpPr>
        <p:cNvPr id="1" name=""/>
        <p:cNvGrpSpPr/>
        <p:nvPr/>
      </p:nvGrpSpPr>
      <p:grpSpPr>
        <a:xfrm>
          <a:off x="0" y="0"/>
          <a:ext cx="0" cy="0"/>
          <a:chOff x="0" y="0"/>
          <a:chExt cx="0" cy="0"/>
        </a:xfrm>
      </p:grpSpPr>
      <p:sp>
        <p:nvSpPr>
          <p:cNvPr id="2" name="Text 0"/>
          <p:cNvSpPr/>
          <p:nvPr/>
        </p:nvSpPr>
        <p:spPr>
          <a:xfrm>
            <a:off x="640080" y="457200"/>
            <a:ext cx="9144000" cy="594360"/>
          </a:xfrm>
          <a:prstGeom prst="rect">
            <a:avLst/>
          </a:prstGeom>
          <a:noFill/>
          <a:ln/>
        </p:spPr>
        <p:txBody>
          <a:bodyPr wrap="square" lIns="0" tIns="0" rIns="0" bIns="0" rtlCol="0" anchor="ctr"/>
          <a:lstStyle/>
          <a:p>
            <a:pPr indent="0" marL="0">
              <a:buNone/>
            </a:pPr>
            <a:r>
              <a:rPr lang="en-US" sz="3000" b="1" dirty="0">
                <a:solidFill>
                  <a:srgbClr val="FFFFFF"/>
                </a:solidFill>
                <a:latin typeface="맑은 고딕" pitchFamily="34" charset="0"/>
                <a:ea typeface="맑은 고딕" pitchFamily="34" charset="-122"/>
                <a:cs typeface="맑은 고딕" pitchFamily="34" charset="-120"/>
              </a:rPr>
              <a:t>기술 아키텍처</a:t>
            </a:r>
            <a:endParaRPr lang="en-US" sz="3000" dirty="0"/>
          </a:p>
        </p:txBody>
      </p:sp>
      <p:sp>
        <p:nvSpPr>
          <p:cNvPr id="3" name="Text 1"/>
          <p:cNvSpPr/>
          <p:nvPr/>
        </p:nvSpPr>
        <p:spPr>
          <a:xfrm>
            <a:off x="640080" y="1024128"/>
            <a:ext cx="10515600" cy="365760"/>
          </a:xfrm>
          <a:prstGeom prst="rect">
            <a:avLst/>
          </a:prstGeom>
          <a:noFill/>
          <a:ln/>
        </p:spPr>
        <p:txBody>
          <a:bodyPr wrap="square" lIns="0" tIns="0" rIns="0" bIns="0" rtlCol="0" anchor="ctr"/>
          <a:lstStyle/>
          <a:p>
            <a:pPr indent="0" marL="0">
              <a:buNone/>
            </a:pPr>
            <a:r>
              <a:rPr lang="en-US" sz="1400" dirty="0">
                <a:solidFill>
                  <a:srgbClr val="9C9CA4"/>
                </a:solidFill>
                <a:latin typeface="맑은 고딕" pitchFamily="34" charset="0"/>
                <a:ea typeface="맑은 고딕" pitchFamily="34" charset="-122"/>
                <a:cs typeface="맑은 고딕" pitchFamily="34" charset="-120"/>
              </a:rPr>
              <a:t>React 클라이언트가 Express 서버를 거쳐 GitHub · Roslyn 분석기 · Claude와 통신합니다</a:t>
            </a:r>
            <a:endParaRPr lang="en-US" sz="1400" dirty="0"/>
          </a:p>
        </p:txBody>
      </p:sp>
      <p:sp>
        <p:nvSpPr>
          <p:cNvPr id="4" name="Shape 2"/>
          <p:cNvSpPr/>
          <p:nvPr/>
        </p:nvSpPr>
        <p:spPr>
          <a:xfrm>
            <a:off x="640080" y="2331720"/>
            <a:ext cx="2651760" cy="1371600"/>
          </a:xfrm>
          <a:prstGeom prst="roundRect">
            <a:avLst>
              <a:gd name="adj" fmla="val 6667"/>
            </a:avLst>
          </a:prstGeom>
          <a:solidFill>
            <a:srgbClr val="242428"/>
          </a:solidFill>
          <a:ln w="12700">
            <a:solidFill>
              <a:srgbClr val="38383E"/>
            </a:solidFill>
            <a:prstDash val="solid"/>
          </a:ln>
        </p:spPr>
      </p:sp>
      <p:sp>
        <p:nvSpPr>
          <p:cNvPr id="5" name="Shape 3"/>
          <p:cNvSpPr/>
          <p:nvPr/>
        </p:nvSpPr>
        <p:spPr>
          <a:xfrm>
            <a:off x="896112" y="2724912"/>
            <a:ext cx="585216" cy="585216"/>
          </a:xfrm>
          <a:prstGeom prst="ellipse">
            <a:avLst/>
          </a:prstGeom>
          <a:solidFill>
            <a:srgbClr val="3ECF9A"/>
          </a:solidFill>
          <a:ln/>
        </p:spPr>
      </p:sp>
      <p:pic>
        <p:nvPicPr>
          <p:cNvPr id="6" name="Image 0" descr="C:\Users\Absolute Sexy\AppData\Local\Temp\claude\C--Users-Absolute-Sexy-Desktop-GameForgeAgent\11113590-93f3-4442-a177-b6373aa8c0e2\scratchpad\pptx_deck\icons\react.png">    </p:cNvPr>
          <p:cNvPicPr>
            <a:picLocks noChangeAspect="1"/>
          </p:cNvPicPr>
          <p:nvPr/>
        </p:nvPicPr>
        <p:blipFill>
          <a:blip r:embed="rId1"/>
          <a:stretch>
            <a:fillRect/>
          </a:stretch>
        </p:blipFill>
        <p:spPr>
          <a:xfrm>
            <a:off x="1042416" y="2871216"/>
            <a:ext cx="292608" cy="292608"/>
          </a:xfrm>
          <a:prstGeom prst="rect">
            <a:avLst/>
          </a:prstGeom>
        </p:spPr>
      </p:pic>
      <p:sp>
        <p:nvSpPr>
          <p:cNvPr id="7" name="Text 4"/>
          <p:cNvSpPr/>
          <p:nvPr/>
        </p:nvSpPr>
        <p:spPr>
          <a:xfrm>
            <a:off x="1645920" y="2478024"/>
            <a:ext cx="1463040" cy="365760"/>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Client</a:t>
            </a:r>
            <a:endParaRPr lang="en-US" sz="1500" dirty="0"/>
          </a:p>
        </p:txBody>
      </p:sp>
      <p:sp>
        <p:nvSpPr>
          <p:cNvPr id="8" name="Text 5"/>
          <p:cNvSpPr/>
          <p:nvPr/>
        </p:nvSpPr>
        <p:spPr>
          <a:xfrm>
            <a:off x="1645920" y="2843784"/>
            <a:ext cx="1463040" cy="457200"/>
          </a:xfrm>
          <a:prstGeom prst="rect">
            <a:avLst/>
          </a:prstGeom>
          <a:noFill/>
          <a:ln/>
        </p:spPr>
        <p:txBody>
          <a:bodyPr wrap="square" lIns="0" tIns="0" rIns="0" bIns="0" rtlCol="0" anchor="ctr"/>
          <a:lstStyle/>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React + Vite</a:t>
            </a:r>
            <a:endParaRPr lang="en-US" sz="1150" dirty="0"/>
          </a:p>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 TypeScript</a:t>
            </a:r>
            <a:endParaRPr lang="en-US" sz="1150" dirty="0"/>
          </a:p>
        </p:txBody>
      </p:sp>
      <p:sp>
        <p:nvSpPr>
          <p:cNvPr id="9" name="Shape 6"/>
          <p:cNvSpPr/>
          <p:nvPr/>
        </p:nvSpPr>
        <p:spPr>
          <a:xfrm>
            <a:off x="3977640" y="2331720"/>
            <a:ext cx="2651760" cy="1371600"/>
          </a:xfrm>
          <a:prstGeom prst="roundRect">
            <a:avLst>
              <a:gd name="adj" fmla="val 6667"/>
            </a:avLst>
          </a:prstGeom>
          <a:solidFill>
            <a:srgbClr val="242428"/>
          </a:solidFill>
          <a:ln w="12700">
            <a:solidFill>
              <a:srgbClr val="38383E"/>
            </a:solidFill>
            <a:prstDash val="solid"/>
          </a:ln>
        </p:spPr>
      </p:sp>
      <p:sp>
        <p:nvSpPr>
          <p:cNvPr id="10" name="Shape 7"/>
          <p:cNvSpPr/>
          <p:nvPr/>
        </p:nvSpPr>
        <p:spPr>
          <a:xfrm>
            <a:off x="4233672" y="2724912"/>
            <a:ext cx="585216" cy="585216"/>
          </a:xfrm>
          <a:prstGeom prst="ellipse">
            <a:avLst/>
          </a:prstGeom>
          <a:solidFill>
            <a:srgbClr val="F0A942"/>
          </a:solidFill>
          <a:ln/>
        </p:spPr>
      </p:sp>
      <p:pic>
        <p:nvPicPr>
          <p:cNvPr id="11" name="Image 1" descr="C:\Users\Absolute Sexy\AppData\Local\Temp\claude\C--Users-Absolute-Sexy-Desktop-GameForgeAgent\11113590-93f3-4442-a177-b6373aa8c0e2\scratchpad\pptx_deck\icons\server.png">    </p:cNvPr>
          <p:cNvPicPr>
            <a:picLocks noChangeAspect="1"/>
          </p:cNvPicPr>
          <p:nvPr/>
        </p:nvPicPr>
        <p:blipFill>
          <a:blip r:embed="rId2"/>
          <a:stretch>
            <a:fillRect/>
          </a:stretch>
        </p:blipFill>
        <p:spPr>
          <a:xfrm>
            <a:off x="4379976" y="2871216"/>
            <a:ext cx="292608" cy="292608"/>
          </a:xfrm>
          <a:prstGeom prst="rect">
            <a:avLst/>
          </a:prstGeom>
        </p:spPr>
      </p:pic>
      <p:sp>
        <p:nvSpPr>
          <p:cNvPr id="12" name="Text 8"/>
          <p:cNvSpPr/>
          <p:nvPr/>
        </p:nvSpPr>
        <p:spPr>
          <a:xfrm>
            <a:off x="4983480" y="2478024"/>
            <a:ext cx="1463040" cy="365760"/>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Server</a:t>
            </a:r>
            <a:endParaRPr lang="en-US" sz="1500" dirty="0"/>
          </a:p>
        </p:txBody>
      </p:sp>
      <p:sp>
        <p:nvSpPr>
          <p:cNvPr id="13" name="Text 9"/>
          <p:cNvSpPr/>
          <p:nvPr/>
        </p:nvSpPr>
        <p:spPr>
          <a:xfrm>
            <a:off x="4983480" y="2843784"/>
            <a:ext cx="1463040" cy="457200"/>
          </a:xfrm>
          <a:prstGeom prst="rect">
            <a:avLst/>
          </a:prstGeom>
          <a:noFill/>
          <a:ln/>
        </p:spPr>
        <p:txBody>
          <a:bodyPr wrap="square" lIns="0" tIns="0" rIns="0" bIns="0" rtlCol="0" anchor="ctr"/>
          <a:lstStyle/>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Node + Express</a:t>
            </a:r>
            <a:endParaRPr lang="en-US" sz="1150" dirty="0"/>
          </a:p>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 TypeScript</a:t>
            </a:r>
            <a:endParaRPr lang="en-US" sz="1150" dirty="0"/>
          </a:p>
        </p:txBody>
      </p:sp>
      <p:sp>
        <p:nvSpPr>
          <p:cNvPr id="14" name="Shape 10"/>
          <p:cNvSpPr/>
          <p:nvPr/>
        </p:nvSpPr>
        <p:spPr>
          <a:xfrm>
            <a:off x="3291840" y="3017520"/>
            <a:ext cx="685800" cy="0"/>
          </a:xfrm>
          <a:prstGeom prst="line">
            <a:avLst/>
          </a:prstGeom>
          <a:noFill/>
          <a:ln w="25400">
            <a:solidFill>
              <a:srgbClr val="4A4A52"/>
            </a:solidFill>
            <a:prstDash val="solid"/>
            <a:headEnd type="triangle"/>
            <a:tailEnd type="triangle"/>
          </a:ln>
        </p:spPr>
      </p:sp>
      <p:sp>
        <p:nvSpPr>
          <p:cNvPr id="15" name="Text 11"/>
          <p:cNvSpPr/>
          <p:nvPr/>
        </p:nvSpPr>
        <p:spPr>
          <a:xfrm>
            <a:off x="2880360" y="2651760"/>
            <a:ext cx="1508760" cy="274320"/>
          </a:xfrm>
          <a:prstGeom prst="rect">
            <a:avLst/>
          </a:prstGeom>
          <a:noFill/>
          <a:ln/>
        </p:spPr>
        <p:txBody>
          <a:bodyPr wrap="square" lIns="0" tIns="0" rIns="0" bIns="0" rtlCol="0" anchor="ctr"/>
          <a:lstStyle/>
          <a:p>
            <a:pPr algn="ctr" indent="0" marL="0">
              <a:buNone/>
            </a:pPr>
            <a:r>
              <a:rPr lang="en-US" sz="950" dirty="0">
                <a:solidFill>
                  <a:srgbClr val="6C6C74"/>
                </a:solidFill>
                <a:latin typeface="맑은 고딕" pitchFamily="34" charset="0"/>
                <a:ea typeface="맑은 고딕" pitchFamily="34" charset="-122"/>
                <a:cs typeface="맑은 고딕" pitchFamily="34" charset="-120"/>
              </a:rPr>
              <a:t>REST API (JSON)</a:t>
            </a:r>
            <a:endParaRPr lang="en-US" sz="950" dirty="0"/>
          </a:p>
        </p:txBody>
      </p:sp>
      <p:sp>
        <p:nvSpPr>
          <p:cNvPr id="16" name="Shape 12"/>
          <p:cNvSpPr/>
          <p:nvPr/>
        </p:nvSpPr>
        <p:spPr>
          <a:xfrm>
            <a:off x="7498080" y="1691640"/>
            <a:ext cx="4023360" cy="1170432"/>
          </a:xfrm>
          <a:prstGeom prst="roundRect">
            <a:avLst>
              <a:gd name="adj" fmla="val 7813"/>
            </a:avLst>
          </a:prstGeom>
          <a:solidFill>
            <a:srgbClr val="242428"/>
          </a:solidFill>
          <a:ln w="12700">
            <a:solidFill>
              <a:srgbClr val="38383E"/>
            </a:solidFill>
            <a:prstDash val="solid"/>
          </a:ln>
        </p:spPr>
      </p:sp>
      <p:sp>
        <p:nvSpPr>
          <p:cNvPr id="17" name="Shape 13"/>
          <p:cNvSpPr/>
          <p:nvPr/>
        </p:nvSpPr>
        <p:spPr>
          <a:xfrm>
            <a:off x="7754112" y="1984248"/>
            <a:ext cx="585216" cy="585216"/>
          </a:xfrm>
          <a:prstGeom prst="ellipse">
            <a:avLst/>
          </a:prstGeom>
          <a:solidFill>
            <a:srgbClr val="E9E9EC"/>
          </a:solidFill>
          <a:ln/>
        </p:spPr>
      </p:sp>
      <p:pic>
        <p:nvPicPr>
          <p:cNvPr id="18" name="Image 2" descr="C:\Users\Absolute Sexy\AppData\Local\Temp\claude\C--Users-Absolute-Sexy-Desktop-GameForgeAgent\11113590-93f3-4442-a177-b6373aa8c0e2\scratchpad\pptx_deck\icons\github.png">    </p:cNvPr>
          <p:cNvPicPr>
            <a:picLocks noChangeAspect="1"/>
          </p:cNvPicPr>
          <p:nvPr/>
        </p:nvPicPr>
        <p:blipFill>
          <a:blip r:embed="rId3"/>
          <a:stretch>
            <a:fillRect/>
          </a:stretch>
        </p:blipFill>
        <p:spPr>
          <a:xfrm>
            <a:off x="7900416" y="2130552"/>
            <a:ext cx="292608" cy="292608"/>
          </a:xfrm>
          <a:prstGeom prst="rect">
            <a:avLst/>
          </a:prstGeom>
        </p:spPr>
      </p:pic>
      <p:sp>
        <p:nvSpPr>
          <p:cNvPr id="19" name="Text 14"/>
          <p:cNvSpPr/>
          <p:nvPr/>
        </p:nvSpPr>
        <p:spPr>
          <a:xfrm>
            <a:off x="8503920" y="1837944"/>
            <a:ext cx="2834640" cy="365760"/>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GitHub API</a:t>
            </a:r>
            <a:endParaRPr lang="en-US" sz="1500" dirty="0"/>
          </a:p>
        </p:txBody>
      </p:sp>
      <p:sp>
        <p:nvSpPr>
          <p:cNvPr id="20" name="Text 15"/>
          <p:cNvSpPr/>
          <p:nvPr/>
        </p:nvSpPr>
        <p:spPr>
          <a:xfrm>
            <a:off x="8503920" y="2203704"/>
            <a:ext cx="2834640" cy="457200"/>
          </a:xfrm>
          <a:prstGeom prst="rect">
            <a:avLst/>
          </a:prstGeom>
          <a:noFill/>
          <a:ln/>
        </p:spPr>
        <p:txBody>
          <a:bodyPr wrap="square" lIns="0" tIns="0" rIns="0" bIns="0" rtlCol="0" anchor="ctr"/>
          <a:lstStyle/>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OAuth 로그인 · 저장소/브랜치 조회</a:t>
            </a:r>
            <a:endParaRPr lang="en-US" sz="1150" dirty="0"/>
          </a:p>
        </p:txBody>
      </p:sp>
      <p:sp>
        <p:nvSpPr>
          <p:cNvPr id="21" name="Shape 16"/>
          <p:cNvSpPr/>
          <p:nvPr/>
        </p:nvSpPr>
        <p:spPr>
          <a:xfrm>
            <a:off x="7498080" y="3182112"/>
            <a:ext cx="4023360" cy="1170432"/>
          </a:xfrm>
          <a:prstGeom prst="roundRect">
            <a:avLst>
              <a:gd name="adj" fmla="val 7813"/>
            </a:avLst>
          </a:prstGeom>
          <a:solidFill>
            <a:srgbClr val="242428"/>
          </a:solidFill>
          <a:ln w="12700">
            <a:solidFill>
              <a:srgbClr val="38383E"/>
            </a:solidFill>
            <a:prstDash val="solid"/>
          </a:ln>
        </p:spPr>
      </p:sp>
      <p:sp>
        <p:nvSpPr>
          <p:cNvPr id="22" name="Shape 17"/>
          <p:cNvSpPr/>
          <p:nvPr/>
        </p:nvSpPr>
        <p:spPr>
          <a:xfrm>
            <a:off x="7754112" y="3474720"/>
            <a:ext cx="585216" cy="585216"/>
          </a:xfrm>
          <a:prstGeom prst="ellipse">
            <a:avLst/>
          </a:prstGeom>
          <a:solidFill>
            <a:srgbClr val="3ECF9A"/>
          </a:solidFill>
          <a:ln/>
        </p:spPr>
      </p:sp>
      <p:pic>
        <p:nvPicPr>
          <p:cNvPr id="23" name="Image 3" descr="C:\Users\Absolute Sexy\AppData\Local\Temp\claude\C--Users-Absolute-Sexy-Desktop-GameForgeAgent\11113590-93f3-4442-a177-b6373aa8c0e2\scratchpad\pptx_deck\icons\sitemap.png">    </p:cNvPr>
          <p:cNvPicPr>
            <a:picLocks noChangeAspect="1"/>
          </p:cNvPicPr>
          <p:nvPr/>
        </p:nvPicPr>
        <p:blipFill>
          <a:blip r:embed="rId4"/>
          <a:stretch>
            <a:fillRect/>
          </a:stretch>
        </p:blipFill>
        <p:spPr>
          <a:xfrm>
            <a:off x="7900416" y="3621024"/>
            <a:ext cx="292608" cy="292608"/>
          </a:xfrm>
          <a:prstGeom prst="rect">
            <a:avLst/>
          </a:prstGeom>
        </p:spPr>
      </p:pic>
      <p:sp>
        <p:nvSpPr>
          <p:cNvPr id="24" name="Text 18"/>
          <p:cNvSpPr/>
          <p:nvPr/>
        </p:nvSpPr>
        <p:spPr>
          <a:xfrm>
            <a:off x="8503920" y="3328416"/>
            <a:ext cx="2834640" cy="365760"/>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Roslyn 분석기 (.NET)</a:t>
            </a:r>
            <a:endParaRPr lang="en-US" sz="1500" dirty="0"/>
          </a:p>
        </p:txBody>
      </p:sp>
      <p:sp>
        <p:nvSpPr>
          <p:cNvPr id="25" name="Text 19"/>
          <p:cNvSpPr/>
          <p:nvPr/>
        </p:nvSpPr>
        <p:spPr>
          <a:xfrm>
            <a:off x="8503920" y="3694176"/>
            <a:ext cx="2834640" cy="457200"/>
          </a:xfrm>
          <a:prstGeom prst="rect">
            <a:avLst/>
          </a:prstGeom>
          <a:noFill/>
          <a:ln/>
        </p:spPr>
        <p:txBody>
          <a:bodyPr wrap="square" lIns="0" tIns="0" rIns="0" bIns="0" rtlCol="0" anchor="ctr"/>
          <a:lstStyle/>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child_process.spawn 으로 실행 · Syntax 분석</a:t>
            </a:r>
            <a:endParaRPr lang="en-US" sz="1150" dirty="0"/>
          </a:p>
        </p:txBody>
      </p:sp>
      <p:sp>
        <p:nvSpPr>
          <p:cNvPr id="26" name="Shape 20"/>
          <p:cNvSpPr/>
          <p:nvPr/>
        </p:nvSpPr>
        <p:spPr>
          <a:xfrm>
            <a:off x="7498080" y="4672584"/>
            <a:ext cx="4023360" cy="1170432"/>
          </a:xfrm>
          <a:prstGeom prst="roundRect">
            <a:avLst>
              <a:gd name="adj" fmla="val 7813"/>
            </a:avLst>
          </a:prstGeom>
          <a:solidFill>
            <a:srgbClr val="242428"/>
          </a:solidFill>
          <a:ln w="12700">
            <a:solidFill>
              <a:srgbClr val="38383E"/>
            </a:solidFill>
            <a:prstDash val="solid"/>
          </a:ln>
        </p:spPr>
      </p:sp>
      <p:sp>
        <p:nvSpPr>
          <p:cNvPr id="27" name="Shape 21"/>
          <p:cNvSpPr/>
          <p:nvPr/>
        </p:nvSpPr>
        <p:spPr>
          <a:xfrm>
            <a:off x="7754112" y="4965192"/>
            <a:ext cx="585216" cy="585216"/>
          </a:xfrm>
          <a:prstGeom prst="ellipse">
            <a:avLst/>
          </a:prstGeom>
          <a:solidFill>
            <a:srgbClr val="F0A942"/>
          </a:solidFill>
          <a:ln/>
        </p:spPr>
      </p:sp>
      <p:pic>
        <p:nvPicPr>
          <p:cNvPr id="28" name="Image 4" descr="C:\Users\Absolute Sexy\AppData\Local\Temp\claude\C--Users-Absolute-Sexy-Desktop-GameForgeAgent\11113590-93f3-4442-a177-b6373aa8c0e2\scratchpad\pptx_deck\icons\robot.png">    </p:cNvPr>
          <p:cNvPicPr>
            <a:picLocks noChangeAspect="1"/>
          </p:cNvPicPr>
          <p:nvPr/>
        </p:nvPicPr>
        <p:blipFill>
          <a:blip r:embed="rId5"/>
          <a:stretch>
            <a:fillRect/>
          </a:stretch>
        </p:blipFill>
        <p:spPr>
          <a:xfrm>
            <a:off x="7900416" y="5111496"/>
            <a:ext cx="292608" cy="292608"/>
          </a:xfrm>
          <a:prstGeom prst="rect">
            <a:avLst/>
          </a:prstGeom>
        </p:spPr>
      </p:pic>
      <p:sp>
        <p:nvSpPr>
          <p:cNvPr id="29" name="Text 22"/>
          <p:cNvSpPr/>
          <p:nvPr/>
        </p:nvSpPr>
        <p:spPr>
          <a:xfrm>
            <a:off x="8503920" y="4818888"/>
            <a:ext cx="2834640" cy="365760"/>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Anthropic Claude</a:t>
            </a:r>
            <a:endParaRPr lang="en-US" sz="1500" dirty="0"/>
          </a:p>
        </p:txBody>
      </p:sp>
      <p:sp>
        <p:nvSpPr>
          <p:cNvPr id="30" name="Text 23"/>
          <p:cNvSpPr/>
          <p:nvPr/>
        </p:nvSpPr>
        <p:spPr>
          <a:xfrm>
            <a:off x="8503920" y="5184648"/>
            <a:ext cx="2834640" cy="457200"/>
          </a:xfrm>
          <a:prstGeom prst="rect">
            <a:avLst/>
          </a:prstGeom>
          <a:noFill/>
          <a:ln/>
        </p:spPr>
        <p:txBody>
          <a:bodyPr wrap="square" lIns="0" tIns="0" rIns="0" bIns="0" rtlCol="0" anchor="ctr"/>
          <a:lstStyle/>
          <a:p>
            <a:pPr indent="0" marL="0">
              <a:lnSpc>
                <a:spcPct val="115000"/>
              </a:lnSpc>
              <a:buNone/>
            </a:pPr>
            <a:r>
              <a:rPr lang="en-US" sz="1150" dirty="0">
                <a:solidFill>
                  <a:srgbClr val="9C9CA4"/>
                </a:solidFill>
                <a:latin typeface="맑은 고딕" pitchFamily="34" charset="0"/>
                <a:ea typeface="맑은 고딕" pitchFamily="34" charset="-122"/>
                <a:cs typeface="맑은 고딕" pitchFamily="34" charset="-120"/>
              </a:rPr>
              <a:t>단계별 코드/문서 생성, 채팅 응답</a:t>
            </a:r>
            <a:endParaRPr lang="en-US" sz="1150" dirty="0"/>
          </a:p>
        </p:txBody>
      </p:sp>
      <p:sp>
        <p:nvSpPr>
          <p:cNvPr id="31" name="Shape 24"/>
          <p:cNvSpPr/>
          <p:nvPr/>
        </p:nvSpPr>
        <p:spPr>
          <a:xfrm flipV="1">
            <a:off x="6629400" y="3017520"/>
            <a:ext cx="868680" cy="-740664"/>
          </a:xfrm>
          <a:prstGeom prst="line">
            <a:avLst/>
          </a:prstGeom>
          <a:noFill/>
          <a:ln w="19050">
            <a:solidFill>
              <a:srgbClr val="4A4A52"/>
            </a:solidFill>
            <a:prstDash val="solid"/>
            <a:tailEnd type="triangle"/>
          </a:ln>
        </p:spPr>
      </p:sp>
      <p:sp>
        <p:nvSpPr>
          <p:cNvPr id="32" name="Shape 25"/>
          <p:cNvSpPr/>
          <p:nvPr/>
        </p:nvSpPr>
        <p:spPr>
          <a:xfrm>
            <a:off x="6629400" y="3017520"/>
            <a:ext cx="868680" cy="749808"/>
          </a:xfrm>
          <a:prstGeom prst="line">
            <a:avLst/>
          </a:prstGeom>
          <a:noFill/>
          <a:ln w="19050">
            <a:solidFill>
              <a:srgbClr val="4A4A52"/>
            </a:solidFill>
            <a:prstDash val="solid"/>
            <a:tailEnd type="triangle"/>
          </a:ln>
        </p:spPr>
      </p:sp>
      <p:sp>
        <p:nvSpPr>
          <p:cNvPr id="33" name="Shape 26"/>
          <p:cNvSpPr/>
          <p:nvPr/>
        </p:nvSpPr>
        <p:spPr>
          <a:xfrm>
            <a:off x="6629400" y="3017520"/>
            <a:ext cx="868680" cy="2240280"/>
          </a:xfrm>
          <a:prstGeom prst="line">
            <a:avLst/>
          </a:prstGeom>
          <a:noFill/>
          <a:ln w="19050">
            <a:solidFill>
              <a:srgbClr val="4A4A52"/>
            </a:solidFill>
            <a:prstDash val="solid"/>
            <a:tailEnd type="triangle"/>
          </a:ln>
        </p:spPr>
      </p:sp>
      <p:sp>
        <p:nvSpPr>
          <p:cNvPr id="34" name="Text 27"/>
          <p:cNvSpPr/>
          <p:nvPr/>
        </p:nvSpPr>
        <p:spPr>
          <a:xfrm>
            <a:off x="11247120" y="6355080"/>
            <a:ext cx="731520" cy="365760"/>
          </a:xfrm>
          <a:prstGeom prst="rect">
            <a:avLst/>
          </a:prstGeom>
          <a:noFill/>
          <a:ln/>
        </p:spPr>
        <p:txBody>
          <a:bodyPr wrap="square" lIns="0" tIns="0" rIns="0" bIns="0" rtlCol="0" anchor="ctr"/>
          <a:lstStyle/>
          <a:p>
            <a:pPr algn="r" indent="0" marL="0">
              <a:buNone/>
            </a:pPr>
            <a:r>
              <a:rPr lang="en-US" sz="1100" dirty="0">
                <a:solidFill>
                  <a:srgbClr val="6C6C74"/>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8"/>
        </a:solidFill>
      </p:bgPr>
    </p:bg>
    <p:spTree>
      <p:nvGrpSpPr>
        <p:cNvPr id="1" name=""/>
        <p:cNvGrpSpPr/>
        <p:nvPr/>
      </p:nvGrpSpPr>
      <p:grpSpPr>
        <a:xfrm>
          <a:off x="0" y="0"/>
          <a:ext cx="0" cy="0"/>
          <a:chOff x="0" y="0"/>
          <a:chExt cx="0" cy="0"/>
        </a:xfrm>
      </p:grpSpPr>
      <p:sp>
        <p:nvSpPr>
          <p:cNvPr id="2" name="Text 0"/>
          <p:cNvSpPr/>
          <p:nvPr/>
        </p:nvSpPr>
        <p:spPr>
          <a:xfrm>
            <a:off x="640080" y="457200"/>
            <a:ext cx="7315200" cy="594360"/>
          </a:xfrm>
          <a:prstGeom prst="rect">
            <a:avLst/>
          </a:prstGeom>
          <a:noFill/>
          <a:ln/>
        </p:spPr>
        <p:txBody>
          <a:bodyPr wrap="square" lIns="0" tIns="0" rIns="0" bIns="0" rtlCol="0" anchor="ctr"/>
          <a:lstStyle/>
          <a:p>
            <a:pPr indent="0" marL="0">
              <a:buNone/>
            </a:pPr>
            <a:r>
              <a:rPr lang="en-US" sz="3000" b="1" dirty="0">
                <a:solidFill>
                  <a:srgbClr val="FFFFFF"/>
                </a:solidFill>
                <a:latin typeface="맑은 고딕" pitchFamily="34" charset="0"/>
                <a:ea typeface="맑은 고딕" pitchFamily="34" charset="-122"/>
                <a:cs typeface="맑은 고딕" pitchFamily="34" charset="-120"/>
              </a:rPr>
              <a:t>지금 바로 볼 수 있는 것</a:t>
            </a:r>
            <a:endParaRPr lang="en-US" sz="3000" dirty="0"/>
          </a:p>
        </p:txBody>
      </p:sp>
      <p:sp>
        <p:nvSpPr>
          <p:cNvPr id="3" name="Text 1"/>
          <p:cNvSpPr/>
          <p:nvPr/>
        </p:nvSpPr>
        <p:spPr>
          <a:xfrm>
            <a:off x="640080" y="1024128"/>
            <a:ext cx="7315200" cy="365760"/>
          </a:xfrm>
          <a:prstGeom prst="rect">
            <a:avLst/>
          </a:prstGeom>
          <a:noFill/>
          <a:ln/>
        </p:spPr>
        <p:txBody>
          <a:bodyPr wrap="square" lIns="0" tIns="0" rIns="0" bIns="0" rtlCol="0" anchor="ctr"/>
          <a:lstStyle/>
          <a:p>
            <a:pPr indent="0" marL="0">
              <a:buNone/>
            </a:pPr>
            <a:r>
              <a:rPr lang="en-US" sz="1400" dirty="0">
                <a:solidFill>
                  <a:srgbClr val="9C9CA4"/>
                </a:solidFill>
                <a:latin typeface="맑은 고딕" pitchFamily="34" charset="0"/>
                <a:ea typeface="맑은 고딕" pitchFamily="34" charset="-122"/>
                <a:cs typeface="맑은 고딕" pitchFamily="34" charset="-120"/>
              </a:rPr>
              <a:t>GitHub OAuth 로그인부터 저장소 · 브랜치 선택까지 실제로 동작합니다</a:t>
            </a:r>
            <a:endParaRPr lang="en-US" sz="1400" dirty="0"/>
          </a:p>
        </p:txBody>
      </p:sp>
      <p:sp>
        <p:nvSpPr>
          <p:cNvPr id="4" name="Shape 2"/>
          <p:cNvSpPr/>
          <p:nvPr/>
        </p:nvSpPr>
        <p:spPr>
          <a:xfrm>
            <a:off x="822960" y="1965960"/>
            <a:ext cx="713232" cy="713232"/>
          </a:xfrm>
          <a:prstGeom prst="ellipse">
            <a:avLst/>
          </a:prstGeom>
          <a:solidFill>
            <a:srgbClr val="3ECF9A"/>
          </a:solidFill>
          <a:ln/>
        </p:spPr>
      </p:sp>
      <p:pic>
        <p:nvPicPr>
          <p:cNvPr id="5" name="Image 0" descr="C:\Users\Absolute Sexy\AppData\Local\Temp\claude\C--Users-Absolute-Sexy-Desktop-GameForgeAgent\11113590-93f3-4442-a177-b6373aa8c0e2\scratchpad\pptx_deck\icons\lock.png">    </p:cNvPr>
          <p:cNvPicPr>
            <a:picLocks noChangeAspect="1"/>
          </p:cNvPicPr>
          <p:nvPr/>
        </p:nvPicPr>
        <p:blipFill>
          <a:blip r:embed="rId1"/>
          <a:stretch>
            <a:fillRect/>
          </a:stretch>
        </p:blipFill>
        <p:spPr>
          <a:xfrm>
            <a:off x="1001268" y="2144268"/>
            <a:ext cx="356616" cy="356616"/>
          </a:xfrm>
          <a:prstGeom prst="rect">
            <a:avLst/>
          </a:prstGeom>
        </p:spPr>
      </p:pic>
      <p:sp>
        <p:nvSpPr>
          <p:cNvPr id="6" name="Text 3"/>
          <p:cNvSpPr/>
          <p:nvPr/>
        </p:nvSpPr>
        <p:spPr>
          <a:xfrm>
            <a:off x="1691640" y="1984248"/>
            <a:ext cx="3108960" cy="32004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GitHub 로그인</a:t>
            </a:r>
            <a:endParaRPr lang="en-US" sz="1600" dirty="0"/>
          </a:p>
        </p:txBody>
      </p:sp>
      <p:sp>
        <p:nvSpPr>
          <p:cNvPr id="7" name="Text 4"/>
          <p:cNvSpPr/>
          <p:nvPr/>
        </p:nvSpPr>
        <p:spPr>
          <a:xfrm>
            <a:off x="1691640" y="2331720"/>
            <a:ext cx="3108960" cy="292608"/>
          </a:xfrm>
          <a:prstGeom prst="rect">
            <a:avLst/>
          </a:prstGeom>
          <a:noFill/>
          <a:ln/>
        </p:spPr>
        <p:txBody>
          <a:bodyPr wrap="square" lIns="0" tIns="0" rIns="0" bIns="0" rtlCol="0" anchor="ctr"/>
          <a:lstStyle/>
          <a:p>
            <a:pPr indent="0" marL="0">
              <a:buNone/>
            </a:pPr>
            <a:r>
              <a:rPr lang="en-US" sz="1200" dirty="0">
                <a:solidFill>
                  <a:srgbClr val="9C9CA4"/>
                </a:solidFill>
                <a:latin typeface="맑은 고딕" pitchFamily="34" charset="0"/>
                <a:ea typeface="맑은 고딕" pitchFamily="34" charset="-122"/>
                <a:cs typeface="맑은 고딕" pitchFamily="34" charset="-120"/>
              </a:rPr>
              <a:t>Authorization Code Flow</a:t>
            </a:r>
            <a:endParaRPr lang="en-US" sz="1200" dirty="0"/>
          </a:p>
        </p:txBody>
      </p:sp>
      <p:sp>
        <p:nvSpPr>
          <p:cNvPr id="8" name="Shape 5"/>
          <p:cNvSpPr/>
          <p:nvPr/>
        </p:nvSpPr>
        <p:spPr>
          <a:xfrm>
            <a:off x="1179576" y="2679192"/>
            <a:ext cx="0" cy="502920"/>
          </a:xfrm>
          <a:prstGeom prst="line">
            <a:avLst/>
          </a:prstGeom>
          <a:noFill/>
          <a:ln w="19050">
            <a:solidFill>
              <a:srgbClr val="4A4A52"/>
            </a:solidFill>
            <a:prstDash val="solid"/>
            <a:tailEnd type="triangle"/>
          </a:ln>
        </p:spPr>
      </p:sp>
      <p:sp>
        <p:nvSpPr>
          <p:cNvPr id="9" name="Shape 6"/>
          <p:cNvSpPr/>
          <p:nvPr/>
        </p:nvSpPr>
        <p:spPr>
          <a:xfrm>
            <a:off x="822960" y="3200400"/>
            <a:ext cx="713232" cy="713232"/>
          </a:xfrm>
          <a:prstGeom prst="ellipse">
            <a:avLst/>
          </a:prstGeom>
          <a:solidFill>
            <a:srgbClr val="F0A942"/>
          </a:solidFill>
          <a:ln/>
        </p:spPr>
      </p:sp>
      <p:pic>
        <p:nvPicPr>
          <p:cNvPr id="10" name="Image 1" descr="C:\Users\Absolute Sexy\AppData\Local\Temp\claude\C--Users-Absolute-Sexy-Desktop-GameForgeAgent\11113590-93f3-4442-a177-b6373aa8c0e2\scratchpad\pptx_deck\icons\github.png">    </p:cNvPr>
          <p:cNvPicPr>
            <a:picLocks noChangeAspect="1"/>
          </p:cNvPicPr>
          <p:nvPr/>
        </p:nvPicPr>
        <p:blipFill>
          <a:blip r:embed="rId2"/>
          <a:stretch>
            <a:fillRect/>
          </a:stretch>
        </p:blipFill>
        <p:spPr>
          <a:xfrm>
            <a:off x="1001268" y="3378708"/>
            <a:ext cx="356616" cy="356616"/>
          </a:xfrm>
          <a:prstGeom prst="rect">
            <a:avLst/>
          </a:prstGeom>
        </p:spPr>
      </p:pic>
      <p:sp>
        <p:nvSpPr>
          <p:cNvPr id="11" name="Text 7"/>
          <p:cNvSpPr/>
          <p:nvPr/>
        </p:nvSpPr>
        <p:spPr>
          <a:xfrm>
            <a:off x="1691640" y="3218688"/>
            <a:ext cx="3108960" cy="32004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저장소 선택</a:t>
            </a:r>
            <a:endParaRPr lang="en-US" sz="1600" dirty="0"/>
          </a:p>
        </p:txBody>
      </p:sp>
      <p:sp>
        <p:nvSpPr>
          <p:cNvPr id="12" name="Text 8"/>
          <p:cNvSpPr/>
          <p:nvPr/>
        </p:nvSpPr>
        <p:spPr>
          <a:xfrm>
            <a:off x="1691640" y="3566160"/>
            <a:ext cx="3108960" cy="292608"/>
          </a:xfrm>
          <a:prstGeom prst="rect">
            <a:avLst/>
          </a:prstGeom>
          <a:noFill/>
          <a:ln/>
        </p:spPr>
        <p:txBody>
          <a:bodyPr wrap="square" lIns="0" tIns="0" rIns="0" bIns="0" rtlCol="0" anchor="ctr"/>
          <a:lstStyle/>
          <a:p>
            <a:pPr indent="0" marL="0">
              <a:buNone/>
            </a:pPr>
            <a:r>
              <a:rPr lang="en-US" sz="1200" dirty="0">
                <a:solidFill>
                  <a:srgbClr val="9C9CA4"/>
                </a:solidFill>
                <a:latin typeface="맑은 고딕" pitchFamily="34" charset="0"/>
                <a:ea typeface="맑은 고딕" pitchFamily="34" charset="-122"/>
                <a:cs typeface="맑은 고딕" pitchFamily="34" charset="-120"/>
              </a:rPr>
              <a:t>내 GitHub repo 목록</a:t>
            </a:r>
            <a:endParaRPr lang="en-US" sz="1200" dirty="0"/>
          </a:p>
        </p:txBody>
      </p:sp>
      <p:sp>
        <p:nvSpPr>
          <p:cNvPr id="13" name="Shape 9"/>
          <p:cNvSpPr/>
          <p:nvPr/>
        </p:nvSpPr>
        <p:spPr>
          <a:xfrm>
            <a:off x="1179576" y="3913632"/>
            <a:ext cx="0" cy="502920"/>
          </a:xfrm>
          <a:prstGeom prst="line">
            <a:avLst/>
          </a:prstGeom>
          <a:noFill/>
          <a:ln w="19050">
            <a:solidFill>
              <a:srgbClr val="4A4A52"/>
            </a:solidFill>
            <a:prstDash val="solid"/>
            <a:tailEnd type="triangle"/>
          </a:ln>
        </p:spPr>
      </p:sp>
      <p:sp>
        <p:nvSpPr>
          <p:cNvPr id="14" name="Shape 10"/>
          <p:cNvSpPr/>
          <p:nvPr/>
        </p:nvSpPr>
        <p:spPr>
          <a:xfrm>
            <a:off x="822960" y="4434840"/>
            <a:ext cx="713232" cy="713232"/>
          </a:xfrm>
          <a:prstGeom prst="ellipse">
            <a:avLst/>
          </a:prstGeom>
          <a:solidFill>
            <a:srgbClr val="E5615F"/>
          </a:solidFill>
          <a:ln/>
        </p:spPr>
      </p:sp>
      <p:pic>
        <p:nvPicPr>
          <p:cNvPr id="15" name="Image 2" descr="C:\Users\Absolute Sexy\AppData\Local\Temp\claude\C--Users-Absolute-Sexy-Desktop-GameForgeAgent\11113590-93f3-4442-a177-b6373aa8c0e2\scratchpad\pptx_deck\icons\branch.png">    </p:cNvPr>
          <p:cNvPicPr>
            <a:picLocks noChangeAspect="1"/>
          </p:cNvPicPr>
          <p:nvPr/>
        </p:nvPicPr>
        <p:blipFill>
          <a:blip r:embed="rId3"/>
          <a:stretch>
            <a:fillRect/>
          </a:stretch>
        </p:blipFill>
        <p:spPr>
          <a:xfrm>
            <a:off x="1001268" y="4613148"/>
            <a:ext cx="356616" cy="356616"/>
          </a:xfrm>
          <a:prstGeom prst="rect">
            <a:avLst/>
          </a:prstGeom>
        </p:spPr>
      </p:pic>
      <p:sp>
        <p:nvSpPr>
          <p:cNvPr id="16" name="Text 11"/>
          <p:cNvSpPr/>
          <p:nvPr/>
        </p:nvSpPr>
        <p:spPr>
          <a:xfrm>
            <a:off x="1691640" y="4453128"/>
            <a:ext cx="3108960" cy="320040"/>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브랜치 선택</a:t>
            </a:r>
            <a:endParaRPr lang="en-US" sz="1600" dirty="0"/>
          </a:p>
        </p:txBody>
      </p:sp>
      <p:sp>
        <p:nvSpPr>
          <p:cNvPr id="17" name="Text 12"/>
          <p:cNvSpPr/>
          <p:nvPr/>
        </p:nvSpPr>
        <p:spPr>
          <a:xfrm>
            <a:off x="1691640" y="4800600"/>
            <a:ext cx="3108960" cy="292608"/>
          </a:xfrm>
          <a:prstGeom prst="rect">
            <a:avLst/>
          </a:prstGeom>
          <a:noFill/>
          <a:ln/>
        </p:spPr>
        <p:txBody>
          <a:bodyPr wrap="square" lIns="0" tIns="0" rIns="0" bIns="0" rtlCol="0" anchor="ctr"/>
          <a:lstStyle/>
          <a:p>
            <a:pPr indent="0" marL="0">
              <a:buNone/>
            </a:pPr>
            <a:r>
              <a:rPr lang="en-US" sz="1200" dirty="0">
                <a:solidFill>
                  <a:srgbClr val="9C9CA4"/>
                </a:solidFill>
                <a:latin typeface="맑은 고딕" pitchFamily="34" charset="0"/>
                <a:ea typeface="맑은 고딕" pitchFamily="34" charset="-122"/>
                <a:cs typeface="맑은 고딕" pitchFamily="34" charset="-120"/>
              </a:rPr>
              <a:t>선택한 repo의 branch</a:t>
            </a:r>
            <a:endParaRPr lang="en-US" sz="1200" dirty="0"/>
          </a:p>
        </p:txBody>
      </p:sp>
      <p:sp>
        <p:nvSpPr>
          <p:cNvPr id="18" name="Shape 13"/>
          <p:cNvSpPr/>
          <p:nvPr/>
        </p:nvSpPr>
        <p:spPr>
          <a:xfrm>
            <a:off x="6400800" y="1920240"/>
            <a:ext cx="5120640" cy="4114800"/>
          </a:xfrm>
          <a:prstGeom prst="roundRect">
            <a:avLst>
              <a:gd name="adj" fmla="val 2667"/>
            </a:avLst>
          </a:prstGeom>
          <a:solidFill>
            <a:srgbClr val="1E1E21"/>
          </a:solidFill>
          <a:ln w="12700">
            <a:solidFill>
              <a:srgbClr val="38383E"/>
            </a:solidFill>
            <a:prstDash val="solid"/>
          </a:ln>
        </p:spPr>
      </p:sp>
      <p:sp>
        <p:nvSpPr>
          <p:cNvPr id="19" name="Shape 14"/>
          <p:cNvSpPr/>
          <p:nvPr/>
        </p:nvSpPr>
        <p:spPr>
          <a:xfrm>
            <a:off x="6400800" y="2560320"/>
            <a:ext cx="5120640" cy="0"/>
          </a:xfrm>
          <a:prstGeom prst="line">
            <a:avLst/>
          </a:prstGeom>
          <a:noFill/>
          <a:ln w="12700">
            <a:solidFill>
              <a:srgbClr val="38383E"/>
            </a:solidFill>
            <a:prstDash val="solid"/>
          </a:ln>
        </p:spPr>
      </p:sp>
      <p:sp>
        <p:nvSpPr>
          <p:cNvPr id="20" name="Text 15"/>
          <p:cNvSpPr/>
          <p:nvPr/>
        </p:nvSpPr>
        <p:spPr>
          <a:xfrm>
            <a:off x="6720840" y="1920240"/>
            <a:ext cx="4480560" cy="640080"/>
          </a:xfrm>
          <a:prstGeom prst="rect">
            <a:avLst/>
          </a:prstGeom>
          <a:noFill/>
          <a:ln/>
        </p:spPr>
        <p:txBody>
          <a:bodyPr wrap="square" lIns="0" tIns="0" rIns="0" bIns="0" rtlCol="0" anchor="ctr"/>
          <a:lstStyle/>
          <a:p>
            <a:pPr indent="0" marL="0">
              <a:buNone/>
            </a:pPr>
            <a:r>
              <a:rPr lang="en-US" sz="1500" dirty="0">
                <a:solidFill>
                  <a:srgbClr val="E9E9EC"/>
                </a:solidFill>
                <a:latin typeface="맑은 고딕" pitchFamily="34" charset="0"/>
                <a:ea typeface="맑은 고딕" pitchFamily="34" charset="-122"/>
                <a:cs typeface="맑은 고딕" pitchFamily="34" charset="-120"/>
              </a:rPr>
              <a:t>Repository 연결</a:t>
            </a:r>
            <a:endParaRPr lang="en-US" sz="1500" dirty="0"/>
          </a:p>
        </p:txBody>
      </p:sp>
      <p:sp>
        <p:nvSpPr>
          <p:cNvPr id="21" name="Shape 16"/>
          <p:cNvSpPr/>
          <p:nvPr/>
        </p:nvSpPr>
        <p:spPr>
          <a:xfrm>
            <a:off x="6720840" y="2834640"/>
            <a:ext cx="2103120" cy="457200"/>
          </a:xfrm>
          <a:prstGeom prst="roundRect">
            <a:avLst>
              <a:gd name="adj" fmla="val 50000"/>
            </a:avLst>
          </a:prstGeom>
          <a:solidFill>
            <a:srgbClr val="3ECF9A">
              <a:alpha val="12000"/>
            </a:srgbClr>
          </a:solidFill>
          <a:ln/>
        </p:spPr>
      </p:sp>
      <p:sp>
        <p:nvSpPr>
          <p:cNvPr id="22" name="Text 17"/>
          <p:cNvSpPr/>
          <p:nvPr/>
        </p:nvSpPr>
        <p:spPr>
          <a:xfrm>
            <a:off x="6720840" y="2834640"/>
            <a:ext cx="2103120" cy="457200"/>
          </a:xfrm>
          <a:prstGeom prst="rect">
            <a:avLst/>
          </a:prstGeom>
          <a:noFill/>
          <a:ln/>
        </p:spPr>
        <p:txBody>
          <a:bodyPr wrap="square" lIns="0" tIns="0" rIns="0" bIns="0" rtlCol="0" anchor="ctr"/>
          <a:lstStyle/>
          <a:p>
            <a:pPr algn="ctr" indent="0" marL="0">
              <a:buNone/>
            </a:pPr>
            <a:r>
              <a:rPr lang="en-US" sz="1100" dirty="0">
                <a:solidFill>
                  <a:srgbClr val="3ECF9A"/>
                </a:solidFill>
                <a:latin typeface="맑은 고딕" pitchFamily="34" charset="0"/>
                <a:ea typeface="맑은 고딕" pitchFamily="34" charset="-122"/>
                <a:cs typeface="맑은 고딕" pitchFamily="34" charset="-120"/>
              </a:rPr>
              <a:t>● GitHub 연결됨</a:t>
            </a:r>
            <a:endParaRPr lang="en-US" sz="1100" dirty="0"/>
          </a:p>
        </p:txBody>
      </p:sp>
      <p:sp>
        <p:nvSpPr>
          <p:cNvPr id="23" name="Text 18"/>
          <p:cNvSpPr/>
          <p:nvPr/>
        </p:nvSpPr>
        <p:spPr>
          <a:xfrm>
            <a:off x="6720840" y="3520440"/>
            <a:ext cx="4480560" cy="274320"/>
          </a:xfrm>
          <a:prstGeom prst="rect">
            <a:avLst/>
          </a:prstGeom>
          <a:noFill/>
          <a:ln/>
        </p:spPr>
        <p:txBody>
          <a:bodyPr wrap="square" lIns="0" tIns="0" rIns="0" bIns="0" rtlCol="0" anchor="ctr"/>
          <a:lstStyle/>
          <a:p>
            <a:pPr indent="0" marL="0">
              <a:buNone/>
            </a:pPr>
            <a:r>
              <a:rPr lang="en-US" sz="1050" dirty="0">
                <a:solidFill>
                  <a:srgbClr val="6C6C74"/>
                </a:solidFill>
                <a:latin typeface="맑은 고딕" pitchFamily="34" charset="0"/>
                <a:ea typeface="맑은 고딕" pitchFamily="34" charset="-122"/>
                <a:cs typeface="맑은 고딕" pitchFamily="34" charset="-120"/>
              </a:rPr>
              <a:t>Repository</a:t>
            </a:r>
            <a:endParaRPr lang="en-US" sz="1050" dirty="0"/>
          </a:p>
        </p:txBody>
      </p:sp>
      <p:sp>
        <p:nvSpPr>
          <p:cNvPr id="24" name="Shape 19"/>
          <p:cNvSpPr/>
          <p:nvPr/>
        </p:nvSpPr>
        <p:spPr>
          <a:xfrm>
            <a:off x="6720840" y="3794760"/>
            <a:ext cx="4480560" cy="502920"/>
          </a:xfrm>
          <a:prstGeom prst="roundRect">
            <a:avLst>
              <a:gd name="adj" fmla="val 10909"/>
            </a:avLst>
          </a:prstGeom>
          <a:solidFill>
            <a:srgbClr val="242428"/>
          </a:solidFill>
          <a:ln w="12700">
            <a:solidFill>
              <a:srgbClr val="38383E"/>
            </a:solidFill>
            <a:prstDash val="solid"/>
          </a:ln>
        </p:spPr>
      </p:sp>
      <p:sp>
        <p:nvSpPr>
          <p:cNvPr id="25" name="Text 20"/>
          <p:cNvSpPr/>
          <p:nvPr/>
        </p:nvSpPr>
        <p:spPr>
          <a:xfrm>
            <a:off x="6903720" y="3794760"/>
            <a:ext cx="4114800" cy="502920"/>
          </a:xfrm>
          <a:prstGeom prst="rect">
            <a:avLst/>
          </a:prstGeom>
          <a:noFill/>
          <a:ln/>
        </p:spPr>
        <p:txBody>
          <a:bodyPr wrap="square" lIns="0" tIns="0" rIns="0" bIns="0" rtlCol="0" anchor="ctr"/>
          <a:lstStyle/>
          <a:p>
            <a:pPr indent="0" marL="0">
              <a:buNone/>
            </a:pPr>
            <a:r>
              <a:rPr lang="en-US" sz="1200" dirty="0">
                <a:solidFill>
                  <a:srgbClr val="E9E9EC"/>
                </a:solidFill>
                <a:latin typeface="맑은 고딕" pitchFamily="34" charset="0"/>
                <a:ea typeface="맑은 고딕" pitchFamily="34" charset="-122"/>
                <a:cs typeface="맑은 고딕" pitchFamily="34" charset="-120"/>
              </a:rPr>
              <a:t>GameForgeAgent  ▾</a:t>
            </a:r>
            <a:endParaRPr lang="en-US" sz="1200" dirty="0"/>
          </a:p>
        </p:txBody>
      </p:sp>
      <p:sp>
        <p:nvSpPr>
          <p:cNvPr id="26" name="Text 21"/>
          <p:cNvSpPr/>
          <p:nvPr/>
        </p:nvSpPr>
        <p:spPr>
          <a:xfrm>
            <a:off x="6720840" y="4434840"/>
            <a:ext cx="4480560" cy="274320"/>
          </a:xfrm>
          <a:prstGeom prst="rect">
            <a:avLst/>
          </a:prstGeom>
          <a:noFill/>
          <a:ln/>
        </p:spPr>
        <p:txBody>
          <a:bodyPr wrap="square" lIns="0" tIns="0" rIns="0" bIns="0" rtlCol="0" anchor="ctr"/>
          <a:lstStyle/>
          <a:p>
            <a:pPr indent="0" marL="0">
              <a:buNone/>
            </a:pPr>
            <a:r>
              <a:rPr lang="en-US" sz="1050" dirty="0">
                <a:solidFill>
                  <a:srgbClr val="6C6C74"/>
                </a:solidFill>
                <a:latin typeface="맑은 고딕" pitchFamily="34" charset="0"/>
                <a:ea typeface="맑은 고딕" pitchFamily="34" charset="-122"/>
                <a:cs typeface="맑은 고딕" pitchFamily="34" charset="-120"/>
              </a:rPr>
              <a:t>Branch</a:t>
            </a:r>
            <a:endParaRPr lang="en-US" sz="1050" dirty="0"/>
          </a:p>
        </p:txBody>
      </p:sp>
      <p:sp>
        <p:nvSpPr>
          <p:cNvPr id="27" name="Shape 22"/>
          <p:cNvSpPr/>
          <p:nvPr/>
        </p:nvSpPr>
        <p:spPr>
          <a:xfrm>
            <a:off x="6720840" y="4709160"/>
            <a:ext cx="4480560" cy="502920"/>
          </a:xfrm>
          <a:prstGeom prst="roundRect">
            <a:avLst>
              <a:gd name="adj" fmla="val 10909"/>
            </a:avLst>
          </a:prstGeom>
          <a:solidFill>
            <a:srgbClr val="242428"/>
          </a:solidFill>
          <a:ln w="12700">
            <a:solidFill>
              <a:srgbClr val="38383E"/>
            </a:solidFill>
            <a:prstDash val="solid"/>
          </a:ln>
        </p:spPr>
      </p:sp>
      <p:sp>
        <p:nvSpPr>
          <p:cNvPr id="28" name="Text 23"/>
          <p:cNvSpPr/>
          <p:nvPr/>
        </p:nvSpPr>
        <p:spPr>
          <a:xfrm>
            <a:off x="6903720" y="4709160"/>
            <a:ext cx="4114800" cy="502920"/>
          </a:xfrm>
          <a:prstGeom prst="rect">
            <a:avLst/>
          </a:prstGeom>
          <a:noFill/>
          <a:ln/>
        </p:spPr>
        <p:txBody>
          <a:bodyPr wrap="square" lIns="0" tIns="0" rIns="0" bIns="0" rtlCol="0" anchor="ctr"/>
          <a:lstStyle/>
          <a:p>
            <a:pPr indent="0" marL="0">
              <a:buNone/>
            </a:pPr>
            <a:r>
              <a:rPr lang="en-US" sz="1200" dirty="0">
                <a:solidFill>
                  <a:srgbClr val="E9E9EC"/>
                </a:solidFill>
                <a:latin typeface="맑은 고딕" pitchFamily="34" charset="0"/>
                <a:ea typeface="맑은 고딕" pitchFamily="34" charset="-122"/>
                <a:cs typeface="맑은 고딕" pitchFamily="34" charset="-120"/>
              </a:rPr>
              <a:t>main  ▾</a:t>
            </a:r>
            <a:endParaRPr lang="en-US" sz="1200" dirty="0"/>
          </a:p>
        </p:txBody>
      </p:sp>
      <p:sp>
        <p:nvSpPr>
          <p:cNvPr id="29" name="Text 24"/>
          <p:cNvSpPr/>
          <p:nvPr/>
        </p:nvSpPr>
        <p:spPr>
          <a:xfrm>
            <a:off x="6720840" y="5577840"/>
            <a:ext cx="4480560" cy="320040"/>
          </a:xfrm>
          <a:prstGeom prst="rect">
            <a:avLst/>
          </a:prstGeom>
          <a:noFill/>
          <a:ln/>
        </p:spPr>
        <p:txBody>
          <a:bodyPr wrap="square" lIns="0" tIns="0" rIns="0" bIns="0" rtlCol="0" anchor="ctr"/>
          <a:lstStyle/>
          <a:p>
            <a:pPr indent="0" marL="0">
              <a:buNone/>
            </a:pPr>
            <a:r>
              <a:rPr lang="en-US" sz="950" i="1" dirty="0">
                <a:solidFill>
                  <a:srgbClr val="6C6C74"/>
                </a:solidFill>
                <a:latin typeface="맑은 고딕" pitchFamily="34" charset="0"/>
                <a:ea typeface="맑은 고딕" pitchFamily="34" charset="-122"/>
                <a:cs typeface="맑은 고딕" pitchFamily="34" charset="-120"/>
              </a:rPr>
              <a:t>※ 실제 앱 화면 구조를 재현한 목업입니다</a:t>
            </a:r>
            <a:endParaRPr lang="en-US" sz="950" dirty="0"/>
          </a:p>
        </p:txBody>
      </p:sp>
      <p:sp>
        <p:nvSpPr>
          <p:cNvPr id="30" name="Text 25"/>
          <p:cNvSpPr/>
          <p:nvPr/>
        </p:nvSpPr>
        <p:spPr>
          <a:xfrm>
            <a:off x="11247120" y="6355080"/>
            <a:ext cx="731520" cy="365760"/>
          </a:xfrm>
          <a:prstGeom prst="rect">
            <a:avLst/>
          </a:prstGeom>
          <a:noFill/>
          <a:ln/>
        </p:spPr>
        <p:txBody>
          <a:bodyPr wrap="square" lIns="0" tIns="0" rIns="0" bIns="0" rtlCol="0" anchor="ctr"/>
          <a:lstStyle/>
          <a:p>
            <a:pPr algn="r" indent="0" marL="0">
              <a:buNone/>
            </a:pPr>
            <a:r>
              <a:rPr lang="en-US" sz="1100" dirty="0">
                <a:solidFill>
                  <a:srgbClr val="6C6C74"/>
                </a:solidFill>
                <a:latin typeface="맑은 고딕" pitchFamily="34" charset="0"/>
                <a:ea typeface="맑은 고딕" pitchFamily="34" charset="-122"/>
                <a:cs typeface="맑은 고딕"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618"/>
        </a:solidFill>
      </p:bgPr>
    </p:bg>
    <p:spTree>
      <p:nvGrpSpPr>
        <p:cNvPr id="1" name=""/>
        <p:cNvGrpSpPr/>
        <p:nvPr/>
      </p:nvGrpSpPr>
      <p:grpSpPr>
        <a:xfrm>
          <a:off x="0" y="0"/>
          <a:ext cx="0" cy="0"/>
          <a:chOff x="0" y="0"/>
          <a:chExt cx="0" cy="0"/>
        </a:xfrm>
      </p:grpSpPr>
      <p:sp>
        <p:nvSpPr>
          <p:cNvPr id="2" name="Text 0"/>
          <p:cNvSpPr/>
          <p:nvPr/>
        </p:nvSpPr>
        <p:spPr>
          <a:xfrm>
            <a:off x="640080" y="457200"/>
            <a:ext cx="7315200" cy="594360"/>
          </a:xfrm>
          <a:prstGeom prst="rect">
            <a:avLst/>
          </a:prstGeom>
          <a:noFill/>
          <a:ln/>
        </p:spPr>
        <p:txBody>
          <a:bodyPr wrap="square" lIns="0" tIns="0" rIns="0" bIns="0" rtlCol="0" anchor="ctr"/>
          <a:lstStyle/>
          <a:p>
            <a:pPr indent="0" marL="0">
              <a:buNone/>
            </a:pPr>
            <a:r>
              <a:rPr lang="en-US" sz="3000" b="1" dirty="0">
                <a:solidFill>
                  <a:srgbClr val="FFFFFF"/>
                </a:solidFill>
                <a:latin typeface="맑은 고딕" pitchFamily="34" charset="0"/>
                <a:ea typeface="맑은 고딕" pitchFamily="34" charset="-122"/>
                <a:cs typeface="맑은 고딕" pitchFamily="34" charset="-120"/>
              </a:rPr>
              <a:t>진행 상황</a:t>
            </a:r>
            <a:endParaRPr lang="en-US" sz="3000" dirty="0"/>
          </a:p>
        </p:txBody>
      </p:sp>
      <p:sp>
        <p:nvSpPr>
          <p:cNvPr id="3" name="Text 1"/>
          <p:cNvSpPr/>
          <p:nvPr/>
        </p:nvSpPr>
        <p:spPr>
          <a:xfrm>
            <a:off x="640080" y="1024128"/>
            <a:ext cx="10058400" cy="365760"/>
          </a:xfrm>
          <a:prstGeom prst="rect">
            <a:avLst/>
          </a:prstGeom>
          <a:noFill/>
          <a:ln/>
        </p:spPr>
        <p:txBody>
          <a:bodyPr wrap="square" lIns="0" tIns="0" rIns="0" bIns="0" rtlCol="0" anchor="ctr"/>
          <a:lstStyle/>
          <a:p>
            <a:pPr indent="0" marL="0">
              <a:buNone/>
            </a:pPr>
            <a:r>
              <a:rPr lang="en-US" sz="1400" dirty="0">
                <a:solidFill>
                  <a:srgbClr val="9C9CA4"/>
                </a:solidFill>
                <a:latin typeface="맑은 고딕" pitchFamily="34" charset="0"/>
                <a:ea typeface="맑은 고딕" pitchFamily="34" charset="-122"/>
                <a:cs typeface="맑은 고딕" pitchFamily="34" charset="-120"/>
              </a:rPr>
              <a:t>1단계(저장소 연결)까지 구현 완료, 나머지 8단계는 다음 스프린트에서 이어집니다</a:t>
            </a:r>
            <a:endParaRPr lang="en-US" sz="1400" dirty="0"/>
          </a:p>
        </p:txBody>
      </p:sp>
      <p:sp>
        <p:nvSpPr>
          <p:cNvPr id="4" name="Shape 2"/>
          <p:cNvSpPr/>
          <p:nvPr/>
        </p:nvSpPr>
        <p:spPr>
          <a:xfrm>
            <a:off x="640080" y="1783080"/>
            <a:ext cx="5120640" cy="4160520"/>
          </a:xfrm>
          <a:prstGeom prst="roundRect">
            <a:avLst>
              <a:gd name="adj" fmla="val 2637"/>
            </a:avLst>
          </a:prstGeom>
          <a:solidFill>
            <a:srgbClr val="1E1E21"/>
          </a:solidFill>
          <a:ln w="12700">
            <a:solidFill>
              <a:srgbClr val="38383E"/>
            </a:solidFill>
            <a:prstDash val="solid"/>
          </a:ln>
        </p:spPr>
      </p:sp>
      <p:sp>
        <p:nvSpPr>
          <p:cNvPr id="5" name="Shape 3"/>
          <p:cNvSpPr/>
          <p:nvPr/>
        </p:nvSpPr>
        <p:spPr>
          <a:xfrm>
            <a:off x="960120" y="2103120"/>
            <a:ext cx="502920" cy="502920"/>
          </a:xfrm>
          <a:prstGeom prst="ellipse">
            <a:avLst/>
          </a:prstGeom>
          <a:solidFill>
            <a:srgbClr val="3ECF9A"/>
          </a:solidFill>
          <a:ln/>
        </p:spPr>
      </p:sp>
      <p:pic>
        <p:nvPicPr>
          <p:cNvPr id="6" name="Image 0" descr="C:\Users\Absolute Sexy\AppData\Local\Temp\claude\C--Users-Absolute-Sexy-Desktop-GameForgeAgent\11113590-93f3-4442-a177-b6373aa8c0e2\scratchpad\pptx_deck\icons\check.png">    </p:cNvPr>
          <p:cNvPicPr>
            <a:picLocks noChangeAspect="1"/>
          </p:cNvPicPr>
          <p:nvPr/>
        </p:nvPicPr>
        <p:blipFill>
          <a:blip r:embed="rId1"/>
          <a:stretch>
            <a:fillRect/>
          </a:stretch>
        </p:blipFill>
        <p:spPr>
          <a:xfrm>
            <a:off x="1085850" y="2228850"/>
            <a:ext cx="251460" cy="251460"/>
          </a:xfrm>
          <a:prstGeom prst="rect">
            <a:avLst/>
          </a:prstGeom>
        </p:spPr>
      </p:pic>
      <p:sp>
        <p:nvSpPr>
          <p:cNvPr id="7" name="Text 4"/>
          <p:cNvSpPr/>
          <p:nvPr/>
        </p:nvSpPr>
        <p:spPr>
          <a:xfrm>
            <a:off x="1645920" y="2075688"/>
            <a:ext cx="3840480" cy="548640"/>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구현 완료</a:t>
            </a:r>
            <a:endParaRPr lang="en-US" sz="1800" dirty="0"/>
          </a:p>
        </p:txBody>
      </p:sp>
      <p:sp>
        <p:nvSpPr>
          <p:cNvPr id="8" name="Shape 5"/>
          <p:cNvSpPr/>
          <p:nvPr/>
        </p:nvSpPr>
        <p:spPr>
          <a:xfrm>
            <a:off x="960120" y="2788920"/>
            <a:ext cx="4480560" cy="0"/>
          </a:xfrm>
          <a:prstGeom prst="line">
            <a:avLst/>
          </a:prstGeom>
          <a:noFill/>
          <a:ln w="12700">
            <a:solidFill>
              <a:srgbClr val="38383E"/>
            </a:solidFill>
            <a:prstDash val="solid"/>
          </a:ln>
        </p:spPr>
      </p:sp>
      <p:sp>
        <p:nvSpPr>
          <p:cNvPr id="9" name="Text 6"/>
          <p:cNvSpPr/>
          <p:nvPr/>
        </p:nvSpPr>
        <p:spPr>
          <a:xfrm>
            <a:off x="1051560" y="3017520"/>
            <a:ext cx="4343400" cy="26060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GitHub OAuth 로그인 전체 플로우 (state 검증 포함)</a:t>
            </a:r>
            <a:endParaRPr lang="en-US" sz="1350" dirty="0"/>
          </a:p>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저장소 / 브랜치 목록 조회 (GitHub API 프록시)</a:t>
            </a:r>
            <a:endParaRPr lang="en-US" sz="1350" dirty="0"/>
          </a:p>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세션 상태를 서버 JSON 파일로 관리</a:t>
            </a:r>
            <a:endParaRPr lang="en-US" sz="1350" dirty="0"/>
          </a:p>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Express 서버 + CORS · 쿠키 미들웨어 구성</a:t>
            </a:r>
            <a:endParaRPr lang="en-US" sz="1350" dirty="0"/>
          </a:p>
        </p:txBody>
      </p:sp>
      <p:sp>
        <p:nvSpPr>
          <p:cNvPr id="10" name="Shape 7"/>
          <p:cNvSpPr/>
          <p:nvPr/>
        </p:nvSpPr>
        <p:spPr>
          <a:xfrm>
            <a:off x="6355080" y="1783080"/>
            <a:ext cx="5120640" cy="4160520"/>
          </a:xfrm>
          <a:prstGeom prst="roundRect">
            <a:avLst>
              <a:gd name="adj" fmla="val 2637"/>
            </a:avLst>
          </a:prstGeom>
          <a:solidFill>
            <a:srgbClr val="1E1E21"/>
          </a:solidFill>
          <a:ln w="12700">
            <a:solidFill>
              <a:srgbClr val="38383E"/>
            </a:solidFill>
            <a:prstDash val="solid"/>
          </a:ln>
        </p:spPr>
      </p:sp>
      <p:sp>
        <p:nvSpPr>
          <p:cNvPr id="11" name="Shape 8"/>
          <p:cNvSpPr/>
          <p:nvPr/>
        </p:nvSpPr>
        <p:spPr>
          <a:xfrm>
            <a:off x="6675120" y="2103120"/>
            <a:ext cx="502920" cy="502920"/>
          </a:xfrm>
          <a:prstGeom prst="ellipse">
            <a:avLst/>
          </a:prstGeom>
          <a:solidFill>
            <a:srgbClr val="F0A942"/>
          </a:solidFill>
          <a:ln/>
        </p:spPr>
      </p:sp>
      <p:pic>
        <p:nvPicPr>
          <p:cNvPr id="12" name="Image 1" descr="C:\Users\Absolute Sexy\AppData\Local\Temp\claude\C--Users-Absolute-Sexy-Desktop-GameForgeAgent\11113590-93f3-4442-a177-b6373aa8c0e2\scratchpad\pptx_deck\icons\hourglass.png">    </p:cNvPr>
          <p:cNvPicPr>
            <a:picLocks noChangeAspect="1"/>
          </p:cNvPicPr>
          <p:nvPr/>
        </p:nvPicPr>
        <p:blipFill>
          <a:blip r:embed="rId2"/>
          <a:stretch>
            <a:fillRect/>
          </a:stretch>
        </p:blipFill>
        <p:spPr>
          <a:xfrm>
            <a:off x="6800850" y="2228850"/>
            <a:ext cx="251460" cy="251460"/>
          </a:xfrm>
          <a:prstGeom prst="rect">
            <a:avLst/>
          </a:prstGeom>
        </p:spPr>
      </p:pic>
      <p:sp>
        <p:nvSpPr>
          <p:cNvPr id="13" name="Text 9"/>
          <p:cNvSpPr/>
          <p:nvPr/>
        </p:nvSpPr>
        <p:spPr>
          <a:xfrm>
            <a:off x="7360920" y="2075688"/>
            <a:ext cx="3840480" cy="548640"/>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다음 단계</a:t>
            </a:r>
            <a:endParaRPr lang="en-US" sz="1800" dirty="0"/>
          </a:p>
        </p:txBody>
      </p:sp>
      <p:sp>
        <p:nvSpPr>
          <p:cNvPr id="14" name="Shape 10"/>
          <p:cNvSpPr/>
          <p:nvPr/>
        </p:nvSpPr>
        <p:spPr>
          <a:xfrm>
            <a:off x="6675120" y="2788920"/>
            <a:ext cx="4480560" cy="0"/>
          </a:xfrm>
          <a:prstGeom prst="line">
            <a:avLst/>
          </a:prstGeom>
          <a:noFill/>
          <a:ln w="12700">
            <a:solidFill>
              <a:srgbClr val="38383E"/>
            </a:solidFill>
            <a:prstDash val="solid"/>
          </a:ln>
        </p:spPr>
      </p:sp>
      <p:sp>
        <p:nvSpPr>
          <p:cNvPr id="15" name="Text 11"/>
          <p:cNvSpPr/>
          <p:nvPr/>
        </p:nvSpPr>
        <p:spPr>
          <a:xfrm>
            <a:off x="6766560" y="3017520"/>
            <a:ext cx="4343400" cy="26060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9단계 워크플로우 상태 관리 API (steps)</a:t>
            </a:r>
            <a:endParaRPr lang="en-US" sz="1350" dirty="0"/>
          </a:p>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Roslyn 분석기 연동 (child_process 실행)</a:t>
            </a:r>
            <a:endParaRPr lang="en-US" sz="1350" dirty="0"/>
          </a:p>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Anthropic Claude 연동 (분석 리포트 · 채팅)</a:t>
            </a:r>
            <a:endParaRPr lang="en-US" sz="1350" dirty="0"/>
          </a:p>
          <a:p>
            <a:pPr marL="342900" indent="-342900">
              <a:lnSpc>
                <a:spcPct val="115000"/>
              </a:lnSpc>
              <a:spcAft>
                <a:spcPts val="1200"/>
              </a:spcAft>
              <a:buSzPct val="100000"/>
              <a:buChar char="•"/>
            </a:pPr>
            <a:r>
              <a:rPr lang="en-US" sz="1350" dirty="0">
                <a:solidFill>
                  <a:srgbClr val="9C9CA4"/>
                </a:solidFill>
                <a:latin typeface="맑은 고딕" pitchFamily="34" charset="0"/>
                <a:ea typeface="맑은 고딕" pitchFamily="34" charset="-122"/>
                <a:cs typeface="맑은 고딕" pitchFamily="34" charset="-120"/>
              </a:rPr>
              <a:t>문서 버전 관리 및 커밋 리뷰 플로우</a:t>
            </a:r>
            <a:endParaRPr lang="en-US" sz="1350" dirty="0"/>
          </a:p>
        </p:txBody>
      </p:sp>
      <p:sp>
        <p:nvSpPr>
          <p:cNvPr id="16" name="Text 12"/>
          <p:cNvSpPr/>
          <p:nvPr/>
        </p:nvSpPr>
        <p:spPr>
          <a:xfrm>
            <a:off x="11247120" y="6355080"/>
            <a:ext cx="731520" cy="365760"/>
          </a:xfrm>
          <a:prstGeom prst="rect">
            <a:avLst/>
          </a:prstGeom>
          <a:noFill/>
          <a:ln/>
        </p:spPr>
        <p:txBody>
          <a:bodyPr wrap="square" lIns="0" tIns="0" rIns="0" bIns="0" rtlCol="0" anchor="ctr"/>
          <a:lstStyle/>
          <a:p>
            <a:pPr algn="r" indent="0" marL="0">
              <a:buNone/>
            </a:pPr>
            <a:r>
              <a:rPr lang="en-US" sz="1100" dirty="0">
                <a:solidFill>
                  <a:srgbClr val="6C6C74"/>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8"/>
        </a:solidFill>
      </p:bgPr>
    </p:bg>
    <p:spTree>
      <p:nvGrpSpPr>
        <p:cNvPr id="1" name=""/>
        <p:cNvGrpSpPr/>
        <p:nvPr/>
      </p:nvGrpSpPr>
      <p:grpSpPr>
        <a:xfrm>
          <a:off x="0" y="0"/>
          <a:ext cx="0" cy="0"/>
          <a:chOff x="0" y="0"/>
          <a:chExt cx="0" cy="0"/>
        </a:xfrm>
      </p:grpSpPr>
      <p:sp>
        <p:nvSpPr>
          <p:cNvPr id="2" name="Shape 0"/>
          <p:cNvSpPr/>
          <p:nvPr/>
        </p:nvSpPr>
        <p:spPr>
          <a:xfrm>
            <a:off x="-2194560" y="-2194560"/>
            <a:ext cx="5486400" cy="5486400"/>
          </a:xfrm>
          <a:prstGeom prst="ellipse">
            <a:avLst/>
          </a:prstGeom>
          <a:solidFill>
            <a:srgbClr val="F0A942">
              <a:alpha val="7000"/>
            </a:srgbClr>
          </a:solidFill>
          <a:ln/>
        </p:spPr>
      </p:sp>
      <p:sp>
        <p:nvSpPr>
          <p:cNvPr id="3" name="Shape 1"/>
          <p:cNvSpPr/>
          <p:nvPr/>
        </p:nvSpPr>
        <p:spPr>
          <a:xfrm>
            <a:off x="8961120" y="3474720"/>
            <a:ext cx="5486400" cy="5486400"/>
          </a:xfrm>
          <a:prstGeom prst="ellipse">
            <a:avLst/>
          </a:prstGeom>
          <a:solidFill>
            <a:srgbClr val="3ECF9A">
              <a:alpha val="7000"/>
            </a:srgbClr>
          </a:solidFill>
          <a:ln/>
        </p:spPr>
      </p:sp>
      <p:sp>
        <p:nvSpPr>
          <p:cNvPr id="4" name="Shape 2"/>
          <p:cNvSpPr/>
          <p:nvPr/>
        </p:nvSpPr>
        <p:spPr>
          <a:xfrm>
            <a:off x="5364785" y="777240"/>
            <a:ext cx="1005840" cy="1005840"/>
          </a:xfrm>
          <a:prstGeom prst="ellipse">
            <a:avLst/>
          </a:prstGeom>
          <a:solidFill>
            <a:srgbClr val="F0A942"/>
          </a:solidFill>
          <a:ln/>
        </p:spPr>
      </p:sp>
      <p:pic>
        <p:nvPicPr>
          <p:cNvPr id="5" name="Image 0" descr="C:\Users\Absolute Sexy\AppData\Local\Temp\claude\C--Users-Absolute-Sexy-Desktop-GameForgeAgent\11113590-93f3-4442-a177-b6373aa8c0e2\scratchpad\pptx_deck\icons\road.png">    </p:cNvPr>
          <p:cNvPicPr>
            <a:picLocks noChangeAspect="1"/>
          </p:cNvPicPr>
          <p:nvPr/>
        </p:nvPicPr>
        <p:blipFill>
          <a:blip r:embed="rId1"/>
          <a:stretch>
            <a:fillRect/>
          </a:stretch>
        </p:blipFill>
        <p:spPr>
          <a:xfrm>
            <a:off x="5616245" y="1028700"/>
            <a:ext cx="502920" cy="502920"/>
          </a:xfrm>
          <a:prstGeom prst="rect">
            <a:avLst/>
          </a:prstGeom>
        </p:spPr>
      </p:pic>
      <p:sp>
        <p:nvSpPr>
          <p:cNvPr id="6" name="Text 3"/>
          <p:cNvSpPr/>
          <p:nvPr/>
        </p:nvSpPr>
        <p:spPr>
          <a:xfrm>
            <a:off x="914400" y="2011680"/>
            <a:ext cx="10362895"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다음 로드맵</a:t>
            </a:r>
            <a:endParaRPr lang="en-US" sz="2600" dirty="0"/>
          </a:p>
        </p:txBody>
      </p:sp>
      <p:sp>
        <p:nvSpPr>
          <p:cNvPr id="7" name="Shape 4"/>
          <p:cNvSpPr/>
          <p:nvPr/>
        </p:nvSpPr>
        <p:spPr>
          <a:xfrm>
            <a:off x="1386688" y="2788920"/>
            <a:ext cx="2834640" cy="1051560"/>
          </a:xfrm>
          <a:prstGeom prst="roundRect">
            <a:avLst>
              <a:gd name="adj" fmla="val 8696"/>
            </a:avLst>
          </a:prstGeom>
          <a:solidFill>
            <a:srgbClr val="242428"/>
          </a:solidFill>
          <a:ln w="12700">
            <a:solidFill>
              <a:srgbClr val="38383E"/>
            </a:solidFill>
            <a:prstDash val="solid"/>
          </a:ln>
        </p:spPr>
      </p:sp>
      <p:sp>
        <p:nvSpPr>
          <p:cNvPr id="8" name="Text 5"/>
          <p:cNvSpPr/>
          <p:nvPr/>
        </p:nvSpPr>
        <p:spPr>
          <a:xfrm>
            <a:off x="1386688" y="2880360"/>
            <a:ext cx="2834640" cy="365760"/>
          </a:xfrm>
          <a:prstGeom prst="rect">
            <a:avLst/>
          </a:prstGeom>
          <a:noFill/>
          <a:ln/>
        </p:spPr>
        <p:txBody>
          <a:bodyPr wrap="square" lIns="0" tIns="0" rIns="0" bIns="0" rtlCol="0" anchor="ctr"/>
          <a:lstStyle/>
          <a:p>
            <a:pPr algn="ctr" indent="0" marL="0">
              <a:buNone/>
            </a:pPr>
            <a:r>
              <a:rPr lang="en-US" sz="1500" b="1" dirty="0">
                <a:solidFill>
                  <a:srgbClr val="3ECF9A"/>
                </a:solidFill>
                <a:latin typeface="맑은 고딕" pitchFamily="34" charset="0"/>
                <a:ea typeface="맑은 고딕" pitchFamily="34" charset="-122"/>
                <a:cs typeface="맑은 고딕" pitchFamily="34" charset="-120"/>
              </a:rPr>
              <a:t>Week 2</a:t>
            </a:r>
            <a:endParaRPr lang="en-US" sz="1500" dirty="0"/>
          </a:p>
        </p:txBody>
      </p:sp>
      <p:sp>
        <p:nvSpPr>
          <p:cNvPr id="9" name="Text 6"/>
          <p:cNvSpPr/>
          <p:nvPr/>
        </p:nvSpPr>
        <p:spPr>
          <a:xfrm>
            <a:off x="1523848" y="3246120"/>
            <a:ext cx="2560320" cy="502920"/>
          </a:xfrm>
          <a:prstGeom prst="rect">
            <a:avLst/>
          </a:prstGeom>
          <a:noFill/>
          <a:ln/>
        </p:spPr>
        <p:txBody>
          <a:bodyPr wrap="square" lIns="0" tIns="0" rIns="0" bIns="0" rtlCol="0" anchor="ctr"/>
          <a:lstStyle/>
          <a:p>
            <a:pPr algn="ctr" indent="0" marL="0">
              <a:buNone/>
            </a:pPr>
            <a:r>
              <a:rPr lang="en-US" sz="1150" dirty="0">
                <a:solidFill>
                  <a:srgbClr val="9C9CA4"/>
                </a:solidFill>
                <a:latin typeface="맑은 고딕" pitchFamily="34" charset="0"/>
                <a:ea typeface="맑은 고딕" pitchFamily="34" charset="-122"/>
                <a:cs typeface="맑은 고딕" pitchFamily="34" charset="-120"/>
              </a:rPr>
              <a:t>OAuth 완성 · 분석기 연동</a:t>
            </a:r>
            <a:endParaRPr lang="en-US" sz="1150" dirty="0"/>
          </a:p>
        </p:txBody>
      </p:sp>
      <p:sp>
        <p:nvSpPr>
          <p:cNvPr id="10" name="Shape 7"/>
          <p:cNvSpPr/>
          <p:nvPr/>
        </p:nvSpPr>
        <p:spPr>
          <a:xfrm>
            <a:off x="4221328" y="3310128"/>
            <a:ext cx="457200" cy="0"/>
          </a:xfrm>
          <a:prstGeom prst="line">
            <a:avLst/>
          </a:prstGeom>
          <a:noFill/>
          <a:ln w="19050">
            <a:solidFill>
              <a:srgbClr val="4A4A52"/>
            </a:solidFill>
            <a:prstDash val="solid"/>
            <a:tailEnd type="triangle"/>
          </a:ln>
        </p:spPr>
      </p:sp>
      <p:sp>
        <p:nvSpPr>
          <p:cNvPr id="11" name="Shape 8"/>
          <p:cNvSpPr/>
          <p:nvPr/>
        </p:nvSpPr>
        <p:spPr>
          <a:xfrm>
            <a:off x="4678528" y="2788920"/>
            <a:ext cx="2834640" cy="1051560"/>
          </a:xfrm>
          <a:prstGeom prst="roundRect">
            <a:avLst>
              <a:gd name="adj" fmla="val 8696"/>
            </a:avLst>
          </a:prstGeom>
          <a:solidFill>
            <a:srgbClr val="242428"/>
          </a:solidFill>
          <a:ln w="12700">
            <a:solidFill>
              <a:srgbClr val="38383E"/>
            </a:solidFill>
            <a:prstDash val="solid"/>
          </a:ln>
        </p:spPr>
      </p:sp>
      <p:sp>
        <p:nvSpPr>
          <p:cNvPr id="12" name="Text 9"/>
          <p:cNvSpPr/>
          <p:nvPr/>
        </p:nvSpPr>
        <p:spPr>
          <a:xfrm>
            <a:off x="4678528" y="2880360"/>
            <a:ext cx="2834640" cy="365760"/>
          </a:xfrm>
          <a:prstGeom prst="rect">
            <a:avLst/>
          </a:prstGeom>
          <a:noFill/>
          <a:ln/>
        </p:spPr>
        <p:txBody>
          <a:bodyPr wrap="square" lIns="0" tIns="0" rIns="0" bIns="0" rtlCol="0" anchor="ctr"/>
          <a:lstStyle/>
          <a:p>
            <a:pPr algn="ctr" indent="0" marL="0">
              <a:buNone/>
            </a:pPr>
            <a:r>
              <a:rPr lang="en-US" sz="1500" b="1" dirty="0">
                <a:solidFill>
                  <a:srgbClr val="3ECF9A"/>
                </a:solidFill>
                <a:latin typeface="맑은 고딕" pitchFamily="34" charset="0"/>
                <a:ea typeface="맑은 고딕" pitchFamily="34" charset="-122"/>
                <a:cs typeface="맑은 고딕" pitchFamily="34" charset="-120"/>
              </a:rPr>
              <a:t>Week 3</a:t>
            </a:r>
            <a:endParaRPr lang="en-US" sz="1500" dirty="0"/>
          </a:p>
        </p:txBody>
      </p:sp>
      <p:sp>
        <p:nvSpPr>
          <p:cNvPr id="13" name="Text 10"/>
          <p:cNvSpPr/>
          <p:nvPr/>
        </p:nvSpPr>
        <p:spPr>
          <a:xfrm>
            <a:off x="4815688" y="3246120"/>
            <a:ext cx="2560320" cy="502920"/>
          </a:xfrm>
          <a:prstGeom prst="rect">
            <a:avLst/>
          </a:prstGeom>
          <a:noFill/>
          <a:ln/>
        </p:spPr>
        <p:txBody>
          <a:bodyPr wrap="square" lIns="0" tIns="0" rIns="0" bIns="0" rtlCol="0" anchor="ctr"/>
          <a:lstStyle/>
          <a:p>
            <a:pPr algn="ctr" indent="0" marL="0">
              <a:buNone/>
            </a:pPr>
            <a:r>
              <a:rPr lang="en-US" sz="1150" dirty="0">
                <a:solidFill>
                  <a:srgbClr val="9C9CA4"/>
                </a:solidFill>
                <a:latin typeface="맑은 고딕" pitchFamily="34" charset="0"/>
                <a:ea typeface="맑은 고딕" pitchFamily="34" charset="-122"/>
                <a:cs typeface="맑은 고딕" pitchFamily="34" charset="-120"/>
              </a:rPr>
              <a:t>워크플로우 API · 코드 생성</a:t>
            </a:r>
            <a:endParaRPr lang="en-US" sz="1150" dirty="0"/>
          </a:p>
        </p:txBody>
      </p:sp>
      <p:sp>
        <p:nvSpPr>
          <p:cNvPr id="14" name="Shape 11"/>
          <p:cNvSpPr/>
          <p:nvPr/>
        </p:nvSpPr>
        <p:spPr>
          <a:xfrm>
            <a:off x="7513168" y="3310128"/>
            <a:ext cx="457200" cy="0"/>
          </a:xfrm>
          <a:prstGeom prst="line">
            <a:avLst/>
          </a:prstGeom>
          <a:noFill/>
          <a:ln w="19050">
            <a:solidFill>
              <a:srgbClr val="4A4A52"/>
            </a:solidFill>
            <a:prstDash val="solid"/>
            <a:tailEnd type="triangle"/>
          </a:ln>
        </p:spPr>
      </p:sp>
      <p:sp>
        <p:nvSpPr>
          <p:cNvPr id="15" name="Shape 12"/>
          <p:cNvSpPr/>
          <p:nvPr/>
        </p:nvSpPr>
        <p:spPr>
          <a:xfrm>
            <a:off x="7970368" y="2788920"/>
            <a:ext cx="2834640" cy="1051560"/>
          </a:xfrm>
          <a:prstGeom prst="roundRect">
            <a:avLst>
              <a:gd name="adj" fmla="val 8696"/>
            </a:avLst>
          </a:prstGeom>
          <a:solidFill>
            <a:srgbClr val="242428"/>
          </a:solidFill>
          <a:ln w="12700">
            <a:solidFill>
              <a:srgbClr val="38383E"/>
            </a:solidFill>
            <a:prstDash val="solid"/>
          </a:ln>
        </p:spPr>
      </p:sp>
      <p:sp>
        <p:nvSpPr>
          <p:cNvPr id="16" name="Text 13"/>
          <p:cNvSpPr/>
          <p:nvPr/>
        </p:nvSpPr>
        <p:spPr>
          <a:xfrm>
            <a:off x="7970368" y="2880360"/>
            <a:ext cx="2834640" cy="365760"/>
          </a:xfrm>
          <a:prstGeom prst="rect">
            <a:avLst/>
          </a:prstGeom>
          <a:noFill/>
          <a:ln/>
        </p:spPr>
        <p:txBody>
          <a:bodyPr wrap="square" lIns="0" tIns="0" rIns="0" bIns="0" rtlCol="0" anchor="ctr"/>
          <a:lstStyle/>
          <a:p>
            <a:pPr algn="ctr" indent="0" marL="0">
              <a:buNone/>
            </a:pPr>
            <a:r>
              <a:rPr lang="en-US" sz="1500" b="1" dirty="0">
                <a:solidFill>
                  <a:srgbClr val="3ECF9A"/>
                </a:solidFill>
                <a:latin typeface="맑은 고딕" pitchFamily="34" charset="0"/>
                <a:ea typeface="맑은 고딕" pitchFamily="34" charset="-122"/>
                <a:cs typeface="맑은 고딕" pitchFamily="34" charset="-120"/>
              </a:rPr>
              <a:t>Week 4</a:t>
            </a:r>
            <a:endParaRPr lang="en-US" sz="1500" dirty="0"/>
          </a:p>
        </p:txBody>
      </p:sp>
      <p:sp>
        <p:nvSpPr>
          <p:cNvPr id="17" name="Text 14"/>
          <p:cNvSpPr/>
          <p:nvPr/>
        </p:nvSpPr>
        <p:spPr>
          <a:xfrm>
            <a:off x="8107528" y="3246120"/>
            <a:ext cx="2560320" cy="502920"/>
          </a:xfrm>
          <a:prstGeom prst="rect">
            <a:avLst/>
          </a:prstGeom>
          <a:noFill/>
          <a:ln/>
        </p:spPr>
        <p:txBody>
          <a:bodyPr wrap="square" lIns="0" tIns="0" rIns="0" bIns="0" rtlCol="0" anchor="ctr"/>
          <a:lstStyle/>
          <a:p>
            <a:pPr algn="ctr" indent="0" marL="0">
              <a:buNone/>
            </a:pPr>
            <a:r>
              <a:rPr lang="en-US" sz="1150" dirty="0">
                <a:solidFill>
                  <a:srgbClr val="9C9CA4"/>
                </a:solidFill>
                <a:latin typeface="맑은 고딕" pitchFamily="34" charset="0"/>
                <a:ea typeface="맑은 고딕" pitchFamily="34" charset="-122"/>
                <a:cs typeface="맑은 고딕" pitchFamily="34" charset="-120"/>
              </a:rPr>
              <a:t>문서화 · 커밋 리뷰 마무리</a:t>
            </a:r>
            <a:endParaRPr lang="en-US" sz="1150" dirty="0"/>
          </a:p>
        </p:txBody>
      </p:sp>
      <p:sp>
        <p:nvSpPr>
          <p:cNvPr id="18" name="Text 15"/>
          <p:cNvSpPr/>
          <p:nvPr/>
        </p:nvSpPr>
        <p:spPr>
          <a:xfrm>
            <a:off x="914400" y="4663440"/>
            <a:ext cx="10362895"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감사합니다</a:t>
            </a:r>
            <a:endParaRPr lang="en-US" sz="3600" dirty="0"/>
          </a:p>
        </p:txBody>
      </p:sp>
      <p:sp>
        <p:nvSpPr>
          <p:cNvPr id="19" name="Text 16"/>
          <p:cNvSpPr/>
          <p:nvPr/>
        </p:nvSpPr>
        <p:spPr>
          <a:xfrm>
            <a:off x="914400" y="5394960"/>
            <a:ext cx="10362895" cy="411480"/>
          </a:xfrm>
          <a:prstGeom prst="rect">
            <a:avLst/>
          </a:prstGeom>
          <a:noFill/>
          <a:ln/>
        </p:spPr>
        <p:txBody>
          <a:bodyPr wrap="square" lIns="0" tIns="0" rIns="0" bIns="0" rtlCol="0" anchor="ctr"/>
          <a:lstStyle/>
          <a:p>
            <a:pPr algn="ctr" indent="0" marL="0">
              <a:buNone/>
            </a:pPr>
            <a:r>
              <a:rPr lang="en-US" sz="1400" i="1" spc="300" kern="0" dirty="0">
                <a:solidFill>
                  <a:srgbClr val="3ECF9A"/>
                </a:solidFill>
                <a:latin typeface="맑은 고딕" pitchFamily="34" charset="0"/>
                <a:ea typeface="맑은 고딕" pitchFamily="34" charset="-122"/>
                <a:cs typeface="맑은 고딕" pitchFamily="34" charset="-120"/>
              </a:rPr>
              <a:t>Q &amp; A</a:t>
            </a:r>
            <a:endParaRPr lang="en-US" sz="1400" dirty="0"/>
          </a:p>
        </p:txBody>
      </p:sp>
      <p:sp>
        <p:nvSpPr>
          <p:cNvPr id="20" name="Text 17"/>
          <p:cNvSpPr/>
          <p:nvPr/>
        </p:nvSpPr>
        <p:spPr>
          <a:xfrm>
            <a:off x="914400" y="6355080"/>
            <a:ext cx="10362895" cy="320040"/>
          </a:xfrm>
          <a:prstGeom prst="rect">
            <a:avLst/>
          </a:prstGeom>
          <a:noFill/>
          <a:ln/>
        </p:spPr>
        <p:txBody>
          <a:bodyPr wrap="square" lIns="0" tIns="0" rIns="0" bIns="0" rtlCol="0" anchor="ctr"/>
          <a:lstStyle/>
          <a:p>
            <a:pPr algn="ctr" indent="0" marL="0">
              <a:buNone/>
            </a:pPr>
            <a:r>
              <a:rPr lang="en-US" sz="1050" dirty="0">
                <a:solidFill>
                  <a:srgbClr val="6C6C74"/>
                </a:solidFill>
                <a:latin typeface="맑은 고딕" pitchFamily="34" charset="0"/>
                <a:ea typeface="맑은 고딕" pitchFamily="34" charset="-122"/>
                <a:cs typeface="맑은 고딕" pitchFamily="34" charset="-120"/>
              </a:rPr>
              <a:t>GameForge Agent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2026-07-16T09:41:02Z</dcterms:created>
  <dcterms:modified xsi:type="dcterms:W3CDTF">2026-07-16T09:41:02Z</dcterms:modified>
</cp:coreProperties>
</file>