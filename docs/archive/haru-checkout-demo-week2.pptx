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7"/>
    <p:sldId id="258" r:id="rId8"/>
    <p:sldId id="259" r:id="rId9"/>
    <p:sldId id="260" r:id="rId10"/>
    <p:sldId id="261" r:id="rId6"/>
    <p:sldId id="262" r:id="rId5"/>
    <p:sldId id="263" r:id="rId4"/>
    <p:sldId id="264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1" d="100"/>
          <a:sy n="51" d="100"/>
        </p:scale>
        <p:origin x="705" y="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9.xml"/><Relationship Id="rId4" Type="http://schemas.openxmlformats.org/officeDocument/2006/relationships/slide" Target="slides/slide8.xml"/><Relationship Id="rId5" Type="http://schemas.openxmlformats.org/officeDocument/2006/relationships/slide" Target="slides/slide7.xml"/><Relationship Id="rId6" Type="http://schemas.openxmlformats.org/officeDocument/2006/relationships/slide" Target="slides/slide6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527048" y="2606040"/>
            <a:ext cx="9144000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400" b="1" dirty="0">
                <a:solidFill>
                  <a:srgbClr val="191F28"/>
                </a:solidFill>
                <a:latin typeface="맑은 고딕"/>
                <a:ea typeface="맑은 고딕"/>
              </a:rPr>
              <a:t>2</a:t>
            </a:r>
            <a:r>
              <a:rPr lang="ko-KR" altLang="en-US" sz="4400" b="1" dirty="0">
                <a:solidFill>
                  <a:srgbClr val="191F28"/>
                </a:solidFill>
                <a:latin typeface="맑은 고딕"/>
                <a:ea typeface="맑은 고딕"/>
              </a:rPr>
              <a:t>주차 데모</a:t>
            </a:r>
            <a:endParaRPr sz="4400" b="1" dirty="0">
              <a:solidFill>
                <a:srgbClr val="191F28"/>
              </a:solidFill>
              <a:latin typeface="맑은 고딕"/>
              <a:ea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527048" y="3776472"/>
            <a:ext cx="91440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dirty="0">
                <a:solidFill>
                  <a:srgbClr val="6B7684"/>
                </a:solidFill>
                <a:latin typeface="맑은 고딕"/>
                <a:ea typeface="맑은 고딕"/>
              </a:rPr>
              <a:t>유승혁  ·  </a:t>
            </a:r>
            <a:r>
              <a:rPr sz="1300" b="0" dirty="0" err="1">
                <a:solidFill>
                  <a:srgbClr val="6B7684"/>
                </a:solidFill>
                <a:latin typeface="맑은 고딕"/>
                <a:ea typeface="맑은 고딕"/>
              </a:rPr>
              <a:t>네이버</a:t>
            </a:r>
            <a:r>
              <a:rPr sz="1300" b="0" dirty="0">
                <a:solidFill>
                  <a:srgbClr val="6B7684"/>
                </a:solidFill>
                <a:latin typeface="맑은 고딕"/>
                <a:ea typeface="맑은 고딕"/>
              </a:rPr>
              <a:t> AI Agent Challenge</a:t>
            </a:r>
            <a:r>
              <a:rPr lang="ko-KR" altLang="en-US" sz="1300" dirty="0">
                <a:solidFill>
                  <a:srgbClr val="6B7684"/>
                </a:solidFill>
                <a:latin typeface="맑은 고딕"/>
                <a:ea typeface="맑은 고딕"/>
              </a:rPr>
              <a:t> </a:t>
            </a:r>
            <a:r>
              <a:rPr lang="en-US" altLang="ko-KR" sz="1300" dirty="0">
                <a:solidFill>
                  <a:srgbClr val="6B7684"/>
                </a:solidFill>
                <a:latin typeface="맑은 고딕"/>
                <a:ea typeface="맑은 고딕"/>
              </a:rPr>
              <a:t>· </a:t>
            </a:r>
            <a:r>
              <a:rPr lang="ko-KR" altLang="en-US" sz="1300" b="0" dirty="0" err="1">
                <a:solidFill>
                  <a:srgbClr val="6B7684"/>
                </a:solidFill>
                <a:latin typeface="맑은 고딕"/>
                <a:ea typeface="맑은 고딕"/>
              </a:rPr>
              <a:t>하루체크아웃</a:t>
            </a:r>
            <a:endParaRPr sz="1300" b="0" dirty="0">
              <a:solidFill>
                <a:srgbClr val="6B7684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91F28"/>
                </a:solidFill>
                <a:latin typeface="맑은 고딕"/>
                <a:ea typeface="맑은 고딕"/>
              </a:rPr>
              <a:t>이번 주에 한 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5303520" cy="155448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 w="12700">
            <a:solidFill>
              <a:srgbClr val="F2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7548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6B7684"/>
                </a:solidFill>
                <a:latin typeface="맑은 고딕"/>
                <a:ea typeface="맑은 고딕"/>
              </a:rPr>
              <a:t>1주차   </a:t>
            </a:r>
            <a:r>
              <a:rPr sz="1350" b="0">
                <a:solidFill>
                  <a:srgbClr val="191F28"/>
                </a:solidFill>
                <a:latin typeface="맑은 고딕"/>
                <a:ea typeface="맑은 고딕"/>
              </a:rPr>
              <a:t>화면만 있는 프로토타입 (가짜 데이터)</a:t>
            </a:r>
          </a:p>
          <a:p>
            <a:pPr algn="l">
              <a:lnSpc>
                <a:spcPct val="115000"/>
              </a:lnSpc>
            </a:pPr>
            <a:r>
              <a:rPr sz="500" b="0">
                <a:solidFill>
                  <a:srgbClr val="6B7684"/>
                </a:solidFill>
                <a:latin typeface="맑은 고딕"/>
                <a:ea typeface="맑은 고딕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250" b="1">
                <a:solidFill>
                  <a:srgbClr val="3182F6"/>
                </a:solidFill>
                <a:latin typeface="맑은 고딕"/>
                <a:ea typeface="맑은 고딕"/>
              </a:rPr>
              <a:t>2주차   </a:t>
            </a:r>
            <a:r>
              <a:rPr sz="1350" b="1">
                <a:solidFill>
                  <a:srgbClr val="191F28"/>
                </a:solidFill>
                <a:latin typeface="맑은 고딕"/>
                <a:ea typeface="맑은 고딕"/>
              </a:rPr>
              <a:t>입력 → AI 정리 → 저장 → 조회 실제 동작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63240"/>
            <a:ext cx="5303520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246120"/>
            <a:ext cx="475488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6B7684"/>
                </a:solidFill>
                <a:latin typeface="맑은 고딕"/>
                <a:ea typeface="맑은 고딕"/>
              </a:rPr>
              <a:t>만든 것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191F28"/>
                </a:solidFill>
                <a:latin typeface="맑은 고딕"/>
                <a:ea typeface="맑은 고딕"/>
              </a:rPr>
              <a:t>· 서버 (Express)</a:t>
            </a:r>
            <a:r>
              <a:rPr sz="1250" b="0">
                <a:solidFill>
                  <a:srgbClr val="6B7684"/>
                </a:solidFill>
                <a:latin typeface="맑은 고딕"/>
                <a:ea typeface="맑은 고딕"/>
              </a:rPr>
              <a:t>   화면 요청을 처리하는 API 4개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191F28"/>
                </a:solidFill>
                <a:latin typeface="맑은 고딕"/>
                <a:ea typeface="맑은 고딕"/>
              </a:rPr>
              <a:t>· DB (Supabase)</a:t>
            </a:r>
            <a:r>
              <a:rPr sz="1250" b="0">
                <a:solidFill>
                  <a:srgbClr val="6B7684"/>
                </a:solidFill>
                <a:latin typeface="맑은 고딕"/>
                <a:ea typeface="맑은 고딕"/>
              </a:rPr>
              <a:t>   checkins 테이블에 기록 저장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191F28"/>
                </a:solidFill>
                <a:latin typeface="맑은 고딕"/>
                <a:ea typeface="맑은 고딕"/>
              </a:rPr>
              <a:t>· 화면 (React)</a:t>
            </a:r>
            <a:r>
              <a:rPr sz="1250" b="0">
                <a:solidFill>
                  <a:srgbClr val="6B7684"/>
                </a:solidFill>
                <a:latin typeface="맑은 고딕"/>
                <a:ea typeface="맑은 고딕"/>
              </a:rPr>
              <a:t>   입력 → 결과 → 목록 연결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80160"/>
            <a:ext cx="530352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463040"/>
            <a:ext cx="475488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1">
                <a:solidFill>
                  <a:srgbClr val="6B7684"/>
                </a:solidFill>
                <a:latin typeface="맑은 고딕"/>
                <a:ea typeface="맑은 고딕"/>
              </a:rPr>
              <a:t>목차</a:t>
            </a:r>
          </a:p>
          <a:p>
            <a:pPr algn="l">
              <a:lnSpc>
                <a:spcPct val="150000"/>
              </a:lnSpc>
            </a:pPr>
            <a:r>
              <a:rPr sz="600" b="0">
                <a:solidFill>
                  <a:srgbClr val="6B7684"/>
                </a:solidFill>
                <a:latin typeface="맑은 고딕"/>
                <a:ea typeface="맑은 고딕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191F28"/>
                </a:solidFill>
                <a:latin typeface="맑은 고딕"/>
                <a:ea typeface="맑은 고딕"/>
              </a:rPr>
              <a:t>1.  전체 구조와 코드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191F28"/>
                </a:solidFill>
                <a:latin typeface="맑은 고딕"/>
                <a:ea typeface="맑은 고딕"/>
              </a:rPr>
              <a:t>2.  데모 (입력 → 정리 → 저장)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191F28"/>
                </a:solidFill>
                <a:latin typeface="맑은 고딕"/>
                <a:ea typeface="맑은 고딕"/>
              </a:rPr>
              <a:t>3.  다음 계획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91F28"/>
                </a:solidFill>
                <a:latin typeface="맑은 고딕"/>
                <a:ea typeface="맑은 고딕"/>
              </a:rPr>
              <a:t>전체 구조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297180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901952"/>
            <a:ext cx="2560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91F28"/>
                </a:solidFill>
                <a:latin typeface="맑은 고딕"/>
                <a:ea typeface="맑은 고딕"/>
              </a:rPr>
              <a:t>React</a:t>
            </a:r>
            <a:r>
              <a:rPr sz="1200" b="1">
                <a:solidFill>
                  <a:srgbClr val="3182F6"/>
                </a:solidFill>
                <a:latin typeface="맑은 고딕"/>
                <a:ea typeface="맑은 고딕"/>
              </a:rPr>
              <a:t>  화면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3182F6"/>
                </a:solidFill>
                <a:latin typeface="맑은 고딕"/>
                <a:ea typeface="맑은 고딕"/>
              </a:rPr>
              <a:t>화면을 만드는 JS 라이브러리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880360"/>
            <a:ext cx="2606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B7684"/>
                </a:solidFill>
                <a:latin typeface="맑은 고딕"/>
                <a:ea typeface="맑은 고딕"/>
              </a:rPr>
              <a:t>· 입력 폼 · 결과 카드 · 기록 목록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6B7684"/>
                </a:solidFill>
                <a:latin typeface="맑은 고딕"/>
                <a:ea typeface="맑은 고딕"/>
              </a:rPr>
              <a:t>· 버튼을 누르면 서버에 요청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1737360"/>
            <a:ext cx="297180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901952"/>
            <a:ext cx="2560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91F28"/>
                </a:solidFill>
                <a:latin typeface="맑은 고딕"/>
                <a:ea typeface="맑은 고딕"/>
              </a:rPr>
              <a:t>Express</a:t>
            </a:r>
            <a:r>
              <a:rPr sz="1200" b="1">
                <a:solidFill>
                  <a:srgbClr val="3182F6"/>
                </a:solidFill>
                <a:latin typeface="맑은 고딕"/>
                <a:ea typeface="맑은 고딕"/>
              </a:rPr>
              <a:t>  서버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3182F6"/>
                </a:solidFill>
                <a:latin typeface="맑은 고딕"/>
                <a:ea typeface="맑은 고딕"/>
              </a:rPr>
              <a:t>서버를 만드는 JS 도구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880360"/>
            <a:ext cx="2606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B7684"/>
                </a:solidFill>
                <a:latin typeface="맑은 고딕"/>
                <a:ea typeface="맑은 고딕"/>
              </a:rPr>
              <a:t>· 요청 내용 확인 (빈 입력이면 거절)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6B7684"/>
                </a:solidFill>
                <a:latin typeface="맑은 고딕"/>
                <a:ea typeface="맑은 고딕"/>
              </a:rPr>
              <a:t>· DB 저장·조회 수행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1737360"/>
            <a:ext cx="297180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41080" y="1901952"/>
            <a:ext cx="2560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91F28"/>
                </a:solidFill>
                <a:latin typeface="맑은 고딕"/>
                <a:ea typeface="맑은 고딕"/>
              </a:rPr>
              <a:t>Supabase</a:t>
            </a:r>
            <a:r>
              <a:rPr sz="1200" b="1">
                <a:solidFill>
                  <a:srgbClr val="3182F6"/>
                </a:solidFill>
                <a:latin typeface="맑은 고딕"/>
                <a:ea typeface="맑은 고딕"/>
              </a:rPr>
              <a:t>  DB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3182F6"/>
                </a:solidFill>
                <a:latin typeface="맑은 고딕"/>
                <a:ea typeface="맑은 고딕"/>
              </a:rPr>
              <a:t>클라우드 DB 서비스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080" y="2880360"/>
            <a:ext cx="2606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B7684"/>
                </a:solidFill>
                <a:latin typeface="맑은 고딕"/>
                <a:ea typeface="맑은 고딕"/>
              </a:rPr>
              <a:t>· 엑셀처럼 표(테이블)에 행이 쌓임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6B7684"/>
                </a:solidFill>
                <a:latin typeface="맑은 고딕"/>
                <a:ea typeface="맑은 고딕"/>
              </a:rPr>
              <a:t>· checkins 테이블 하나 사용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886200" y="2880360"/>
            <a:ext cx="640080" cy="384048"/>
          </a:xfrm>
          <a:prstGeom prst="rightArrow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7680960" y="2880360"/>
            <a:ext cx="640080" cy="384048"/>
          </a:xfrm>
          <a:prstGeom prst="rightArrow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10128" y="2450592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3182F6"/>
                </a:solidFill>
                <a:latin typeface="맑은 고딕"/>
                <a:ea typeface="맑은 고딕"/>
              </a:rPr>
              <a:t>① 요청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4888" y="2450592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3182F6"/>
                </a:solidFill>
                <a:latin typeface="맑은 고딕"/>
                <a:ea typeface="맑은 고딕"/>
              </a:rPr>
              <a:t>② 저장·조회</a:t>
            </a:r>
          </a:p>
        </p:txBody>
      </p:sp>
      <p:sp>
        <p:nvSpPr>
          <p:cNvPr id="17" name="Left Arrow 16"/>
          <p:cNvSpPr/>
          <p:nvPr/>
        </p:nvSpPr>
        <p:spPr>
          <a:xfrm>
            <a:off x="2377440" y="4892040"/>
            <a:ext cx="7498079" cy="365760"/>
          </a:xfrm>
          <a:prstGeom prst="leftArrow">
            <a:avLst/>
          </a:prstGeom>
          <a:solidFill>
            <a:srgbClr val="F2F4F6"/>
          </a:solidFill>
          <a:ln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77440" y="4910328"/>
            <a:ext cx="74980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91F28"/>
                </a:solidFill>
                <a:latin typeface="맑은 고딕"/>
                <a:ea typeface="맑은 고딕"/>
              </a:rPr>
              <a:t>③ 결과가 화면으로 돌아와 목록 갱신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943600"/>
            <a:ext cx="109270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605332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3182F6"/>
                </a:solidFill>
                <a:latin typeface="맑은 고딕"/>
                <a:ea typeface="맑은 고딕"/>
              </a:rPr>
              <a:t>원리   </a:t>
            </a:r>
            <a:r>
              <a:rPr sz="1250" b="0">
                <a:solidFill>
                  <a:srgbClr val="191F28"/>
                </a:solidFill>
                <a:latin typeface="맑은 고딕"/>
                <a:ea typeface="맑은 고딕"/>
              </a:rPr>
              <a:t>화면과 서버는 HTTP 요청으로만 대화. 요청 = 주소(URL) + 방식(GET 조회 / POST 생성) + 내용(JSON)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91F28"/>
                </a:solidFill>
                <a:latin typeface="맑은 고딕"/>
                <a:ea typeface="맑은 고딕"/>
              </a:rPr>
              <a:t>코드로 보면: '저장' 버튼 한 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365760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182F6"/>
                </a:solidFill>
                <a:latin typeface="맑은 고딕"/>
                <a:ea typeface="맑은 고딕"/>
              </a:rPr>
              <a:t>화면</a:t>
            </a:r>
            <a:r>
              <a:rPr sz="1000" b="0">
                <a:solidFill>
                  <a:srgbClr val="6B7684"/>
                </a:solidFill>
                <a:latin typeface="맑은 고딕"/>
                <a:ea typeface="맑은 고딕"/>
              </a:rPr>
              <a:t>  client/src/App.jsx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329184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sz="900" b="0">
                <a:solidFill>
                  <a:srgbClr val="191F28"/>
                </a:solidFill>
                <a:latin typeface="Consolas"/>
                <a:ea typeface="맑은 고딕"/>
              </a:rPr>
              <a:t>await requestJson('/api/checkins', {</a:t>
            </a:r>
          </a:p>
          <a:p>
            <a:pPr>
              <a:lnSpc>
                <a:spcPct val="120000"/>
              </a:lnSpc>
            </a:pPr>
            <a:r>
              <a:rPr sz="900" b="0">
                <a:solidFill>
                  <a:srgbClr val="191F28"/>
                </a:solidFill>
                <a:latin typeface="Consolas"/>
                <a:ea typeface="맑은 고딕"/>
              </a:rPr>
              <a:t>  method: 'POST',</a:t>
            </a:r>
          </a:p>
          <a:p>
            <a:pPr>
              <a:lnSpc>
                <a:spcPct val="120000"/>
              </a:lnSpc>
            </a:pPr>
            <a:r>
              <a:rPr sz="900" b="0">
                <a:solidFill>
                  <a:srgbClr val="191F28"/>
                </a:solidFill>
                <a:latin typeface="Consolas"/>
                <a:ea typeface="맑은 고딕"/>
              </a:rPr>
              <a:t>  body: JSON.stringify({ rawText,</a:t>
            </a:r>
          </a:p>
          <a:p>
            <a:pPr>
              <a:lnSpc>
                <a:spcPct val="120000"/>
              </a:lnSpc>
            </a:pPr>
            <a:r>
              <a:rPr sz="900" b="0">
                <a:solidFill>
                  <a:srgbClr val="191F28"/>
                </a:solidFill>
                <a:latin typeface="Consolas"/>
                <a:ea typeface="맑은 고딕"/>
              </a:rPr>
              <a:t>                       ...summary }),</a:t>
            </a:r>
          </a:p>
          <a:p>
            <a:pPr>
              <a:lnSpc>
                <a:spcPct val="120000"/>
              </a:lnSpc>
            </a:pPr>
            <a:r>
              <a:rPr sz="900" b="0">
                <a:solidFill>
                  <a:srgbClr val="191F28"/>
                </a:solidFill>
                <a:latin typeface="Consolas"/>
                <a:ea typeface="맑은 고딕"/>
              </a:rPr>
              <a:t>})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520440"/>
            <a:ext cx="3200400" cy="12700"/>
          </a:xfrm>
          <a:prstGeom prst="rect">
            <a:avLst/>
          </a:prstGeom>
          <a:solidFill>
            <a:srgbClr val="E5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32461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3182F6"/>
                </a:solidFill>
                <a:latin typeface="맑은 고딕"/>
                <a:ea typeface="맑은 고딕"/>
              </a:rPr>
              <a:t>requestJson</a:t>
            </a:r>
            <a:r>
              <a:rPr sz="1150" b="0">
                <a:solidFill>
                  <a:srgbClr val="191F28"/>
                </a:solidFill>
                <a:latin typeface="맑은 고딕"/>
                <a:ea typeface="맑은 고딕"/>
              </a:rPr>
              <a:t> = 주소로 데이터를 보내고</a:t>
            </a:r>
          </a:p>
          <a:p>
            <a:pPr algn="l">
              <a:lnSpc>
                <a:spcPct val="120000"/>
              </a:lnSpc>
            </a:pPr>
            <a:r>
              <a:rPr sz="1150" b="0">
                <a:solidFill>
                  <a:srgbClr val="191F28"/>
                </a:solidFill>
                <a:latin typeface="맑은 고딕"/>
                <a:ea typeface="맑은 고딕"/>
              </a:rPr>
              <a:t>응답을 기다리는 함수</a:t>
            </a:r>
          </a:p>
          <a:p>
            <a:pPr algn="l">
              <a:lnSpc>
                <a:spcPct val="120000"/>
              </a:lnSpc>
            </a:pPr>
            <a:r>
              <a:rPr sz="400" b="0">
                <a:solidFill>
                  <a:srgbClr val="6B7684"/>
                </a:solidFill>
                <a:latin typeface="맑은 고딕"/>
                <a:ea typeface="맑은 고딕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150" b="1">
                <a:solidFill>
                  <a:srgbClr val="3182F6"/>
                </a:solidFill>
                <a:latin typeface="맑은 고딕"/>
                <a:ea typeface="맑은 고딕"/>
              </a:rPr>
              <a:t>JSON.stringify</a:t>
            </a:r>
            <a:r>
              <a:rPr sz="1150" b="0">
                <a:solidFill>
                  <a:srgbClr val="191F28"/>
                </a:solidFill>
                <a:latin typeface="맑은 고딕"/>
                <a:ea typeface="맑은 고딕"/>
              </a:rPr>
              <a:t> = 데이터를 전송용</a:t>
            </a:r>
          </a:p>
          <a:p>
            <a:pPr algn="l">
              <a:lnSpc>
                <a:spcPct val="120000"/>
              </a:lnSpc>
            </a:pPr>
            <a:r>
              <a:rPr sz="1150" b="0">
                <a:solidFill>
                  <a:srgbClr val="191F28"/>
                </a:solidFill>
                <a:latin typeface="맑은 고딕"/>
                <a:ea typeface="맑은 고딕"/>
              </a:rPr>
              <a:t>글자로 변환 (JSON = 데이터 표기법)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188720"/>
            <a:ext cx="365760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32588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182F6"/>
                </a:solidFill>
                <a:latin typeface="맑은 고딕"/>
                <a:ea typeface="맑은 고딕"/>
              </a:rPr>
              <a:t>서버</a:t>
            </a:r>
            <a:r>
              <a:rPr sz="1000" b="0">
                <a:solidFill>
                  <a:srgbClr val="6B7684"/>
                </a:solidFill>
                <a:latin typeface="맑은 고딕"/>
                <a:ea typeface="맑은 고딕"/>
              </a:rPr>
              <a:t>  server/routes/checkins.js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828800"/>
            <a:ext cx="329184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sz="900" b="1">
                <a:solidFill>
                  <a:srgbClr val="3182F6"/>
                </a:solidFill>
                <a:latin typeface="Consolas"/>
                <a:ea typeface="맑은 고딕"/>
              </a:rPr>
              <a:t>router.post('/', async (req, res) =&gt; {</a:t>
            </a:r>
          </a:p>
          <a:p>
            <a:pPr>
              <a:lnSpc>
                <a:spcPct val="120000"/>
              </a:lnSpc>
            </a:pPr>
            <a:r>
              <a:rPr sz="900" b="0">
                <a:solidFill>
                  <a:srgbClr val="191F28"/>
                </a:solidFill>
                <a:latin typeface="Consolas"/>
                <a:ea typeface="맑은 고딕"/>
              </a:rPr>
              <a:t>  const rawText = getRawText(req.body)</a:t>
            </a:r>
          </a:p>
          <a:p>
            <a:pPr>
              <a:lnSpc>
                <a:spcPct val="120000"/>
              </a:lnSpc>
            </a:pPr>
            <a:r>
              <a:rPr sz="900" b="0">
                <a:solidFill>
                  <a:srgbClr val="191F28"/>
                </a:solidFill>
                <a:latin typeface="Consolas"/>
                <a:ea typeface="맑은 고딕"/>
              </a:rPr>
              <a:t>  const checkin = await createCheckin(</a:t>
            </a:r>
          </a:p>
          <a:p>
            <a:pPr>
              <a:lnSpc>
                <a:spcPct val="120000"/>
              </a:lnSpc>
            </a:pPr>
            <a:r>
              <a:rPr sz="900" b="0">
                <a:solidFill>
                  <a:srgbClr val="191F28"/>
                </a:solidFill>
                <a:latin typeface="Consolas"/>
                <a:ea typeface="맑은 고딕"/>
              </a:rPr>
              <a:t>    { ...req.body, rawText })</a:t>
            </a:r>
          </a:p>
          <a:p>
            <a:pPr>
              <a:lnSpc>
                <a:spcPct val="120000"/>
              </a:lnSpc>
            </a:pPr>
            <a:r>
              <a:rPr sz="900" b="0">
                <a:solidFill>
                  <a:srgbClr val="191F28"/>
                </a:solidFill>
                <a:latin typeface="Consolas"/>
                <a:ea typeface="맑은 고딕"/>
              </a:rPr>
              <a:t>  res.status(201).json(checkin)</a:t>
            </a:r>
          </a:p>
          <a:p>
            <a:pPr>
              <a:lnSpc>
                <a:spcPct val="120000"/>
              </a:lnSpc>
            </a:pPr>
            <a:r>
              <a:rPr sz="900" b="1">
                <a:solidFill>
                  <a:srgbClr val="3182F6"/>
                </a:solidFill>
                <a:latin typeface="Consolas"/>
                <a:ea typeface="맑은 고딕"/>
              </a:rPr>
              <a:t>})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7720" y="3520440"/>
            <a:ext cx="3200400" cy="12700"/>
          </a:xfrm>
          <a:prstGeom prst="rect">
            <a:avLst/>
          </a:prstGeom>
          <a:solidFill>
            <a:srgbClr val="E5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3657600"/>
            <a:ext cx="32461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3182F6"/>
                </a:solidFill>
                <a:latin typeface="맑은 고딕"/>
                <a:ea typeface="맑은 고딕"/>
              </a:rPr>
              <a:t>router.post</a:t>
            </a:r>
            <a:r>
              <a:rPr sz="1150" b="0">
                <a:solidFill>
                  <a:srgbClr val="191F28"/>
                </a:solidFill>
                <a:latin typeface="맑은 고딕"/>
                <a:ea typeface="맑은 고딕"/>
              </a:rPr>
              <a:t> = "이 주소로 POST가</a:t>
            </a:r>
          </a:p>
          <a:p>
            <a:pPr algn="l">
              <a:lnSpc>
                <a:spcPct val="120000"/>
              </a:lnSpc>
            </a:pPr>
            <a:r>
              <a:rPr sz="1150" b="0">
                <a:solidFill>
                  <a:srgbClr val="191F28"/>
                </a:solidFill>
                <a:latin typeface="맑은 고딕"/>
                <a:ea typeface="맑은 고딕"/>
              </a:rPr>
              <a:t>오면 이 함수를 실행하라"는 등록</a:t>
            </a:r>
          </a:p>
          <a:p>
            <a:pPr algn="l">
              <a:lnSpc>
                <a:spcPct val="120000"/>
              </a:lnSpc>
            </a:pPr>
            <a:r>
              <a:rPr sz="400" b="0">
                <a:solidFill>
                  <a:srgbClr val="6B7684"/>
                </a:solidFill>
                <a:latin typeface="맑은 고딕"/>
                <a:ea typeface="맑은 고딕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150" b="1">
                <a:solidFill>
                  <a:srgbClr val="3182F6"/>
                </a:solidFill>
                <a:latin typeface="맑은 고딕"/>
                <a:ea typeface="맑은 고딕"/>
              </a:rPr>
              <a:t>req</a:t>
            </a:r>
            <a:r>
              <a:rPr sz="1150" b="0">
                <a:solidFill>
                  <a:srgbClr val="191F28"/>
                </a:solidFill>
                <a:latin typeface="맑은 고딕"/>
                <a:ea typeface="맑은 고딕"/>
              </a:rPr>
              <a:t> = 들어온 요청, </a:t>
            </a:r>
            <a:r>
              <a:rPr sz="1150" b="1">
                <a:solidFill>
                  <a:srgbClr val="3182F6"/>
                </a:solidFill>
                <a:latin typeface="맑은 고딕"/>
                <a:ea typeface="맑은 고딕"/>
              </a:rPr>
              <a:t>res</a:t>
            </a:r>
            <a:r>
              <a:rPr sz="1150" b="0">
                <a:solidFill>
                  <a:srgbClr val="191F28"/>
                </a:solidFill>
                <a:latin typeface="맑은 고딕"/>
                <a:ea typeface="맑은 고딕"/>
              </a:rPr>
              <a:t> = 보낼 응답</a:t>
            </a:r>
          </a:p>
          <a:p>
            <a:pPr algn="l">
              <a:lnSpc>
                <a:spcPct val="120000"/>
              </a:lnSpc>
            </a:pPr>
            <a:r>
              <a:rPr sz="1150" b="0">
                <a:solidFill>
                  <a:srgbClr val="191F28"/>
                </a:solidFill>
                <a:latin typeface="맑은 고딕"/>
                <a:ea typeface="맑은 고딕"/>
              </a:rPr>
              <a:t>201 = "새로 만들었다"는 성공 번호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188720"/>
            <a:ext cx="365760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32588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182F6"/>
                </a:solidFill>
                <a:latin typeface="맑은 고딕"/>
                <a:ea typeface="맑은 고딕"/>
              </a:rPr>
              <a:t>DB</a:t>
            </a:r>
            <a:r>
              <a:rPr sz="1000" b="0">
                <a:solidFill>
                  <a:srgbClr val="6B7684"/>
                </a:solidFill>
                <a:latin typeface="맑은 고딕"/>
                <a:ea typeface="맑은 고딕"/>
              </a:rPr>
              <a:t>  server/services/checkinService.js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1828800"/>
            <a:ext cx="329184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sz="900" b="0">
                <a:solidFill>
                  <a:srgbClr val="191F28"/>
                </a:solidFill>
                <a:latin typeface="Consolas"/>
                <a:ea typeface="맑은 고딕"/>
              </a:rPr>
              <a:t>await supabase</a:t>
            </a:r>
          </a:p>
          <a:p>
            <a:pPr>
              <a:lnSpc>
                <a:spcPct val="120000"/>
              </a:lnSpc>
            </a:pPr>
            <a:r>
              <a:rPr sz="900" b="0">
                <a:solidFill>
                  <a:srgbClr val="191F28"/>
                </a:solidFill>
                <a:latin typeface="Consolas"/>
                <a:ea typeface="맑은 고딕"/>
              </a:rPr>
              <a:t>  .from('checkins')</a:t>
            </a:r>
          </a:p>
          <a:p>
            <a:pPr>
              <a:lnSpc>
                <a:spcPct val="120000"/>
              </a:lnSpc>
            </a:pPr>
            <a:r>
              <a:rPr sz="900" b="1">
                <a:solidFill>
                  <a:srgbClr val="3182F6"/>
                </a:solidFill>
                <a:latin typeface="Consolas"/>
                <a:ea typeface="맑은 고딕"/>
              </a:rPr>
              <a:t>  .insert({ raw_text: rawText,</a:t>
            </a:r>
          </a:p>
          <a:p>
            <a:pPr>
              <a:lnSpc>
                <a:spcPct val="120000"/>
              </a:lnSpc>
            </a:pPr>
            <a:r>
              <a:rPr sz="900" b="1">
                <a:solidFill>
                  <a:srgbClr val="3182F6"/>
                </a:solidFill>
                <a:latin typeface="Consolas"/>
                <a:ea typeface="맑은 고딕"/>
              </a:rPr>
              <a:t>            ...summary })</a:t>
            </a:r>
          </a:p>
          <a:p>
            <a:pPr>
              <a:lnSpc>
                <a:spcPct val="120000"/>
              </a:lnSpc>
            </a:pPr>
            <a:r>
              <a:rPr sz="900" b="0">
                <a:solidFill>
                  <a:srgbClr val="191F28"/>
                </a:solidFill>
                <a:latin typeface="Consolas"/>
                <a:ea typeface="맑은 고딕"/>
              </a:rPr>
              <a:t>  .select().single()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03920" y="3520440"/>
            <a:ext cx="3200400" cy="12700"/>
          </a:xfrm>
          <a:prstGeom prst="rect">
            <a:avLst/>
          </a:prstGeom>
          <a:solidFill>
            <a:srgbClr val="E5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3657600"/>
            <a:ext cx="32461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3182F6"/>
                </a:solidFill>
                <a:latin typeface="맑은 고딕"/>
                <a:ea typeface="맑은 고딕"/>
              </a:rPr>
              <a:t>from</a:t>
            </a:r>
            <a:r>
              <a:rPr sz="1150" b="0">
                <a:solidFill>
                  <a:srgbClr val="191F28"/>
                </a:solidFill>
                <a:latin typeface="맑은 고딕"/>
                <a:ea typeface="맑은 고딕"/>
              </a:rPr>
              <a:t> = 테이블 선택,  </a:t>
            </a:r>
            <a:r>
              <a:rPr sz="1150" b="1">
                <a:solidFill>
                  <a:srgbClr val="3182F6"/>
                </a:solidFill>
                <a:latin typeface="맑은 고딕"/>
                <a:ea typeface="맑은 고딕"/>
              </a:rPr>
              <a:t>insert</a:t>
            </a:r>
            <a:r>
              <a:rPr sz="1150" b="0">
                <a:solidFill>
                  <a:srgbClr val="191F28"/>
                </a:solidFill>
                <a:latin typeface="맑은 고딕"/>
                <a:ea typeface="맑은 고딕"/>
              </a:rPr>
              <a:t> = 행 추가</a:t>
            </a:r>
          </a:p>
          <a:p>
            <a:pPr algn="l">
              <a:lnSpc>
                <a:spcPct val="120000"/>
              </a:lnSpc>
            </a:pPr>
            <a:r>
              <a:rPr sz="1150" b="0">
                <a:solidFill>
                  <a:srgbClr val="191F28"/>
                </a:solidFill>
                <a:latin typeface="맑은 고딕"/>
                <a:ea typeface="맑은 고딕"/>
              </a:rPr>
              <a:t>(엑셀 표에 한 줄 쓰는 것과 같음)</a:t>
            </a:r>
          </a:p>
          <a:p>
            <a:pPr algn="l">
              <a:lnSpc>
                <a:spcPct val="120000"/>
              </a:lnSpc>
            </a:pPr>
            <a:r>
              <a:rPr sz="400" b="0">
                <a:solidFill>
                  <a:srgbClr val="6B7684"/>
                </a:solidFill>
                <a:latin typeface="맑은 고딕"/>
                <a:ea typeface="맑은 고딕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150" b="1">
                <a:solidFill>
                  <a:srgbClr val="3182F6"/>
                </a:solidFill>
                <a:latin typeface="맑은 고딕"/>
                <a:ea typeface="맑은 고딕"/>
              </a:rPr>
              <a:t>select().single()</a:t>
            </a:r>
            <a:r>
              <a:rPr sz="1150" b="0">
                <a:solidFill>
                  <a:srgbClr val="191F28"/>
                </a:solidFill>
                <a:latin typeface="맑은 고딕"/>
                <a:ea typeface="맑은 고딕"/>
              </a:rPr>
              <a:t> = 방금 넣은</a:t>
            </a:r>
          </a:p>
          <a:p>
            <a:pPr algn="l">
              <a:lnSpc>
                <a:spcPct val="120000"/>
              </a:lnSpc>
            </a:pPr>
            <a:r>
              <a:rPr sz="1150" b="0">
                <a:solidFill>
                  <a:srgbClr val="191F28"/>
                </a:solidFill>
                <a:latin typeface="맑은 고딕"/>
                <a:ea typeface="맑은 고딕"/>
              </a:rPr>
              <a:t>행 1개를 되돌려받음 (응답에 사용)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943600"/>
            <a:ext cx="109270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605332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3182F6"/>
                </a:solidFill>
                <a:latin typeface="맑은 고딕"/>
                <a:ea typeface="맑은 고딕"/>
              </a:rPr>
              <a:t>원리   </a:t>
            </a:r>
            <a:r>
              <a:rPr sz="1250" b="0">
                <a:solidFill>
                  <a:srgbClr val="191F28"/>
                </a:solidFill>
                <a:latin typeface="맑은 고딕"/>
                <a:ea typeface="맑은 고딕"/>
              </a:rPr>
              <a:t>세 파일이 릴레이로 실행됨. 화면은 요청만, 서버는 확인과 전달만, DB는 저장만 담당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91F28"/>
                </a:solidFill>
                <a:latin typeface="맑은 고딕"/>
                <a:ea typeface="맑은 고딕"/>
              </a:rPr>
              <a:t>이번 주에 만든 API 4개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684"/>
                </a:solidFill>
                <a:latin typeface="맑은 고딕"/>
                <a:ea typeface="맑은 고딕"/>
              </a:rPr>
              <a:t>API = 화면이 서버를 부르는 주소. 주소 하나 + 처리 함수 하나가 한 세트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10927080" cy="50292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 w="12700">
            <a:solidFill>
              <a:srgbClr val="F2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6B7684"/>
                </a:solidFill>
                <a:latin typeface="맑은 고딕"/>
                <a:ea typeface="맑은 고딕"/>
              </a:rPr>
              <a:t>주소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178308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6B7684"/>
                </a:solidFill>
                <a:latin typeface="맑은 고딕"/>
                <a:ea typeface="맑은 고딕"/>
              </a:rPr>
              <a:t>하는 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7830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6B7684"/>
                </a:solidFill>
                <a:latin typeface="맑은 고딕"/>
                <a:ea typeface="맑은 고딕"/>
              </a:rPr>
              <a:t>언제 실행되나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31720"/>
            <a:ext cx="109270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32888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3182F6"/>
                </a:solidFill>
                <a:latin typeface="Consolas"/>
                <a:ea typeface="맑은 고딕"/>
              </a:rPr>
              <a:t>GET  /api/checkins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532888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91F28"/>
                </a:solidFill>
                <a:latin typeface="맑은 고딕"/>
                <a:ea typeface="맑은 고딕"/>
              </a:rPr>
              <a:t>저장된 기록 전부 조회 (최신순)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532888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B7684"/>
                </a:solidFill>
                <a:latin typeface="맑은 고딕"/>
                <a:ea typeface="맑은 고딕"/>
              </a:rPr>
              <a:t>화면이 처음 열릴 때, 새로고침 버튼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246120"/>
            <a:ext cx="109270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447288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3182F6"/>
                </a:solidFill>
                <a:latin typeface="Consolas"/>
                <a:ea typeface="맑은 고딕"/>
              </a:rPr>
              <a:t>POST /api/checkins/preview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3447288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91F28"/>
                </a:solidFill>
                <a:latin typeface="맑은 고딕"/>
                <a:ea typeface="맑은 고딕"/>
              </a:rPr>
              <a:t>AI 정리만 하고 저장은 안 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3447288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B7684"/>
                </a:solidFill>
                <a:latin typeface="맑은 고딕"/>
                <a:ea typeface="맑은 고딕"/>
              </a:rPr>
              <a:t>'정리하기' 버튼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160520"/>
            <a:ext cx="109270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361688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3182F6"/>
                </a:solidFill>
                <a:latin typeface="Consolas"/>
                <a:ea typeface="맑은 고딕"/>
              </a:rPr>
              <a:t>POST /api/checkins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4361688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91F28"/>
                </a:solidFill>
                <a:latin typeface="맑은 고딕"/>
                <a:ea typeface="맑은 고딕"/>
              </a:rPr>
              <a:t>기록을 DB에 저장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4361688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B7684"/>
                </a:solidFill>
                <a:latin typeface="맑은 고딕"/>
                <a:ea typeface="맑은 고딕"/>
              </a:rPr>
              <a:t>'저장' 버튼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074920"/>
            <a:ext cx="109270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276088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3182F6"/>
                </a:solidFill>
                <a:latin typeface="Consolas"/>
                <a:ea typeface="맑은 고딕"/>
              </a:rPr>
              <a:t>GET  /api/health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5276088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91F28"/>
                </a:solidFill>
                <a:latin typeface="맑은 고딕"/>
                <a:ea typeface="맑은 고딕"/>
              </a:rPr>
              <a:t>서버가 켜져 있는지 확인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5276088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B7684"/>
                </a:solidFill>
                <a:latin typeface="맑은 고딕"/>
                <a:ea typeface="맑은 고딕"/>
              </a:rPr>
              <a:t>개발·점검용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6035040"/>
            <a:ext cx="109270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614476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3182F6"/>
                </a:solidFill>
                <a:latin typeface="맑은 고딕"/>
                <a:ea typeface="맑은 고딕"/>
              </a:rPr>
              <a:t>원리   </a:t>
            </a:r>
            <a:r>
              <a:rPr sz="1250" b="0">
                <a:solidFill>
                  <a:srgbClr val="191F28"/>
                </a:solidFill>
                <a:latin typeface="맑은 고딕"/>
                <a:ea typeface="맑은 고딕"/>
              </a:rPr>
              <a:t>같은 주소여도 방식이 다르면 다른 API. </a:t>
            </a:r>
            <a:r>
              <a:rPr sz="1250" b="1">
                <a:solidFill>
                  <a:srgbClr val="3182F6"/>
                </a:solidFill>
                <a:latin typeface="맑은 고딕"/>
                <a:ea typeface="맑은 고딕"/>
              </a:rPr>
              <a:t>GET = 달라(조회), POST = 받아줘(생성)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91F28"/>
                </a:solidFill>
                <a:latin typeface="맑은 고딕"/>
                <a:ea typeface="맑은 고딕"/>
              </a:rPr>
              <a:t>데모 ① 입력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420624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91F28"/>
                </a:solidFill>
                <a:latin typeface="맑은 고딕"/>
                <a:ea typeface="맑은 고딕"/>
              </a:rPr>
              <a:t>오늘 하루를 한두 문장으로 입력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6B7684"/>
                </a:solidFill>
                <a:latin typeface="맑은 고딕"/>
                <a:ea typeface="맑은 고딕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  <a:ea typeface="맑은 고딕"/>
              </a:rPr>
              <a:t>· '정리하기' 버튼 → 서버에 요청 전송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  <a:ea typeface="맑은 고딕"/>
              </a:rPr>
              <a:t>  주소: </a:t>
            </a:r>
            <a:r>
              <a:rPr sz="1200" b="1">
                <a:solidFill>
                  <a:srgbClr val="3182F6"/>
                </a:solidFill>
                <a:latin typeface="맑은 고딕"/>
                <a:ea typeface="맑은 고딕"/>
              </a:rPr>
              <a:t>POST /api/checkins/preview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6B7684"/>
                </a:solidFill>
                <a:latin typeface="맑은 고딕"/>
                <a:ea typeface="맑은 고딕"/>
              </a:rPr>
              <a:t>  (저장 없이 정리만 하는 요청)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6B7684"/>
                </a:solidFill>
                <a:latin typeface="맑은 고딕"/>
                <a:ea typeface="맑은 고딕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  <a:ea typeface="맑은 고딕"/>
              </a:rPr>
              <a:t>· 빈 입력 처리는 두 겹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6B7684"/>
                </a:solidFill>
                <a:latin typeface="맑은 고딕"/>
                <a:ea typeface="맑은 고딕"/>
              </a:rPr>
              <a:t>  화면: 버튼 비활성화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6B7684"/>
                </a:solidFill>
                <a:latin typeface="맑은 고딕"/>
                <a:ea typeface="맑은 고딕"/>
              </a:rPr>
              <a:t>  서버: 400 에러로 거절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6B7684"/>
                </a:solidFill>
                <a:latin typeface="맑은 고딕"/>
                <a:ea typeface="맑은 고딕"/>
              </a:rPr>
              <a:t>  (화면 검사는 우회 가능해서 서버가 최종 검사)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65776" y="1179576"/>
            <a:ext cx="6830568" cy="431025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-in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234440"/>
            <a:ext cx="6720840" cy="420052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5897880"/>
            <a:ext cx="109270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600760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3182F6"/>
                </a:solidFill>
                <a:latin typeface="맑은 고딕"/>
                <a:ea typeface="맑은 고딕"/>
              </a:rPr>
              <a:t>원리   </a:t>
            </a:r>
            <a:r>
              <a:rPr sz="1250" b="0">
                <a:solidFill>
                  <a:srgbClr val="191F28"/>
                </a:solidFill>
                <a:latin typeface="맑은 고딕"/>
                <a:ea typeface="맑은 고딕"/>
              </a:rPr>
              <a:t>입력값 검증은 항상 서버가 마지막에 한 번 더. 화면 쪽 검사는 편의용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91F28"/>
                </a:solidFill>
                <a:latin typeface="맑은 고딕"/>
                <a:ea typeface="맑은 고딕"/>
              </a:rPr>
              <a:t>데모 ② AI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420624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91F28"/>
                </a:solidFill>
                <a:latin typeface="맑은 고딕"/>
                <a:ea typeface="맑은 고딕"/>
              </a:rPr>
              <a:t>감정 · 원인 · 행동 세 개로만 정리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6B7684"/>
                </a:solidFill>
                <a:latin typeface="맑은 고딕"/>
                <a:ea typeface="맑은 고딕"/>
              </a:rPr>
              <a:t>(조언 · 위로 없음, 카드는 저장 전 수정 가능)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6B7684"/>
                </a:solidFill>
                <a:latin typeface="맑은 고딕"/>
                <a:ea typeface="맑은 고딕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  <a:ea typeface="맑은 고딕"/>
              </a:rPr>
              <a:t>· 서버가 AI에 요청: "이 글을 감정·원인·행동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  <a:ea typeface="맑은 고딕"/>
              </a:rPr>
              <a:t>  세 필드 JSON으로만 정리해라"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  <a:ea typeface="맑은 고딕"/>
              </a:rPr>
              <a:t>· 응답 형식을 검사, 틀리면 1회 재시도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  <a:ea typeface="맑은 고딕"/>
              </a:rPr>
              <a:t>· 그래도 실패하면 임시(mock) 결과로 대체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3182F6"/>
                </a:solidFill>
                <a:latin typeface="맑은 고딕"/>
                <a:ea typeface="맑은 고딕"/>
              </a:rPr>
              <a:t>  → 오른쪽 위 배지로 구분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6B7684"/>
                </a:solidFill>
                <a:latin typeface="맑은 고딕"/>
                <a:ea typeface="맑은 고딕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  <a:ea typeface="맑은 고딕"/>
              </a:rPr>
              <a:t>· Vertex AI(Gemini) 선택 이유: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  <a:ea typeface="맑은 고딕"/>
              </a:rPr>
              <a:t>  GCP 가입 때 생긴 3개월 크레딧 활용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65776" y="1179576"/>
            <a:ext cx="6830568" cy="431025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2-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234440"/>
            <a:ext cx="6720840" cy="420052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5897880"/>
            <a:ext cx="109270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600760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3182F6"/>
                </a:solidFill>
                <a:latin typeface="맑은 고딕"/>
                <a:ea typeface="맑은 고딕"/>
              </a:rPr>
              <a:t>원리   </a:t>
            </a:r>
            <a:r>
              <a:rPr sz="1250" b="0">
                <a:solidFill>
                  <a:srgbClr val="191F28"/>
                </a:solidFill>
                <a:latin typeface="맑은 고딕"/>
                <a:ea typeface="맑은 고딕"/>
              </a:rPr>
              <a:t>AI 응답은 믿지 않고 항상 검사. 실패 대비 예비 동작(mock)을 두면 시연이 안 멈춤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91F28"/>
                </a:solidFill>
                <a:latin typeface="맑은 고딕"/>
                <a:ea typeface="맑은 고딕"/>
              </a:rPr>
              <a:t>데모 ③ 저장 · 조회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420624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91F28"/>
                </a:solidFill>
                <a:latin typeface="맑은 고딕"/>
                <a:ea typeface="맑은 고딕"/>
              </a:rPr>
              <a:t>'저장' 버튼 → Supabase에 기록 저장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6B7684"/>
                </a:solidFill>
                <a:latin typeface="맑은 고딕"/>
                <a:ea typeface="맑은 고딕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  <a:ea typeface="맑은 고딕"/>
              </a:rPr>
              <a:t>· 저장된 기록은 목록 맨 위에 바로 표시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6B7684"/>
                </a:solidFill>
                <a:latin typeface="맑은 고딕"/>
                <a:ea typeface="맑은 고딕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  <a:ea typeface="맑은 고딕"/>
              </a:rPr>
              <a:t>· 새로고침해도 유지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6B7684"/>
                </a:solidFill>
                <a:latin typeface="맑은 고딕"/>
                <a:ea typeface="맑은 고딕"/>
              </a:rPr>
              <a:t>  (화면 임시 데이터가 아니라 DB에 있음)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6B7684"/>
                </a:solidFill>
                <a:latin typeface="맑은 고딕"/>
                <a:ea typeface="맑은 고딕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  <a:ea typeface="맑은 고딕"/>
              </a:rPr>
              <a:t>· 목록에서 카드 클릭 → 그날 기록 상세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6B7684"/>
                </a:solidFill>
                <a:latin typeface="맑은 고딕"/>
                <a:ea typeface="맑은 고딕"/>
              </a:rPr>
              <a:t>  (오른쪽 화면)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65776" y="1179576"/>
            <a:ext cx="6830568" cy="431025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4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234440"/>
            <a:ext cx="6720840" cy="420052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5897880"/>
            <a:ext cx="109270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600760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3182F6"/>
                </a:solidFill>
                <a:latin typeface="맑은 고딕"/>
                <a:ea typeface="맑은 고딕"/>
              </a:rPr>
              <a:t>원리   </a:t>
            </a:r>
            <a:r>
              <a:rPr sz="1250" b="0">
                <a:solidFill>
                  <a:srgbClr val="191F28"/>
                </a:solidFill>
                <a:latin typeface="맑은 고딕"/>
                <a:ea typeface="맑은 고딕"/>
              </a:rPr>
              <a:t>저장 = 표에 행 추가(INSERT), 조회 = 행 읽기(SELECT), 최신순 = 날짜 기준 정렬(ORDER BY)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91F28"/>
                </a:solidFill>
                <a:latin typeface="맑은 고딕"/>
                <a:ea typeface="맑은 고딕"/>
              </a:rPr>
              <a:t>다음 계획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530352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475488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>
                <a:solidFill>
                  <a:srgbClr val="191F28"/>
                </a:solidFill>
                <a:latin typeface="맑은 고딕"/>
                <a:ea typeface="맑은 고딕"/>
              </a:rPr>
              <a:t>DB 확장 설계</a:t>
            </a:r>
          </a:p>
          <a:p>
            <a:pPr algn="l">
              <a:lnSpc>
                <a:spcPct val="135000"/>
              </a:lnSpc>
            </a:pPr>
            <a:r>
              <a:rPr sz="800" b="0">
                <a:solidFill>
                  <a:srgbClr val="6B7684"/>
                </a:solidFill>
                <a:latin typeface="맑은 고딕"/>
                <a:ea typeface="맑은 고딕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  <a:ea typeface="맑은 고딕"/>
              </a:rPr>
              <a:t>· 지금은 checkins 테이블 1개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  <a:ea typeface="맑은 고딕"/>
              </a:rPr>
              <a:t>· 다음 기능용 테이블 2개 설계해 둠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191F28"/>
                </a:solidFill>
                <a:latin typeface="맑은 고딕"/>
                <a:ea typeface="맑은 고딕"/>
              </a:rPr>
              <a:t>   · profiles</a:t>
            </a:r>
            <a:r>
              <a:rPr sz="1250" b="0">
                <a:solidFill>
                  <a:srgbClr val="6B7684"/>
                </a:solidFill>
                <a:latin typeface="맑은 고딕"/>
                <a:ea typeface="맑은 고딕"/>
              </a:rPr>
              <a:t>   로그인 사용자 정보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191F28"/>
                </a:solidFill>
                <a:latin typeface="맑은 고딕"/>
                <a:ea typeface="맑은 고딕"/>
              </a:rPr>
              <a:t>   · prep_sheets</a:t>
            </a:r>
            <a:r>
              <a:rPr sz="1250" b="0">
                <a:solidFill>
                  <a:srgbClr val="6B7684"/>
                </a:solidFill>
                <a:latin typeface="맑은 고딕"/>
                <a:ea typeface="맑은 고딕"/>
              </a:rPr>
              <a:t>   상담용 기록 요약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  <a:ea typeface="맑은 고딕"/>
              </a:rPr>
              <a:t>· 세부 결정 후 생성 예정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234440"/>
            <a:ext cx="5303520" cy="393192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 w="12700">
            <a:solidFill>
              <a:srgbClr val="F2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417320"/>
            <a:ext cx="475488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>
                <a:solidFill>
                  <a:srgbClr val="191F28"/>
                </a:solidFill>
                <a:latin typeface="맑은 고딕"/>
                <a:ea typeface="맑은 고딕"/>
              </a:rPr>
              <a:t>3주차 후보</a:t>
            </a:r>
          </a:p>
          <a:p>
            <a:pPr algn="l">
              <a:lnSpc>
                <a:spcPct val="135000"/>
              </a:lnSpc>
            </a:pPr>
            <a:r>
              <a:rPr sz="800" b="0">
                <a:solidFill>
                  <a:srgbClr val="6B7684"/>
                </a:solidFill>
                <a:latin typeface="맑은 고딕"/>
                <a:ea typeface="맑은 고딕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  <a:ea typeface="맑은 고딕"/>
              </a:rPr>
              <a:t>· 감정 태그 선택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  <a:ea typeface="맑은 고딕"/>
              </a:rPr>
              <a:t>· 기록 삭제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  <a:ea typeface="맑은 고딕"/>
              </a:rPr>
              <a:t>· 주간 모아보기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191F28"/>
                </a:solidFill>
                <a:latin typeface="맑은 고딕"/>
                <a:ea typeface="맑은 고딕"/>
              </a:rPr>
              <a:t>· 로그인 + 내 기록 분리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486400"/>
            <a:ext cx="109270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59612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3182F6"/>
                </a:solidFill>
                <a:latin typeface="맑은 고딕"/>
                <a:ea typeface="맑은 고딕"/>
              </a:rPr>
              <a:t>원리   </a:t>
            </a:r>
            <a:r>
              <a:rPr sz="1250" b="0">
                <a:solidFill>
                  <a:srgbClr val="191F28"/>
                </a:solidFill>
                <a:latin typeface="맑은 고딕"/>
                <a:ea typeface="맑은 고딕"/>
              </a:rPr>
              <a:t>성격이 다른 데이터는 표를 나눔. 사용자 정보와 감정 기록을 한 표에 섞으면 중복이 생김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885</Words>
  <Application>Microsoft Office PowerPoint</Application>
  <PresentationFormat>와이드스크린</PresentationFormat>
  <Paragraphs>139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승혁 유</cp:lastModifiedBy>
  <cp:revision>3</cp:revision>
  <dcterms:created xsi:type="dcterms:W3CDTF">2013-01-27T09:14:16Z</dcterms:created>
  <dcterms:modified xsi:type="dcterms:W3CDTF">2026-07-16T09:03:01Z</dcterms:modified>
  <cp:category/>
</cp:coreProperties>
</file>