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1744" autoAdjust="0"/>
  </p:normalViewPr>
  <p:slideViewPr>
    <p:cSldViewPr snapToGrid="0" snapToObjects="1">
      <p:cViewPr varScale="1">
        <p:scale>
          <a:sx n="81" d="100"/>
          <a:sy n="81" d="100"/>
        </p:scale>
        <p:origin x="168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50" d="100"/>
          <a:sy n="50" d="100"/>
        </p:scale>
        <p:origin x="3189" y="3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40211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안녕하세요, WeatherPilot 만들고 있는 양서형입니다. WeatherPilot은 날씨 데이터로 소상공인 매출을 지키는 자율 마케팅 에이전트입니다. 비 오는 날, 폭염인 날 매출이 빠지는 걸 에이전트가 미리 감지해서 마케팅 문자를 준비해 두고, 사장님은 검토·승인만 하는 서비스예요. 오늘은 프로젝트를 처음 보시는 분도 이해하실 수 있게 소개하고, 3주간 작업 과정을 설명한 뒤, 배포된 앱으로 시연하겠습니다.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실제 상권 데이터를 보면 비 오는 날 매출이 평균 18%, 폭염 낮 시간대엔 20%까지 빠집니다. 날씨는 예보로 미리 알 수 있는데도 매출은 그냥 빠져요. 사장님 입장에선 대응이 전부 수작업이기 때문입니다. 오늘 날씨 확인하고, 문구 고민하고, 발송까지 — 장사하면서 매일 하기는 어렵죠. 이들이 원하는 건 더 좋은 툴이 아니라 마케팅을 신경 쓰지 않아도 되는 상태입니다.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동작은 다섯 단계입니다. 날씨와 매출을 분석하고, 문구·쿠폰 초안을 만들고, 사장님이 검토·승인하면, 발송하고, 쿠폰 사용을 추적합니다. 여기서 핵심은 세 번째, 사람이 게이트라는 거예요. 에이전트가 다 준비하지만 발송 버튼은 사장님이 누릅니다.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스코프는 정직하게 표기했습니다. 날씨는 기상청과 OpenWeatherMap 실연동, LLM은 Groq, 문자는 Solapi로 제 번호에 실제 발송, DB·스케줄러도 실구축, 인스타그램은 본인 계정 게시까지 붙였습니다. POS 연동은 수동 입력과 CSV로 대체했고, 카카오 알림톡·080 실회선·타인 계정 SNS 게시는 모의로 뒀습니다. '뭐가 진짜냐'를 항상 이 표로 먼저 말씀드리고 시작합니다.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어떻게 만들었는지 3주로 요약하면 — 1주차엔 날씨 앙상블과 DB를 세웠습니다. 기상청과 OpenWeatherMap 두 소스를 가중 병합하고 한쪽이 죽으면 폴백하게 했고, 매출 30일치로 이 가게의 날씨별 진단을 계산했습니다. 2주차엔 에이전트 코어 — LLM이 제안을 만들고, 스키마 검증과 가드레일로 안전하게 거른 뒤, 매일 아침 6시 반 크론이 자동 생성합니다. 3주차엔 프론트를 실연동하고, (광고) 문자를 실제로 보내고, 쿠폰 추적을 붙이고, Vercel과 Render로 배포했습니다.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설계 원칙 세 가지를 지켰습니다. 첫째, API 키는 전부 서버에만 있고 프론트엔 시크릿이 하나도 없습니다. 둘째, 광고 문자 관련 법적 필터는 서버가 강제해서 UI를 우회해도 법은 못 우회합니다. 셋째, 에이전트 파이프라인은 순수 함수라 크론이 돌리든 API가 부르든 테스트가 부르든 같은 코드가 돕니다. 이 세 가지가 이 프로젝트에서 제일 신경 쓴 부분입니다.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 기술은 다섯 개입니다. 날씨 앙상블은 두 소스를 가중 병합하고 장애 시 폴백합니다. 실매출 진단은 이 가게 데이터로 비 오는 날 몇 퍼센트 빠지는지 실제로 계산합니다. LLM은 Groq가 생성하되 할인율 상한·금칙어·창작 상호를 서버 가드레일이 다시 검사합니다. 쿠폰 실측은 쿠폰 코드로 이 캠페인이 만든 매출을 직접 추적합니다. 실시간처럼 보이지만 실제로는 누적 집계라고 정직하게 표기합니다.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이제 배포된 앱으로 시연하겠습니다. 첫째, 우리 앱 날씨와 네이버 날씨를 나란히 놓고 여러 실제 API를 합친 값임을 보여드립니다. 둘째, 대시보드에 뜬 오늘 제안 — 저장된 mock이 아니라 방금 날씨와 매출을 보고 Groq가 생성한 문구입니다. 셋째, '이대로 발송'을 누르면 서버가 동의자만 걸러 (광고) 표기 문자를 제 폰으로 실제 보냅니다. 넷째, 쿠폰을 사용 처리하면 추적 카드에 사용 인원과 귀속 매출이 반영됩니다. (야간이면 발송이 예약으로 전환되니, 미리 받아둔 문자를 보여줍니다.)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3주 뒤 결과입니다. 프론트는 Vercel, 백엔드는 Render에 배포했고, 서버 테스트 126개가 통과합니다. 날씨·LLM·문자 세 가지 실연동을 배포 환경에서 검증했습니다. 제안 조회부터 승인, (광고) 문자 발송, 쿠폰 사용, 추적까지 전 플로우가 배포 URL에서 실제로 돌고, 매일 아침 크론도 상시 실행됩니다.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솔직히 코드 대부분은 AI가 썼습니다. 그래서 이 3주는 정신력 이야기가 아니라 관찰 보고입니다. AI는 문법·프레임워크·API·배포 같은 '코드를 쓰는 능력'의 격차를 체감되지 않을 만큼 좁혀 줬습니다. 반면 무엇을 안 만들지 정하고, 완료 기준을 먼저 쓰고, 결과를 의심해 검증을 시스템으로 만드는 일은 사람 몫이었습니다. AI가 빨라질수록 병목은 검증하는 사람이었습니다.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여기까지가 3주 동안 만든 WeatherPilot입니다. 배포 URL에서 직접 만져보실 수 있고, 질문 환영합니다. 감사합니다.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3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1E2F4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10607040" y="4297680"/>
            <a:ext cx="3108960" cy="3108960"/>
          </a:xfrm>
          <a:prstGeom prst="ellipse">
            <a:avLst/>
          </a:prstGeom>
          <a:solidFill>
            <a:srgbClr val="1A2A4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822960" y="1234440"/>
            <a:ext cx="868680" cy="868680"/>
          </a:xfrm>
          <a:prstGeom prst="ellipse">
            <a:avLst/>
          </a:prstGeom>
          <a:solidFill>
            <a:srgbClr val="4A90E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22960" y="12344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⛅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874520" y="11887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WeatherPilot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868680" y="251460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CEA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날씨 데이터로 소상공인의 매출을 지키는 자율 마케팅 에이전트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68680" y="3429000"/>
            <a:ext cx="10424160" cy="1051560"/>
          </a:xfrm>
          <a:prstGeom prst="roundRect">
            <a:avLst>
              <a:gd name="adj" fmla="val 10435"/>
            </a:avLst>
          </a:prstGeom>
          <a:solidFill>
            <a:srgbClr val="1E2F4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143000" y="35661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7D6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 오는 날, 폭염인 날 매출이 빠지는 걸 에이전트가 미리 감지해</a:t>
            </a: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7D6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마케팅 문자를 준비해 두고 — 사장님은 검토하고 승인만 합니다.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68680" y="5074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2A8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3주차 발표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5486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C86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발표자 양서형  ·  weatherpilot-web.vercel.app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A90E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PROBLEM · 왜 만들었나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534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날씨가 바뀌면 매출이 빠진다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200400" cy="2286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8FB4E0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22960" y="20574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34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 오는 날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27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−18%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822960" y="35204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C86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동네 카페·식당 평균 매출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023360" y="1828800"/>
            <a:ext cx="3200400" cy="2286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8FB4E0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206240" y="20574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34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폭염 낮 시간대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206240" y="246888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27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−20%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4206240" y="35204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C86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낮 방문 급감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406640" y="1828800"/>
            <a:ext cx="4114800" cy="2286000"/>
          </a:xfrm>
          <a:prstGeom prst="roundRect">
            <a:avLst>
              <a:gd name="adj" fmla="val 4800"/>
            </a:avLst>
          </a:prstGeom>
          <a:solidFill>
            <a:srgbClr val="25344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7680960" y="210312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날씨는 예보로 미리 아는데도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680960" y="248716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2A8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매출은 그냥 빠집니다.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680960" y="2971800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DCEA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대응이 전부 수작업이라서예요.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AEC2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날씨 확인 → 문구 고민 → 발송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AEC2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장사하며 매일 하기는 어렵다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343400"/>
            <a:ext cx="10881360" cy="1280160"/>
          </a:xfrm>
          <a:prstGeom prst="roundRect">
            <a:avLst>
              <a:gd name="adj" fmla="val 8571"/>
            </a:avLst>
          </a:prstGeom>
          <a:solidFill>
            <a:srgbClr val="EAF2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914400" y="4709160"/>
            <a:ext cx="566928" cy="566928"/>
          </a:xfrm>
          <a:prstGeom prst="ellipse">
            <a:avLst/>
          </a:prstGeom>
          <a:solidFill>
            <a:srgbClr val="4A90E2"/>
          </a:solidFill>
          <a:ln/>
        </p:spPr>
        <p:txBody>
          <a:bodyPr/>
          <a:lstStyle/>
          <a:p>
            <a:endParaRPr lang="ko-KR" altLang="en-US" sz="4000"/>
          </a:p>
        </p:txBody>
      </p:sp>
      <p:sp>
        <p:nvSpPr>
          <p:cNvPr id="18" name="Text 16"/>
          <p:cNvSpPr/>
          <p:nvPr/>
        </p:nvSpPr>
        <p:spPr>
          <a:xfrm>
            <a:off x="914400" y="4709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💡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691640" y="452628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34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사장님이 원하는 건 더 좋은 마케팅 툴이 아니라 “마케팅을 안 해도 되는 상태” — 의사결정 대행입니다.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0080" y="6419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4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WeatherPilot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4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A90E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SOLUTION · 무엇을 만들었나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534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에이전트가 준비하고, 사장님은 승인만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9839" y="1919149"/>
            <a:ext cx="2084832" cy="1965960"/>
          </a:xfrm>
          <a:prstGeom prst="roundRect">
            <a:avLst>
              <a:gd name="adj" fmla="val 6047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8FB4E0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116223" y="2175181"/>
            <a:ext cx="512064" cy="512064"/>
          </a:xfrm>
          <a:prstGeom prst="ellipse">
            <a:avLst/>
          </a:prstGeom>
          <a:solidFill>
            <a:srgbClr val="DCEA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116223" y="2175181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B7D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29839" y="2760397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🌦️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21279" y="3217597"/>
            <a:ext cx="19019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534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날씨·매출</a:t>
            </a:r>
            <a:endParaRPr lang="en-US" sz="14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534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396383" y="2422069"/>
            <a:ext cx="3017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AA4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679847" y="1919149"/>
            <a:ext cx="2084832" cy="1965960"/>
          </a:xfrm>
          <a:prstGeom prst="roundRect">
            <a:avLst>
              <a:gd name="adj" fmla="val 6047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8FB4E0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3466231" y="2175181"/>
            <a:ext cx="512064" cy="512064"/>
          </a:xfrm>
          <a:prstGeom prst="ellipse">
            <a:avLst/>
          </a:prstGeom>
          <a:solidFill>
            <a:srgbClr val="DCEA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3466231" y="2175181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B7D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679847" y="2760397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🤖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771287" y="3217597"/>
            <a:ext cx="19019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534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문구·쿠폰</a:t>
            </a:r>
            <a:endParaRPr lang="en-US" sz="14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534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초안 생성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46391" y="2422069"/>
            <a:ext cx="3017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AA4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029855" y="1919149"/>
            <a:ext cx="2084832" cy="1965960"/>
          </a:xfrm>
          <a:prstGeom prst="roundRect">
            <a:avLst>
              <a:gd name="adj" fmla="val 6047"/>
            </a:avLst>
          </a:prstGeom>
          <a:solidFill>
            <a:srgbClr val="4A90E2"/>
          </a:solidFill>
          <a:ln/>
          <a:effectLst>
            <a:outerShdw blurRad="127000" dist="38100" dir="5400000" algn="bl" rotWithShape="0">
              <a:srgbClr val="8FB4E0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5816239" y="2175181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816239" y="2175181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A90E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029855" y="2760397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121295" y="3217597"/>
            <a:ext cx="19019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검토·승인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096399" y="2422069"/>
            <a:ext cx="3017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AA4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7379863" y="1919149"/>
            <a:ext cx="2084832" cy="1965960"/>
          </a:xfrm>
          <a:prstGeom prst="roundRect">
            <a:avLst>
              <a:gd name="adj" fmla="val 6047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8FB4E0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8166247" y="2175181"/>
            <a:ext cx="512064" cy="512064"/>
          </a:xfrm>
          <a:prstGeom prst="ellipse">
            <a:avLst/>
          </a:prstGeom>
          <a:solidFill>
            <a:srgbClr val="DCEA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8166247" y="2175181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B7D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379863" y="2760397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📨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471303" y="3217597"/>
            <a:ext cx="19019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534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발송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446407" y="2422069"/>
            <a:ext cx="3017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AA4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9729871" y="1919149"/>
            <a:ext cx="2084832" cy="1965960"/>
          </a:xfrm>
          <a:prstGeom prst="roundRect">
            <a:avLst>
              <a:gd name="adj" fmla="val 6047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8FB4E0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10516255" y="2175181"/>
            <a:ext cx="512064" cy="512064"/>
          </a:xfrm>
          <a:prstGeom prst="ellipse">
            <a:avLst/>
          </a:prstGeom>
          <a:solidFill>
            <a:srgbClr val="DCEA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10516255" y="2175181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B7D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729871" y="2760397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🎟️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9821311" y="3217597"/>
            <a:ext cx="19019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534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쿠폰 사용</a:t>
            </a:r>
            <a:endParaRPr lang="en-US" sz="14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534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추적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40080" y="4389120"/>
            <a:ext cx="10881360" cy="1234440"/>
          </a:xfrm>
          <a:prstGeom prst="roundRect">
            <a:avLst>
              <a:gd name="adj" fmla="val 8889"/>
            </a:avLst>
          </a:prstGeom>
          <a:solidFill>
            <a:srgbClr val="25344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914400" y="4718304"/>
            <a:ext cx="566928" cy="566928"/>
          </a:xfrm>
          <a:prstGeom prst="ellipse">
            <a:avLst/>
          </a:prstGeom>
          <a:solidFill>
            <a:srgbClr val="2FB37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914400" y="47183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🖐️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1691640" y="4526280"/>
            <a:ext cx="9601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핵심은 세 번째 — 사람이 게이트입니다.  </a:t>
            </a:r>
            <a:r>
              <a:rPr lang="en-US" sz="1500" dirty="0">
                <a:solidFill>
                  <a:srgbClr val="C7D6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에이전트가 다 준비하지만, 발송 버튼은 사장님이 누릅니다.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640080" y="6419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4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WeatherPilot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4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A90E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SCOPE · 정직한 표기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534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무엇이 진짜인가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520440" cy="3383280"/>
          </a:xfrm>
          <a:prstGeom prst="roundRect">
            <a:avLst>
              <a:gd name="adj" fmla="val 3514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8FB4E0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896112" y="2148840"/>
            <a:ext cx="1371600" cy="402336"/>
          </a:xfrm>
          <a:prstGeom prst="roundRect">
            <a:avLst>
              <a:gd name="adj" fmla="val 50000"/>
            </a:avLst>
          </a:prstGeom>
          <a:solidFill>
            <a:srgbClr val="E8F7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96112" y="214884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9A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실연동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788920"/>
            <a:ext cx="3017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534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날씨 — 기상청 + OpenWeatherMap</a:t>
            </a:r>
            <a:endParaRPr lang="en-US" sz="1350" dirty="0"/>
          </a:p>
          <a:p>
            <a:pPr marL="152400" indent="-1524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534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제안 — Groq</a:t>
            </a:r>
            <a:endParaRPr lang="en-US" sz="1350" dirty="0"/>
          </a:p>
          <a:p>
            <a:pPr marL="152400" indent="-1524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534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문자 — Solapi (본인 번호)</a:t>
            </a:r>
            <a:endParaRPr lang="en-US" sz="1350" dirty="0"/>
          </a:p>
          <a:p>
            <a:pPr marL="152400" indent="-1524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534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· 스케줄러</a:t>
            </a:r>
            <a:endParaRPr lang="en-US" sz="1350" dirty="0"/>
          </a:p>
          <a:p>
            <a:pPr marL="152400" indent="-1524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534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Instagram — 본인 계정 게시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416552" y="1874520"/>
            <a:ext cx="3520440" cy="3383280"/>
          </a:xfrm>
          <a:prstGeom prst="roundRect">
            <a:avLst>
              <a:gd name="adj" fmla="val 3514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8FB4E0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672584" y="2148840"/>
            <a:ext cx="1371600" cy="402336"/>
          </a:xfrm>
          <a:prstGeom prst="roundRect">
            <a:avLst>
              <a:gd name="adj" fmla="val 50000"/>
            </a:avLst>
          </a:prstGeom>
          <a:solidFill>
            <a:srgbClr val="EAF2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672584" y="214884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B7D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대체 구현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90872" y="2788920"/>
            <a:ext cx="3017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534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 연동 →</a:t>
            </a:r>
            <a:endParaRPr lang="en-US" sz="1350" dirty="0"/>
          </a:p>
          <a:p>
            <a:pPr marL="0" indent="0">
              <a:lnSpc>
                <a:spcPct val="115000"/>
              </a:lnSpc>
              <a:spcAft>
                <a:spcPts val="700"/>
              </a:spcAft>
              <a:buNone/>
            </a:pPr>
            <a:r>
              <a:rPr lang="en-US" sz="1350" dirty="0">
                <a:solidFill>
                  <a:srgbClr val="7C86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수동 일매출 입력</a:t>
            </a:r>
            <a:endParaRPr lang="en-US" sz="1350" dirty="0"/>
          </a:p>
          <a:p>
            <a:pPr marL="0" indent="0">
              <a:lnSpc>
                <a:spcPct val="115000"/>
              </a:lnSpc>
              <a:spcAft>
                <a:spcPts val="700"/>
              </a:spcAft>
              <a:buNone/>
            </a:pPr>
            <a:r>
              <a:rPr lang="en-US" sz="1350" dirty="0">
                <a:solidFill>
                  <a:srgbClr val="7C86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+ CSV 업로드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193024" y="1874520"/>
            <a:ext cx="3520440" cy="3383280"/>
          </a:xfrm>
          <a:prstGeom prst="roundRect">
            <a:avLst>
              <a:gd name="adj" fmla="val 3514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8FB4E0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8449056" y="2148840"/>
            <a:ext cx="1371600" cy="402336"/>
          </a:xfrm>
          <a:prstGeom prst="roundRect">
            <a:avLst>
              <a:gd name="adj" fmla="val 50000"/>
            </a:avLst>
          </a:prstGeom>
          <a:solidFill>
            <a:srgbClr val="F4F7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8449056" y="214884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86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모의 유지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467344" y="2788920"/>
            <a:ext cx="3017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534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카카오 알림톡</a:t>
            </a:r>
            <a:endParaRPr lang="en-US" sz="1350" dirty="0"/>
          </a:p>
          <a:p>
            <a:pPr marL="152400" indent="-1524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534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080 수신거부 실회선</a:t>
            </a:r>
            <a:endParaRPr lang="en-US" sz="1350" dirty="0"/>
          </a:p>
          <a:p>
            <a:pPr marL="152400" indent="-1524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534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타인 계정 SNS 게시</a:t>
            </a:r>
            <a:endParaRPr lang="en-US" sz="1350" dirty="0"/>
          </a:p>
          <a:p>
            <a:pPr marL="0" indent="0">
              <a:lnSpc>
                <a:spcPct val="115000"/>
              </a:lnSpc>
              <a:spcAft>
                <a:spcPts val="700"/>
              </a:spcAft>
              <a:buNone/>
            </a:pPr>
            <a:r>
              <a:rPr lang="en-US" sz="1350" dirty="0">
                <a:solidFill>
                  <a:srgbClr val="7C86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(App Review 필요)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5486400"/>
            <a:ext cx="10881360" cy="868680"/>
          </a:xfrm>
          <a:prstGeom prst="roundRect">
            <a:avLst>
              <a:gd name="adj" fmla="val 12632"/>
            </a:avLst>
          </a:prstGeom>
          <a:solidFill>
            <a:srgbClr val="EAF2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914400" y="548640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2534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“쿠폰 실시간 추적”은 연출 — 실제로는 쿠폰 코드 기반 누적 집계입니다. 무엇이 진짜인지 항상 먼저 밝힙니다.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40080" y="6419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4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WeatherPilot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4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A90E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PROCESS · 어떻게 만들었나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534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3주의 여정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520440" cy="4160520"/>
          </a:xfrm>
          <a:prstGeom prst="roundRect">
            <a:avLst>
              <a:gd name="adj" fmla="val 3377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8FB4E0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3520440" cy="1051560"/>
          </a:xfrm>
          <a:prstGeom prst="roundRect">
            <a:avLst>
              <a:gd name="adj" fmla="val 11304"/>
            </a:avLst>
          </a:prstGeom>
          <a:solidFill>
            <a:srgbClr val="DCEA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40080" y="2423160"/>
            <a:ext cx="3520440" cy="502920"/>
          </a:xfrm>
          <a:prstGeom prst="rect">
            <a:avLst/>
          </a:prstGeom>
          <a:solidFill>
            <a:srgbClr val="DCEA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914400" y="207568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B7D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1주차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926080" y="213055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7C86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~7/12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249631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534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날씨 앙상블 + DB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932688" y="3108960"/>
            <a:ext cx="2971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534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기상청·OWM 2소스 가중 병합</a:t>
            </a:r>
            <a:endParaRPr lang="en-US" sz="130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534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한쪽 장애 시 자동 폴백</a:t>
            </a:r>
            <a:endParaRPr lang="en-US" sz="130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534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Supabase 5개 테이블</a:t>
            </a:r>
            <a:endParaRPr lang="en-US" sz="130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534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실매출 30일 → 날씨별 진단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416552" y="1874520"/>
            <a:ext cx="3520440" cy="4160520"/>
          </a:xfrm>
          <a:prstGeom prst="roundRect">
            <a:avLst>
              <a:gd name="adj" fmla="val 3377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8FB4E0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4416552" y="1874520"/>
            <a:ext cx="3520440" cy="1051560"/>
          </a:xfrm>
          <a:prstGeom prst="roundRect">
            <a:avLst>
              <a:gd name="adj" fmla="val 11304"/>
            </a:avLst>
          </a:prstGeom>
          <a:solidFill>
            <a:srgbClr val="DCEA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4416552" y="2423160"/>
            <a:ext cx="3520440" cy="502920"/>
          </a:xfrm>
          <a:prstGeom prst="rect">
            <a:avLst/>
          </a:prstGeom>
          <a:solidFill>
            <a:srgbClr val="DCEA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690872" y="207568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B7D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2주차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702552" y="213055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7C86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~7/17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90872" y="249631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534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 코어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709160" y="3108960"/>
            <a:ext cx="2971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534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제안 생성(Groq)</a:t>
            </a:r>
            <a:endParaRPr lang="en-US" sz="130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534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zod 검증 + 1회 재생성</a:t>
            </a:r>
            <a:endParaRPr lang="en-US" sz="130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534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가드레일(할인율·금칙어)</a:t>
            </a:r>
            <a:endParaRPr lang="en-US" sz="130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534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06:30 자동 생성 크론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193024" y="1874520"/>
            <a:ext cx="3520440" cy="4160520"/>
          </a:xfrm>
          <a:prstGeom prst="roundRect">
            <a:avLst>
              <a:gd name="adj" fmla="val 3377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8FB4E0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8193024" y="1874520"/>
            <a:ext cx="3520440" cy="1051560"/>
          </a:xfrm>
          <a:prstGeom prst="roundRect">
            <a:avLst>
              <a:gd name="adj" fmla="val 11304"/>
            </a:avLst>
          </a:prstGeom>
          <a:solidFill>
            <a:srgbClr val="4A90E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8193024" y="2423160"/>
            <a:ext cx="3520440" cy="502920"/>
          </a:xfrm>
          <a:prstGeom prst="rect">
            <a:avLst/>
          </a:prstGeom>
          <a:solidFill>
            <a:srgbClr val="4A90E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8467344" y="207568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3주차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479024" y="213055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DCEA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~7/23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467344" y="249631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· 발송 · 배포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8485632" y="3108960"/>
            <a:ext cx="2971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534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프론트 실연동 배선</a:t>
            </a:r>
            <a:endParaRPr lang="en-US" sz="130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534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(광고) 문자 실발송</a:t>
            </a:r>
            <a:endParaRPr lang="en-US" sz="130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534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쿠폰 발급·사용 추적</a:t>
            </a:r>
            <a:endParaRPr lang="en-US" sz="130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534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Vercel + Render 배포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" y="6419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4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WeatherPilot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4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23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2A8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DESIGN · 세 가지 원칙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21792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우회할 수 없게 설계했다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881360" cy="1298448"/>
          </a:xfrm>
          <a:prstGeom prst="roundRect">
            <a:avLst>
              <a:gd name="adj" fmla="val 8451"/>
            </a:avLst>
          </a:prstGeom>
          <a:solidFill>
            <a:srgbClr val="1E2F4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60120" y="2240280"/>
            <a:ext cx="566928" cy="566928"/>
          </a:xfrm>
          <a:prstGeom prst="ellipse">
            <a:avLst/>
          </a:prstGeom>
          <a:solidFill>
            <a:srgbClr val="4A90E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960120" y="22402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🔑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60120" y="22402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233B">
                    <a:alpha val="0"/>
                  </a:srgb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783080" y="2121408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키는 전부 서버에만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783080" y="2551176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AEC2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시크릿은 서버 전용 .env. 프론트(apps/web)엔 키가 하나도 없습니다.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337560"/>
            <a:ext cx="10881360" cy="1298448"/>
          </a:xfrm>
          <a:prstGeom prst="roundRect">
            <a:avLst>
              <a:gd name="adj" fmla="val 8451"/>
            </a:avLst>
          </a:prstGeom>
          <a:solidFill>
            <a:srgbClr val="1E2F4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960120" y="3703320"/>
            <a:ext cx="566928" cy="566928"/>
          </a:xfrm>
          <a:prstGeom prst="ellipse">
            <a:avLst/>
          </a:prstGeom>
          <a:solidFill>
            <a:srgbClr val="4A90E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960120" y="3703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🛡️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60120" y="3703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233B">
                    <a:alpha val="0"/>
                  </a:srgb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783080" y="3584448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법적 필터는 서버가 강제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783080" y="4014216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AEC2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(광고) 표기·수신동의·야간 차단을 서버에서 보장 — UI를 우회해도 법은 못 우회합니다.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800600"/>
            <a:ext cx="10881360" cy="1298448"/>
          </a:xfrm>
          <a:prstGeom prst="roundRect">
            <a:avLst>
              <a:gd name="adj" fmla="val 8451"/>
            </a:avLst>
          </a:prstGeom>
          <a:solidFill>
            <a:srgbClr val="1E2F4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960120" y="5166360"/>
            <a:ext cx="566928" cy="566928"/>
          </a:xfrm>
          <a:prstGeom prst="ellipse">
            <a:avLst/>
          </a:prstGeom>
          <a:solidFill>
            <a:srgbClr val="4A90E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960120" y="5166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🧩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783080" y="5047488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파이프라인은 순수 함수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783080" y="5477256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AEC2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크론이 돌리든 API가 부르든 테스트가 부르든, 같은 코드가 같은 결과를 냅니다.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40080" y="6419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4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WeatherPilot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4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A90E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TECH · 핵심 기술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534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 개의 실동작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21808" cy="1965960"/>
          </a:xfrm>
          <a:prstGeom prst="roundRect">
            <a:avLst>
              <a:gd name="adj" fmla="val 6047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8FB4E0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60120" y="2221992"/>
            <a:ext cx="640080" cy="640080"/>
          </a:xfrm>
          <a:prstGeom prst="ellipse">
            <a:avLst/>
          </a:prstGeom>
          <a:solidFill>
            <a:srgbClr val="DCEA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960120" y="22219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🌦️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828800" y="2258568"/>
            <a:ext cx="3858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534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날씨 앙상블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2926080"/>
            <a:ext cx="4636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7C86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기상청 + OpenWeatherMap을 가중 병합. 한쪽 장애 시 남은 소스로 폴백하고 소스 수를 표기.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36208" y="1874520"/>
            <a:ext cx="5321808" cy="1965960"/>
          </a:xfrm>
          <a:prstGeom prst="roundRect">
            <a:avLst>
              <a:gd name="adj" fmla="val 6047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8FB4E0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6556248" y="2221992"/>
            <a:ext cx="640080" cy="640080"/>
          </a:xfrm>
          <a:prstGeom prst="ellipse">
            <a:avLst/>
          </a:prstGeom>
          <a:solidFill>
            <a:srgbClr val="DCEA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556248" y="22219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424928" y="2258568"/>
            <a:ext cx="3858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534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실매출 진단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601968" y="2926080"/>
            <a:ext cx="4636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7C86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가게 매출 이력으로 “비 오는 날 −18%”를 실계산해 제안 방향을 정함.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4041648"/>
            <a:ext cx="5321808" cy="1965960"/>
          </a:xfrm>
          <a:prstGeom prst="roundRect">
            <a:avLst>
              <a:gd name="adj" fmla="val 6047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8FB4E0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960120" y="4389120"/>
            <a:ext cx="640080" cy="640080"/>
          </a:xfrm>
          <a:prstGeom prst="ellipse">
            <a:avLst/>
          </a:prstGeom>
          <a:solidFill>
            <a:srgbClr val="DCEA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960120" y="4389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828800" y="4425696"/>
            <a:ext cx="3858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534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+ 가드레일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05840" y="5093208"/>
            <a:ext cx="4636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7C86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Groq가 문구·쿠폰을 생성하고, 할인율 ≤20%·금칙어·창작 상호를 서버가 재검사.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236208" y="4041648"/>
            <a:ext cx="5321808" cy="1965960"/>
          </a:xfrm>
          <a:prstGeom prst="roundRect">
            <a:avLst>
              <a:gd name="adj" fmla="val 6047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8FB4E0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6556248" y="4389120"/>
            <a:ext cx="640080" cy="640080"/>
          </a:xfrm>
          <a:prstGeom prst="ellipse">
            <a:avLst/>
          </a:prstGeom>
          <a:solidFill>
            <a:srgbClr val="DCEA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556248" y="4389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🎟️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7424928" y="4425696"/>
            <a:ext cx="3858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534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쿠폰 실측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601968" y="5093208"/>
            <a:ext cx="4636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7C86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쿠폰 코드 기반 귀속 매출 — 날씨 회복이 아니라 이 캠페인이 만든 매출을 실측.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40080" y="6419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4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WeatherPilot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4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23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480560"/>
            <a:ext cx="3840480" cy="3840480"/>
          </a:xfrm>
          <a:prstGeom prst="ellipse">
            <a:avLst/>
          </a:prstGeom>
          <a:solidFill>
            <a:srgbClr val="1E2F4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2A8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LIVE DEMO · 시연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21792" y="89611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배포된 앱으로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7955280" cy="932688"/>
          </a:xfrm>
          <a:prstGeom prst="roundRect">
            <a:avLst>
              <a:gd name="adj" fmla="val 10784"/>
            </a:avLst>
          </a:prstGeom>
          <a:solidFill>
            <a:srgbClr val="1E2F4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96112" y="2185416"/>
            <a:ext cx="493776" cy="493776"/>
          </a:xfrm>
          <a:prstGeom prst="ellipse">
            <a:avLst/>
          </a:prstGeom>
          <a:solidFill>
            <a:srgbClr val="4A90E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896112" y="218541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00200" y="2103120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날씨 일치 확인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00200" y="2478024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EC2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앱의 앙상블 날씨 vs 네이버 날씨 — 실제 API를 합친 값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008376"/>
            <a:ext cx="7955280" cy="932688"/>
          </a:xfrm>
          <a:prstGeom prst="roundRect">
            <a:avLst>
              <a:gd name="adj" fmla="val 10784"/>
            </a:avLst>
          </a:prstGeom>
          <a:solidFill>
            <a:srgbClr val="1E2F4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896112" y="3227832"/>
            <a:ext cx="493776" cy="493776"/>
          </a:xfrm>
          <a:prstGeom prst="ellipse">
            <a:avLst/>
          </a:prstGeom>
          <a:solidFill>
            <a:srgbClr val="4A90E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896112" y="322783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600200" y="3145536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제안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00200" y="35204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EC2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저장된 mock이 아니라 방금 날씨·매출로 Groq가 생성한 문구·쿠폰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4050792"/>
            <a:ext cx="7955280" cy="932688"/>
          </a:xfrm>
          <a:prstGeom prst="roundRect">
            <a:avLst>
              <a:gd name="adj" fmla="val 10784"/>
            </a:avLst>
          </a:prstGeom>
          <a:solidFill>
            <a:srgbClr val="1E2F4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896112" y="4270248"/>
            <a:ext cx="493776" cy="493776"/>
          </a:xfrm>
          <a:prstGeom prst="ellipse">
            <a:avLst/>
          </a:prstGeom>
          <a:solidFill>
            <a:srgbClr val="4A90E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896112" y="427024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600200" y="4187952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검토 → 발송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00200" y="4562856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EC2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“이대로 발송” → 서버가 동의자만 걸러 (광고) 문자 실수신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5093208"/>
            <a:ext cx="7955280" cy="932688"/>
          </a:xfrm>
          <a:prstGeom prst="roundRect">
            <a:avLst>
              <a:gd name="adj" fmla="val 10784"/>
            </a:avLst>
          </a:prstGeom>
          <a:solidFill>
            <a:srgbClr val="1E2F4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896112" y="5312664"/>
            <a:ext cx="493776" cy="493776"/>
          </a:xfrm>
          <a:prstGeom prst="ellipse">
            <a:avLst/>
          </a:prstGeom>
          <a:solidFill>
            <a:srgbClr val="4A90E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896112" y="531266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600200" y="5230368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쿠폰 사용 → 추적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00200" y="560527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EC2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쿠폰 redeem → 추적 카드에 사용 인원·귀속 매출 반영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869680" y="1965960"/>
            <a:ext cx="2651760" cy="4023360"/>
          </a:xfrm>
          <a:prstGeom prst="roundRect">
            <a:avLst>
              <a:gd name="adj" fmla="val 4828"/>
            </a:avLst>
          </a:prstGeom>
          <a:solidFill>
            <a:srgbClr val="4A90E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8869680" y="24688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📱</a:t>
            </a:r>
            <a:endParaRPr lang="en-US" sz="3400" dirty="0"/>
          </a:p>
        </p:txBody>
      </p:sp>
      <p:sp>
        <p:nvSpPr>
          <p:cNvPr id="27" name="Text 25"/>
          <p:cNvSpPr/>
          <p:nvPr/>
        </p:nvSpPr>
        <p:spPr>
          <a:xfrm>
            <a:off x="8869680" y="32004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만져보세요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006840" y="361188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E4EE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1~2분 안에 제안 확인부터 승인·발송·쿠폰 추적까지 전 과정 체험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869680" y="502920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https://weatherpilot-web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.vercel.app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40080" y="6419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4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WeatherPilot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4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A90E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RESULT · 지금 상태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534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3주 뒤, 돌아가는 서비스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520440" cy="1920240"/>
          </a:xfrm>
          <a:prstGeom prst="roundRect">
            <a:avLst>
              <a:gd name="adj" fmla="val 6190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8FB4E0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914400" y="214884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4A90E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2곳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932688" y="308152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34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완료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32688" y="344728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C86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Vercel · Render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16552" y="1874520"/>
            <a:ext cx="3520440" cy="1920240"/>
          </a:xfrm>
          <a:prstGeom prst="roundRect">
            <a:avLst>
              <a:gd name="adj" fmla="val 6190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8FB4E0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690872" y="214884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2FB3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126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4709160" y="308152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34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테스트 통과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09160" y="344728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C86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Vitest · CI 초록불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93024" y="1874520"/>
            <a:ext cx="3520440" cy="1920240"/>
          </a:xfrm>
          <a:prstGeom prst="roundRect">
            <a:avLst>
              <a:gd name="adj" fmla="val 6190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8FB4E0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8467344" y="214884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3B7D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3종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8485632" y="308152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34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실연동 검증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85632" y="344728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C86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날씨 · LLM · 문자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114800"/>
            <a:ext cx="10881360" cy="1737360"/>
          </a:xfrm>
          <a:prstGeom prst="roundRect">
            <a:avLst>
              <a:gd name="adj" fmla="val 6316"/>
            </a:avLst>
          </a:prstGeom>
          <a:solidFill>
            <a:srgbClr val="25344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960120" y="4343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플로우가 배포 URL에서 실제로 돕니다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60120" y="489204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C7D6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 조회 → 승인 → (광고) 문자 발송 → 쿠폰 사용 → 추적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C7D6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06:30 크론 상시 실행 · 프론트 vitest 도입으로 회귀 자동 검증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40080" y="6419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4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WeatherPilot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4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A90E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REFLECTION · 비전공자의 3주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534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좁힌 격차, 사람이 채운 격차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3977640"/>
          </a:xfrm>
          <a:prstGeom prst="roundRect">
            <a:avLst>
              <a:gd name="adj" fmla="val 2989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8FB4E0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14400" y="2148840"/>
            <a:ext cx="566928" cy="566928"/>
          </a:xfrm>
          <a:prstGeom prst="ellipse">
            <a:avLst/>
          </a:prstGeom>
          <a:solidFill>
            <a:srgbClr val="DCEA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45920" y="221284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B7D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좁혀 준 격차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60120" y="2971800"/>
            <a:ext cx="4754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2534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문법 · 프레임워크</a:t>
            </a:r>
            <a:endParaRPr lang="en-US" sz="14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2534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연동 · 배포 설정</a:t>
            </a:r>
            <a:endParaRPr lang="en-US" sz="14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2534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“코드를 쓰는 능력”의 격차</a:t>
            </a:r>
            <a:endParaRPr lang="en-US" sz="1450" dirty="0"/>
          </a:p>
          <a:p>
            <a:pPr marL="0" indent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1450" i="1" dirty="0">
                <a:solidFill>
                  <a:srgbClr val="7C86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숙련도가 병목이 된 적은 거의 없었다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172200" y="1874520"/>
            <a:ext cx="5349240" cy="3977640"/>
          </a:xfrm>
          <a:prstGeom prst="roundRect">
            <a:avLst>
              <a:gd name="adj" fmla="val 2989"/>
            </a:avLst>
          </a:prstGeom>
          <a:solidFill>
            <a:srgbClr val="25344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6446520" y="2148840"/>
            <a:ext cx="566928" cy="566928"/>
          </a:xfrm>
          <a:prstGeom prst="ellipse">
            <a:avLst/>
          </a:prstGeom>
          <a:solidFill>
            <a:srgbClr val="2FB37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446520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🧭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178040" y="221284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2A8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채워야 했던 격차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92240" y="2971800"/>
            <a:ext cx="4754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4EE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안 만들지 결정 (스코프)</a:t>
            </a:r>
            <a:endParaRPr lang="en-US" sz="14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4EE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“완료”를 먼저 정의 (DoD)</a:t>
            </a:r>
            <a:endParaRPr lang="en-US" sz="14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4EE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믿지 않고 검증을 시스템으로</a:t>
            </a:r>
            <a:endParaRPr lang="en-US" sz="1450" dirty="0"/>
          </a:p>
          <a:p>
            <a:pPr marL="0" indent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1450" i="1" dirty="0">
                <a:solidFill>
                  <a:srgbClr val="AEC2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위임의 상한선은 내 검증 능력이었다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40080" y="6419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4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WeatherPilot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4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23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572000"/>
            <a:ext cx="4114800" cy="4114800"/>
          </a:xfrm>
          <a:prstGeom prst="ellipse">
            <a:avLst/>
          </a:prstGeom>
          <a:solidFill>
            <a:srgbClr val="1E2F4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10424160" y="-1554480"/>
            <a:ext cx="3840480" cy="3840480"/>
          </a:xfrm>
          <a:prstGeom prst="ellipse">
            <a:avLst/>
          </a:prstGeom>
          <a:solidFill>
            <a:srgbClr val="1E2F4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5349240" y="1600200"/>
            <a:ext cx="960120" cy="960120"/>
          </a:xfrm>
          <a:prstGeom prst="ellipse">
            <a:avLst/>
          </a:prstGeom>
          <a:solidFill>
            <a:srgbClr val="4A90E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349240" y="16002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⛅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78892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365760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DCEA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 환영합니다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566160" y="4617720"/>
            <a:ext cx="5029200" cy="868680"/>
          </a:xfrm>
          <a:prstGeom prst="roundRect">
            <a:avLst>
              <a:gd name="adj" fmla="val 42105"/>
            </a:avLst>
          </a:prstGeom>
          <a:solidFill>
            <a:srgbClr val="1E2F4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3566160" y="461772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weatherpilot-web.vercel.app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580644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C86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WeatherPilot · 양서형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1463</Words>
  <Application>Microsoft Office PowerPoint</Application>
  <PresentationFormat>와이드스크린</PresentationFormat>
  <Paragraphs>208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4" baseType="lpstr">
      <vt:lpstr>Malgun Gothic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WeatherPilot 1~3주차 발표</dc:title>
  <dc:subject>PptxGenJS Presentation</dc:subject>
  <dc:creator>양서형</dc:creator>
  <cp:lastModifiedBy>양서형</cp:lastModifiedBy>
  <cp:revision>3</cp:revision>
  <dcterms:created xsi:type="dcterms:W3CDTF">2026-07-24T04:49:07Z</dcterms:created>
  <dcterms:modified xsi:type="dcterms:W3CDTF">2026-07-24T07:01:07Z</dcterms:modified>
</cp:coreProperties>
</file>