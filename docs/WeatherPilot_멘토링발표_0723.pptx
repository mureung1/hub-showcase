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타이틀. 프로젝트 한 줄 소개 후 바로 문제 정의로. 오늘 순서: 프로젝트 소개 → 3주차 작업 → 질문 2개.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실측 수치(비 −18%, 폭염 −20%)로 문제 제기 + 대응이 수작업이라는 병목. 기존 데모 발표와 동일한 문제 정의.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5단계 플로우(3번 검토·승인이 핵심 — 자율이지만 사람이 게이트) + 3원칙. 기존 데모 발표와 동일.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실연동(날씨·LLM·문자·DB)과 대체/모의(POS·카카오·080) 구분. Instagram은 P2 이월(문구 복사 폴백) — 배포·검증을 우선했다.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주 전략: 백로그상 수·목이던 배포를 월요일에 끝냄 → 마감(7/31) 전 버퍼 확보. 이후는 전부 품질(퀵윈·테스트·법·안정화).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배포 구조 3단 + 검증 포인트. CORS·시크릿 원칙은 1주차 설계 그대로 배포에 반영. 슬립 문제는 목요일 기동 잡으로 해결(뒤에서).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배포 후 사용자 관점 리뷰에서 나온 5건. QW-3·4는 원래 주간계획의 F-1·F-2를 흡수. 전부 화요일 하루에 구현·푸시.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검증 3종. 왼쪽: 서버 100개(라우트 상태전이·redeem 경계 보강) + 웹 vitest 21케이스. 가운데: 정보통신망법 4요건+가드레일이 서버 강제임을 실호출 테스트로 대조. 오른쪽: 오늘 완료한 기동 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Q1의 빌드업 슬라이드. QW-2·3 작업 때 문자 본문 조립을 shared로 올려 '미리보기 ≠ 발송 문구' 클래스의 버그를 구조적으로 제거했다는 이야기 → 이 경험이 첫 번째 질문으로 이어진다.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Q1: shared 방식의 한계(같은 언어·같은 저장소 전제)를 짚으며 현업의 계약 관리(OpenAPI 코드젠, tRPC, 스키마 레지스트리 등)를 질문. Q2: AI 생성 코드 리뷰 기준 — 어디까지 이해하고 넘어가야 하는지.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34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2926080"/>
            <a:ext cx="7132320" cy="7132320"/>
          </a:xfrm>
          <a:prstGeom prst="ellipse">
            <a:avLst/>
          </a:prstGeom>
          <a:solidFill>
            <a:srgbClr val="2E4059"/>
          </a:solidFill>
          <a:ln/>
        </p:spPr>
      </p:sp>
      <p:sp>
        <p:nvSpPr>
          <p:cNvPr id="3" name="Shape 1"/>
          <p:cNvSpPr/>
          <p:nvPr/>
        </p:nvSpPr>
        <p:spPr>
          <a:xfrm>
            <a:off x="-1920240" y="4206240"/>
            <a:ext cx="4754880" cy="4754880"/>
          </a:xfrm>
          <a:prstGeom prst="ellipse">
            <a:avLst/>
          </a:prstGeom>
          <a:solidFill>
            <a:srgbClr val="2E4059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0" y="6126480"/>
            <a:ext cx="1554480" cy="1554480"/>
          </a:xfrm>
          <a:prstGeom prst="ellipse">
            <a:avLst/>
          </a:prstGeom>
          <a:solidFill>
            <a:srgbClr val="2E4059"/>
          </a:solidFill>
          <a:ln/>
        </p:spPr>
      </p:sp>
      <p:sp>
        <p:nvSpPr>
          <p:cNvPr id="5" name="Shape 3"/>
          <p:cNvSpPr/>
          <p:nvPr/>
        </p:nvSpPr>
        <p:spPr>
          <a:xfrm>
            <a:off x="5593385" y="777240"/>
            <a:ext cx="1005840" cy="100584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6" name="Text 4"/>
          <p:cNvSpPr/>
          <p:nvPr/>
        </p:nvSpPr>
        <p:spPr>
          <a:xfrm>
            <a:off x="5593385" y="7772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⛅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WeatherPilot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914400" y="315468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날씨 데이터로 소상공인 매출을 지키는 자율 마케팅 에이전트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358945" y="3977640"/>
            <a:ext cx="3474720" cy="530352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/>
        </p:spPr>
      </p:sp>
      <p:sp>
        <p:nvSpPr>
          <p:cNvPr id="10" name="Text 8"/>
          <p:cNvSpPr/>
          <p:nvPr/>
        </p:nvSpPr>
        <p:spPr>
          <a:xfrm>
            <a:off x="4358945" y="397764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멘토링 발표 · 3주차 진행 공유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241280" y="6355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2026-07-23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날씨로 매출이 출렁여도,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대응할 시간·데이터가 없다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10032" y="1965960"/>
            <a:ext cx="3346704" cy="3291840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/>
        </p:spPr>
      </p:sp>
      <p:sp>
        <p:nvSpPr>
          <p:cNvPr id="5" name="Text 3"/>
          <p:cNvSpPr/>
          <p:nvPr/>
        </p:nvSpPr>
        <p:spPr>
          <a:xfrm>
            <a:off x="710032" y="2880360"/>
            <a:ext cx="3346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−18%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10032" y="4114800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 오는 날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 평균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22496" y="1965960"/>
            <a:ext cx="3346704" cy="3291840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/>
        </p:spPr>
      </p:sp>
      <p:sp>
        <p:nvSpPr>
          <p:cNvPr id="8" name="Text 6"/>
          <p:cNvSpPr/>
          <p:nvPr/>
        </p:nvSpPr>
        <p:spPr>
          <a:xfrm>
            <a:off x="4422496" y="2880360"/>
            <a:ext cx="3346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−20%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422496" y="4114800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폭염 낮 시간대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 평균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4960" y="1965960"/>
            <a:ext cx="3346704" cy="3291840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/>
        </p:spPr>
      </p:sp>
      <p:sp>
        <p:nvSpPr>
          <p:cNvPr id="11" name="Shape 9"/>
          <p:cNvSpPr/>
          <p:nvPr/>
        </p:nvSpPr>
        <p:spPr>
          <a:xfrm>
            <a:off x="9351112" y="2651760"/>
            <a:ext cx="914400" cy="91440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12" name="Text 10"/>
          <p:cNvSpPr/>
          <p:nvPr/>
        </p:nvSpPr>
        <p:spPr>
          <a:xfrm>
            <a:off x="9351112" y="26517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134960" y="3977640"/>
            <a:ext cx="3346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마케팅 문구 작성부터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발송까지, 매번 수작업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에이전트가 미리 준비하고,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사장님은 검토·승인만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167232" y="1847088"/>
            <a:ext cx="1737360" cy="1188720"/>
          </a:xfrm>
          <a:prstGeom prst="roundRect">
            <a:avLst>
              <a:gd name="adj" fmla="val 6923"/>
            </a:avLst>
          </a:prstGeom>
          <a:solidFill>
            <a:srgbClr val="F4F7FA"/>
          </a:solidFill>
          <a:ln/>
        </p:spPr>
      </p:sp>
      <p:sp>
        <p:nvSpPr>
          <p:cNvPr id="5" name="Text 3"/>
          <p:cNvSpPr/>
          <p:nvPr/>
        </p:nvSpPr>
        <p:spPr>
          <a:xfrm>
            <a:off x="1167232" y="1847088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날씨+매출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53032" y="1371600"/>
            <a:ext cx="365760" cy="365760"/>
          </a:xfrm>
          <a:prstGeom prst="ellipse">
            <a:avLst/>
          </a:prstGeom>
          <a:solidFill>
            <a:srgbClr val="8B95A5"/>
          </a:solidFill>
          <a:ln/>
        </p:spPr>
      </p:sp>
      <p:sp>
        <p:nvSpPr>
          <p:cNvPr id="7" name="Text 5"/>
          <p:cNvSpPr/>
          <p:nvPr/>
        </p:nvSpPr>
        <p:spPr>
          <a:xfrm>
            <a:off x="1853032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13736" y="221284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197200" y="1847088"/>
            <a:ext cx="1737360" cy="1188720"/>
          </a:xfrm>
          <a:prstGeom prst="roundRect">
            <a:avLst>
              <a:gd name="adj" fmla="val 6923"/>
            </a:avLst>
          </a:prstGeom>
          <a:solidFill>
            <a:srgbClr val="F4F7FA"/>
          </a:solidFill>
          <a:ln/>
        </p:spPr>
      </p:sp>
      <p:sp>
        <p:nvSpPr>
          <p:cNvPr id="10" name="Text 8"/>
          <p:cNvSpPr/>
          <p:nvPr/>
        </p:nvSpPr>
        <p:spPr>
          <a:xfrm>
            <a:off x="3197200" y="1847088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문구·쿠폰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초안 생성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83000" y="1371600"/>
            <a:ext cx="365760" cy="365760"/>
          </a:xfrm>
          <a:prstGeom prst="ellipse">
            <a:avLst/>
          </a:prstGeom>
          <a:solidFill>
            <a:srgbClr val="8B95A5"/>
          </a:solidFill>
          <a:ln/>
        </p:spPr>
      </p:sp>
      <p:sp>
        <p:nvSpPr>
          <p:cNvPr id="12" name="Text 10"/>
          <p:cNvSpPr/>
          <p:nvPr/>
        </p:nvSpPr>
        <p:spPr>
          <a:xfrm>
            <a:off x="388300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43704" y="221284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227168" y="1847088"/>
            <a:ext cx="1737360" cy="1188720"/>
          </a:xfrm>
          <a:prstGeom prst="roundRect">
            <a:avLst>
              <a:gd name="adj" fmla="val 6923"/>
            </a:avLst>
          </a:prstGeom>
          <a:solidFill>
            <a:srgbClr val="4A90E2"/>
          </a:solidFill>
          <a:ln/>
        </p:spPr>
      </p:sp>
      <p:sp>
        <p:nvSpPr>
          <p:cNvPr id="15" name="Text 13"/>
          <p:cNvSpPr/>
          <p:nvPr/>
        </p:nvSpPr>
        <p:spPr>
          <a:xfrm>
            <a:off x="5227168" y="1847088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사장님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검토·승인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12968" y="1371600"/>
            <a:ext cx="365760" cy="36576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17" name="Text 15"/>
          <p:cNvSpPr/>
          <p:nvPr/>
        </p:nvSpPr>
        <p:spPr>
          <a:xfrm>
            <a:off x="5912968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73672" y="221284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257136" y="1847088"/>
            <a:ext cx="1737360" cy="1188720"/>
          </a:xfrm>
          <a:prstGeom prst="roundRect">
            <a:avLst>
              <a:gd name="adj" fmla="val 6923"/>
            </a:avLst>
          </a:prstGeom>
          <a:solidFill>
            <a:srgbClr val="F4F7FA"/>
          </a:solidFill>
          <a:ln/>
        </p:spPr>
      </p:sp>
      <p:sp>
        <p:nvSpPr>
          <p:cNvPr id="20" name="Text 18"/>
          <p:cNvSpPr/>
          <p:nvPr/>
        </p:nvSpPr>
        <p:spPr>
          <a:xfrm>
            <a:off x="7257136" y="1847088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발송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942936" y="1371600"/>
            <a:ext cx="365760" cy="365760"/>
          </a:xfrm>
          <a:prstGeom prst="ellipse">
            <a:avLst/>
          </a:prstGeom>
          <a:solidFill>
            <a:srgbClr val="8B95A5"/>
          </a:solidFill>
          <a:ln/>
        </p:spPr>
      </p:sp>
      <p:sp>
        <p:nvSpPr>
          <p:cNvPr id="22" name="Text 20"/>
          <p:cNvSpPr/>
          <p:nvPr/>
        </p:nvSpPr>
        <p:spPr>
          <a:xfrm>
            <a:off x="7942936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003640" y="221284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287104" y="1847088"/>
            <a:ext cx="1737360" cy="1188720"/>
          </a:xfrm>
          <a:prstGeom prst="roundRect">
            <a:avLst>
              <a:gd name="adj" fmla="val 6923"/>
            </a:avLst>
          </a:prstGeom>
          <a:solidFill>
            <a:srgbClr val="F4F7FA"/>
          </a:solidFill>
          <a:ln/>
        </p:spPr>
      </p:sp>
      <p:sp>
        <p:nvSpPr>
          <p:cNvPr id="25" name="Text 23"/>
          <p:cNvSpPr/>
          <p:nvPr/>
        </p:nvSpPr>
        <p:spPr>
          <a:xfrm>
            <a:off x="9287104" y="1847088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추적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972904" y="1371600"/>
            <a:ext cx="365760" cy="365760"/>
          </a:xfrm>
          <a:prstGeom prst="ellipse">
            <a:avLst/>
          </a:prstGeom>
          <a:solidFill>
            <a:srgbClr val="8B95A5"/>
          </a:solidFill>
          <a:ln/>
        </p:spPr>
      </p:sp>
      <p:sp>
        <p:nvSpPr>
          <p:cNvPr id="27" name="Text 25"/>
          <p:cNvSpPr/>
          <p:nvPr/>
        </p:nvSpPr>
        <p:spPr>
          <a:xfrm>
            <a:off x="9972904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58368" y="3977640"/>
            <a:ext cx="566928" cy="566928"/>
          </a:xfrm>
          <a:prstGeom prst="ellipse">
            <a:avLst/>
          </a:prstGeom>
          <a:solidFill>
            <a:srgbClr val="E7EEF7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" y="3977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658368" y="4727448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API 키는 서버에만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58368" y="5276088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프론트(apps/web)엔 시크릿이 없다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407408" y="3977640"/>
            <a:ext cx="566928" cy="566928"/>
          </a:xfrm>
          <a:prstGeom prst="ellipse">
            <a:avLst/>
          </a:prstGeom>
          <a:solidFill>
            <a:srgbClr val="E7EEF7"/>
          </a:solidFill>
          <a:ln/>
        </p:spPr>
      </p:sp>
      <p:sp>
        <p:nvSpPr>
          <p:cNvPr id="33" name="Text 31"/>
          <p:cNvSpPr/>
          <p:nvPr/>
        </p:nvSpPr>
        <p:spPr>
          <a:xfrm>
            <a:off x="4407408" y="3977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4407408" y="4727448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법적 필터는 서버가 강제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4407408" y="5276088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UI를 우회해도 법은 못 우회한다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156448" y="3977640"/>
            <a:ext cx="566928" cy="566928"/>
          </a:xfrm>
          <a:prstGeom prst="ellipse">
            <a:avLst/>
          </a:prstGeom>
          <a:solidFill>
            <a:srgbClr val="E7EEF7"/>
          </a:solidFill>
          <a:ln/>
        </p:spPr>
      </p:sp>
      <p:sp>
        <p:nvSpPr>
          <p:cNvPr id="37" name="Text 35"/>
          <p:cNvSpPr/>
          <p:nvPr/>
        </p:nvSpPr>
        <p:spPr>
          <a:xfrm>
            <a:off x="8156448" y="3977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8156448" y="4727448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파이프라인은 순수 함수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8156448" y="5276088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크론·API·테스트가 하나를 공용으로 쓴다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무엇이 진짜이고 무엇이 모의인가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심사 전과 동일한 원칙 — 스코프를 정직하게 표기합니다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11091672" cy="576072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36192"/>
            <a:ext cx="7772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날씨 (기상청 + OpenWeatherMap)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0" y="1632204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2FB37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0" y="163220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실연동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221992"/>
            <a:ext cx="11091672" cy="576072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221992"/>
            <a:ext cx="7772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제안 생성 (Groq)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0" y="2318004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2FB37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0" y="231800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실연동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907792"/>
            <a:ext cx="11091672" cy="576072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907792"/>
            <a:ext cx="7772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문자 발송 (Solapi · 본인 번호)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0" y="3003804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2FB37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0" y="300380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실연동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593592"/>
            <a:ext cx="11091672" cy="576072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593592"/>
            <a:ext cx="7772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· 스케줄러 (Supabase · node-cron)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0" y="3689604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2FB37A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0" y="368960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실구축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279392"/>
            <a:ext cx="11091672" cy="576072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279392"/>
            <a:ext cx="7772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연동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44000" y="4375404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0" y="437540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대체 (수동입력+CSV)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965192"/>
            <a:ext cx="11091672" cy="576072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965192"/>
            <a:ext cx="7772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게시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144000" y="5061204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0" y="506120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이월 (P2)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650992"/>
            <a:ext cx="11091672" cy="576072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5650992"/>
            <a:ext cx="7772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 알림톡 · 080 실회선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144000" y="5747004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8B95A5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0" y="574700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모의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 — 배포를 앞당기고, 마감 품질을 끌어올렸다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7/20 월 ~ 7/23 목 · 마감 7/31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67716" y="1691640"/>
            <a:ext cx="2670048" cy="3246120"/>
          </a:xfrm>
          <a:prstGeom prst="roundRect">
            <a:avLst>
              <a:gd name="adj" fmla="val 3082"/>
            </a:avLst>
          </a:prstGeom>
          <a:solidFill>
            <a:srgbClr val="F4F7FA"/>
          </a:solidFill>
          <a:ln/>
        </p:spPr>
      </p:sp>
      <p:sp>
        <p:nvSpPr>
          <p:cNvPr id="5" name="Shape 3"/>
          <p:cNvSpPr/>
          <p:nvPr/>
        </p:nvSpPr>
        <p:spPr>
          <a:xfrm>
            <a:off x="723748" y="196596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/>
        </p:spPr>
      </p:sp>
      <p:sp>
        <p:nvSpPr>
          <p:cNvPr id="6" name="Text 4"/>
          <p:cNvSpPr/>
          <p:nvPr/>
        </p:nvSpPr>
        <p:spPr>
          <a:xfrm>
            <a:off x="723748" y="19659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7/20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23748" y="2560320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배포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23748" y="3108960"/>
            <a:ext cx="221284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Vercel + BE Render 배포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화이트리스트 · 환경변수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예정(수·목)보다 이틀 앞당김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92044" y="29718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29788" y="1691640"/>
            <a:ext cx="2670048" cy="3246120"/>
          </a:xfrm>
          <a:prstGeom prst="roundRect">
            <a:avLst>
              <a:gd name="adj" fmla="val 3082"/>
            </a:avLst>
          </a:prstGeom>
          <a:solidFill>
            <a:srgbClr val="F4F7FA"/>
          </a:solidFill>
          <a:ln/>
        </p:spPr>
      </p:sp>
      <p:sp>
        <p:nvSpPr>
          <p:cNvPr id="11" name="Shape 9"/>
          <p:cNvSpPr/>
          <p:nvPr/>
        </p:nvSpPr>
        <p:spPr>
          <a:xfrm>
            <a:off x="3585820" y="196596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/>
        </p:spPr>
      </p:sp>
      <p:sp>
        <p:nvSpPr>
          <p:cNvPr id="12" name="Text 10"/>
          <p:cNvSpPr/>
          <p:nvPr/>
        </p:nvSpPr>
        <p:spPr>
          <a:xfrm>
            <a:off x="3585820" y="19659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 7/21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585820" y="2560320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퀵윈 팩 + 검증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585820" y="3108960"/>
            <a:ext cx="221284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 앱 리뷰 → 개선 5건 구현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테스트 100개 통과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법적 체크리스트 대조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54116" y="29718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91860" y="1691640"/>
            <a:ext cx="2670048" cy="3246120"/>
          </a:xfrm>
          <a:prstGeom prst="roundRect">
            <a:avLst>
              <a:gd name="adj" fmla="val 3082"/>
            </a:avLst>
          </a:prstGeom>
          <a:solidFill>
            <a:srgbClr val="F4F7FA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7892" y="196596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/>
        </p:spPr>
      </p:sp>
      <p:sp>
        <p:nvSpPr>
          <p:cNvPr id="18" name="Text 16"/>
          <p:cNvSpPr/>
          <p:nvPr/>
        </p:nvSpPr>
        <p:spPr>
          <a:xfrm>
            <a:off x="6447892" y="19659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 7/22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47892" y="2560320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아키텍처 문서화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447892" y="3108960"/>
            <a:ext cx="221284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화면·서버·DB 데이터 흐름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다이어그램(mermaid) 작성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데모 매장 → 네이버 1784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16188" y="29718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053932" y="1691640"/>
            <a:ext cx="2670048" cy="3246120"/>
          </a:xfrm>
          <a:prstGeom prst="roundRect">
            <a:avLst>
              <a:gd name="adj" fmla="val 3082"/>
            </a:avLst>
          </a:prstGeom>
          <a:solidFill>
            <a:srgbClr val="F4F7FA"/>
          </a:solidFill>
          <a:ln/>
        </p:spPr>
      </p:sp>
      <p:sp>
        <p:nvSpPr>
          <p:cNvPr id="23" name="Shape 21"/>
          <p:cNvSpPr/>
          <p:nvPr/>
        </p:nvSpPr>
        <p:spPr>
          <a:xfrm>
            <a:off x="9309964" y="196596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/>
        </p:spPr>
      </p:sp>
      <p:sp>
        <p:nvSpPr>
          <p:cNvPr id="24" name="Text 22"/>
          <p:cNvSpPr/>
          <p:nvPr/>
        </p:nvSpPr>
        <p:spPr>
          <a:xfrm>
            <a:off x="9309964" y="19659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 7/23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309964" y="2560320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안정화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9309964" y="3108960"/>
            <a:ext cx="221284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진단 배지 모순 수정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테스트 도입 (21케이스)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기동 잡 — 크론 놓침 복구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5349240"/>
            <a:ext cx="11091672" cy="603504"/>
          </a:xfrm>
          <a:prstGeom prst="roundRect">
            <a:avLst>
              <a:gd name="adj" fmla="val 15152"/>
            </a:avLst>
          </a:prstGeom>
          <a:solidFill>
            <a:srgbClr val="4A90E2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5349240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마감 전 최대 리스크였던 배포를 먼저 끝내고, 남은 시간을 품질에 썼습니다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배포 — production에서 전 플로우 검증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제안 조회 → 승인 → 발송 → redeem → 추적이 배포 URL에서 동작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44856" y="1691640"/>
            <a:ext cx="3401568" cy="1600200"/>
          </a:xfrm>
          <a:prstGeom prst="roundRect">
            <a:avLst>
              <a:gd name="adj" fmla="val 5143"/>
            </a:avLst>
          </a:prstGeom>
          <a:solidFill>
            <a:srgbClr val="F4F7FA"/>
          </a:solidFill>
          <a:ln/>
        </p:spPr>
      </p:sp>
      <p:sp>
        <p:nvSpPr>
          <p:cNvPr id="5" name="Text 3"/>
          <p:cNvSpPr/>
          <p:nvPr/>
        </p:nvSpPr>
        <p:spPr>
          <a:xfrm>
            <a:off x="719176" y="1892808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— Vercel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9176" y="2313432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apps/web (React + Vite)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9176" y="2724912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weatherpilot-web.vercel.app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928720" y="2240280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395064" y="1691640"/>
            <a:ext cx="3401568" cy="1600200"/>
          </a:xfrm>
          <a:prstGeom prst="roundRect">
            <a:avLst>
              <a:gd name="adj" fmla="val 5143"/>
            </a:avLst>
          </a:prstGeom>
          <a:solidFill>
            <a:srgbClr val="F4F7FA"/>
          </a:solidFill>
          <a:ln/>
        </p:spPr>
      </p:sp>
      <p:sp>
        <p:nvSpPr>
          <p:cNvPr id="10" name="Text 8"/>
          <p:cNvSpPr/>
          <p:nvPr/>
        </p:nvSpPr>
        <p:spPr>
          <a:xfrm>
            <a:off x="4669384" y="1892808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— Render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9384" y="2313432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apps/server (Express · 06:30 크론)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9384" y="2724912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weatherpilot-server.onrender.com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878928" y="2240280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345272" y="1691640"/>
            <a:ext cx="3401568" cy="1600200"/>
          </a:xfrm>
          <a:prstGeom prst="roundRect">
            <a:avLst>
              <a:gd name="adj" fmla="val 5143"/>
            </a:avLst>
          </a:prstGeom>
          <a:solidFill>
            <a:srgbClr val="F4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8619592" y="1892808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— Supabase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19592" y="2313432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매출·캠페인·쿠폰·발송로그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3849624"/>
            <a:ext cx="457200" cy="457200"/>
          </a:xfrm>
          <a:prstGeom prst="ellipse">
            <a:avLst/>
          </a:prstGeom>
          <a:solidFill>
            <a:srgbClr val="2FB37A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379476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화이트리스트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72000" y="3794760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 프론트 도메인만 허용 (* 금지) · 시크릿은 전부 서버 전용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77240" y="4626864"/>
            <a:ext cx="457200" cy="457200"/>
          </a:xfrm>
          <a:prstGeom prst="ellipse">
            <a:avLst/>
          </a:prstGeom>
          <a:solidFill>
            <a:srgbClr val="2FB37A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626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63040" y="457200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환경변수 1:1 대조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572000" y="4572000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.env 키 목록 ↔ 배포 대시보드, 누락 0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77240" y="5404104"/>
            <a:ext cx="457200" cy="457200"/>
          </a:xfrm>
          <a:prstGeom prst="ellipse">
            <a:avLst/>
          </a:prstGeom>
          <a:solidFill>
            <a:srgbClr val="2FB37A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404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63040" y="53492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 플랜 슬립 대응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72000" y="5349240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슬립으로 크론을 놓쳐도 기동 잡이 복구 — 뒤에서 상세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배포된 앱을 직접 리뷰하고 — 퀵윈 팩 5건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눈으로 다시 보니 어색한 것들 · 계획(F-1·F-2)은 퀵윈 팩이 흡수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091672" cy="713232"/>
          </a:xfrm>
          <a:prstGeom prst="roundRect">
            <a:avLst>
              <a:gd name="adj" fmla="val 8974"/>
            </a:avLst>
          </a:prstGeom>
          <a:solidFill>
            <a:srgbClr val="F4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37360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QW-1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74520" y="1572768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진단·매출·소스배지 실데이터화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806440" y="1572768"/>
            <a:ext cx="5623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흐린 날인데 “맑은 날 +12%” — mock 잔재 모순 해소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414016"/>
            <a:ext cx="11091672" cy="713232"/>
          </a:xfrm>
          <a:prstGeom prst="roundRect">
            <a:avLst>
              <a:gd name="adj" fmla="val 8974"/>
            </a:avLst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2578608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57860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QW-2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74520" y="2414016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무료수신거부 문구 간격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806440" y="2414016"/>
            <a:ext cx="5623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법정 문구 앞 빈 줄 2줄 — 본문과 분리해 가독성 확보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255264"/>
            <a:ext cx="11091672" cy="713232"/>
          </a:xfrm>
          <a:prstGeom prst="roundRect">
            <a:avLst>
              <a:gd name="adj" fmla="val 8974"/>
            </a:avLst>
          </a:prstGeom>
          <a:solidFill>
            <a:srgbClr val="F4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3419856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41985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QW-3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74520" y="3255264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문자 이모지 제거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806440" y="3255264"/>
            <a:ext cx="5623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LMS(EUC-KR)는 이모지 유실 → SMS 경로만 제거, SNS는 유지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096512"/>
            <a:ext cx="11091672" cy="713232"/>
          </a:xfrm>
          <a:prstGeom prst="roundRect">
            <a:avLst>
              <a:gd name="adj" fmla="val 8974"/>
            </a:avLst>
          </a:prstGeom>
          <a:solidFill>
            <a:srgbClr val="F4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261104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26110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QW-4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874520" y="4096512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쿠폰 할인율 사장님 편집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806440" y="4096512"/>
            <a:ext cx="5623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발송 직전 서버 가드레일 ≤20% 재검사 — UI 우회 불가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937760"/>
            <a:ext cx="11091672" cy="713232"/>
          </a:xfrm>
          <a:prstGeom prst="roundRect">
            <a:avLst>
              <a:gd name="adj" fmla="val 8974"/>
            </a:avLst>
          </a:prstGeom>
          <a:solidFill>
            <a:srgbClr val="F4F7FA"/>
          </a:solidFill>
          <a:ln/>
        </p:spPr>
      </p:sp>
      <p:sp>
        <p:nvSpPr>
          <p:cNvPr id="25" name="Shape 23"/>
          <p:cNvSpPr/>
          <p:nvPr/>
        </p:nvSpPr>
        <p:spPr>
          <a:xfrm>
            <a:off x="822960" y="5102352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10235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QW-5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874520" y="4937760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쿠폰 5자 짧은 코드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806440" y="4937760"/>
            <a:ext cx="5623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10자 hex → 헷갈리는 0·O·1·I 제외 5자, 충돌 시 재생성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— 테스트 · 법적 요건 · 안정화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뒤에 반드시 검증 — 퀵윈이 코드를 바꿨으므로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4000" y="1600200"/>
            <a:ext cx="3639312" cy="4297680"/>
          </a:xfrm>
          <a:prstGeom prst="roundRect">
            <a:avLst>
              <a:gd name="adj" fmla="val 2261"/>
            </a:avLst>
          </a:prstGeom>
          <a:solidFill>
            <a:srgbClr val="F4F7FA"/>
          </a:solidFill>
          <a:ln/>
        </p:spPr>
      </p:sp>
      <p:sp>
        <p:nvSpPr>
          <p:cNvPr id="5" name="Text 3"/>
          <p:cNvSpPr/>
          <p:nvPr/>
        </p:nvSpPr>
        <p:spPr>
          <a:xfrm>
            <a:off x="746608" y="185623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46608" y="237744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282800" y="24688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테스트 통과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(13개 파일)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6608" y="33832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282800" y="34290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vitest 신규 도입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(scenarioFromApi)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6608" y="4343400"/>
            <a:ext cx="30540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보강한 빈 곳: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 상태 전이 (허용·거부)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redeem 경계 (중복·없는 코드)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야간·미동의 발송 차단 실호출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76192" y="1600200"/>
            <a:ext cx="3639312" cy="4297680"/>
          </a:xfrm>
          <a:prstGeom prst="roundRect">
            <a:avLst>
              <a:gd name="adj" fmla="val 2261"/>
            </a:avLst>
          </a:prstGeom>
          <a:solidFill>
            <a:srgbClr val="F4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4568800" y="185623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법적 요건 — 전부 서버 강제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4568800" y="2496312"/>
            <a:ext cx="292608" cy="292608"/>
          </a:xfrm>
          <a:prstGeom prst="ellipse">
            <a:avLst/>
          </a:prstGeom>
          <a:solidFill>
            <a:srgbClr val="2FB37A"/>
          </a:solidFill>
          <a:ln/>
        </p:spPr>
      </p:sp>
      <p:sp>
        <p:nvSpPr>
          <p:cNvPr id="14" name="Text 12"/>
          <p:cNvSpPr/>
          <p:nvPr/>
        </p:nvSpPr>
        <p:spPr>
          <a:xfrm>
            <a:off x="4568800" y="2496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07712" y="2468880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(광고) 표기 — buildSmsBody가 강제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68800" y="3026664"/>
            <a:ext cx="292608" cy="292608"/>
          </a:xfrm>
          <a:prstGeom prst="ellipse">
            <a:avLst/>
          </a:prstGeom>
          <a:solidFill>
            <a:srgbClr val="2FB37A"/>
          </a:solidFill>
          <a:ln/>
        </p:spPr>
      </p:sp>
      <p:sp>
        <p:nvSpPr>
          <p:cNvPr id="17" name="Text 15"/>
          <p:cNvSpPr/>
          <p:nvPr/>
        </p:nvSpPr>
        <p:spPr>
          <a:xfrm>
            <a:off x="4568800" y="3026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07712" y="2999232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수신동의 필터 — 미동의 대상 0명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68800" y="3557016"/>
            <a:ext cx="292608" cy="292608"/>
          </a:xfrm>
          <a:prstGeom prst="ellipse">
            <a:avLst/>
          </a:prstGeom>
          <a:solidFill>
            <a:srgbClr val="2FB37A"/>
          </a:solidFill>
          <a:ln/>
        </p:spPr>
      </p:sp>
      <p:sp>
        <p:nvSpPr>
          <p:cNvPr id="20" name="Text 18"/>
          <p:cNvSpPr/>
          <p:nvPr/>
        </p:nvSpPr>
        <p:spPr>
          <a:xfrm>
            <a:off x="4568800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07712" y="3529584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야간 21~08 차단 — 발송 대신 예약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68800" y="4087368"/>
            <a:ext cx="292608" cy="292608"/>
          </a:xfrm>
          <a:prstGeom prst="ellipse">
            <a:avLst/>
          </a:prstGeom>
          <a:solidFill>
            <a:srgbClr val="2FB37A"/>
          </a:solidFill>
          <a:ln/>
        </p:spPr>
      </p:sp>
      <p:sp>
        <p:nvSpPr>
          <p:cNvPr id="23" name="Text 21"/>
          <p:cNvSpPr/>
          <p:nvPr/>
        </p:nvSpPr>
        <p:spPr>
          <a:xfrm>
            <a:off x="4568800" y="4087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07712" y="4059936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무료수신거부 문구 — 말미 자동 부착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68800" y="4617720"/>
            <a:ext cx="292608" cy="292608"/>
          </a:xfrm>
          <a:prstGeom prst="ellipse">
            <a:avLst/>
          </a:prstGeom>
          <a:solidFill>
            <a:srgbClr val="2FB37A"/>
          </a:solidFill>
          <a:ln/>
        </p:spPr>
      </p:sp>
      <p:sp>
        <p:nvSpPr>
          <p:cNvPr id="26" name="Text 24"/>
          <p:cNvSpPr/>
          <p:nvPr/>
        </p:nvSpPr>
        <p:spPr>
          <a:xfrm>
            <a:off x="4568800" y="4617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07712" y="4590288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할인율 ≤20% — 발송 직전 재검사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68800" y="5212080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코드·테스트로 대조 완료 — UI를 우회해도 서버가 차단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98384" y="1600200"/>
            <a:ext cx="3639312" cy="4297680"/>
          </a:xfrm>
          <a:prstGeom prst="roundRect">
            <a:avLst>
              <a:gd name="adj" fmla="val 2261"/>
            </a:avLst>
          </a:prstGeom>
          <a:solidFill>
            <a:srgbClr val="F4F7FA"/>
          </a:solidFill>
          <a:ln/>
        </p:spPr>
      </p:sp>
      <p:sp>
        <p:nvSpPr>
          <p:cNvPr id="30" name="Text 28"/>
          <p:cNvSpPr/>
          <p:nvPr/>
        </p:nvSpPr>
        <p:spPr>
          <a:xfrm>
            <a:off x="8390992" y="185623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기동 잡 — 크론 놓침 복구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8390992" y="246888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390992" y="2788920"/>
            <a:ext cx="30540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무료 플랜은 슬립 → 06:30 크론이 안 돌면 그날 제안이 비어 있음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390992" y="361188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B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390992" y="3931920"/>
            <a:ext cx="30540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기동 시 오늘 제안 자동 생성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날씨가 바뀐 draft는 재생성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(승인·발송된 건 보존)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06:30 크론 원설계는 유지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FE는 empty면 자동 재조회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포인트 — FE·BE 드리프트를 구조로 차단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packages/shared: 타입과 로직을 한 곳에 두고 양쪽이 import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809848" y="1572768"/>
            <a:ext cx="4572000" cy="1371600"/>
          </a:xfrm>
          <a:prstGeom prst="roundRect">
            <a:avLst>
              <a:gd name="adj" fmla="val 6000"/>
            </a:avLst>
          </a:prstGeom>
          <a:solidFill>
            <a:srgbClr val="4A90E2"/>
          </a:solidFill>
          <a:ln/>
        </p:spPr>
      </p:sp>
      <p:sp>
        <p:nvSpPr>
          <p:cNvPr id="5" name="Text 3"/>
          <p:cNvSpPr/>
          <p:nvPr/>
        </p:nvSpPr>
        <p:spPr>
          <a:xfrm>
            <a:off x="3809848" y="17556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packages/shared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809848" y="21945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응답 타입 (Scenario · Proposal · diagnosis)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buildSmsBody() · stripEmoji()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120640" y="2944368"/>
            <a:ext cx="-1828800" cy="621792"/>
          </a:xfrm>
          <a:prstGeom prst="line">
            <a:avLst/>
          </a:prstGeom>
          <a:noFill/>
          <a:ln w="25400">
            <a:solidFill>
              <a:srgbClr val="B0B8C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068312" y="2944368"/>
            <a:ext cx="1828800" cy="621792"/>
          </a:xfrm>
          <a:prstGeom prst="line">
            <a:avLst/>
          </a:prstGeom>
          <a:noFill/>
          <a:ln w="25400">
            <a:solidFill>
              <a:srgbClr val="B0B8C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234440" y="3639312"/>
            <a:ext cx="4114800" cy="13716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38221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apps/web — 미리보기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34440" y="4215384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승인 화면의 문자 미리보기가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buildSmsBody()를 호출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39712" y="3639312"/>
            <a:ext cx="4114800" cy="13716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6839712" y="38221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apps/server — 실제 발송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839712" y="4215384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법적 필터·Solapi 발송이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buildSmsBody()를 호출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371600" y="5385816"/>
            <a:ext cx="347472" cy="347472"/>
          </a:xfrm>
          <a:prstGeom prst="ellipse">
            <a:avLst/>
          </a:prstGeom>
          <a:solidFill>
            <a:srgbClr val="2FB37A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5385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20240" y="5349240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응답 모양이 어긋나면 → 런타임이 아니라 컴파일 에러로 잡힌다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371600" y="5952744"/>
            <a:ext cx="347472" cy="347472"/>
          </a:xfrm>
          <a:prstGeom prst="ellipse">
            <a:avLst/>
          </a:prstGeom>
          <a:solidFill>
            <a:srgbClr val="2FB37A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5952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920240" y="5916168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53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미리보기 = 실제 발송 문구 — 같은 함수를 쓰므로 어긋날 수 없다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534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2926080"/>
            <a:ext cx="7132320" cy="7132320"/>
          </a:xfrm>
          <a:prstGeom prst="ellipse">
            <a:avLst/>
          </a:prstGeom>
          <a:solidFill>
            <a:srgbClr val="2E4059"/>
          </a:solidFill>
          <a:ln/>
        </p:spPr>
      </p:sp>
      <p:sp>
        <p:nvSpPr>
          <p:cNvPr id="3" name="Shape 1"/>
          <p:cNvSpPr/>
          <p:nvPr/>
        </p:nvSpPr>
        <p:spPr>
          <a:xfrm>
            <a:off x="-1920240" y="4206240"/>
            <a:ext cx="4754880" cy="4754880"/>
          </a:xfrm>
          <a:prstGeom prst="ellipse">
            <a:avLst/>
          </a:prstGeom>
          <a:solidFill>
            <a:srgbClr val="2E4059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0" y="6126480"/>
            <a:ext cx="1554480" cy="1554480"/>
          </a:xfrm>
          <a:prstGeom prst="ellipse">
            <a:avLst/>
          </a:prstGeom>
          <a:solidFill>
            <a:srgbClr val="2E405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572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— </a:t>
            </a:r>
            <a:pPr indent="0" marL="0">
              <a:buNone/>
            </a:pPr>
            <a:r>
              <a:rPr lang="en-US" sz="2700" b="1" dirty="0">
                <a:solidFill>
                  <a:srgbClr val="62A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가지 여쭙고 싶습니다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10908792" cy="1920240"/>
          </a:xfrm>
          <a:prstGeom prst="roundRect">
            <a:avLst>
              <a:gd name="adj" fmla="val 4762"/>
            </a:avLst>
          </a:prstGeom>
          <a:solidFill>
            <a:srgbClr val="31465F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1709928"/>
            <a:ext cx="685800" cy="402336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70992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0" y="1673352"/>
            <a:ext cx="9418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현업에서는 API 계약을 어떻게 관리하나요? — OpenAPI 코드젠 · tRPC …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828800" y="2258568"/>
            <a:ext cx="9418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저희는 모노레포 packages/shared에 타입·문자 조립 함수를 두고 양쪽이 import해 드리프트를 컴파일 에러로 잡았습니다.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FE·BE가 다른 언어·다른 저장소로 분리되면, 이런 공유 방식은 어떻게 바뀌나요?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566160"/>
            <a:ext cx="10908792" cy="1920240"/>
          </a:xfrm>
          <a:prstGeom prst="roundRect">
            <a:avLst>
              <a:gd name="adj" fmla="val 4762"/>
            </a:avLst>
          </a:prstGeom>
          <a:solidFill>
            <a:srgbClr val="31465F"/>
          </a:solidFill>
          <a:ln/>
        </p:spPr>
      </p:sp>
      <p:sp>
        <p:nvSpPr>
          <p:cNvPr id="12" name="Shape 10"/>
          <p:cNvSpPr/>
          <p:nvPr/>
        </p:nvSpPr>
        <p:spPr>
          <a:xfrm>
            <a:off x="960120" y="3858768"/>
            <a:ext cx="685800" cy="402336"/>
          </a:xfrm>
          <a:prstGeom prst="roundRect">
            <a:avLst>
              <a:gd name="adj" fmla="val 50000"/>
            </a:avLst>
          </a:prstGeom>
          <a:solidFill>
            <a:srgbClr val="FF7A45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85876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828800" y="3822192"/>
            <a:ext cx="9418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생성한 코드를 리뷰하실 때, 무엇을 보시나요?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828800" y="4407408"/>
            <a:ext cx="9418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코딩 도구로 속도는 냈지만 “동작은 하는데 확신이 없는” 상태가 있습니다.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도구가 제안한 코드를 어디까지 이해하고 넘어가야 할지, 기준이 궁금합니다.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8978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2026-07-23T09:06:55Z</dcterms:created>
  <dcterms:modified xsi:type="dcterms:W3CDTF">2026-07-23T09:06:55Z</dcterms:modified>
</cp:coreProperties>
</file>