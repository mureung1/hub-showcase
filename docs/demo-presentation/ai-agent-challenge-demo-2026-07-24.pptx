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3" r:id="rId6"/>
    <p:sldId id="264" r:id="rId7"/>
    <p:sldId id="260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1E4B"/>
    <a:srgbClr val="FF7E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FCE58C-9A7A-409E-BE4C-9DED80557510}" v="13" dt="2026-07-24T04:01:56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0:00–0:30</a:t>
            </a:r>
          </a:p>
          <a:p>
            <a:r>
              <a:t>안녕하세요. 보유 재료를 기반으로 실행 가능한 레시피를 추천하는 서비스 데모를 시작하겠습니다.</a:t>
            </a:r>
          </a:p>
          <a:p>
            <a:r>
              <a:t>기획 배경과 기술 구조를 간단히 소개한 뒤 실제 화면을 중심으로 시연하겠습니다.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0:30–2:15</a:t>
            </a:r>
          </a:p>
          <a:p>
            <a:r>
              <a:rPr dirty="0" err="1"/>
              <a:t>출발점은</a:t>
            </a:r>
            <a:r>
              <a:rPr dirty="0"/>
              <a:t> </a:t>
            </a:r>
            <a:r>
              <a:rPr dirty="0" err="1"/>
              <a:t>냉장고에</a:t>
            </a:r>
            <a:r>
              <a:rPr dirty="0"/>
              <a:t> </a:t>
            </a:r>
            <a:r>
              <a:rPr dirty="0" err="1"/>
              <a:t>재료가</a:t>
            </a:r>
            <a:r>
              <a:rPr dirty="0"/>
              <a:t> </a:t>
            </a:r>
            <a:r>
              <a:rPr dirty="0" err="1"/>
              <a:t>있어도</a:t>
            </a:r>
            <a:r>
              <a:rPr dirty="0"/>
              <a:t> </a:t>
            </a:r>
            <a:r>
              <a:rPr dirty="0" err="1"/>
              <a:t>오늘</a:t>
            </a:r>
            <a:r>
              <a:rPr dirty="0"/>
              <a:t> </a:t>
            </a:r>
            <a:r>
              <a:rPr dirty="0" err="1"/>
              <a:t>무엇을</a:t>
            </a:r>
            <a:r>
              <a:rPr dirty="0"/>
              <a:t> </a:t>
            </a:r>
            <a:r>
              <a:rPr dirty="0" err="1"/>
              <a:t>먹을지</a:t>
            </a:r>
            <a:r>
              <a:rPr dirty="0"/>
              <a:t> </a:t>
            </a:r>
            <a:r>
              <a:rPr dirty="0" err="1"/>
              <a:t>결정하기</a:t>
            </a:r>
            <a:r>
              <a:rPr dirty="0"/>
              <a:t> </a:t>
            </a:r>
            <a:r>
              <a:rPr dirty="0" err="1"/>
              <a:t>어렵다는</a:t>
            </a:r>
            <a:r>
              <a:rPr dirty="0"/>
              <a:t> </a:t>
            </a:r>
            <a:r>
              <a:rPr dirty="0" err="1"/>
              <a:t>문제였습니다</a:t>
            </a:r>
            <a:r>
              <a:rPr dirty="0"/>
              <a:t>.</a:t>
            </a:r>
          </a:p>
          <a:p>
            <a:r>
              <a:rPr dirty="0" err="1"/>
              <a:t>사용자가</a:t>
            </a:r>
            <a:r>
              <a:rPr dirty="0"/>
              <a:t> </a:t>
            </a:r>
            <a:r>
              <a:rPr dirty="0" err="1"/>
              <a:t>보유</a:t>
            </a:r>
            <a:r>
              <a:rPr dirty="0"/>
              <a:t> </a:t>
            </a:r>
            <a:r>
              <a:rPr dirty="0" err="1"/>
              <a:t>재료와</a:t>
            </a:r>
            <a:r>
              <a:rPr dirty="0"/>
              <a:t> </a:t>
            </a:r>
            <a:r>
              <a:rPr dirty="0" err="1"/>
              <a:t>소비기한을</a:t>
            </a:r>
            <a:r>
              <a:rPr dirty="0"/>
              <a:t> </a:t>
            </a:r>
            <a:r>
              <a:rPr dirty="0" err="1"/>
              <a:t>입력하면</a:t>
            </a:r>
            <a:r>
              <a:rPr dirty="0"/>
              <a:t> Gemini </a:t>
            </a:r>
            <a:r>
              <a:rPr dirty="0" err="1"/>
              <a:t>API가</a:t>
            </a:r>
            <a:r>
              <a:rPr dirty="0"/>
              <a:t> </a:t>
            </a:r>
            <a:r>
              <a:rPr dirty="0" err="1"/>
              <a:t>메뉴</a:t>
            </a:r>
            <a:r>
              <a:rPr dirty="0"/>
              <a:t> </a:t>
            </a:r>
            <a:r>
              <a:rPr dirty="0" err="1"/>
              <a:t>선호도를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반영해</a:t>
            </a:r>
            <a:r>
              <a:rPr dirty="0"/>
              <a:t> </a:t>
            </a:r>
            <a:r>
              <a:rPr dirty="0" err="1"/>
              <a:t>실행</a:t>
            </a:r>
            <a:r>
              <a:rPr dirty="0"/>
              <a:t> </a:t>
            </a:r>
            <a:r>
              <a:rPr dirty="0" err="1"/>
              <a:t>가능한</a:t>
            </a:r>
            <a:r>
              <a:rPr dirty="0"/>
              <a:t> </a:t>
            </a:r>
            <a:r>
              <a:rPr dirty="0" err="1"/>
              <a:t>메뉴를</a:t>
            </a:r>
            <a:r>
              <a:rPr dirty="0"/>
              <a:t> </a:t>
            </a:r>
            <a:r>
              <a:rPr dirty="0" err="1"/>
              <a:t>제안합니다</a:t>
            </a:r>
            <a:r>
              <a:rPr dirty="0"/>
              <a:t>.</a:t>
            </a:r>
          </a:p>
          <a:p>
            <a:r>
              <a:rPr dirty="0" err="1"/>
              <a:t>핵심은</a:t>
            </a:r>
            <a:r>
              <a:rPr dirty="0"/>
              <a:t> </a:t>
            </a:r>
            <a:r>
              <a:rPr dirty="0" err="1"/>
              <a:t>재료</a:t>
            </a:r>
            <a:r>
              <a:rPr dirty="0"/>
              <a:t> </a:t>
            </a:r>
            <a:r>
              <a:rPr dirty="0" err="1"/>
              <a:t>목록을</a:t>
            </a:r>
            <a:r>
              <a:rPr dirty="0"/>
              <a:t> </a:t>
            </a:r>
            <a:r>
              <a:rPr dirty="0" err="1"/>
              <a:t>보여주는</a:t>
            </a:r>
            <a:r>
              <a:rPr dirty="0"/>
              <a:t> </a:t>
            </a:r>
            <a:r>
              <a:rPr dirty="0" err="1"/>
              <a:t>데서</a:t>
            </a:r>
            <a:r>
              <a:rPr dirty="0"/>
              <a:t> </a:t>
            </a:r>
            <a:r>
              <a:rPr dirty="0" err="1"/>
              <a:t>끝나지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메뉴</a:t>
            </a:r>
            <a:r>
              <a:rPr dirty="0"/>
              <a:t> </a:t>
            </a:r>
            <a:r>
              <a:rPr dirty="0" err="1"/>
              <a:t>결정까지</a:t>
            </a:r>
            <a:r>
              <a:rPr dirty="0"/>
              <a:t> </a:t>
            </a:r>
            <a:r>
              <a:rPr dirty="0" err="1"/>
              <a:t>이어</a:t>
            </a:r>
            <a:r>
              <a:rPr dirty="0"/>
              <a:t> </a:t>
            </a:r>
            <a:r>
              <a:rPr dirty="0" err="1"/>
              <a:t>주는</a:t>
            </a:r>
            <a:r>
              <a:rPr dirty="0"/>
              <a:t> </a:t>
            </a:r>
            <a:r>
              <a:rPr dirty="0" err="1"/>
              <a:t>흐름입니다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사용자의 재료 입력부터 레시피 추천까지 이어지는 전체 데이터 흐름</a:t>
            </a:r>
            <a:r>
              <a:rPr lang="ko-KR" altLang="en-US" dirty="0"/>
              <a:t>．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먼저 사용자가 </a:t>
            </a:r>
            <a:r>
              <a:rPr lang="ko-KR" altLang="ko-KR" dirty="0" err="1"/>
              <a:t>React</a:t>
            </a:r>
            <a:r>
              <a:rPr lang="ko-KR" altLang="ko-KR" dirty="0"/>
              <a:t> 화면에서 재료를 등록하거나 수정하면, Express의 재료 관리 </a:t>
            </a:r>
            <a:r>
              <a:rPr lang="ko-KR" altLang="ko-KR" dirty="0" err="1"/>
              <a:t>API를</a:t>
            </a:r>
            <a:r>
              <a:rPr lang="ko-KR" altLang="ko-KR" dirty="0"/>
              <a:t> 통해 </a:t>
            </a:r>
            <a:r>
              <a:rPr lang="ko-KR" altLang="ko-KR" dirty="0" err="1"/>
              <a:t>Supabase에</a:t>
            </a:r>
            <a:r>
              <a:rPr lang="ko-KR" altLang="ko-KR" dirty="0"/>
              <a:t> 저장</a:t>
            </a:r>
            <a:r>
              <a:rPr lang="ko-KR" altLang="en-US" dirty="0"/>
              <a:t>됨．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냉장고 화면을 다시 열 때도 같은 경로로 실제 보유 재료를 불러</a:t>
            </a:r>
            <a:r>
              <a:rPr lang="ko-KR" altLang="en-US" dirty="0"/>
              <a:t>올　수　있음．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메뉴 추천을 요청하면 Express의 AI 추천 서비스가 </a:t>
            </a:r>
            <a:r>
              <a:rPr lang="ko-KR" altLang="ko-KR" dirty="0" err="1"/>
              <a:t>Supabase에서</a:t>
            </a:r>
            <a:r>
              <a:rPr lang="ko-KR" altLang="ko-KR" dirty="0"/>
              <a:t> 보유 재료를 조회, 소비기한과 사용자의 조리 조건을 함께 정리</a:t>
            </a:r>
            <a:r>
              <a:rPr lang="ko-KR" altLang="en-US" dirty="0"/>
              <a:t>함</a:t>
            </a:r>
            <a:r>
              <a:rPr lang="ko-KR" altLang="ko-KR" dirty="0"/>
              <a:t>.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ko-KR" dirty="0"/>
              <a:t>이전에 생성한 추천이 있으면 캐시를 사용하고, 새로운 추천이 필요하면 </a:t>
            </a:r>
            <a:r>
              <a:rPr lang="ko-KR" altLang="ko-KR" dirty="0" err="1"/>
              <a:t>Gemini</a:t>
            </a:r>
            <a:r>
              <a:rPr lang="ko-KR" altLang="ko-KR" dirty="0"/>
              <a:t> </a:t>
            </a:r>
            <a:r>
              <a:rPr lang="ko-KR" altLang="ko-KR" dirty="0" err="1"/>
              <a:t>API를</a:t>
            </a:r>
            <a:r>
              <a:rPr lang="ko-KR" altLang="ko-KR" dirty="0"/>
              <a:t> 호출</a:t>
            </a:r>
            <a:r>
              <a:rPr lang="ko-KR" altLang="en-US" dirty="0"/>
              <a:t>함．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 err="1"/>
              <a:t>Gemini가</a:t>
            </a:r>
            <a:r>
              <a:rPr lang="ko-KR" altLang="ko-KR" dirty="0"/>
              <a:t> 만든 결과는 서버에서 응답 형식, 부족한 재료, 소비기한과 중복 여부를 검증한 뒤 </a:t>
            </a:r>
            <a:r>
              <a:rPr lang="ko-KR" altLang="ko-KR" dirty="0" err="1"/>
              <a:t>Supabase</a:t>
            </a:r>
            <a:r>
              <a:rPr lang="ko-KR" altLang="ko-KR" dirty="0"/>
              <a:t> 캐시에 저장하고, 검증을 통과한 결과만 </a:t>
            </a:r>
            <a:r>
              <a:rPr lang="ko-KR" altLang="ko-KR" dirty="0" err="1"/>
              <a:t>React</a:t>
            </a:r>
            <a:r>
              <a:rPr lang="ko-KR" altLang="ko-KR" dirty="0"/>
              <a:t> 화면으로 전달</a:t>
            </a:r>
            <a:r>
              <a:rPr lang="ko-KR" altLang="en-US" dirty="0"/>
              <a:t>될　수　있음．</a:t>
            </a:r>
            <a:endParaRPr lang="en-US" altLang="ko-KR" dirty="0"/>
          </a:p>
          <a:p>
            <a:endParaRPr lang="ko-KR" altLang="ko-KR" dirty="0"/>
          </a:p>
          <a:p>
            <a:r>
              <a:rPr lang="ko-KR" altLang="ko-KR" dirty="0"/>
              <a:t>이 구조를 통해 </a:t>
            </a:r>
            <a:r>
              <a:rPr lang="ko-KR" altLang="ko-KR" dirty="0" err="1"/>
              <a:t>AI의</a:t>
            </a:r>
            <a:r>
              <a:rPr lang="ko-KR" altLang="ko-KR" dirty="0"/>
              <a:t> 생성 능력은 활용하면서도 데이터 관리와 추천 품질은 서버에서 통제하도록 구성했습니다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4:15–8:30</a:t>
            </a:r>
          </a:p>
          <a:p>
            <a:r>
              <a:t>먼저 냉장고 화면에서 저장된 재료와 소비기한 우선순위를 확인합니다.</a:t>
            </a:r>
          </a:p>
          <a:p>
            <a:r>
              <a:t>새 재료를 등록한 뒤 오늘의 메뉴 탭으로 이동해 조리 방식과 부족 재료 허용 여부를 선택합니다.</a:t>
            </a:r>
          </a:p>
          <a:p>
            <a:r>
              <a:t>추천 카드에서 메뉴를 선택하면 보유 재료, 대체 재료, 조리 순서와 주의사항을 한 화면에서 확인할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D582B-064F-8C5C-5DFF-195B4190A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479B9C-CF7D-92FD-BF2F-391D9BA20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93FF2-C0A4-4375-BE8D-E282CF51E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4:15–8:30</a:t>
            </a:r>
          </a:p>
          <a:p>
            <a:r>
              <a:t>먼저 냉장고 화면에서 저장된 재료와 소비기한 우선순위를 확인합니다.</a:t>
            </a:r>
          </a:p>
          <a:p>
            <a:r>
              <a:t>새 재료를 등록한 뒤 오늘의 메뉴 탭으로 이동해 조리 방식과 부족 재료 허용 여부를 선택합니다.</a:t>
            </a:r>
          </a:p>
          <a:p>
            <a:r>
              <a:t>추천 카드에서 메뉴를 선택하면 보유 재료, 대체 재료, 조리 순서와 주의사항을 한 화면에서 확인할 수 있습니다.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9EF38-8241-1C6C-5CCC-F4E31B209D5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9836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931DE-A5D3-79A3-9FA5-1A081D8AC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0B8238-2107-2518-C507-70AFB392A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DE176E-3E7E-CBA1-26A4-9C157B9BE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4:15–8:30</a:t>
            </a:r>
          </a:p>
          <a:p>
            <a:r>
              <a:t>먼저 냉장고 화면에서 저장된 재료와 소비기한 우선순위를 확인합니다.</a:t>
            </a:r>
          </a:p>
          <a:p>
            <a:r>
              <a:t>새 재료를 등록한 뒤 오늘의 메뉴 탭으로 이동해 조리 방식과 부족 재료 허용 여부를 선택합니다.</a:t>
            </a:r>
          </a:p>
          <a:p>
            <a:r>
              <a:t>추천 카드에서 메뉴를 선택하면 보유 재료, 대체 재료, 조리 순서와 주의사항을 한 화면에서 확인할 수 있습니다.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65D5F-6E83-08D9-EAC3-CFF1BE69EE6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48353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8:30–10:00</a:t>
            </a:r>
          </a:p>
          <a:p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단계는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안정화</a:t>
            </a:r>
            <a:r>
              <a:rPr dirty="0"/>
              <a:t>, </a:t>
            </a:r>
            <a:r>
              <a:rPr dirty="0" err="1"/>
              <a:t>검증</a:t>
            </a:r>
            <a:r>
              <a:rPr dirty="0"/>
              <a:t> </a:t>
            </a:r>
            <a:r>
              <a:rPr dirty="0" err="1"/>
              <a:t>자동화</a:t>
            </a:r>
            <a:r>
              <a:rPr dirty="0"/>
              <a:t>, </a:t>
            </a:r>
            <a:r>
              <a:rPr dirty="0" err="1"/>
              <a:t>서비스</a:t>
            </a:r>
            <a:r>
              <a:rPr dirty="0"/>
              <a:t> </a:t>
            </a:r>
            <a:r>
              <a:rPr dirty="0" err="1"/>
              <a:t>배포의</a:t>
            </a:r>
            <a:r>
              <a:rPr dirty="0"/>
              <a:t> 세 </a:t>
            </a:r>
            <a:r>
              <a:rPr dirty="0" err="1"/>
              <a:t>단계입니다</a:t>
            </a:r>
            <a:r>
              <a:rPr dirty="0"/>
              <a:t>.</a:t>
            </a:r>
          </a:p>
          <a:p>
            <a:r>
              <a:rPr dirty="0" err="1"/>
              <a:t>먼저</a:t>
            </a:r>
            <a:r>
              <a:rPr dirty="0"/>
              <a:t> </a:t>
            </a:r>
            <a:r>
              <a:rPr dirty="0" err="1"/>
              <a:t>비정형</a:t>
            </a:r>
            <a:r>
              <a:rPr dirty="0"/>
              <a:t> </a:t>
            </a:r>
            <a:r>
              <a:rPr dirty="0" err="1"/>
              <a:t>수량과</a:t>
            </a:r>
            <a:r>
              <a:rPr dirty="0"/>
              <a:t> </a:t>
            </a:r>
            <a:r>
              <a:rPr dirty="0" err="1"/>
              <a:t>예외</a:t>
            </a:r>
            <a:r>
              <a:rPr dirty="0"/>
              <a:t> </a:t>
            </a:r>
            <a:r>
              <a:rPr dirty="0" err="1"/>
              <a:t>케이스를</a:t>
            </a:r>
            <a:r>
              <a:rPr dirty="0"/>
              <a:t> </a:t>
            </a:r>
            <a:r>
              <a:rPr dirty="0" err="1"/>
              <a:t>보완해</a:t>
            </a:r>
            <a:r>
              <a:rPr dirty="0"/>
              <a:t> </a:t>
            </a:r>
            <a:r>
              <a:rPr dirty="0" err="1"/>
              <a:t>테스트를</a:t>
            </a:r>
            <a:r>
              <a:rPr dirty="0"/>
              <a:t> </a:t>
            </a:r>
            <a:r>
              <a:rPr dirty="0" err="1"/>
              <a:t>완전히</a:t>
            </a:r>
            <a:r>
              <a:rPr dirty="0"/>
              <a:t> </a:t>
            </a:r>
            <a:r>
              <a:rPr dirty="0" err="1"/>
              <a:t>통과시키고</a:t>
            </a:r>
            <a:r>
              <a:rPr dirty="0"/>
              <a:t>, GitHub </a:t>
            </a:r>
            <a:r>
              <a:rPr dirty="0" err="1"/>
              <a:t>Actions에서</a:t>
            </a:r>
            <a:r>
              <a:rPr dirty="0"/>
              <a:t> </a:t>
            </a:r>
            <a:r>
              <a:rPr dirty="0" err="1"/>
              <a:t>lint와</a:t>
            </a:r>
            <a:r>
              <a:rPr dirty="0"/>
              <a:t> test, </a:t>
            </a:r>
            <a:r>
              <a:rPr dirty="0" err="1"/>
              <a:t>build를</a:t>
            </a:r>
            <a:r>
              <a:rPr dirty="0"/>
              <a:t> </a:t>
            </a:r>
            <a:r>
              <a:rPr dirty="0" err="1"/>
              <a:t>자동화하겠습니다</a:t>
            </a:r>
            <a:r>
              <a:rPr dirty="0"/>
              <a:t>.</a:t>
            </a:r>
          </a:p>
          <a:p>
            <a:r>
              <a:rPr dirty="0" err="1"/>
              <a:t>이후</a:t>
            </a:r>
            <a:r>
              <a:rPr dirty="0"/>
              <a:t> </a:t>
            </a:r>
            <a:r>
              <a:rPr dirty="0" err="1"/>
              <a:t>운영</a:t>
            </a:r>
            <a:r>
              <a:rPr dirty="0"/>
              <a:t> </a:t>
            </a:r>
            <a:r>
              <a:rPr dirty="0" err="1"/>
              <a:t>환경과</a:t>
            </a:r>
            <a:r>
              <a:rPr dirty="0"/>
              <a:t> </a:t>
            </a:r>
            <a:r>
              <a:rPr dirty="0" err="1"/>
              <a:t>모니터링을</a:t>
            </a:r>
            <a:r>
              <a:rPr dirty="0"/>
              <a:t> </a:t>
            </a:r>
            <a:r>
              <a:rPr dirty="0" err="1"/>
              <a:t>구성해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사용자</a:t>
            </a:r>
            <a:r>
              <a:rPr dirty="0"/>
              <a:t> </a:t>
            </a:r>
            <a:r>
              <a:rPr dirty="0" err="1"/>
              <a:t>피드백으로</a:t>
            </a:r>
            <a:r>
              <a:rPr dirty="0"/>
              <a:t> </a:t>
            </a:r>
            <a:r>
              <a:rPr dirty="0" err="1"/>
              <a:t>추천</a:t>
            </a:r>
            <a:r>
              <a:rPr dirty="0"/>
              <a:t> </a:t>
            </a:r>
            <a:r>
              <a:rPr dirty="0" err="1"/>
              <a:t>품질을</a:t>
            </a:r>
            <a:r>
              <a:rPr dirty="0"/>
              <a:t> </a:t>
            </a:r>
            <a:r>
              <a:rPr dirty="0" err="1"/>
              <a:t>개선하겠습니다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-accent-green">
            <a:extLst>
              <a:ext uri="{FF2B5EF4-FFF2-40B4-BE49-F238E27FC236}">
                <a16:creationId xmlns:a16="http://schemas.microsoft.com/office/drawing/2014/main" id="{3904B3A0-F659-40D9-8BFC-AE8384957541}"/>
              </a:ext>
            </a:extLst>
          </p:cNvPr>
          <p:cNvSpPr>
            <a:spLocks noGrp="1"/>
          </p:cNvSpPr>
          <p:nvPr/>
        </p:nvSpPr>
        <p:spPr>
          <a:xfrm>
            <a:off x="457200" y="438150"/>
            <a:ext cx="152400" cy="152400"/>
          </a:xfrm>
          <a:prstGeom prst="rect">
            <a:avLst/>
          </a:prstGeom>
          <a:solidFill>
            <a:srgbClr val="006D3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itle-accent-orange">
            <a:extLst>
              <a:ext uri="{FF2B5EF4-FFF2-40B4-BE49-F238E27FC236}">
                <a16:creationId xmlns:a16="http://schemas.microsoft.com/office/drawing/2014/main" id="{7B83EDB4-A689-4FE5-941C-C790F6FE5B65}"/>
              </a:ext>
            </a:extLst>
          </p:cNvPr>
          <p:cNvSpPr>
            <a:spLocks noGrp="1"/>
          </p:cNvSpPr>
          <p:nvPr/>
        </p:nvSpPr>
        <p:spPr>
          <a:xfrm>
            <a:off x="666750" y="438150"/>
            <a:ext cx="152400" cy="152400"/>
          </a:xfrm>
          <a:prstGeom prst="rect">
            <a:avLst/>
          </a:prstGeom>
          <a:solidFill>
            <a:srgbClr val="FF7E4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itle-kicker">
            <a:extLst>
              <a:ext uri="{FF2B5EF4-FFF2-40B4-BE49-F238E27FC236}">
                <a16:creationId xmlns:a16="http://schemas.microsoft.com/office/drawing/2014/main" id="{AE482DC0-8AB4-4EEC-A407-0477BDF60A97}"/>
              </a:ext>
            </a:extLst>
          </p:cNvPr>
          <p:cNvSpPr>
            <a:spLocks noGrp="1"/>
          </p:cNvSpPr>
          <p:nvPr/>
        </p:nvSpPr>
        <p:spPr>
          <a:xfrm>
            <a:off x="971550" y="400050"/>
            <a:ext cx="51435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AI AGENT CHALLENGE · DEMO DAY</a:t>
            </a:r>
          </a:p>
        </p:txBody>
      </p:sp>
      <p:sp>
        <p:nvSpPr>
          <p:cNvPr id="4" name="deck-title">
            <a:extLst>
              <a:ext uri="{FF2B5EF4-FFF2-40B4-BE49-F238E27FC236}">
                <a16:creationId xmlns:a16="http://schemas.microsoft.com/office/drawing/2014/main" id="{815F48F8-856E-46A3-9D3A-1B6556BAC807}"/>
              </a:ext>
            </a:extLst>
          </p:cNvPr>
          <p:cNvSpPr>
            <a:spLocks noGrp="1"/>
          </p:cNvSpPr>
          <p:nvPr/>
        </p:nvSpPr>
        <p:spPr>
          <a:xfrm>
            <a:off x="457200" y="2152650"/>
            <a:ext cx="9906000" cy="1695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525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보유 재료 기반
레시피 추천</a:t>
            </a:r>
          </a:p>
        </p:txBody>
      </p:sp>
      <p:sp>
        <p:nvSpPr>
          <p:cNvPr id="5" name="deck-subtitle">
            <a:extLst>
              <a:ext uri="{FF2B5EF4-FFF2-40B4-BE49-F238E27FC236}">
                <a16:creationId xmlns:a16="http://schemas.microsoft.com/office/drawing/2014/main" id="{4F1EB79E-D71F-425E-9B53-7C28DDDA8595}"/>
              </a:ext>
            </a:extLst>
          </p:cNvPr>
          <p:cNvSpPr>
            <a:spLocks noGrp="1"/>
          </p:cNvSpPr>
          <p:nvPr/>
        </p:nvSpPr>
        <p:spPr>
          <a:xfrm>
            <a:off x="457200" y="4171950"/>
            <a:ext cx="6858000" cy="4953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AI Agent Challenge 데모</a:t>
            </a:r>
          </a:p>
        </p:txBody>
      </p:sp>
      <p:sp>
        <p:nvSpPr>
          <p:cNvPr id="6" name="title-rule">
            <a:extLst>
              <a:ext uri="{FF2B5EF4-FFF2-40B4-BE49-F238E27FC236}">
                <a16:creationId xmlns:a16="http://schemas.microsoft.com/office/drawing/2014/main" id="{8EC6FB3A-AAC8-43C0-BCFB-5D3F94585D8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28575"/>
          </a:xfrm>
          <a:prstGeom prst="rect">
            <a:avLst/>
          </a:prstGeom>
          <a:solidFill>
            <a:srgbClr val="1A1C19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877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kicker-2">
            <a:extLst>
              <a:ext uri="{FF2B5EF4-FFF2-40B4-BE49-F238E27FC236}">
                <a16:creationId xmlns:a16="http://schemas.microsoft.com/office/drawing/2014/main" id="{62CC586C-2206-4F9D-8A54-C0F79D6C9F93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40005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01 · 기획 소개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C725BA5E-61D4-497F-B141-A71BF8150D34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277600" cy="685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냉장고 속 재료를 오늘의 메뉴로</a:t>
            </a:r>
          </a:p>
        </p:txBody>
      </p:sp>
      <p:sp>
        <p:nvSpPr>
          <p:cNvPr id="3" name="problem-label">
            <a:extLst>
              <a:ext uri="{FF2B5EF4-FFF2-40B4-BE49-F238E27FC236}">
                <a16:creationId xmlns:a16="http://schemas.microsoft.com/office/drawing/2014/main" id="{9160FFDE-661C-4ACD-BE5C-B6C630934DA3}"/>
              </a:ext>
            </a:extLst>
          </p:cNvPr>
          <p:cNvSpPr>
            <a:spLocks noGrp="1"/>
          </p:cNvSpPr>
          <p:nvPr/>
        </p:nvSpPr>
        <p:spPr>
          <a:xfrm>
            <a:off x="457200" y="1733550"/>
            <a:ext cx="1143000" cy="247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D91E4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dirty="0" err="1"/>
              <a:t>문제</a:t>
            </a:r>
            <a:endParaRPr sz="1500" dirty="0"/>
          </a:p>
        </p:txBody>
      </p:sp>
      <p:sp>
        <p:nvSpPr>
          <p:cNvPr id="4" name="problem-copy">
            <a:extLst>
              <a:ext uri="{FF2B5EF4-FFF2-40B4-BE49-F238E27FC236}">
                <a16:creationId xmlns:a16="http://schemas.microsoft.com/office/drawing/2014/main" id="{6995D5BB-C1E0-4F54-A945-E87E3D7FF6E5}"/>
              </a:ext>
            </a:extLst>
          </p:cNvPr>
          <p:cNvSpPr>
            <a:spLocks noGrp="1"/>
          </p:cNvSpPr>
          <p:nvPr/>
        </p:nvSpPr>
        <p:spPr>
          <a:xfrm>
            <a:off x="457200" y="2114550"/>
            <a:ext cx="4495800" cy="914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재료는</a:t>
            </a:r>
            <a:r>
              <a:rPr dirty="0"/>
              <a:t> </a:t>
            </a:r>
            <a:r>
              <a:rPr dirty="0" err="1"/>
              <a:t>있지만</a:t>
            </a:r>
            <a:r>
              <a:rPr dirty="0"/>
              <a:t>
</a:t>
            </a:r>
            <a:r>
              <a:rPr dirty="0" err="1"/>
              <a:t>메뉴</a:t>
            </a:r>
            <a:r>
              <a:rPr dirty="0"/>
              <a:t> </a:t>
            </a:r>
            <a:r>
              <a:rPr dirty="0" err="1"/>
              <a:t>결정은</a:t>
            </a:r>
            <a:r>
              <a:rPr dirty="0"/>
              <a:t> </a:t>
            </a:r>
            <a:r>
              <a:rPr lang="ko-KR" altLang="en-US" dirty="0"/>
              <a:t>어려운 사용자</a:t>
            </a:r>
            <a:endParaRPr dirty="0"/>
          </a:p>
        </p:txBody>
      </p:sp>
      <p:sp>
        <p:nvSpPr>
          <p:cNvPr id="5" name="solution-label">
            <a:extLst>
              <a:ext uri="{FF2B5EF4-FFF2-40B4-BE49-F238E27FC236}">
                <a16:creationId xmlns:a16="http://schemas.microsoft.com/office/drawing/2014/main" id="{0C49A124-C003-4F8E-9E12-36E9176737F6}"/>
              </a:ext>
            </a:extLst>
          </p:cNvPr>
          <p:cNvSpPr>
            <a:spLocks noGrp="1"/>
          </p:cNvSpPr>
          <p:nvPr/>
        </p:nvSpPr>
        <p:spPr>
          <a:xfrm>
            <a:off x="457200" y="3448050"/>
            <a:ext cx="1143000" cy="247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sz="1500" dirty="0"/>
              <a:t>제안</a:t>
            </a:r>
            <a:endParaRPr sz="1500" dirty="0"/>
          </a:p>
        </p:txBody>
      </p:sp>
      <p:sp>
        <p:nvSpPr>
          <p:cNvPr id="6" name="solution-copy">
            <a:extLst>
              <a:ext uri="{FF2B5EF4-FFF2-40B4-BE49-F238E27FC236}">
                <a16:creationId xmlns:a16="http://schemas.microsoft.com/office/drawing/2014/main" id="{08633A6C-0346-4A04-A5F0-063C6FCD77AE}"/>
              </a:ext>
            </a:extLst>
          </p:cNvPr>
          <p:cNvSpPr>
            <a:spLocks noGrp="1"/>
          </p:cNvSpPr>
          <p:nvPr/>
        </p:nvSpPr>
        <p:spPr>
          <a:xfrm>
            <a:off x="457200" y="3829050"/>
            <a:ext cx="4629150" cy="723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1" dirty="0" err="1"/>
              <a:t>보유</a:t>
            </a:r>
            <a:r>
              <a:rPr sz="2000" b="1" dirty="0"/>
              <a:t> </a:t>
            </a:r>
            <a:r>
              <a:rPr sz="2000" b="1" dirty="0" err="1"/>
              <a:t>재료</a:t>
            </a:r>
            <a:r>
              <a:rPr sz="2000" b="1" dirty="0"/>
              <a:t> · </a:t>
            </a:r>
            <a:r>
              <a:rPr sz="2000" b="1" dirty="0" err="1"/>
              <a:t>소비기한</a:t>
            </a:r>
            <a:r>
              <a:rPr sz="2000" b="1" dirty="0"/>
              <a:t> · </a:t>
            </a:r>
            <a:r>
              <a:rPr sz="2000" b="1" dirty="0" err="1"/>
              <a:t>메뉴</a:t>
            </a:r>
            <a:r>
              <a:rPr sz="2000" b="1" dirty="0"/>
              <a:t> </a:t>
            </a:r>
            <a:r>
              <a:rPr sz="2000" b="1" dirty="0" err="1"/>
              <a:t>선호도</a:t>
            </a:r>
            <a:r>
              <a:rPr sz="2000" b="1" dirty="0"/>
              <a:t> </a:t>
            </a:r>
            <a:r>
              <a:rPr sz="2000" b="1" dirty="0" err="1"/>
              <a:t>기반</a:t>
            </a:r>
            <a:r>
              <a:rPr sz="2000" b="1" dirty="0"/>
              <a:t>
</a:t>
            </a:r>
            <a:r>
              <a:rPr sz="2000" b="1" dirty="0" err="1"/>
              <a:t>실행</a:t>
            </a:r>
            <a:r>
              <a:rPr sz="2000" b="1" dirty="0"/>
              <a:t> </a:t>
            </a:r>
            <a:r>
              <a:rPr sz="2000" b="1" dirty="0" err="1"/>
              <a:t>가능한</a:t>
            </a:r>
            <a:r>
              <a:rPr sz="2000" b="1" dirty="0"/>
              <a:t> </a:t>
            </a:r>
            <a:r>
              <a:rPr sz="2000" b="1" dirty="0" err="1"/>
              <a:t>메뉴</a:t>
            </a:r>
            <a:r>
              <a:rPr sz="2000" b="1" dirty="0"/>
              <a:t> </a:t>
            </a:r>
            <a:r>
              <a:rPr sz="2000" b="1" dirty="0" err="1"/>
              <a:t>제안</a:t>
            </a:r>
            <a:endParaRPr sz="2000" b="1" dirty="0"/>
          </a:p>
        </p:txBody>
      </p:sp>
      <p:sp>
        <p:nvSpPr>
          <p:cNvPr id="7" name="planning-callout">
            <a:extLst>
              <a:ext uri="{FF2B5EF4-FFF2-40B4-BE49-F238E27FC236}">
                <a16:creationId xmlns:a16="http://schemas.microsoft.com/office/drawing/2014/main" id="{584E3146-5F6D-44EC-B128-F0C9A753AB25}"/>
              </a:ext>
            </a:extLst>
          </p:cNvPr>
          <p:cNvSpPr>
            <a:spLocks noGrp="1"/>
          </p:cNvSpPr>
          <p:nvPr/>
        </p:nvSpPr>
        <p:spPr>
          <a:xfrm>
            <a:off x="457200" y="5048250"/>
            <a:ext cx="4629150" cy="781050"/>
          </a:xfrm>
          <a:prstGeom prst="roundRect">
            <a:avLst>
              <a:gd name="adj" fmla="val 9756"/>
            </a:avLst>
          </a:prstGeom>
          <a:solidFill>
            <a:srgbClr val="EAF3EC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planning-callout-copy">
            <a:extLst>
              <a:ext uri="{FF2B5EF4-FFF2-40B4-BE49-F238E27FC236}">
                <a16:creationId xmlns:a16="http://schemas.microsoft.com/office/drawing/2014/main" id="{B2DAB2FE-0FBC-4828-AC1C-1E717C651760}"/>
              </a:ext>
            </a:extLst>
          </p:cNvPr>
          <p:cNvSpPr>
            <a:spLocks noGrp="1"/>
          </p:cNvSpPr>
          <p:nvPr/>
        </p:nvSpPr>
        <p:spPr>
          <a:xfrm>
            <a:off x="704850" y="5276850"/>
            <a:ext cx="4114800" cy="304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725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보유한 재료 관리 및 메뉴 결정</a:t>
            </a:r>
            <a:endParaRPr dirty="0"/>
          </a:p>
        </p:txBody>
      </p:sp>
      <p:sp>
        <p:nvSpPr>
          <p:cNvPr id="9" name="flow-arrow-1">
            <a:extLst>
              <a:ext uri="{FF2B5EF4-FFF2-40B4-BE49-F238E27FC236}">
                <a16:creationId xmlns:a16="http://schemas.microsoft.com/office/drawing/2014/main" id="{B3CB4DCE-D745-4687-A4F0-093F14361F9F}"/>
              </a:ext>
            </a:extLst>
          </p:cNvPr>
          <p:cNvSpPr>
            <a:spLocks noGrp="1"/>
          </p:cNvSpPr>
          <p:nvPr/>
        </p:nvSpPr>
        <p:spPr>
          <a:xfrm>
            <a:off x="7341798" y="3314700"/>
            <a:ext cx="381000" cy="476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240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→</a:t>
            </a:r>
          </a:p>
        </p:txBody>
      </p:sp>
      <p:sp>
        <p:nvSpPr>
          <p:cNvPr id="10" name="flow-arrow-2">
            <a:extLst>
              <a:ext uri="{FF2B5EF4-FFF2-40B4-BE49-F238E27FC236}">
                <a16:creationId xmlns:a16="http://schemas.microsoft.com/office/drawing/2014/main" id="{EC8F2D55-5A36-4BF6-B2C1-672E42420DFA}"/>
              </a:ext>
            </a:extLst>
          </p:cNvPr>
          <p:cNvSpPr>
            <a:spLocks noGrp="1"/>
          </p:cNvSpPr>
          <p:nvPr/>
        </p:nvSpPr>
        <p:spPr>
          <a:xfrm>
            <a:off x="9837348" y="3314700"/>
            <a:ext cx="381000" cy="476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2400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→</a:t>
            </a:r>
          </a:p>
        </p:txBody>
      </p:sp>
      <p:sp>
        <p:nvSpPr>
          <p:cNvPr id="11" name="flow-node-1">
            <a:extLst>
              <a:ext uri="{FF2B5EF4-FFF2-40B4-BE49-F238E27FC236}">
                <a16:creationId xmlns:a16="http://schemas.microsoft.com/office/drawing/2014/main" id="{1A17494E-79EA-43CD-A773-C4092CB252EA}"/>
              </a:ext>
            </a:extLst>
          </p:cNvPr>
          <p:cNvSpPr>
            <a:spLocks noGrp="1"/>
          </p:cNvSpPr>
          <p:nvPr/>
        </p:nvSpPr>
        <p:spPr>
          <a:xfrm>
            <a:off x="5512998" y="2667000"/>
            <a:ext cx="1440000" cy="1847850"/>
          </a:xfrm>
          <a:prstGeom prst="roundRect">
            <a:avLst>
              <a:gd name="adj" fmla="val 4124"/>
            </a:avLst>
          </a:prstGeom>
          <a:solidFill>
            <a:srgbClr val="EAF3EC"/>
          </a:solidFill>
          <a:ln w="9525">
            <a:solidFill>
              <a:srgbClr val="E2DD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flow-node-2">
            <a:extLst>
              <a:ext uri="{FF2B5EF4-FFF2-40B4-BE49-F238E27FC236}">
                <a16:creationId xmlns:a16="http://schemas.microsoft.com/office/drawing/2014/main" id="{55C418D2-CBB3-4950-91C7-2D2310720560}"/>
              </a:ext>
            </a:extLst>
          </p:cNvPr>
          <p:cNvSpPr>
            <a:spLocks noGrp="1"/>
          </p:cNvSpPr>
          <p:nvPr/>
        </p:nvSpPr>
        <p:spPr>
          <a:xfrm>
            <a:off x="8008548" y="2667000"/>
            <a:ext cx="1440000" cy="1847850"/>
          </a:xfrm>
          <a:prstGeom prst="roundRect">
            <a:avLst>
              <a:gd name="adj" fmla="val 4124"/>
            </a:avLst>
          </a:prstGeom>
          <a:solidFill>
            <a:srgbClr val="FFF0E8"/>
          </a:solidFill>
          <a:ln w="9525">
            <a:solidFill>
              <a:srgbClr val="E2DD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flow-node-3">
            <a:extLst>
              <a:ext uri="{FF2B5EF4-FFF2-40B4-BE49-F238E27FC236}">
                <a16:creationId xmlns:a16="http://schemas.microsoft.com/office/drawing/2014/main" id="{E5A98C7C-762A-4B8C-BCCE-CE7491A4BA2F}"/>
              </a:ext>
            </a:extLst>
          </p:cNvPr>
          <p:cNvSpPr>
            <a:spLocks noGrp="1"/>
          </p:cNvSpPr>
          <p:nvPr/>
        </p:nvSpPr>
        <p:spPr>
          <a:xfrm>
            <a:off x="10504098" y="2667000"/>
            <a:ext cx="1440000" cy="184785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DD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flow-num-1">
            <a:extLst>
              <a:ext uri="{FF2B5EF4-FFF2-40B4-BE49-F238E27FC236}">
                <a16:creationId xmlns:a16="http://schemas.microsoft.com/office/drawing/2014/main" id="{12FB7630-D390-4135-A430-9662CA39A98A}"/>
              </a:ext>
            </a:extLst>
          </p:cNvPr>
          <p:cNvSpPr>
            <a:spLocks noGrp="1"/>
          </p:cNvSpPr>
          <p:nvPr/>
        </p:nvSpPr>
        <p:spPr>
          <a:xfrm>
            <a:off x="5741598" y="2895600"/>
            <a:ext cx="5715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01</a:t>
            </a:r>
          </a:p>
        </p:txBody>
      </p:sp>
      <p:sp>
        <p:nvSpPr>
          <p:cNvPr id="15" name="flow-title-1">
            <a:extLst>
              <a:ext uri="{FF2B5EF4-FFF2-40B4-BE49-F238E27FC236}">
                <a16:creationId xmlns:a16="http://schemas.microsoft.com/office/drawing/2014/main" id="{BC6BC72F-4D7D-4D64-A4B2-8AC9D3504600}"/>
              </a:ext>
            </a:extLst>
          </p:cNvPr>
          <p:cNvSpPr>
            <a:spLocks noGrp="1"/>
          </p:cNvSpPr>
          <p:nvPr/>
        </p:nvSpPr>
        <p:spPr>
          <a:xfrm>
            <a:off x="5684861" y="3308590"/>
            <a:ext cx="1096274" cy="666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냉장고</a:t>
            </a:r>
            <a:r>
              <a:rPr dirty="0"/>
              <a:t>
</a:t>
            </a:r>
            <a:r>
              <a:rPr dirty="0" err="1"/>
              <a:t>보유</a:t>
            </a:r>
            <a:r>
              <a:rPr dirty="0"/>
              <a:t> </a:t>
            </a:r>
            <a:r>
              <a:rPr dirty="0" err="1"/>
              <a:t>재료</a:t>
            </a:r>
            <a:r>
              <a:rPr dirty="0"/>
              <a:t> </a:t>
            </a:r>
            <a:endParaRPr lang="en-US" dirty="0"/>
          </a:p>
          <a:p>
            <a:pPr>
              <a:defRPr sz="1875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입력</a:t>
            </a:r>
            <a:endParaRPr dirty="0"/>
          </a:p>
        </p:txBody>
      </p:sp>
      <p:sp>
        <p:nvSpPr>
          <p:cNvPr id="16" name="flow-num-2">
            <a:extLst>
              <a:ext uri="{FF2B5EF4-FFF2-40B4-BE49-F238E27FC236}">
                <a16:creationId xmlns:a16="http://schemas.microsoft.com/office/drawing/2014/main" id="{4686F19A-1484-493D-8E9C-F149A2D5AD79}"/>
              </a:ext>
            </a:extLst>
          </p:cNvPr>
          <p:cNvSpPr>
            <a:spLocks noGrp="1"/>
          </p:cNvSpPr>
          <p:nvPr/>
        </p:nvSpPr>
        <p:spPr>
          <a:xfrm>
            <a:off x="8237148" y="2895600"/>
            <a:ext cx="5715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17" name="flow-title-2">
            <a:extLst>
              <a:ext uri="{FF2B5EF4-FFF2-40B4-BE49-F238E27FC236}">
                <a16:creationId xmlns:a16="http://schemas.microsoft.com/office/drawing/2014/main" id="{7CCAA9C8-1927-4CBA-BFA4-59C28D7AD075}"/>
              </a:ext>
            </a:extLst>
          </p:cNvPr>
          <p:cNvSpPr>
            <a:spLocks noGrp="1"/>
          </p:cNvSpPr>
          <p:nvPr/>
        </p:nvSpPr>
        <p:spPr>
          <a:xfrm>
            <a:off x="8151477" y="3308590"/>
            <a:ext cx="1154142" cy="666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Gemini API
</a:t>
            </a:r>
            <a:r>
              <a:rPr dirty="0" err="1"/>
              <a:t>메뉴</a:t>
            </a:r>
            <a:r>
              <a:rPr dirty="0"/>
              <a:t> </a:t>
            </a:r>
            <a:r>
              <a:rPr dirty="0" err="1"/>
              <a:t>생성</a:t>
            </a:r>
            <a:endParaRPr dirty="0"/>
          </a:p>
        </p:txBody>
      </p:sp>
      <p:sp>
        <p:nvSpPr>
          <p:cNvPr id="18" name="flow-num-3">
            <a:extLst>
              <a:ext uri="{FF2B5EF4-FFF2-40B4-BE49-F238E27FC236}">
                <a16:creationId xmlns:a16="http://schemas.microsoft.com/office/drawing/2014/main" id="{735677C6-EAD7-4DBE-B90B-B650058FDDB9}"/>
              </a:ext>
            </a:extLst>
          </p:cNvPr>
          <p:cNvSpPr>
            <a:spLocks noGrp="1"/>
          </p:cNvSpPr>
          <p:nvPr/>
        </p:nvSpPr>
        <p:spPr>
          <a:xfrm>
            <a:off x="10694598" y="2895600"/>
            <a:ext cx="5715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0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19" name="flow-title-3">
            <a:extLst>
              <a:ext uri="{FF2B5EF4-FFF2-40B4-BE49-F238E27FC236}">
                <a16:creationId xmlns:a16="http://schemas.microsoft.com/office/drawing/2014/main" id="{56FD7C1E-37E6-4208-BC53-48BA601ED682}"/>
              </a:ext>
            </a:extLst>
          </p:cNvPr>
          <p:cNvSpPr>
            <a:spLocks noGrp="1"/>
          </p:cNvSpPr>
          <p:nvPr/>
        </p:nvSpPr>
        <p:spPr>
          <a:xfrm>
            <a:off x="10709748" y="3308590"/>
            <a:ext cx="1028700" cy="666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맞춤메뉴</a:t>
            </a:r>
            <a:r>
              <a:rPr dirty="0"/>
              <a:t> </a:t>
            </a:r>
            <a:r>
              <a:rPr dirty="0" err="1"/>
              <a:t>추천</a:t>
            </a:r>
            <a:endParaRPr dirty="0"/>
          </a:p>
        </p:txBody>
      </p:sp>
      <p:sp>
        <p:nvSpPr>
          <p:cNvPr id="20" name="flow-caption-1">
            <a:extLst>
              <a:ext uri="{FF2B5EF4-FFF2-40B4-BE49-F238E27FC236}">
                <a16:creationId xmlns:a16="http://schemas.microsoft.com/office/drawing/2014/main" id="{BE570B35-32BC-4134-89C9-90A5577D2E3A}"/>
              </a:ext>
            </a:extLst>
          </p:cNvPr>
          <p:cNvSpPr>
            <a:spLocks noGrp="1"/>
          </p:cNvSpPr>
          <p:nvPr/>
        </p:nvSpPr>
        <p:spPr>
          <a:xfrm>
            <a:off x="5280498" y="4800600"/>
            <a:ext cx="1905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27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b="1" dirty="0" err="1"/>
              <a:t>입력</a:t>
            </a:r>
            <a:endParaRPr b="1" dirty="0"/>
          </a:p>
        </p:txBody>
      </p:sp>
      <p:sp>
        <p:nvSpPr>
          <p:cNvPr id="21" name="flow-caption-2">
            <a:extLst>
              <a:ext uri="{FF2B5EF4-FFF2-40B4-BE49-F238E27FC236}">
                <a16:creationId xmlns:a16="http://schemas.microsoft.com/office/drawing/2014/main" id="{FC4163E1-2517-4587-879A-66A344536846}"/>
              </a:ext>
            </a:extLst>
          </p:cNvPr>
          <p:cNvSpPr>
            <a:spLocks noGrp="1"/>
          </p:cNvSpPr>
          <p:nvPr/>
        </p:nvSpPr>
        <p:spPr>
          <a:xfrm>
            <a:off x="7776048" y="4800600"/>
            <a:ext cx="1905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27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b="1" dirty="0" err="1"/>
              <a:t>분석·생성</a:t>
            </a:r>
            <a:endParaRPr b="1" dirty="0"/>
          </a:p>
        </p:txBody>
      </p:sp>
      <p:sp>
        <p:nvSpPr>
          <p:cNvPr id="22" name="flow-caption-3">
            <a:extLst>
              <a:ext uri="{FF2B5EF4-FFF2-40B4-BE49-F238E27FC236}">
                <a16:creationId xmlns:a16="http://schemas.microsoft.com/office/drawing/2014/main" id="{31BC015E-085C-43A4-BCAE-611F6E44535A}"/>
              </a:ext>
            </a:extLst>
          </p:cNvPr>
          <p:cNvSpPr>
            <a:spLocks noGrp="1"/>
          </p:cNvSpPr>
          <p:nvPr/>
        </p:nvSpPr>
        <p:spPr>
          <a:xfrm>
            <a:off x="10614498" y="4800600"/>
            <a:ext cx="12192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27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b="1" dirty="0" err="1"/>
              <a:t>선택</a:t>
            </a:r>
            <a:endParaRPr b="1" dirty="0"/>
          </a:p>
        </p:txBody>
      </p:sp>
      <p:sp>
        <p:nvSpPr>
          <p:cNvPr id="23" name="footer-label-2">
            <a:extLst>
              <a:ext uri="{FF2B5EF4-FFF2-40B4-BE49-F238E27FC236}">
                <a16:creationId xmlns:a16="http://schemas.microsoft.com/office/drawing/2014/main" id="{9CE3E28B-E1FE-4B15-935A-AC4BC13E6704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3429000" cy="171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AI AGENT CHALLENGE · DEMO</a:t>
            </a:r>
          </a:p>
        </p:txBody>
      </p:sp>
      <p:sp>
        <p:nvSpPr>
          <p:cNvPr id="24" name="footer-number-2">
            <a:extLst>
              <a:ext uri="{FF2B5EF4-FFF2-40B4-BE49-F238E27FC236}">
                <a16:creationId xmlns:a16="http://schemas.microsoft.com/office/drawing/2014/main" id="{A733F7C5-924C-4C63-B440-42B017DF04DA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4953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5886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kicker-3">
            <a:extLst>
              <a:ext uri="{FF2B5EF4-FFF2-40B4-BE49-F238E27FC236}">
                <a16:creationId xmlns:a16="http://schemas.microsoft.com/office/drawing/2014/main" id="{7EF090B4-9E17-44ED-A6B4-024ED2616399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40005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02 · 기술 내역 소개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005162BB-EAF2-4526-9C62-868BDCA87385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277600" cy="685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구성 데이터 흐름</a:t>
            </a:r>
            <a:endParaRPr dirty="0"/>
          </a:p>
        </p:txBody>
      </p:sp>
      <p:sp>
        <p:nvSpPr>
          <p:cNvPr id="28" name="tech-stack-rail">
            <a:extLst>
              <a:ext uri="{FF2B5EF4-FFF2-40B4-BE49-F238E27FC236}">
                <a16:creationId xmlns:a16="http://schemas.microsoft.com/office/drawing/2014/main" id="{1C3C9B54-2292-44F1-8D34-31D904024890}"/>
              </a:ext>
            </a:extLst>
          </p:cNvPr>
          <p:cNvSpPr>
            <a:spLocks noGrp="1"/>
          </p:cNvSpPr>
          <p:nvPr/>
        </p:nvSpPr>
        <p:spPr>
          <a:xfrm>
            <a:off x="457200" y="4972050"/>
            <a:ext cx="11277600" cy="1009650"/>
          </a:xfrm>
          <a:prstGeom prst="roundRect">
            <a:avLst>
              <a:gd name="adj" fmla="val 7547"/>
            </a:avLst>
          </a:prstGeom>
          <a:solidFill>
            <a:srgbClr val="1A1C19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9" name="stack-tag-1">
            <a:extLst>
              <a:ext uri="{FF2B5EF4-FFF2-40B4-BE49-F238E27FC236}">
                <a16:creationId xmlns:a16="http://schemas.microsoft.com/office/drawing/2014/main" id="{7228AF88-48BD-4ABE-A97A-6FA4B5F887B3}"/>
              </a:ext>
            </a:extLst>
          </p:cNvPr>
          <p:cNvSpPr>
            <a:spLocks noGrp="1"/>
          </p:cNvSpPr>
          <p:nvPr/>
        </p:nvSpPr>
        <p:spPr>
          <a:xfrm>
            <a:off x="704850" y="5181600"/>
            <a:ext cx="1238250" cy="19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FRONTEND</a:t>
            </a:r>
          </a:p>
        </p:txBody>
      </p:sp>
      <p:sp>
        <p:nvSpPr>
          <p:cNvPr id="30" name="stack-copy-1">
            <a:extLst>
              <a:ext uri="{FF2B5EF4-FFF2-40B4-BE49-F238E27FC236}">
                <a16:creationId xmlns:a16="http://schemas.microsoft.com/office/drawing/2014/main" id="{B337466E-87EE-4972-9E9A-CDDD13582020}"/>
              </a:ext>
            </a:extLst>
          </p:cNvPr>
          <p:cNvSpPr>
            <a:spLocks noGrp="1"/>
          </p:cNvSpPr>
          <p:nvPr/>
        </p:nvSpPr>
        <p:spPr>
          <a:xfrm>
            <a:off x="704850" y="5467350"/>
            <a:ext cx="1714500" cy="266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React · Vite</a:t>
            </a:r>
          </a:p>
        </p:txBody>
      </p:sp>
      <p:sp>
        <p:nvSpPr>
          <p:cNvPr id="31" name="stack-tag-2">
            <a:extLst>
              <a:ext uri="{FF2B5EF4-FFF2-40B4-BE49-F238E27FC236}">
                <a16:creationId xmlns:a16="http://schemas.microsoft.com/office/drawing/2014/main" id="{97B5A1F3-03EE-4481-A171-A9CB1A47267D}"/>
              </a:ext>
            </a:extLst>
          </p:cNvPr>
          <p:cNvSpPr>
            <a:spLocks noGrp="1"/>
          </p:cNvSpPr>
          <p:nvPr/>
        </p:nvSpPr>
        <p:spPr>
          <a:xfrm>
            <a:off x="2971800" y="5181600"/>
            <a:ext cx="1238250" cy="19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BACKEND</a:t>
            </a:r>
          </a:p>
        </p:txBody>
      </p:sp>
      <p:sp>
        <p:nvSpPr>
          <p:cNvPr id="32" name="stack-copy-2">
            <a:extLst>
              <a:ext uri="{FF2B5EF4-FFF2-40B4-BE49-F238E27FC236}">
                <a16:creationId xmlns:a16="http://schemas.microsoft.com/office/drawing/2014/main" id="{01526511-82DD-42B7-B0CD-CEB765F63C77}"/>
              </a:ext>
            </a:extLst>
          </p:cNvPr>
          <p:cNvSpPr>
            <a:spLocks noGrp="1"/>
          </p:cNvSpPr>
          <p:nvPr/>
        </p:nvSpPr>
        <p:spPr>
          <a:xfrm>
            <a:off x="2971800" y="5467350"/>
            <a:ext cx="1809750" cy="266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Express · Zod</a:t>
            </a:r>
          </a:p>
        </p:txBody>
      </p:sp>
      <p:sp>
        <p:nvSpPr>
          <p:cNvPr id="33" name="stack-tag-3">
            <a:extLst>
              <a:ext uri="{FF2B5EF4-FFF2-40B4-BE49-F238E27FC236}">
                <a16:creationId xmlns:a16="http://schemas.microsoft.com/office/drawing/2014/main" id="{2B453183-8169-45B1-88DA-B6B5D9F154DF}"/>
              </a:ext>
            </a:extLst>
          </p:cNvPr>
          <p:cNvSpPr>
            <a:spLocks noGrp="1"/>
          </p:cNvSpPr>
          <p:nvPr/>
        </p:nvSpPr>
        <p:spPr>
          <a:xfrm>
            <a:off x="5429250" y="5181600"/>
            <a:ext cx="1238250" cy="19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DATA / AI</a:t>
            </a:r>
          </a:p>
        </p:txBody>
      </p:sp>
      <p:sp>
        <p:nvSpPr>
          <p:cNvPr id="34" name="stack-copy-3">
            <a:extLst>
              <a:ext uri="{FF2B5EF4-FFF2-40B4-BE49-F238E27FC236}">
                <a16:creationId xmlns:a16="http://schemas.microsoft.com/office/drawing/2014/main" id="{4F81EAB8-5C80-4A6E-BE71-AC9928DFE65D}"/>
              </a:ext>
            </a:extLst>
          </p:cNvPr>
          <p:cNvSpPr>
            <a:spLocks noGrp="1"/>
          </p:cNvSpPr>
          <p:nvPr/>
        </p:nvSpPr>
        <p:spPr>
          <a:xfrm>
            <a:off x="5429250" y="5467350"/>
            <a:ext cx="2286000" cy="266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Supabase · Gemini</a:t>
            </a:r>
          </a:p>
        </p:txBody>
      </p:sp>
      <p:sp>
        <p:nvSpPr>
          <p:cNvPr id="35" name="stack-tag-4">
            <a:extLst>
              <a:ext uri="{FF2B5EF4-FFF2-40B4-BE49-F238E27FC236}">
                <a16:creationId xmlns:a16="http://schemas.microsoft.com/office/drawing/2014/main" id="{9BF642ED-6C01-427B-BB63-3BC8ED408361}"/>
              </a:ext>
            </a:extLst>
          </p:cNvPr>
          <p:cNvSpPr>
            <a:spLocks noGrp="1"/>
          </p:cNvSpPr>
          <p:nvPr/>
        </p:nvSpPr>
        <p:spPr>
          <a:xfrm>
            <a:off x="8534400" y="5181600"/>
            <a:ext cx="1238250" cy="19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QUALITY</a:t>
            </a:r>
          </a:p>
        </p:txBody>
      </p:sp>
      <p:sp>
        <p:nvSpPr>
          <p:cNvPr id="36" name="stack-copy-4">
            <a:extLst>
              <a:ext uri="{FF2B5EF4-FFF2-40B4-BE49-F238E27FC236}">
                <a16:creationId xmlns:a16="http://schemas.microsoft.com/office/drawing/2014/main" id="{A29B94B9-463B-4134-9B1D-B7FDE2D0EEAB}"/>
              </a:ext>
            </a:extLst>
          </p:cNvPr>
          <p:cNvSpPr>
            <a:spLocks noGrp="1"/>
          </p:cNvSpPr>
          <p:nvPr/>
        </p:nvSpPr>
        <p:spPr>
          <a:xfrm>
            <a:off x="8534400" y="5467350"/>
            <a:ext cx="2095500" cy="266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Vitest · oxlint</a:t>
            </a:r>
          </a:p>
        </p:txBody>
      </p:sp>
      <p:sp>
        <p:nvSpPr>
          <p:cNvPr id="37" name="footer-label-3">
            <a:extLst>
              <a:ext uri="{FF2B5EF4-FFF2-40B4-BE49-F238E27FC236}">
                <a16:creationId xmlns:a16="http://schemas.microsoft.com/office/drawing/2014/main" id="{77AB45AD-4D4C-41CC-975D-ED423CDE69F0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3429000" cy="171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AI AGENT CHALLENGE · DEMO</a:t>
            </a:r>
          </a:p>
        </p:txBody>
      </p:sp>
      <p:sp>
        <p:nvSpPr>
          <p:cNvPr id="38" name="footer-number-3">
            <a:extLst>
              <a:ext uri="{FF2B5EF4-FFF2-40B4-BE49-F238E27FC236}">
                <a16:creationId xmlns:a16="http://schemas.microsoft.com/office/drawing/2014/main" id="{C4439B3F-5AA4-41F4-BB42-BE7B1747F6F2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4953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174C2F2-1CD6-D8B0-2F1D-C9C982A1D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278" y="1352550"/>
            <a:ext cx="8948193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61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-4">
            <a:extLst>
              <a:ext uri="{FF2B5EF4-FFF2-40B4-BE49-F238E27FC236}">
                <a16:creationId xmlns:a16="http://schemas.microsoft.com/office/drawing/2014/main" id="{78CF992E-4D8B-4D5E-B323-18381865C85F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40005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03 · 시연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05E5272E-0F79-4F6D-BA90-5A635211DB4E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277600" cy="685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재료 등록에서 레시피 선택까지</a:t>
            </a:r>
          </a:p>
        </p:txBody>
      </p:sp>
      <p:sp>
        <p:nvSpPr>
          <p:cNvPr id="3" name="demo-frame-1">
            <a:extLst>
              <a:ext uri="{FF2B5EF4-FFF2-40B4-BE49-F238E27FC236}">
                <a16:creationId xmlns:a16="http://schemas.microsoft.com/office/drawing/2014/main" id="{9F1EA25C-CA58-4767-AF3A-AC6AF316BA53}"/>
              </a:ext>
            </a:extLst>
          </p:cNvPr>
          <p:cNvSpPr>
            <a:spLocks noGrp="1"/>
          </p:cNvSpPr>
          <p:nvPr/>
        </p:nvSpPr>
        <p:spPr>
          <a:xfrm>
            <a:off x="457200" y="1878600"/>
            <a:ext cx="3429000" cy="35433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2DD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emo-step-1">
            <a:extLst>
              <a:ext uri="{FF2B5EF4-FFF2-40B4-BE49-F238E27FC236}">
                <a16:creationId xmlns:a16="http://schemas.microsoft.com/office/drawing/2014/main" id="{F270C2E8-D1E5-4094-A2FC-35CBC45B3D69}"/>
              </a:ext>
            </a:extLst>
          </p:cNvPr>
          <p:cNvSpPr>
            <a:spLocks noGrp="1"/>
          </p:cNvSpPr>
          <p:nvPr/>
        </p:nvSpPr>
        <p:spPr>
          <a:xfrm>
            <a:off x="628650" y="2031000"/>
            <a:ext cx="381000" cy="381000"/>
          </a:xfrm>
          <a:prstGeom prst="ellipse">
            <a:avLst/>
          </a:prstGeom>
          <a:solidFill>
            <a:srgbClr val="006D3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demo-step-text-1">
            <a:extLst>
              <a:ext uri="{FF2B5EF4-FFF2-40B4-BE49-F238E27FC236}">
                <a16:creationId xmlns:a16="http://schemas.microsoft.com/office/drawing/2014/main" id="{52AC691C-A3D5-4BD3-987B-3FA95E7DD02D}"/>
              </a:ext>
            </a:extLst>
          </p:cNvPr>
          <p:cNvSpPr>
            <a:spLocks noGrp="1"/>
          </p:cNvSpPr>
          <p:nvPr/>
        </p:nvSpPr>
        <p:spPr>
          <a:xfrm>
            <a:off x="628650" y="2107200"/>
            <a:ext cx="381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13" name="demo-caption-1">
            <a:extLst>
              <a:ext uri="{FF2B5EF4-FFF2-40B4-BE49-F238E27FC236}">
                <a16:creationId xmlns:a16="http://schemas.microsoft.com/office/drawing/2014/main" id="{021FABF0-1A32-4021-AA07-C74852A1B175}"/>
              </a:ext>
            </a:extLst>
          </p:cNvPr>
          <p:cNvSpPr>
            <a:spLocks noGrp="1"/>
          </p:cNvSpPr>
          <p:nvPr/>
        </p:nvSpPr>
        <p:spPr>
          <a:xfrm>
            <a:off x="946390" y="5810250"/>
            <a:ext cx="1440252" cy="19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endParaRPr dirty="0"/>
          </a:p>
        </p:txBody>
      </p:sp>
      <p:sp>
        <p:nvSpPr>
          <p:cNvPr id="18" name="footer-label-4">
            <a:extLst>
              <a:ext uri="{FF2B5EF4-FFF2-40B4-BE49-F238E27FC236}">
                <a16:creationId xmlns:a16="http://schemas.microsoft.com/office/drawing/2014/main" id="{F43C9D9F-C1A5-405B-956F-782C2D1972E6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3429000" cy="171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AI AGENT CHALLENGE · DEMO</a:t>
            </a:r>
          </a:p>
        </p:txBody>
      </p:sp>
      <p:sp>
        <p:nvSpPr>
          <p:cNvPr id="19" name="footer-number-4">
            <a:extLst>
              <a:ext uri="{FF2B5EF4-FFF2-40B4-BE49-F238E27FC236}">
                <a16:creationId xmlns:a16="http://schemas.microsoft.com/office/drawing/2014/main" id="{FEE9D6E5-D4DC-4CB2-9D4B-35999056FE98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4953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04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B078E6-7AA7-AF98-17C0-B094A15BE613}"/>
              </a:ext>
            </a:extLst>
          </p:cNvPr>
          <p:cNvSpPr txBox="1"/>
          <p:nvPr/>
        </p:nvSpPr>
        <p:spPr>
          <a:xfrm>
            <a:off x="794349" y="2064122"/>
            <a:ext cx="2754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보유 재료 확인</a:t>
            </a:r>
            <a:endParaRPr lang="en-US" altLang="ko-KR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11C56A-FB62-C92B-BA14-853FD20ADA52}"/>
              </a:ext>
            </a:extLst>
          </p:cNvPr>
          <p:cNvSpPr txBox="1"/>
          <p:nvPr/>
        </p:nvSpPr>
        <p:spPr>
          <a:xfrm>
            <a:off x="794349" y="2827670"/>
            <a:ext cx="2754702" cy="1996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dirty="0" err="1"/>
              <a:t>수량·보관</a:t>
            </a:r>
            <a:r>
              <a:rPr lang="ko-KR" altLang="ko-KR" sz="1400" dirty="0"/>
              <a:t> </a:t>
            </a:r>
            <a:r>
              <a:rPr lang="ko-KR" altLang="ko-KR" sz="1400" dirty="0" err="1"/>
              <a:t>위치·소비기한</a:t>
            </a:r>
            <a:r>
              <a:rPr lang="en-US" altLang="ko-KR" sz="1400" dirty="0"/>
              <a:t> </a:t>
            </a:r>
            <a:r>
              <a:rPr lang="ko-KR" altLang="en-US" sz="1400" dirty="0"/>
              <a:t>입력</a:t>
            </a:r>
            <a:endParaRPr lang="en-US" altLang="ko-KR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재료 분류에 따라 소비기한 제안 및 재료 태그 자동 지정 추가</a:t>
            </a:r>
            <a:endParaRPr lang="en-US" altLang="ko-KR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dirty="0"/>
              <a:t>소비기한이 가까운 재료부터 </a:t>
            </a:r>
            <a:r>
              <a:rPr lang="ko-KR" altLang="en-US" sz="1400" dirty="0"/>
              <a:t>표출</a:t>
            </a:r>
            <a:endParaRPr lang="en-US" altLang="ko-KR" sz="1400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A90ED828-4EAC-52F1-BA42-775D45AB42D3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rcRect l="7488" r="9043" b="45206"/>
          <a:stretch>
            <a:fillRect/>
          </a:stretch>
        </p:blipFill>
        <p:spPr>
          <a:xfrm>
            <a:off x="7378462" y="1490250"/>
            <a:ext cx="4468482" cy="4320000"/>
          </a:xfrm>
          <a:prstGeom prst="rect">
            <a:avLst/>
          </a:prstGeom>
          <a:ln w="28575">
            <a:noFill/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96ABDFAB-40B8-7E7B-6A26-B9C79C97C526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324755" y="1490250"/>
            <a:ext cx="2880000" cy="4320000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76461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61FE70-A563-4280-4013-6E27A06B7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-4">
            <a:extLst>
              <a:ext uri="{FF2B5EF4-FFF2-40B4-BE49-F238E27FC236}">
                <a16:creationId xmlns:a16="http://schemas.microsoft.com/office/drawing/2014/main" id="{953299E8-0B4C-978B-1E61-EE5CF94F9A00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40005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03 · 시연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7EE98C0A-4AA0-A934-397C-FA9CF844D85F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277600" cy="685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재료 등록에서 레시피 선택까지</a:t>
            </a:r>
          </a:p>
        </p:txBody>
      </p:sp>
      <p:sp>
        <p:nvSpPr>
          <p:cNvPr id="3" name="demo-frame-1">
            <a:extLst>
              <a:ext uri="{FF2B5EF4-FFF2-40B4-BE49-F238E27FC236}">
                <a16:creationId xmlns:a16="http://schemas.microsoft.com/office/drawing/2014/main" id="{2F249DF9-3768-D481-A71F-279D3746AF86}"/>
              </a:ext>
            </a:extLst>
          </p:cNvPr>
          <p:cNvSpPr>
            <a:spLocks noGrp="1"/>
          </p:cNvSpPr>
          <p:nvPr/>
        </p:nvSpPr>
        <p:spPr>
          <a:xfrm>
            <a:off x="457200" y="2057400"/>
            <a:ext cx="3429000" cy="35433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2DD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emo-step-1">
            <a:extLst>
              <a:ext uri="{FF2B5EF4-FFF2-40B4-BE49-F238E27FC236}">
                <a16:creationId xmlns:a16="http://schemas.microsoft.com/office/drawing/2014/main" id="{D2571A5A-41DC-734C-68DB-008833FE0CF6}"/>
              </a:ext>
            </a:extLst>
          </p:cNvPr>
          <p:cNvSpPr>
            <a:spLocks noGrp="1"/>
          </p:cNvSpPr>
          <p:nvPr/>
        </p:nvSpPr>
        <p:spPr>
          <a:xfrm>
            <a:off x="628650" y="2209800"/>
            <a:ext cx="381000" cy="381000"/>
          </a:xfrm>
          <a:prstGeom prst="ellipse">
            <a:avLst/>
          </a:prstGeom>
          <a:solidFill>
            <a:srgbClr val="FF7E4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demo-step-text-1">
            <a:extLst>
              <a:ext uri="{FF2B5EF4-FFF2-40B4-BE49-F238E27FC236}">
                <a16:creationId xmlns:a16="http://schemas.microsoft.com/office/drawing/2014/main" id="{E65171F4-5769-07C3-8005-6672C9BD1660}"/>
              </a:ext>
            </a:extLst>
          </p:cNvPr>
          <p:cNvSpPr>
            <a:spLocks noGrp="1"/>
          </p:cNvSpPr>
          <p:nvPr/>
        </p:nvSpPr>
        <p:spPr>
          <a:xfrm>
            <a:off x="628650" y="2286000"/>
            <a:ext cx="381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dirty="0"/>
              <a:t>2</a:t>
            </a:r>
            <a:endParaRPr dirty="0"/>
          </a:p>
        </p:txBody>
      </p:sp>
      <p:sp>
        <p:nvSpPr>
          <p:cNvPr id="13" name="demo-caption-1">
            <a:extLst>
              <a:ext uri="{FF2B5EF4-FFF2-40B4-BE49-F238E27FC236}">
                <a16:creationId xmlns:a16="http://schemas.microsoft.com/office/drawing/2014/main" id="{0A5431E0-3A58-DE9A-E9FF-947CB2E48D28}"/>
              </a:ext>
            </a:extLst>
          </p:cNvPr>
          <p:cNvSpPr>
            <a:spLocks noGrp="1"/>
          </p:cNvSpPr>
          <p:nvPr/>
        </p:nvSpPr>
        <p:spPr>
          <a:xfrm>
            <a:off x="946390" y="5810250"/>
            <a:ext cx="1440252" cy="19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endParaRPr dirty="0"/>
          </a:p>
        </p:txBody>
      </p:sp>
      <p:sp>
        <p:nvSpPr>
          <p:cNvPr id="18" name="footer-label-4">
            <a:extLst>
              <a:ext uri="{FF2B5EF4-FFF2-40B4-BE49-F238E27FC236}">
                <a16:creationId xmlns:a16="http://schemas.microsoft.com/office/drawing/2014/main" id="{5DE37262-4A6A-1DCC-51E3-4B87E534E7A3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3429000" cy="171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AI AGENT CHALLENGE · DEMO</a:t>
            </a:r>
          </a:p>
        </p:txBody>
      </p:sp>
      <p:sp>
        <p:nvSpPr>
          <p:cNvPr id="19" name="footer-number-4">
            <a:extLst>
              <a:ext uri="{FF2B5EF4-FFF2-40B4-BE49-F238E27FC236}">
                <a16:creationId xmlns:a16="http://schemas.microsoft.com/office/drawing/2014/main" id="{139A53DD-6C24-B648-F14B-F711D3B00E45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4953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0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25F2CF-589D-6DD0-A656-BA7609227099}"/>
              </a:ext>
            </a:extLst>
          </p:cNvPr>
          <p:cNvSpPr txBox="1"/>
          <p:nvPr/>
        </p:nvSpPr>
        <p:spPr>
          <a:xfrm>
            <a:off x="794349" y="3094739"/>
            <a:ext cx="2754702" cy="1996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dirty="0" err="1"/>
              <a:t>빠르게·불</a:t>
            </a:r>
            <a:r>
              <a:rPr lang="ko-KR" altLang="ko-KR" sz="1400" dirty="0"/>
              <a:t> </a:t>
            </a:r>
            <a:r>
              <a:rPr lang="ko-KR" altLang="ko-KR" sz="1400" dirty="0" err="1"/>
              <a:t>없이·균형</a:t>
            </a:r>
            <a:r>
              <a:rPr lang="ko-KR" altLang="ko-KR" sz="1400" dirty="0"/>
              <a:t> 있게 등 조리 조건 선택</a:t>
            </a:r>
            <a:endParaRPr lang="en-US" altLang="ko-KR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Gemini API</a:t>
            </a:r>
            <a:r>
              <a:rPr lang="ko-KR" altLang="en-US" sz="1400" dirty="0"/>
              <a:t>를 이용해 최대 </a:t>
            </a:r>
            <a:r>
              <a:rPr lang="en-US" altLang="ko-KR" sz="1400" dirty="0"/>
              <a:t>15</a:t>
            </a:r>
            <a:r>
              <a:rPr lang="ko-KR" altLang="en-US" sz="1400" dirty="0"/>
              <a:t>개 레시피 추천</a:t>
            </a:r>
            <a:r>
              <a:rPr lang="en-US" altLang="ko-KR" sz="1400" dirty="0"/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400" dirty="0"/>
              <a:t>보유 재료와 부족한 재료를 반영해 메뉴 추천</a:t>
            </a:r>
            <a:endParaRPr lang="en-US" altLang="ko-KR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07E4E0-501E-4093-B7A8-E3A88A1CC70B}"/>
              </a:ext>
            </a:extLst>
          </p:cNvPr>
          <p:cNvSpPr txBox="1"/>
          <p:nvPr/>
        </p:nvSpPr>
        <p:spPr>
          <a:xfrm>
            <a:off x="794349" y="2215634"/>
            <a:ext cx="2754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맞춤 메뉴 추천</a:t>
            </a:r>
            <a:endParaRPr lang="en-US" altLang="ko-KR" b="1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A79B18D-650E-DF18-2BCF-CD68C5EDFC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42" r="7883" b="5341"/>
          <a:stretch>
            <a:fillRect/>
          </a:stretch>
        </p:blipFill>
        <p:spPr>
          <a:xfrm>
            <a:off x="4566968" y="1467321"/>
            <a:ext cx="6601364" cy="4839483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4261885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2B7E86-EC43-6F50-249E-59B309AB1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kicker-4">
            <a:extLst>
              <a:ext uri="{FF2B5EF4-FFF2-40B4-BE49-F238E27FC236}">
                <a16:creationId xmlns:a16="http://schemas.microsoft.com/office/drawing/2014/main" id="{E20BAF3F-AA35-6FB5-8CDF-67D6E4CBA505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40005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03 · 시연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6E927599-128B-1C97-2958-799C282872F7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277600" cy="685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재료 등록에서 레시피 선택까지</a:t>
            </a:r>
          </a:p>
        </p:txBody>
      </p:sp>
      <p:sp>
        <p:nvSpPr>
          <p:cNvPr id="3" name="demo-frame-1">
            <a:extLst>
              <a:ext uri="{FF2B5EF4-FFF2-40B4-BE49-F238E27FC236}">
                <a16:creationId xmlns:a16="http://schemas.microsoft.com/office/drawing/2014/main" id="{A7E1CB20-F1C3-904B-BF6A-766E6AF3E077}"/>
              </a:ext>
            </a:extLst>
          </p:cNvPr>
          <p:cNvSpPr>
            <a:spLocks noGrp="1"/>
          </p:cNvSpPr>
          <p:nvPr/>
        </p:nvSpPr>
        <p:spPr>
          <a:xfrm>
            <a:off x="457200" y="1943624"/>
            <a:ext cx="3429000" cy="35433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2DD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demo-step-1">
            <a:extLst>
              <a:ext uri="{FF2B5EF4-FFF2-40B4-BE49-F238E27FC236}">
                <a16:creationId xmlns:a16="http://schemas.microsoft.com/office/drawing/2014/main" id="{A5B5B817-E77F-0A97-FB36-A3D7AAAD3268}"/>
              </a:ext>
            </a:extLst>
          </p:cNvPr>
          <p:cNvSpPr>
            <a:spLocks noGrp="1"/>
          </p:cNvSpPr>
          <p:nvPr/>
        </p:nvSpPr>
        <p:spPr>
          <a:xfrm>
            <a:off x="628650" y="2096024"/>
            <a:ext cx="381000" cy="381000"/>
          </a:xfrm>
          <a:prstGeom prst="ellipse">
            <a:avLst/>
          </a:prstGeom>
          <a:solidFill>
            <a:srgbClr val="D91E4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demo-step-text-1">
            <a:extLst>
              <a:ext uri="{FF2B5EF4-FFF2-40B4-BE49-F238E27FC236}">
                <a16:creationId xmlns:a16="http://schemas.microsoft.com/office/drawing/2014/main" id="{8FF8E2CB-1FED-FB1F-0550-89B8FE1CF4CA}"/>
              </a:ext>
            </a:extLst>
          </p:cNvPr>
          <p:cNvSpPr>
            <a:spLocks noGrp="1"/>
          </p:cNvSpPr>
          <p:nvPr/>
        </p:nvSpPr>
        <p:spPr>
          <a:xfrm>
            <a:off x="628650" y="2172224"/>
            <a:ext cx="381000" cy="228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dirty="0"/>
              <a:t>3</a:t>
            </a:r>
            <a:endParaRPr dirty="0"/>
          </a:p>
        </p:txBody>
      </p:sp>
      <p:sp>
        <p:nvSpPr>
          <p:cNvPr id="13" name="demo-caption-1">
            <a:extLst>
              <a:ext uri="{FF2B5EF4-FFF2-40B4-BE49-F238E27FC236}">
                <a16:creationId xmlns:a16="http://schemas.microsoft.com/office/drawing/2014/main" id="{C03E80E7-682D-1E1E-C0EE-6B567165DDBB}"/>
              </a:ext>
            </a:extLst>
          </p:cNvPr>
          <p:cNvSpPr>
            <a:spLocks noGrp="1"/>
          </p:cNvSpPr>
          <p:nvPr/>
        </p:nvSpPr>
        <p:spPr>
          <a:xfrm>
            <a:off x="946390" y="5810250"/>
            <a:ext cx="1440252" cy="19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endParaRPr dirty="0"/>
          </a:p>
        </p:txBody>
      </p:sp>
      <p:sp>
        <p:nvSpPr>
          <p:cNvPr id="18" name="footer-label-4">
            <a:extLst>
              <a:ext uri="{FF2B5EF4-FFF2-40B4-BE49-F238E27FC236}">
                <a16:creationId xmlns:a16="http://schemas.microsoft.com/office/drawing/2014/main" id="{A967409E-81FA-92C7-E2A4-872DE829D9A7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3429000" cy="171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AI AGENT CHALLENGE · DEMO</a:t>
            </a:r>
          </a:p>
        </p:txBody>
      </p:sp>
      <p:sp>
        <p:nvSpPr>
          <p:cNvPr id="19" name="footer-number-4">
            <a:extLst>
              <a:ext uri="{FF2B5EF4-FFF2-40B4-BE49-F238E27FC236}">
                <a16:creationId xmlns:a16="http://schemas.microsoft.com/office/drawing/2014/main" id="{CD7BF7CE-EB6F-703B-C652-D932473B26B1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4953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0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25AFF7-7FCA-7AE1-AE1B-04C54E2FA873}"/>
              </a:ext>
            </a:extLst>
          </p:cNvPr>
          <p:cNvSpPr txBox="1"/>
          <p:nvPr/>
        </p:nvSpPr>
        <p:spPr>
          <a:xfrm>
            <a:off x="794349" y="2107692"/>
            <a:ext cx="2754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레시피 상세 확인</a:t>
            </a:r>
            <a:endParaRPr lang="en-US" altLang="ko-KR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0CCC84-48DC-6886-6DB5-A9AF0771C8C1}"/>
              </a:ext>
            </a:extLst>
          </p:cNvPr>
          <p:cNvSpPr txBox="1"/>
          <p:nvPr/>
        </p:nvSpPr>
        <p:spPr>
          <a:xfrm>
            <a:off x="794349" y="3086624"/>
            <a:ext cx="2754702" cy="1026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레시피 소개</a:t>
            </a:r>
            <a:r>
              <a:rPr lang="en-US" altLang="ko-KR" sz="1400" dirty="0"/>
              <a:t>/</a:t>
            </a:r>
            <a:r>
              <a:rPr lang="ko-KR" altLang="en-US" sz="1400" dirty="0"/>
              <a:t>대체</a:t>
            </a:r>
            <a:r>
              <a:rPr lang="en-US" altLang="ko-KR" sz="1400" dirty="0"/>
              <a:t>·</a:t>
            </a:r>
            <a:r>
              <a:rPr lang="ko-KR" altLang="en-US" sz="1400" dirty="0"/>
              <a:t>보유</a:t>
            </a:r>
            <a:r>
              <a:rPr lang="en-US" altLang="ko-KR" sz="1400" dirty="0"/>
              <a:t>·</a:t>
            </a:r>
            <a:r>
              <a:rPr lang="ko-KR" altLang="en-US" sz="1400" dirty="0"/>
              <a:t>부족 재료</a:t>
            </a:r>
            <a:r>
              <a:rPr lang="en-US" altLang="ko-KR" sz="1400" dirty="0"/>
              <a:t>/</a:t>
            </a:r>
            <a:r>
              <a:rPr lang="ko-KR" altLang="en-US" sz="1400" dirty="0"/>
              <a:t>조리순서 화면구성</a:t>
            </a:r>
            <a:endParaRPr lang="en-US" altLang="ko-KR" sz="14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부족 재료 경우 구매 링크 연결</a:t>
            </a:r>
            <a:endParaRPr lang="en-US" altLang="ko-KR" sz="14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79DB4D7-4035-A9A8-9018-26A7762439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44" r="11226" b="42093"/>
          <a:stretch>
            <a:fillRect/>
          </a:stretch>
        </p:blipFill>
        <p:spPr>
          <a:xfrm>
            <a:off x="4051899" y="1527666"/>
            <a:ext cx="3605123" cy="4364792"/>
          </a:xfrm>
          <a:prstGeom prst="rect">
            <a:avLst/>
          </a:prstGeom>
          <a:ln w="28575">
            <a:noFill/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7EC80CC-DF8E-0C51-6810-563189E5A0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85" t="58753" r="21960"/>
          <a:stretch>
            <a:fillRect/>
          </a:stretch>
        </p:blipFill>
        <p:spPr>
          <a:xfrm>
            <a:off x="7860930" y="1527666"/>
            <a:ext cx="3980262" cy="466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214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kicker-5">
            <a:extLst>
              <a:ext uri="{FF2B5EF4-FFF2-40B4-BE49-F238E27FC236}">
                <a16:creationId xmlns:a16="http://schemas.microsoft.com/office/drawing/2014/main" id="{037C8193-BFAE-4CE1-8B8B-2DB021167DBA}"/>
              </a:ext>
            </a:extLst>
          </p:cNvPr>
          <p:cNvSpPr>
            <a:spLocks noGrp="1"/>
          </p:cNvSpPr>
          <p:nvPr/>
        </p:nvSpPr>
        <p:spPr>
          <a:xfrm>
            <a:off x="457200" y="361950"/>
            <a:ext cx="40005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04 · 개발 계획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2390D4AB-951D-4DD0-B4F2-B50ED0013043}"/>
              </a:ext>
            </a:extLst>
          </p:cNvPr>
          <p:cNvSpPr>
            <a:spLocks noGrp="1"/>
          </p:cNvSpPr>
          <p:nvPr/>
        </p:nvSpPr>
        <p:spPr>
          <a:xfrm>
            <a:off x="457200" y="666750"/>
            <a:ext cx="11277600" cy="685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33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안정화 이후 자동화와 배포로 확장</a:t>
            </a:r>
          </a:p>
        </p:txBody>
      </p:sp>
      <p:cxnSp>
        <p:nvCxnSpPr>
          <p:cNvPr id="30" name="plan-line-1"/>
          <p:cNvCxnSpPr/>
          <p:nvPr/>
        </p:nvCxnSpPr>
        <p:spPr>
          <a:xfrm>
            <a:off x="2000250" y="4476750"/>
            <a:ext cx="3086100" cy="286"/>
          </a:xfrm>
          <a:prstGeom prst="straightConnector1">
            <a:avLst/>
          </a:prstGeom>
          <a:ln w="38100">
            <a:solidFill>
              <a:srgbClr val="E2DDD6"/>
            </a:solidFill>
            <a:prstDash val="solid"/>
          </a:ln>
        </p:spPr>
      </p:cxnSp>
      <p:cxnSp>
        <p:nvCxnSpPr>
          <p:cNvPr id="31" name="plan-line-2"/>
          <p:cNvCxnSpPr/>
          <p:nvPr/>
        </p:nvCxnSpPr>
        <p:spPr>
          <a:xfrm>
            <a:off x="5657850" y="4476750"/>
            <a:ext cx="3086100" cy="286"/>
          </a:xfrm>
          <a:prstGeom prst="straightConnector1">
            <a:avLst/>
          </a:prstGeom>
          <a:ln w="38100">
            <a:solidFill>
              <a:srgbClr val="E2DDD6"/>
            </a:solidFill>
            <a:prstDash val="solid"/>
          </a:ln>
        </p:spPr>
      </p:cxnSp>
      <p:cxnSp>
        <p:nvCxnSpPr>
          <p:cNvPr id="32" name="plan-line-3"/>
          <p:cNvCxnSpPr/>
          <p:nvPr/>
        </p:nvCxnSpPr>
        <p:spPr>
          <a:xfrm>
            <a:off x="9315450" y="4476750"/>
            <a:ext cx="1562100" cy="286"/>
          </a:xfrm>
          <a:prstGeom prst="straightConnector1">
            <a:avLst/>
          </a:prstGeom>
          <a:ln w="38100">
            <a:solidFill>
              <a:srgbClr val="E2DDD6"/>
            </a:solidFill>
            <a:prstDash val="solid"/>
          </a:ln>
        </p:spPr>
      </p:cxnSp>
      <p:sp>
        <p:nvSpPr>
          <p:cNvPr id="6" name="plan-card-0">
            <a:extLst>
              <a:ext uri="{FF2B5EF4-FFF2-40B4-BE49-F238E27FC236}">
                <a16:creationId xmlns:a16="http://schemas.microsoft.com/office/drawing/2014/main" id="{E9A12BC1-A3FA-4310-8EE0-EAD445E8988D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3200400" cy="2438400"/>
          </a:xfrm>
          <a:prstGeom prst="roundRect">
            <a:avLst>
              <a:gd name="adj" fmla="val 3125"/>
            </a:avLst>
          </a:prstGeom>
          <a:solidFill>
            <a:srgbClr val="EAF3EC"/>
          </a:solidFill>
          <a:ln w="9525">
            <a:solidFill>
              <a:srgbClr val="E2DD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plan-step-0">
            <a:extLst>
              <a:ext uri="{FF2B5EF4-FFF2-40B4-BE49-F238E27FC236}">
                <a16:creationId xmlns:a16="http://schemas.microsoft.com/office/drawing/2014/main" id="{ABC1B207-31A8-4766-9D86-FF0EDAA4B180}"/>
              </a:ext>
            </a:extLst>
          </p:cNvPr>
          <p:cNvSpPr>
            <a:spLocks noGrp="1"/>
          </p:cNvSpPr>
          <p:nvPr/>
        </p:nvSpPr>
        <p:spPr>
          <a:xfrm>
            <a:off x="704850" y="2057400"/>
            <a:ext cx="11430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NOW</a:t>
            </a:r>
          </a:p>
        </p:txBody>
      </p:sp>
      <p:sp>
        <p:nvSpPr>
          <p:cNvPr id="8" name="plan-title-0">
            <a:extLst>
              <a:ext uri="{FF2B5EF4-FFF2-40B4-BE49-F238E27FC236}">
                <a16:creationId xmlns:a16="http://schemas.microsoft.com/office/drawing/2014/main" id="{B121086B-E600-4018-9D6A-72B3E026D930}"/>
              </a:ext>
            </a:extLst>
          </p:cNvPr>
          <p:cNvSpPr>
            <a:spLocks noGrp="1"/>
          </p:cNvSpPr>
          <p:nvPr/>
        </p:nvSpPr>
        <p:spPr>
          <a:xfrm>
            <a:off x="704850" y="2476500"/>
            <a:ext cx="2705100" cy="3619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안정화</a:t>
            </a:r>
            <a:endParaRPr dirty="0"/>
          </a:p>
        </p:txBody>
      </p:sp>
      <p:sp>
        <p:nvSpPr>
          <p:cNvPr id="9" name="plan-body-0">
            <a:extLst>
              <a:ext uri="{FF2B5EF4-FFF2-40B4-BE49-F238E27FC236}">
                <a16:creationId xmlns:a16="http://schemas.microsoft.com/office/drawing/2014/main" id="{B358E783-6164-4525-833D-8CAD1A76B6B0}"/>
              </a:ext>
            </a:extLst>
          </p:cNvPr>
          <p:cNvSpPr>
            <a:spLocks noGrp="1"/>
          </p:cNvSpPr>
          <p:nvPr/>
        </p:nvSpPr>
        <p:spPr>
          <a:xfrm>
            <a:off x="704850" y="3048000"/>
            <a:ext cx="2705100" cy="857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비정형 수량 처리
예외 케이스 보완
테스트 완전 통과</a:t>
            </a:r>
          </a:p>
        </p:txBody>
      </p:sp>
      <p:sp>
        <p:nvSpPr>
          <p:cNvPr id="10" name="plan-dot-0">
            <a:extLst>
              <a:ext uri="{FF2B5EF4-FFF2-40B4-BE49-F238E27FC236}">
                <a16:creationId xmlns:a16="http://schemas.microsoft.com/office/drawing/2014/main" id="{AC5DE344-3BEB-47F6-9C5D-036636B66C70}"/>
              </a:ext>
            </a:extLst>
          </p:cNvPr>
          <p:cNvSpPr>
            <a:spLocks noGrp="1"/>
          </p:cNvSpPr>
          <p:nvPr/>
        </p:nvSpPr>
        <p:spPr>
          <a:xfrm>
            <a:off x="1895475" y="4314825"/>
            <a:ext cx="323850" cy="323850"/>
          </a:xfrm>
          <a:prstGeom prst="ellipse">
            <a:avLst/>
          </a:prstGeom>
          <a:solidFill>
            <a:srgbClr val="006D36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plan-outcome-0">
            <a:extLst>
              <a:ext uri="{FF2B5EF4-FFF2-40B4-BE49-F238E27FC236}">
                <a16:creationId xmlns:a16="http://schemas.microsoft.com/office/drawing/2014/main" id="{D6A5E579-81D2-4CA6-BA3D-500DD09B9A3C}"/>
              </a:ext>
            </a:extLst>
          </p:cNvPr>
          <p:cNvSpPr>
            <a:spLocks noGrp="1"/>
          </p:cNvSpPr>
          <p:nvPr/>
        </p:nvSpPr>
        <p:spPr>
          <a:xfrm>
            <a:off x="457200" y="4953000"/>
            <a:ext cx="3200400" cy="266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신뢰 가능한 입력</a:t>
            </a:r>
          </a:p>
        </p:txBody>
      </p:sp>
      <p:sp>
        <p:nvSpPr>
          <p:cNvPr id="12" name="plan-card-1">
            <a:extLst>
              <a:ext uri="{FF2B5EF4-FFF2-40B4-BE49-F238E27FC236}">
                <a16:creationId xmlns:a16="http://schemas.microsoft.com/office/drawing/2014/main" id="{4BB6B98F-3C08-4DFE-BF1C-D8CACC4FD62B}"/>
              </a:ext>
            </a:extLst>
          </p:cNvPr>
          <p:cNvSpPr>
            <a:spLocks noGrp="1"/>
          </p:cNvSpPr>
          <p:nvPr/>
        </p:nvSpPr>
        <p:spPr>
          <a:xfrm>
            <a:off x="4114800" y="1809750"/>
            <a:ext cx="3200400" cy="2438400"/>
          </a:xfrm>
          <a:prstGeom prst="roundRect">
            <a:avLst>
              <a:gd name="adj" fmla="val 3125"/>
            </a:avLst>
          </a:prstGeom>
          <a:solidFill>
            <a:srgbClr val="FFF0E8"/>
          </a:solidFill>
          <a:ln w="9525">
            <a:solidFill>
              <a:srgbClr val="E2DD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plan-step-1">
            <a:extLst>
              <a:ext uri="{FF2B5EF4-FFF2-40B4-BE49-F238E27FC236}">
                <a16:creationId xmlns:a16="http://schemas.microsoft.com/office/drawing/2014/main" id="{7ED8AE13-67E1-41B0-A3D5-93C06504D384}"/>
              </a:ext>
            </a:extLst>
          </p:cNvPr>
          <p:cNvSpPr>
            <a:spLocks noGrp="1"/>
          </p:cNvSpPr>
          <p:nvPr/>
        </p:nvSpPr>
        <p:spPr>
          <a:xfrm>
            <a:off x="4362450" y="2057400"/>
            <a:ext cx="11430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NEXT</a:t>
            </a:r>
          </a:p>
        </p:txBody>
      </p:sp>
      <p:sp>
        <p:nvSpPr>
          <p:cNvPr id="14" name="plan-title-1">
            <a:extLst>
              <a:ext uri="{FF2B5EF4-FFF2-40B4-BE49-F238E27FC236}">
                <a16:creationId xmlns:a16="http://schemas.microsoft.com/office/drawing/2014/main" id="{FCA67891-F43C-4EBF-BF27-9F41406BC431}"/>
              </a:ext>
            </a:extLst>
          </p:cNvPr>
          <p:cNvSpPr>
            <a:spLocks noGrp="1"/>
          </p:cNvSpPr>
          <p:nvPr/>
        </p:nvSpPr>
        <p:spPr>
          <a:xfrm>
            <a:off x="4362450" y="2476500"/>
            <a:ext cx="2705100" cy="3619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서비스 퀄리티 개선</a:t>
            </a:r>
            <a:endParaRPr dirty="0"/>
          </a:p>
        </p:txBody>
      </p:sp>
      <p:sp>
        <p:nvSpPr>
          <p:cNvPr id="15" name="plan-body-1">
            <a:extLst>
              <a:ext uri="{FF2B5EF4-FFF2-40B4-BE49-F238E27FC236}">
                <a16:creationId xmlns:a16="http://schemas.microsoft.com/office/drawing/2014/main" id="{E2C85A40-9ACD-4D10-A925-BA59663777A6}"/>
              </a:ext>
            </a:extLst>
          </p:cNvPr>
          <p:cNvSpPr>
            <a:spLocks noGrp="1"/>
          </p:cNvSpPr>
          <p:nvPr/>
        </p:nvSpPr>
        <p:spPr>
          <a:xfrm>
            <a:off x="4362450" y="3048000"/>
            <a:ext cx="2705100" cy="857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발생 버그 개선</a:t>
            </a:r>
            <a:endParaRPr lang="en-US" altLang="ko-KR" dirty="0"/>
          </a:p>
          <a:p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레시피 퀄리티 개선</a:t>
            </a:r>
            <a:endParaRPr lang="en-US" altLang="ko-KR" dirty="0"/>
          </a:p>
          <a:p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altLang="ko-KR" dirty="0"/>
              <a:t>UI </a:t>
            </a:r>
            <a:r>
              <a:rPr lang="ko-KR" altLang="en-US" dirty="0"/>
              <a:t>디자인 개선</a:t>
            </a:r>
            <a:endParaRPr lang="en-US" altLang="ko-KR" dirty="0"/>
          </a:p>
          <a:p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endParaRPr dirty="0"/>
          </a:p>
        </p:txBody>
      </p:sp>
      <p:sp>
        <p:nvSpPr>
          <p:cNvPr id="16" name="plan-dot-1">
            <a:extLst>
              <a:ext uri="{FF2B5EF4-FFF2-40B4-BE49-F238E27FC236}">
                <a16:creationId xmlns:a16="http://schemas.microsoft.com/office/drawing/2014/main" id="{BC2663E6-6CE9-48A8-9E82-21D0DF53E2E4}"/>
              </a:ext>
            </a:extLst>
          </p:cNvPr>
          <p:cNvSpPr>
            <a:spLocks noGrp="1"/>
          </p:cNvSpPr>
          <p:nvPr/>
        </p:nvSpPr>
        <p:spPr>
          <a:xfrm>
            <a:off x="5553075" y="4314825"/>
            <a:ext cx="323850" cy="323850"/>
          </a:xfrm>
          <a:prstGeom prst="ellipse">
            <a:avLst/>
          </a:prstGeom>
          <a:solidFill>
            <a:srgbClr val="FF7E47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plan-outcome-1">
            <a:extLst>
              <a:ext uri="{FF2B5EF4-FFF2-40B4-BE49-F238E27FC236}">
                <a16:creationId xmlns:a16="http://schemas.microsoft.com/office/drawing/2014/main" id="{086DA6A5-95DA-4833-8292-786A75530B6E}"/>
              </a:ext>
            </a:extLst>
          </p:cNvPr>
          <p:cNvSpPr>
            <a:spLocks noGrp="1"/>
          </p:cNvSpPr>
          <p:nvPr/>
        </p:nvSpPr>
        <p:spPr>
          <a:xfrm>
            <a:off x="4114800" y="4953000"/>
            <a:ext cx="3200400" cy="266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서비스 퀄리티 개선</a:t>
            </a:r>
            <a:endParaRPr dirty="0"/>
          </a:p>
        </p:txBody>
      </p:sp>
      <p:sp>
        <p:nvSpPr>
          <p:cNvPr id="18" name="plan-card-2">
            <a:extLst>
              <a:ext uri="{FF2B5EF4-FFF2-40B4-BE49-F238E27FC236}">
                <a16:creationId xmlns:a16="http://schemas.microsoft.com/office/drawing/2014/main" id="{9C10F00F-E60B-41B9-8565-9B2BD8C46FCF}"/>
              </a:ext>
            </a:extLst>
          </p:cNvPr>
          <p:cNvSpPr>
            <a:spLocks noGrp="1"/>
          </p:cNvSpPr>
          <p:nvPr/>
        </p:nvSpPr>
        <p:spPr>
          <a:xfrm>
            <a:off x="7772400" y="1809750"/>
            <a:ext cx="3200400" cy="24384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E2DD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plan-step-2">
            <a:extLst>
              <a:ext uri="{FF2B5EF4-FFF2-40B4-BE49-F238E27FC236}">
                <a16:creationId xmlns:a16="http://schemas.microsoft.com/office/drawing/2014/main" id="{7A6FCE02-4C9A-4F81-A6B0-4BEB7111332C}"/>
              </a:ext>
            </a:extLst>
          </p:cNvPr>
          <p:cNvSpPr>
            <a:spLocks noGrp="1"/>
          </p:cNvSpPr>
          <p:nvPr/>
        </p:nvSpPr>
        <p:spPr>
          <a:xfrm>
            <a:off x="8020050" y="2057400"/>
            <a:ext cx="11430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050" b="1">
                <a:solidFill>
                  <a:srgbClr val="D91E4B"/>
                </a:solidFill>
                <a:latin typeface="Malgun Gothic"/>
                <a:ea typeface="Malgun Gothic"/>
                <a:cs typeface="Malgun Gothic"/>
              </a:defRPr>
            </a:pPr>
            <a:r>
              <a:t>THEN</a:t>
            </a:r>
          </a:p>
        </p:txBody>
      </p:sp>
      <p:sp>
        <p:nvSpPr>
          <p:cNvPr id="20" name="plan-title-2">
            <a:extLst>
              <a:ext uri="{FF2B5EF4-FFF2-40B4-BE49-F238E27FC236}">
                <a16:creationId xmlns:a16="http://schemas.microsoft.com/office/drawing/2014/main" id="{5F34E747-ED41-483E-A89E-C4F013933B81}"/>
              </a:ext>
            </a:extLst>
          </p:cNvPr>
          <p:cNvSpPr>
            <a:spLocks noGrp="1"/>
          </p:cNvSpPr>
          <p:nvPr/>
        </p:nvSpPr>
        <p:spPr>
          <a:xfrm>
            <a:off x="8020050" y="2476500"/>
            <a:ext cx="2705100" cy="3619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서비스 배포</a:t>
            </a:r>
          </a:p>
        </p:txBody>
      </p:sp>
      <p:sp>
        <p:nvSpPr>
          <p:cNvPr id="21" name="plan-body-2">
            <a:extLst>
              <a:ext uri="{FF2B5EF4-FFF2-40B4-BE49-F238E27FC236}">
                <a16:creationId xmlns:a16="http://schemas.microsoft.com/office/drawing/2014/main" id="{1EEB3239-DCB7-4B69-BBEF-52DB7BC57673}"/>
              </a:ext>
            </a:extLst>
          </p:cNvPr>
          <p:cNvSpPr>
            <a:spLocks noGrp="1"/>
          </p:cNvSpPr>
          <p:nvPr/>
        </p:nvSpPr>
        <p:spPr>
          <a:xfrm>
            <a:off x="8020050" y="3048000"/>
            <a:ext cx="2705100" cy="857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최종 기능 점검</a:t>
            </a:r>
            <a:endParaRPr lang="en-US" altLang="ko-KR" dirty="0"/>
          </a:p>
          <a:p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lang="en-US" dirty="0"/>
              <a:t>Render</a:t>
            </a:r>
            <a:r>
              <a:rPr lang="ko-KR" altLang="en-US" dirty="0"/>
              <a:t>를 이용하여 서비스 배포</a:t>
            </a:r>
            <a:endParaRPr dirty="0"/>
          </a:p>
        </p:txBody>
      </p:sp>
      <p:sp>
        <p:nvSpPr>
          <p:cNvPr id="22" name="plan-dot-2">
            <a:extLst>
              <a:ext uri="{FF2B5EF4-FFF2-40B4-BE49-F238E27FC236}">
                <a16:creationId xmlns:a16="http://schemas.microsoft.com/office/drawing/2014/main" id="{DA5134E3-F691-4038-959A-5A9D7269C0CB}"/>
              </a:ext>
            </a:extLst>
          </p:cNvPr>
          <p:cNvSpPr>
            <a:spLocks noGrp="1"/>
          </p:cNvSpPr>
          <p:nvPr/>
        </p:nvSpPr>
        <p:spPr>
          <a:xfrm>
            <a:off x="9210675" y="4314825"/>
            <a:ext cx="323850" cy="323850"/>
          </a:xfrm>
          <a:prstGeom prst="ellipse">
            <a:avLst/>
          </a:prstGeom>
          <a:solidFill>
            <a:srgbClr val="D91E4B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plan-outcome-2">
            <a:extLst>
              <a:ext uri="{FF2B5EF4-FFF2-40B4-BE49-F238E27FC236}">
                <a16:creationId xmlns:a16="http://schemas.microsoft.com/office/drawing/2014/main" id="{1E2DEF6C-4751-431B-AD41-54082D85DB78}"/>
              </a:ext>
            </a:extLst>
          </p:cNvPr>
          <p:cNvSpPr>
            <a:spLocks noGrp="1"/>
          </p:cNvSpPr>
          <p:nvPr/>
        </p:nvSpPr>
        <p:spPr>
          <a:xfrm>
            <a:off x="7772400" y="4953000"/>
            <a:ext cx="3200400" cy="2667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ctr">
              <a:defRPr sz="1500" b="1">
                <a:solidFill>
                  <a:srgbClr val="D91E4B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altLang="en-US" dirty="0"/>
              <a:t>서비스 배포</a:t>
            </a:r>
            <a:endParaRPr dirty="0"/>
          </a:p>
        </p:txBody>
      </p:sp>
      <p:sp>
        <p:nvSpPr>
          <p:cNvPr id="24" name="plan-close">
            <a:extLst>
              <a:ext uri="{FF2B5EF4-FFF2-40B4-BE49-F238E27FC236}">
                <a16:creationId xmlns:a16="http://schemas.microsoft.com/office/drawing/2014/main" id="{6048DC09-9726-4216-BE25-8451942390EA}"/>
              </a:ext>
            </a:extLst>
          </p:cNvPr>
          <p:cNvSpPr>
            <a:spLocks noGrp="1"/>
          </p:cNvSpPr>
          <p:nvPr/>
        </p:nvSpPr>
        <p:spPr>
          <a:xfrm>
            <a:off x="457200" y="5695950"/>
            <a:ext cx="10515600" cy="457200"/>
          </a:xfrm>
          <a:prstGeom prst="roundRect">
            <a:avLst>
              <a:gd name="adj" fmla="val 16667"/>
            </a:avLst>
          </a:prstGeom>
          <a:solidFill>
            <a:srgbClr val="1A1C19"/>
          </a:solidFill>
          <a:ln w="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plan-close-copy">
            <a:extLst>
              <a:ext uri="{FF2B5EF4-FFF2-40B4-BE49-F238E27FC236}">
                <a16:creationId xmlns:a16="http://schemas.microsoft.com/office/drawing/2014/main" id="{9BE43AC7-343A-47E4-B1CB-42CA76F216CC}"/>
              </a:ext>
            </a:extLst>
          </p:cNvPr>
          <p:cNvSpPr>
            <a:spLocks noGrp="1"/>
          </p:cNvSpPr>
          <p:nvPr/>
        </p:nvSpPr>
        <p:spPr>
          <a:xfrm>
            <a:off x="704850" y="5800725"/>
            <a:ext cx="9906000" cy="2476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목표  |  추천 기능 완성 → 안정적인 사용자 경험</a:t>
            </a:r>
          </a:p>
        </p:txBody>
      </p:sp>
      <p:sp>
        <p:nvSpPr>
          <p:cNvPr id="26" name="footer-label-5">
            <a:extLst>
              <a:ext uri="{FF2B5EF4-FFF2-40B4-BE49-F238E27FC236}">
                <a16:creationId xmlns:a16="http://schemas.microsoft.com/office/drawing/2014/main" id="{F9B7F15D-8772-4199-99AD-A4A6A5CADAEE}"/>
              </a:ext>
            </a:extLst>
          </p:cNvPr>
          <p:cNvSpPr>
            <a:spLocks noGrp="1"/>
          </p:cNvSpPr>
          <p:nvPr/>
        </p:nvSpPr>
        <p:spPr>
          <a:xfrm>
            <a:off x="457200" y="6419850"/>
            <a:ext cx="3429000" cy="1714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AI AGENT CHALLENGE · DEMO</a:t>
            </a:r>
          </a:p>
        </p:txBody>
      </p:sp>
      <p:sp>
        <p:nvSpPr>
          <p:cNvPr id="27" name="footer-number-5">
            <a:extLst>
              <a:ext uri="{FF2B5EF4-FFF2-40B4-BE49-F238E27FC236}">
                <a16:creationId xmlns:a16="http://schemas.microsoft.com/office/drawing/2014/main" id="{5F356E12-2F83-4F6D-A1A7-C5529037DE40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495300" cy="209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/>
              <a:t>0</a:t>
            </a:r>
            <a:r>
              <a:rPr lang="en-US" dirty="0"/>
              <a:t>7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68556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</Words>
  <Application>Microsoft Office PowerPoint</Application>
  <DocSecurity>0</DocSecurity>
  <PresentationFormat>와이드스크린</PresentationFormat>
  <Paragraphs>118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창현 박</cp:lastModifiedBy>
  <cp:revision>1</cp:revision>
  <dcterms:created xsi:type="dcterms:W3CDTF">2026-07-23T14:10:00Z</dcterms:created>
  <dcterms:modified xsi:type="dcterms:W3CDTF">2026-07-24T04:12:29Z</dcterms:modified>
</cp:coreProperties>
</file>